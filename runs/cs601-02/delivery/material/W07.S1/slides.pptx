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Assign3, Midsem, Endsem, LabEval1.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students that Week 5 introduced spec‑driven development: requirements are expressed as executable specifications that can be run as tests. This shifts verification left and makes later AI‑assisted generation reliable. Emphasize the contract between spec and implementation — every public method must satisfy its spec.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how a natural‑language requirement is decomposed into concrete, testable scenarios. Each scenario becomes an executable specification that defines the exact interface contract for a public method. Stress traceability: every requirement line maps to at least one spec.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pipeline: a requirements document is parsed, each user story is turned into Given/When/Then steps, pre‑ and post‑conditions are made explicit, and a schema validator ensures completeness. This pipeline is the foundation for later code generation — the spec is the single source of truth.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two scenarios side‑by‑side. Highlight that each step maps directly to a method contract (e.g., `withdraw(amount) -&gt; Result`). The spec is executable: a test runner can invoke the system under test and verify the post‑conditions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the full translation live: start from the textual requirement, produce the Gherkin spec (as in previous slide), infer the `withdraw` signature, feed the spec to an AI coding agent, and show the generated implementation. Run the spec‑driven test suite to confirm the code meets every scenario. This models the skill assessed in CO2.LO2.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how modern systems (e.g., AlphaCode) treat the executable spec as a prompt, ask a large language model for code, then automatically run the spec’s test suite. Failures are fed back as additional context for a repair iteration. Cite the AlphaCode paper for the competition‑level results.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poll to verify students grasp that the spec, not the code, defines the contract. The most tempting wrong answer is the requirements document because it originates the spec.</a:t>
            </a:r>
          </a:p>
          <a:p/>
          <a:p>
            <a:r>
              <a:t>Answer: B. The executable specification</a:t>
            </a:r>
          </a:p>
          <a:p>
            <a:r>
              <a:t>The executable specification (e.g., Gherkin scenarios) is the authoritative, runnable contract. The implementation must satisfy it; the requirements document is higher‑level and not directly executable.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Briefly recap the iterative loop engineering cycle introduced in the previous week. Emphasize that the loop is driven by execution logs, which capture every control‑flow decision made by the coding agent. This sets the stage for trace analysis (CO3.LO1).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each phase. In Plan, the human or a planner agent states the objective (e.g., implement `withdraw`). Generate invokes the coding agent. Execute runs the code in an isolated environment, producing a structured log. Reflect parses the log to detect errors, performance issues, or spec violations, then feeds insights back to Plan.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a concrete log line. Explain that each entry captures a control‑flow step (call, return, branch, exception). The structured schema makes it possible to reconstruct the full execution trace automatically, which is essential for the tracing skill in CO3.LO1.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annotated log line by line. Show how the spec’s Given/When/Then checkpoints appear as comments. The log demonstrates that the agent exercised both scenarios and the reflection step confirmed compliance. This models the tracing activity required for CO3.LO1.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a log where the agent incorrectly implements the balance check (condition reversed). Guide students to trace the BRANCH event, compare with the spec’s pre‑condition, and classify the failure as a logic error. Emphasize recording the exact log lines as evidence — this is the core of CO3.LO1.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that BRANCH entries are the key to tracing control‑flow errors. The distractor RETURN is tempting because it shows the result, but it does not expose the decision logic.</a:t>
            </a:r>
          </a:p>
          <a:p/>
          <a:p>
            <a:r>
              <a:t>Answer: C. BRANCH</a:t>
            </a:r>
          </a:p>
          <a:p>
            <a:r>
              <a:t>BRANCH events record the outcome of conditional statements. A mismatch between the expected branch (per spec) and the logged branch pinpoints the exact control‑flow deviation. CALL/RETURN show entry/exit but not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apply the full pipeline: requirement → spec → AI generation → log tracing. TAs circulate to help with the agent API and log format. The activity directly practices CO2.LO2 (spec authoring and code generation) and CO3.LO1 (log tracing and failure classification). Allocate 12 minutes; pairs submit annotated logs for quick review.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two pillars of the lecture. First, spec‑driven development turns vague requirements into runnable contracts that guide AI code generation. Second, iterative loop engineering uses execution logs to observe, diagnose, and repair agent behavior. Both skills are assessed in Assignment 3 and the mid‑semester exam.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100" b="1">
                <a:solidFill>
                  <a:srgbClr val="CCFBF1"/>
                </a:solidFill>
                <a:latin typeface="Calibri"/>
              </a:rPr>
              <a:t>Requirements to Executable Specifications and Code Generation · Iterative Development and Loop Engineering</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7 · Executable Specifications and Code Generation · Iterative Loop Engineering and Tracing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Translate module requirements into executable specifications using spec-driven development frameworks, meeting the stated interface specification for every public method (CO2.LO2)</a:t>
            </a:r>
          </a:p>
          <a:p>
            <a:pPr marL="292608" indent="-292608">
              <a:spcAft>
                <a:spcPts val="1000"/>
              </a:spcAft>
              <a:buClr>
                <a:srgbClr val="0F766E"/>
              </a:buClr>
              <a:buFont typeface="Arial"/>
              <a:buChar char="▪"/>
            </a:pPr>
            <a:r>
              <a:rPr sz="2400">
                <a:solidFill>
                  <a:srgbClr val="1F2937"/>
                </a:solidFill>
                <a:latin typeface="Calibri"/>
              </a:rPr>
              <a:t>Trace execution logs produced by coding agents during iterative loop engineering tasks, recording all control-flow steps across the log artifact (CO3.LO1)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Spec‑Driven Development Recap</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Specs capture behavior before code</a:t>
            </a:r>
          </a:p>
          <a:p>
            <a:pPr marL="292608" indent="-292608">
              <a:spcAft>
                <a:spcPts val="1000"/>
              </a:spcAft>
              <a:buClr>
                <a:srgbClr val="0F766E"/>
              </a:buClr>
              <a:buFont typeface="Arial"/>
              <a:buChar char="▪"/>
            </a:pPr>
            <a:r>
              <a:rPr sz="2400">
                <a:solidFill>
                  <a:srgbClr val="1F2937"/>
                </a:solidFill>
                <a:latin typeface="Calibri"/>
              </a:rPr>
              <a:t>Frameworks: Gherkin, OpenAPI, custom DSLs</a:t>
            </a:r>
          </a:p>
          <a:p>
            <a:pPr marL="292608" indent="-292608">
              <a:spcAft>
                <a:spcPts val="1000"/>
              </a:spcAft>
              <a:buClr>
                <a:srgbClr val="0F766E"/>
              </a:buClr>
              <a:buFont typeface="Arial"/>
              <a:buChar char="▪"/>
            </a:pPr>
            <a:r>
              <a:rPr sz="2400">
                <a:solidFill>
                  <a:srgbClr val="1F2937"/>
                </a:solidFill>
                <a:latin typeface="Calibri"/>
              </a:rPr>
              <a:t>Enable automated test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From Requirements to Executable Specs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Identify actors, actions, and outcomes</a:t>
            </a:r>
          </a:p>
          <a:p>
            <a:pPr marL="292608" indent="-292608">
              <a:spcAft>
                <a:spcPts val="1000"/>
              </a:spcAft>
              <a:buClr>
                <a:srgbClr val="0F766E"/>
              </a:buClr>
              <a:buFont typeface="Arial"/>
              <a:buChar char="▪"/>
            </a:pPr>
            <a:r>
              <a:rPr sz="2400">
                <a:solidFill>
                  <a:srgbClr val="1F2937"/>
                </a:solidFill>
                <a:latin typeface="Calibri"/>
              </a:rPr>
              <a:t>Write scenario‑level acceptance criteria</a:t>
            </a:r>
          </a:p>
          <a:p>
            <a:pPr marL="292608" indent="-292608">
              <a:spcAft>
                <a:spcPts val="1000"/>
              </a:spcAft>
              <a:buClr>
                <a:srgbClr val="0F766E"/>
              </a:buClr>
              <a:buFont typeface="Arial"/>
              <a:buChar char="▪"/>
            </a:pPr>
            <a:r>
              <a:rPr sz="2400">
                <a:solidFill>
                  <a:srgbClr val="1F2937"/>
                </a:solidFill>
                <a:latin typeface="Calibri"/>
              </a:rPr>
              <a:t>Encode pre‑conditions, post‑conditions, invariants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Writing Executable Specifications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Parse requirements into structured stories</a:t>
            </a:r>
          </a:p>
          <a:p>
            <a:pPr marL="292608" indent="-292608">
              <a:spcAft>
                <a:spcPts val="1000"/>
              </a:spcAft>
              <a:buClr>
                <a:srgbClr val="0F766E"/>
              </a:buClr>
              <a:buFont typeface="Arial"/>
              <a:buChar char="▪"/>
            </a:pPr>
            <a:r>
              <a:rPr sz="2400">
                <a:solidFill>
                  <a:srgbClr val="1F2937"/>
                </a:solidFill>
                <a:latin typeface="Calibri"/>
              </a:rPr>
              <a:t>Define Given/When/Then steps</a:t>
            </a:r>
          </a:p>
          <a:p>
            <a:pPr marL="292608" indent="-292608">
              <a:spcAft>
                <a:spcPts val="1000"/>
              </a:spcAft>
              <a:buClr>
                <a:srgbClr val="0F766E"/>
              </a:buClr>
              <a:buFont typeface="Arial"/>
              <a:buChar char="▪"/>
            </a:pPr>
            <a:r>
              <a:rPr sz="2400">
                <a:solidFill>
                  <a:srgbClr val="1F2937"/>
                </a:solidFill>
                <a:latin typeface="Calibri"/>
              </a:rPr>
              <a:t>Validate specs against a schema</a:t>
            </a:r>
          </a:p>
          <a:p>
            <a:pPr marL="292608" indent="-292608">
              <a:spcAft>
                <a:spcPts val="1000"/>
              </a:spcAft>
              <a:buClr>
                <a:srgbClr val="0F766E"/>
              </a:buClr>
              <a:buFont typeface="Arial"/>
              <a:buChar char="▪"/>
            </a:pPr>
            <a:r>
              <a:rPr sz="2400">
                <a:solidFill>
                  <a:srgbClr val="1F2937"/>
                </a:solidFill>
                <a:latin typeface="Calibri"/>
              </a:rPr>
              <a:t>Store specs alongside source code</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Parse requirements</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Define scenarios</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Encode pre/post conditions</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Validate against schema</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Specification authoring pipeline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Example: Requirement → Spec</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Requirement: "User can withdraw cash if balance sufficient"</a:t>
            </a:r>
          </a:p>
          <a:p>
            <a:pPr marL="292608" indent="-292608">
              <a:spcAft>
                <a:spcPts val="1000"/>
              </a:spcAft>
              <a:buClr>
                <a:srgbClr val="0F766E"/>
              </a:buClr>
              <a:buFont typeface="Arial"/>
              <a:buChar char="▪"/>
            </a:pPr>
            <a:r>
              <a:rPr sz="2400">
                <a:solidFill>
                  <a:srgbClr val="1F2937"/>
                </a:solidFill>
                <a:latin typeface="Calibri"/>
              </a:rPr>
              <a:t>Spec written in Gherkin</a:t>
            </a:r>
          </a:p>
          <a:p>
            <a:pPr marL="292608" indent="-292608">
              <a:spcAft>
                <a:spcPts val="1000"/>
              </a:spcAft>
              <a:buClr>
                <a:srgbClr val="0F766E"/>
              </a:buClr>
              <a:buFont typeface="Arial"/>
              <a:buChar char="▪"/>
            </a:pPr>
            <a:r>
              <a:rPr sz="2400">
                <a:solidFill>
                  <a:srgbClr val="1F2937"/>
                </a:solidFill>
                <a:latin typeface="Calibri"/>
              </a:rPr>
              <a:t>Covers happy path and insufficient‑funds path</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gherkin</a:t>
            </a:r>
          </a:p>
          <a:p>
            <a:pPr algn="l"/>
            <a:r>
              <a:rPr sz="1400" b="0">
                <a:solidFill>
                  <a:srgbClr val="E5E7EB"/>
                </a:solidFill>
                <a:latin typeface="Consolas"/>
              </a:rPr>
              <a:t>Feature: Cash withdrawal</a:t>
            </a:r>
          </a:p>
          <a:p>
            <a:pPr algn="l"/>
            <a:r>
              <a:rPr sz="1400" b="0">
                <a:solidFill>
                  <a:srgbClr val="E5E7EB"/>
                </a:solidFill>
                <a:latin typeface="Consolas"/>
              </a:rPr>
              <a:t>  Scenario: Sufficient balance</a:t>
            </a:r>
          </a:p>
          <a:p>
            <a:pPr algn="l"/>
            <a:r>
              <a:rPr sz="1400" b="0">
                <a:solidFill>
                  <a:srgbClr val="E5E7EB"/>
                </a:solidFill>
                <a:latin typeface="Consolas"/>
              </a:rPr>
              <a:t>    Given the account balance is $100</a:t>
            </a:r>
          </a:p>
          <a:p>
            <a:pPr algn="l"/>
            <a:r>
              <a:rPr sz="1400" b="0">
                <a:solidFill>
                  <a:srgbClr val="E5E7EB"/>
                </a:solidFill>
                <a:latin typeface="Consolas"/>
              </a:rPr>
              <a:t>    When the user requests $60</a:t>
            </a:r>
          </a:p>
          <a:p>
            <a:pPr algn="l"/>
            <a:r>
              <a:rPr sz="1400" b="0">
                <a:solidFill>
                  <a:srgbClr val="E5E7EB"/>
                </a:solidFill>
                <a:latin typeface="Consolas"/>
              </a:rPr>
              <a:t>    Then the dispenser provides $60</a:t>
            </a:r>
          </a:p>
          <a:p>
            <a:pPr algn="l"/>
            <a:r>
              <a:rPr sz="1400" b="0">
                <a:solidFill>
                  <a:srgbClr val="E5E7EB"/>
                </a:solidFill>
                <a:latin typeface="Consolas"/>
              </a:rPr>
              <a:t>    And the account balance becomes $40</a:t>
            </a:r>
          </a:p>
          <a:p>
            <a:pPr algn="l"/>
            <a:r>
              <a:rPr sz="1400" b="0">
                <a:solidFill>
                  <a:srgbClr val="E5E7EB"/>
                </a:solidFill>
                <a:latin typeface="Consolas"/>
              </a:rPr>
              <a:t>  Scenario: Insufficient balance</a:t>
            </a:r>
          </a:p>
          <a:p>
            <a:pPr algn="l"/>
            <a:r>
              <a:rPr sz="1400" b="0">
                <a:solidFill>
                  <a:srgbClr val="E5E7EB"/>
                </a:solidFill>
                <a:latin typeface="Consolas"/>
              </a:rPr>
              <a:t>    Given the account balance is $30</a:t>
            </a:r>
          </a:p>
          <a:p>
            <a:pPr algn="l"/>
            <a:r>
              <a:rPr sz="1400" b="0">
                <a:solidFill>
                  <a:srgbClr val="E5E7EB"/>
                </a:solidFill>
                <a:latin typeface="Consolas"/>
              </a:rPr>
              <a:t>    When the user requests $60</a:t>
            </a:r>
          </a:p>
          <a:p>
            <a:pPr algn="l"/>
            <a:r>
              <a:rPr sz="1400" b="0">
                <a:solidFill>
                  <a:srgbClr val="E5E7EB"/>
                </a:solidFill>
                <a:latin typeface="Consolas"/>
              </a:rPr>
              <a:t>    Then the transaction is rejected</a:t>
            </a:r>
          </a:p>
          <a:p>
            <a:pPr algn="l"/>
            <a:r>
              <a:rPr sz="1400" b="0">
                <a:solidFill>
                  <a:srgbClr val="E5E7EB"/>
                </a:solidFill>
                <a:latin typeface="Consolas"/>
              </a:rPr>
              <a:t>    And the account balance remains $30</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Gherkin spec for cash withdrawal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500" b="1">
                <a:solidFill>
                  <a:srgbClr val="1F2937"/>
                </a:solidFill>
                <a:latin typeface="Calibri"/>
              </a:rPr>
              <a:t>Worked Problem: Translate Requirement to Spec &amp; Generate Code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Step 1: Extract actors, actions, data</a:t>
            </a:r>
          </a:p>
          <a:p>
            <a:pPr marL="292608" indent="-292608">
              <a:spcAft>
                <a:spcPts val="1000"/>
              </a:spcAft>
              <a:buClr>
                <a:srgbClr val="0F766E"/>
              </a:buClr>
              <a:buFont typeface="Arial"/>
              <a:buChar char="▪"/>
            </a:pPr>
            <a:r>
              <a:rPr sz="2400">
                <a:solidFill>
                  <a:srgbClr val="1F2937"/>
                </a:solidFill>
                <a:latin typeface="Calibri"/>
              </a:rPr>
              <a:t>Step 2: Write Gherkin scenarios</a:t>
            </a:r>
          </a:p>
          <a:p>
            <a:pPr marL="292608" indent="-292608">
              <a:spcAft>
                <a:spcPts val="1000"/>
              </a:spcAft>
              <a:buClr>
                <a:srgbClr val="0F766E"/>
              </a:buClr>
              <a:buFont typeface="Arial"/>
              <a:buChar char="▪"/>
            </a:pPr>
            <a:r>
              <a:rPr sz="2400">
                <a:solidFill>
                  <a:srgbClr val="1F2937"/>
                </a:solidFill>
                <a:latin typeface="Calibri"/>
              </a:rPr>
              <a:t>Step 3: Derive method signatures</a:t>
            </a:r>
          </a:p>
          <a:p>
            <a:pPr marL="292608" indent="-292608">
              <a:spcAft>
                <a:spcPts val="1000"/>
              </a:spcAft>
              <a:buClr>
                <a:srgbClr val="0F766E"/>
              </a:buClr>
              <a:buFont typeface="Arial"/>
              <a:buChar char="▪"/>
            </a:pPr>
            <a:r>
              <a:rPr sz="2400">
                <a:solidFill>
                  <a:srgbClr val="1F2937"/>
                </a:solidFill>
                <a:latin typeface="Calibri"/>
              </a:rPr>
              <a:t>Step 4: Prompt AI model for implementation</a:t>
            </a:r>
          </a:p>
          <a:p>
            <a:pPr marL="292608" indent="-292608">
              <a:spcAft>
                <a:spcPts val="1000"/>
              </a:spcAft>
              <a:buClr>
                <a:srgbClr val="0F766E"/>
              </a:buClr>
              <a:buFont typeface="Arial"/>
              <a:buChar char="▪"/>
            </a:pPr>
            <a:r>
              <a:rPr sz="2400">
                <a:solidFill>
                  <a:srgbClr val="1F2937"/>
                </a:solidFill>
                <a:latin typeface="Calibri"/>
              </a:rPr>
              <a:t>Step 5: Run generated tests against spec</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300" b="0">
                <a:solidFill>
                  <a:srgbClr val="E5E7EB"/>
                </a:solidFill>
                <a:latin typeface="Consolas"/>
              </a:rPr>
              <a:t>def withdraw(account: Account, amount: Decimal) -&gt; Result:</a:t>
            </a:r>
          </a:p>
          <a:p>
            <a:pPr algn="l"/>
            <a:r>
              <a:rPr sz="1300" b="0">
                <a:solidFill>
                  <a:srgbClr val="E5E7EB"/>
                </a:solidFill>
                <a:latin typeface="Consolas"/>
              </a:rPr>
              <a:t>    if amount &lt;= 0:</a:t>
            </a:r>
          </a:p>
          <a:p>
            <a:pPr algn="l"/>
            <a:r>
              <a:rPr sz="1300" b="0">
                <a:solidFill>
                  <a:srgbClr val="E5E7EB"/>
                </a:solidFill>
                <a:latin typeface="Consolas"/>
              </a:rPr>
              <a:t>        return Result.fail("Amount must be positive")</a:t>
            </a:r>
          </a:p>
          <a:p>
            <a:pPr algn="l"/>
            <a:r>
              <a:rPr sz="1300" b="0">
                <a:solidFill>
                  <a:srgbClr val="E5E7EB"/>
                </a:solidFill>
                <a:latin typeface="Consolas"/>
              </a:rPr>
              <a:t>    if account.balance &lt; amount:</a:t>
            </a:r>
          </a:p>
          <a:p>
            <a:pPr algn="l"/>
            <a:r>
              <a:rPr sz="1300" b="0">
                <a:solidFill>
                  <a:srgbClr val="E5E7EB"/>
                </a:solidFill>
                <a:latin typeface="Consolas"/>
              </a:rPr>
              <a:t>        return Result.fail("Insufficient funds")</a:t>
            </a:r>
          </a:p>
          <a:p>
            <a:pPr algn="l"/>
            <a:r>
              <a:rPr sz="1300" b="0">
                <a:solidFill>
                  <a:srgbClr val="E5E7EB"/>
                </a:solidFill>
                <a:latin typeface="Consolas"/>
              </a:rPr>
              <a:t>    account.balance -= amount</a:t>
            </a:r>
          </a:p>
          <a:p>
            <a:pPr algn="l"/>
            <a:r>
              <a:rPr sz="1300" b="0">
                <a:solidFill>
                  <a:srgbClr val="E5E7EB"/>
                </a:solidFill>
                <a:latin typeface="Consolas"/>
              </a:rPr>
              <a:t>    return Result.ok(account.balance)</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Generated Python withdrawal method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AI‑Assisted Code Generation from Specs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   ·   Sources: [C1]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Spec → structured prompt → LLM</a:t>
            </a:r>
          </a:p>
          <a:p>
            <a:pPr marL="292608" indent="-292608">
              <a:spcAft>
                <a:spcPts val="1000"/>
              </a:spcAft>
              <a:buClr>
                <a:srgbClr val="0F766E"/>
              </a:buClr>
              <a:buFont typeface="Arial"/>
              <a:buChar char="▪"/>
            </a:pPr>
            <a:r>
              <a:rPr sz="2400">
                <a:solidFill>
                  <a:srgbClr val="1F2937"/>
                </a:solidFill>
                <a:latin typeface="Calibri"/>
              </a:rPr>
              <a:t>Model returns candidate implementation</a:t>
            </a:r>
          </a:p>
          <a:p>
            <a:pPr marL="292608" indent="-292608">
              <a:spcAft>
                <a:spcPts val="1000"/>
              </a:spcAft>
              <a:buClr>
                <a:srgbClr val="0F766E"/>
              </a:buClr>
              <a:buFont typeface="Arial"/>
              <a:buChar char="▪"/>
            </a:pPr>
            <a:r>
              <a:rPr sz="2400">
                <a:solidFill>
                  <a:srgbClr val="1F2937"/>
                </a:solidFill>
                <a:latin typeface="Calibri"/>
              </a:rPr>
              <a:t>Automated test harness validates output</a:t>
            </a:r>
          </a:p>
          <a:p>
            <a:pPr marL="292608" indent="-292608">
              <a:spcAft>
                <a:spcPts val="1000"/>
              </a:spcAft>
              <a:buClr>
                <a:srgbClr val="0F766E"/>
              </a:buClr>
              <a:buFont typeface="Arial"/>
              <a:buChar char="▪"/>
            </a:pPr>
            <a:r>
              <a:rPr sz="2400">
                <a:solidFill>
                  <a:srgbClr val="1F2937"/>
                </a:solidFill>
                <a:latin typeface="Calibri"/>
              </a:rPr>
              <a:t>Iterate on failures via feedback loop</a:t>
            </a:r>
          </a:p>
        </p:txBody>
      </p:sp>
      <p:sp>
        <p:nvSpPr>
          <p:cNvPr id="7" name="Rounded Rectangle 6"/>
          <p:cNvSpPr/>
          <p:nvPr/>
        </p:nvSpPr>
        <p:spPr>
          <a:xfrm>
            <a:off x="6683495" y="146304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Executable spec</a:t>
            </a:r>
          </a:p>
        </p:txBody>
      </p:sp>
      <p:sp>
        <p:nvSpPr>
          <p:cNvPr id="8" name="Down Arrow 7"/>
          <p:cNvSpPr/>
          <p:nvPr/>
        </p:nvSpPr>
        <p:spPr>
          <a:xfrm>
            <a:off x="9026115" y="194767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24028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Prompt construction</a:t>
            </a:r>
          </a:p>
        </p:txBody>
      </p:sp>
      <p:sp>
        <p:nvSpPr>
          <p:cNvPr id="10" name="Down Arrow 9"/>
          <p:cNvSpPr/>
          <p:nvPr/>
        </p:nvSpPr>
        <p:spPr>
          <a:xfrm>
            <a:off x="9026115" y="27249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01752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Model inference</a:t>
            </a:r>
          </a:p>
        </p:txBody>
      </p:sp>
      <p:sp>
        <p:nvSpPr>
          <p:cNvPr id="12" name="Down Arrow 11"/>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379476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Code candidate</a:t>
            </a:r>
          </a:p>
        </p:txBody>
      </p:sp>
      <p:sp>
        <p:nvSpPr>
          <p:cNvPr id="14" name="Down Arrow 13"/>
          <p:cNvSpPr/>
          <p:nvPr/>
        </p:nvSpPr>
        <p:spPr>
          <a:xfrm>
            <a:off x="9026115" y="42793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457200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 execution</a:t>
            </a:r>
          </a:p>
        </p:txBody>
      </p:sp>
      <p:sp>
        <p:nvSpPr>
          <p:cNvPr id="16" name="Down Arrow 15"/>
          <p:cNvSpPr/>
          <p:nvPr/>
        </p:nvSpPr>
        <p:spPr>
          <a:xfrm>
            <a:off x="9026115" y="505663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83495" y="5349240"/>
            <a:ext cx="4959560" cy="45720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Feedback / repair</a:t>
            </a:r>
          </a:p>
        </p:txBody>
      </p:sp>
      <p:sp>
        <p:nvSpPr>
          <p:cNvPr id="18" name="TextBox 1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Spec‑to‑code generation loop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Spec‑Driven Concepts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400" b="1">
                <a:solidFill>
                  <a:srgbClr val="1F2937"/>
                </a:solidFill>
                <a:latin typeface="Calibri"/>
              </a:rPr>
              <a:t>Which artifact is the single source of truth for the expected behavior of a public method in spec‑driven development?</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The implementation code</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The executable specification</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The requirements document</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The test report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Iterative Loop Engineering Recap</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Loop: plan → generate → execute → reflect</a:t>
            </a:r>
          </a:p>
          <a:p>
            <a:pPr marL="292608" indent="-292608">
              <a:spcAft>
                <a:spcPts val="1000"/>
              </a:spcAft>
              <a:buClr>
                <a:srgbClr val="0F766E"/>
              </a:buClr>
              <a:buFont typeface="Arial"/>
              <a:buChar char="▪"/>
            </a:pPr>
            <a:r>
              <a:rPr sz="2400">
                <a:solidFill>
                  <a:srgbClr val="1F2937"/>
                </a:solidFill>
                <a:latin typeface="Calibri"/>
              </a:rPr>
              <a:t>Agents produce code, tests, and logs</a:t>
            </a:r>
          </a:p>
          <a:p>
            <a:pPr marL="292608" indent="-292608">
              <a:spcAft>
                <a:spcPts val="1000"/>
              </a:spcAft>
              <a:buClr>
                <a:srgbClr val="0F766E"/>
              </a:buClr>
              <a:buFont typeface="Arial"/>
              <a:buChar char="▪"/>
            </a:pPr>
            <a:r>
              <a:rPr sz="2400">
                <a:solidFill>
                  <a:srgbClr val="1F2937"/>
                </a:solidFill>
                <a:latin typeface="Calibri"/>
              </a:rPr>
              <a:t>Each iteration refines the artifact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Loop Engineering Phases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Plan: define goal and constraints</a:t>
            </a:r>
          </a:p>
          <a:p>
            <a:pPr marL="292608" indent="-292608">
              <a:spcAft>
                <a:spcPts val="1000"/>
              </a:spcAft>
              <a:buClr>
                <a:srgbClr val="0F766E"/>
              </a:buClr>
              <a:buFont typeface="Arial"/>
              <a:buChar char="▪"/>
            </a:pPr>
            <a:r>
              <a:rPr sz="2400">
                <a:solidFill>
                  <a:srgbClr val="1F2937"/>
                </a:solidFill>
                <a:latin typeface="Calibri"/>
              </a:rPr>
              <a:t>Generate: agent writes code/tests</a:t>
            </a:r>
          </a:p>
          <a:p>
            <a:pPr marL="292608" indent="-292608">
              <a:spcAft>
                <a:spcPts val="1000"/>
              </a:spcAft>
              <a:buClr>
                <a:srgbClr val="0F766E"/>
              </a:buClr>
              <a:buFont typeface="Arial"/>
              <a:buChar char="▪"/>
            </a:pPr>
            <a:r>
              <a:rPr sz="2400">
                <a:solidFill>
                  <a:srgbClr val="1F2937"/>
                </a:solidFill>
                <a:latin typeface="Calibri"/>
              </a:rPr>
              <a:t>Execute: run in sandbox, collect logs</a:t>
            </a:r>
          </a:p>
          <a:p>
            <a:pPr marL="292608" indent="-292608">
              <a:spcAft>
                <a:spcPts val="1000"/>
              </a:spcAft>
              <a:buClr>
                <a:srgbClr val="0F766E"/>
              </a:buClr>
              <a:buFont typeface="Arial"/>
              <a:buChar char="▪"/>
            </a:pPr>
            <a:r>
              <a:rPr sz="2400">
                <a:solidFill>
                  <a:srgbClr val="1F2937"/>
                </a:solidFill>
                <a:latin typeface="Calibri"/>
              </a:rPr>
              <a:t>Reflect: analyse logs, decide next step</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Plan</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Generate</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Execute</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Reflect</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Four phases of an engineering loop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Execution Logs and Tracing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6" name="TextBox 5"/>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Logs record every function call, branch, exception</a:t>
            </a:r>
          </a:p>
          <a:p>
            <a:pPr marL="292608" indent="-292608">
              <a:spcAft>
                <a:spcPts val="1000"/>
              </a:spcAft>
              <a:buClr>
                <a:srgbClr val="0F766E"/>
              </a:buClr>
              <a:buFont typeface="Arial"/>
              <a:buChar char="▪"/>
            </a:pPr>
            <a:r>
              <a:rPr sz="2400">
                <a:solidFill>
                  <a:srgbClr val="1F2937"/>
                </a:solidFill>
                <a:latin typeface="Calibri"/>
              </a:rPr>
              <a:t>Structured format: timestamp, thread, event, payload</a:t>
            </a:r>
          </a:p>
          <a:p>
            <a:pPr marL="292608" indent="-292608">
              <a:spcAft>
                <a:spcPts val="1000"/>
              </a:spcAft>
              <a:buClr>
                <a:srgbClr val="0F766E"/>
              </a:buClr>
              <a:buFont typeface="Arial"/>
              <a:buChar char="▪"/>
            </a:pPr>
            <a:r>
              <a:rPr sz="2400">
                <a:solidFill>
                  <a:srgbClr val="1F2937"/>
                </a:solidFill>
                <a:latin typeface="Calibri"/>
              </a:rPr>
              <a:t>Enable replay and automated analysis</a:t>
            </a:r>
          </a:p>
        </p:txBody>
      </p:sp>
      <p:sp>
        <p:nvSpPr>
          <p:cNvPr id="7" name="Rounded Rectangle 6"/>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json</a:t>
            </a:r>
          </a:p>
          <a:p>
            <a:pPr algn="l"/>
            <a:r>
              <a:rPr sz="1400" b="0">
                <a:solidFill>
                  <a:srgbClr val="E5E7EB"/>
                </a:solidFill>
                <a:latin typeface="Consolas"/>
              </a:rPr>
              <a:t>{</a:t>
            </a:r>
          </a:p>
          <a:p>
            <a:pPr algn="l"/>
            <a:r>
              <a:rPr sz="1400" b="0">
                <a:solidFill>
                  <a:srgbClr val="E5E7EB"/>
                </a:solidFill>
                <a:latin typeface="Consolas"/>
              </a:rPr>
              <a:t>  "ts": "2025-09-27T10:15:03.123Z",</a:t>
            </a:r>
          </a:p>
          <a:p>
            <a:pPr algn="l"/>
            <a:r>
              <a:rPr sz="1400" b="0">
                <a:solidFill>
                  <a:srgbClr val="E5E7EB"/>
                </a:solidFill>
                <a:latin typeface="Consolas"/>
              </a:rPr>
              <a:t>  "thread": "agent-1",</a:t>
            </a:r>
          </a:p>
          <a:p>
            <a:pPr algn="l"/>
            <a:r>
              <a:rPr sz="1400" b="0">
                <a:solidFill>
                  <a:srgbClr val="E5E7EB"/>
                </a:solidFill>
                <a:latin typeface="Consolas"/>
              </a:rPr>
              <a:t>  "event": "call",</a:t>
            </a:r>
          </a:p>
          <a:p>
            <a:pPr algn="l"/>
            <a:r>
              <a:rPr sz="1400" b="0">
                <a:solidFill>
                  <a:srgbClr val="E5E7EB"/>
                </a:solidFill>
                <a:latin typeface="Consolas"/>
              </a:rPr>
              <a:t>  "func": "withdraw",</a:t>
            </a:r>
          </a:p>
          <a:p>
            <a:pPr algn="l"/>
            <a:r>
              <a:rPr sz="1400" b="0">
                <a:solidFill>
                  <a:srgbClr val="E5E7EB"/>
                </a:solidFill>
                <a:latin typeface="Consolas"/>
              </a:rPr>
              <a:t>  "args": {"amount": 60},</a:t>
            </a:r>
          </a:p>
          <a:p>
            <a:pPr algn="l"/>
            <a:r>
              <a:rPr sz="1400" b="0">
                <a:solidFill>
                  <a:srgbClr val="E5E7EB"/>
                </a:solidFill>
                <a:latin typeface="Consolas"/>
              </a:rPr>
              <a:t>  "ret": "ok"</a:t>
            </a:r>
          </a:p>
          <a:p>
            <a:pPr algn="l"/>
            <a:r>
              <a:rPr sz="1400" b="0">
                <a:solidFill>
                  <a:srgbClr val="E5E7EB"/>
                </a:solidFill>
                <a:latin typeface="Consolas"/>
              </a:rPr>
              <a:t>}</a:t>
            </a:r>
          </a:p>
        </p:txBody>
      </p:sp>
      <p:sp>
        <p:nvSpPr>
          <p:cNvPr id="9" name="TextBox 8"/>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Sample JSON log entry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Example: Annotated Execution Log</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Log shows successful withdrawal then retry</a:t>
            </a:r>
          </a:p>
          <a:p>
            <a:pPr marL="292608" indent="-292608">
              <a:spcAft>
                <a:spcPts val="1000"/>
              </a:spcAft>
              <a:buClr>
                <a:srgbClr val="0F766E"/>
              </a:buClr>
              <a:buFont typeface="Arial"/>
              <a:buChar char="▪"/>
            </a:pPr>
            <a:r>
              <a:rPr sz="2400">
                <a:solidFill>
                  <a:srgbClr val="1F2937"/>
                </a:solidFill>
                <a:latin typeface="Calibri"/>
              </a:rPr>
              <a:t>Annotations mark spec checkpoints</a:t>
            </a:r>
          </a:p>
          <a:p>
            <a:pPr marL="292608" indent="-292608">
              <a:spcAft>
                <a:spcPts val="1000"/>
              </a:spcAft>
              <a:buClr>
                <a:srgbClr val="0F766E"/>
              </a:buClr>
              <a:buFont typeface="Arial"/>
              <a:buChar char="▪"/>
            </a:pPr>
            <a:r>
              <a:rPr sz="2400">
                <a:solidFill>
                  <a:srgbClr val="1F2937"/>
                </a:solidFill>
                <a:latin typeface="Calibri"/>
              </a:rPr>
              <a:t>Deviations highlight failure points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text</a:t>
            </a:r>
          </a:p>
          <a:p>
            <a:pPr algn="l"/>
            <a:r>
              <a:rPr sz="1200" b="0">
                <a:solidFill>
                  <a:srgbClr val="E5E7EB"/>
                </a:solidFill>
                <a:latin typeface="Consolas"/>
              </a:rPr>
              <a:t>[INFO] CALL withdraw(amount=60)   # spec: sufficient balance</a:t>
            </a:r>
          </a:p>
          <a:p>
            <a:pPr algn="l"/>
            <a:r>
              <a:rPr sz="1200" b="0">
                <a:solidFill>
                  <a:srgbClr val="E5E7EB"/>
                </a:solidFill>
                <a:latin typeface="Consolas"/>
              </a:rPr>
              <a:t>[INFO] RETURN ok balance=40          # post‑condition met</a:t>
            </a:r>
          </a:p>
          <a:p>
            <a:pPr algn="l"/>
            <a:r>
              <a:rPr sz="1200" b="0">
                <a:solidFill>
                  <a:srgbClr val="E5E7EB"/>
                </a:solidFill>
                <a:latin typeface="Consolas"/>
              </a:rPr>
              <a:t>[WARN] CALL withdraw(amount=60)   # spec: insufficient balance</a:t>
            </a:r>
          </a:p>
          <a:p>
            <a:pPr algn="l"/>
            <a:r>
              <a:rPr sz="1200" b="0">
                <a:solidFill>
                  <a:srgbClr val="E5E7EB"/>
                </a:solidFill>
                <a:latin typeface="Consolas"/>
              </a:rPr>
              <a:t>[ERROR] RETURN fail "Insufficient funds"  # expected failure</a:t>
            </a:r>
          </a:p>
          <a:p>
            <a:pPr algn="l"/>
            <a:r>
              <a:rPr sz="1200" b="0">
                <a:solidFill>
                  <a:srgbClr val="E5E7EB"/>
                </a:solidFill>
                <a:latin typeface="Consolas"/>
              </a:rPr>
              <a:t>[INFO] REFLECT: all scenarios passed</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Annotated log excerpt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Worked Problem: Trace Log to Find Failure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Given a full execution log</a:t>
            </a:r>
          </a:p>
          <a:p>
            <a:pPr marL="292608" indent="-292608">
              <a:spcAft>
                <a:spcPts val="1000"/>
              </a:spcAft>
              <a:buClr>
                <a:srgbClr val="0F766E"/>
              </a:buClr>
              <a:buFont typeface="Arial"/>
              <a:buChar char="▪"/>
            </a:pPr>
            <a:r>
              <a:rPr sz="2400">
                <a:solidFill>
                  <a:srgbClr val="1F2937"/>
                </a:solidFill>
                <a:latin typeface="Calibri"/>
              </a:rPr>
              <a:t>Identify control‑flow steps for each scenario</a:t>
            </a:r>
          </a:p>
          <a:p>
            <a:pPr marL="292608" indent="-292608">
              <a:spcAft>
                <a:spcPts val="1000"/>
              </a:spcAft>
              <a:buClr>
                <a:srgbClr val="0F766E"/>
              </a:buClr>
              <a:buFont typeface="Arial"/>
              <a:buChar char="▪"/>
            </a:pPr>
            <a:r>
              <a:rPr sz="2400">
                <a:solidFill>
                  <a:srgbClr val="1F2937"/>
                </a:solidFill>
                <a:latin typeface="Calibri"/>
              </a:rPr>
              <a:t>Locate the first deviation from spec</a:t>
            </a:r>
          </a:p>
          <a:p>
            <a:pPr marL="292608" indent="-292608">
              <a:spcAft>
                <a:spcPts val="1000"/>
              </a:spcAft>
              <a:buClr>
                <a:srgbClr val="0F766E"/>
              </a:buClr>
              <a:buFont typeface="Arial"/>
              <a:buChar char="▪"/>
            </a:pPr>
            <a:r>
              <a:rPr sz="2400">
                <a:solidFill>
                  <a:srgbClr val="1F2937"/>
                </a:solidFill>
                <a:latin typeface="Calibri"/>
              </a:rPr>
              <a:t>Classify failure cause: logic, env, spec mismatch</a:t>
            </a:r>
          </a:p>
          <a:p>
            <a:pPr marL="292608" indent="-292608">
              <a:spcAft>
                <a:spcPts val="1000"/>
              </a:spcAft>
              <a:buClr>
                <a:srgbClr val="0F766E"/>
              </a:buClr>
              <a:buFont typeface="Arial"/>
              <a:buChar char="▪"/>
            </a:pPr>
            <a:r>
              <a:rPr sz="2400">
                <a:solidFill>
                  <a:srgbClr val="1F2937"/>
                </a:solidFill>
                <a:latin typeface="Calibri"/>
              </a:rPr>
              <a:t>Record evidence (log lines) for each cause</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text</a:t>
            </a:r>
          </a:p>
          <a:p>
            <a:pPr algn="l"/>
            <a:r>
              <a:rPr sz="1200" b="0">
                <a:solidFill>
                  <a:srgbClr val="E5E7EB"/>
                </a:solidFill>
                <a:latin typeface="Consolas"/>
              </a:rPr>
              <a:t>[INFO] CALL withdraw(amount=60)</a:t>
            </a:r>
          </a:p>
          <a:p>
            <a:pPr algn="l"/>
            <a:r>
              <a:rPr sz="1200" b="0">
                <a:solidFill>
                  <a:srgbClr val="E5E7EB"/>
                </a:solidFill>
                <a:latin typeface="Consolas"/>
              </a:rPr>
              <a:t>[INFO] BRANCH balance&gt;=amount? false   # bug: condition reversed</a:t>
            </a:r>
          </a:p>
          <a:p>
            <a:pPr algn="l"/>
            <a:r>
              <a:rPr sz="1200" b="0">
                <a:solidFill>
                  <a:srgbClr val="E5E7EB"/>
                </a:solidFill>
                <a:latin typeface="Consolas"/>
              </a:rPr>
              <a:t>[ERROR] RETURN fail "Insufficient funds"</a:t>
            </a:r>
          </a:p>
          <a:p>
            <a:pPr algn="l"/>
            <a:r>
              <a:rPr sz="1200" b="0">
                <a:solidFill>
                  <a:srgbClr val="E5E7EB"/>
                </a:solidFill>
                <a:latin typeface="Consolas"/>
              </a:rPr>
              <a:t>[INFO] REFLECT: scenario 1 failed</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Log snippet with injected bug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Loop Engineering &amp; Tracing</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In an iterative loop engineering log, which event type most directly reveals a branch decision that caused a spec violation?</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CALL</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RETURN</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BRANCH</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REFLECT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Hands‑On: Write Spec, Run Agent, Inspect Log</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Pair up: each pair gets a tiny requirement</a:t>
            </a:r>
          </a:p>
          <a:p>
            <a:pPr marL="292608" indent="-292608">
              <a:spcAft>
                <a:spcPts val="1000"/>
              </a:spcAft>
              <a:buClr>
                <a:srgbClr val="0F766E"/>
              </a:buClr>
              <a:buFont typeface="Arial"/>
              <a:buChar char="▪"/>
            </a:pPr>
            <a:r>
              <a:rPr sz="2400">
                <a:solidFill>
                  <a:srgbClr val="1F2937"/>
                </a:solidFill>
                <a:latin typeface="Calibri"/>
              </a:rPr>
              <a:t>Write executable spec (Gherkin)</a:t>
            </a:r>
          </a:p>
          <a:p>
            <a:pPr marL="292608" indent="-292608">
              <a:spcAft>
                <a:spcPts val="1000"/>
              </a:spcAft>
              <a:buClr>
                <a:srgbClr val="0F766E"/>
              </a:buClr>
              <a:buFont typeface="Arial"/>
              <a:buChar char="▪"/>
            </a:pPr>
            <a:r>
              <a:rPr sz="2400">
                <a:solidFill>
                  <a:srgbClr val="1F2937"/>
                </a:solidFill>
                <a:latin typeface="Calibri"/>
              </a:rPr>
              <a:t>Invoke coding agent via provided API</a:t>
            </a:r>
          </a:p>
          <a:p>
            <a:pPr marL="292608" indent="-292608">
              <a:spcAft>
                <a:spcPts val="1000"/>
              </a:spcAft>
              <a:buClr>
                <a:srgbClr val="0F766E"/>
              </a:buClr>
              <a:buFont typeface="Arial"/>
              <a:buChar char="▪"/>
            </a:pPr>
            <a:r>
              <a:rPr sz="2400">
                <a:solidFill>
                  <a:srgbClr val="1F2937"/>
                </a:solidFill>
                <a:latin typeface="Calibri"/>
              </a:rPr>
              <a:t>Collect execution log, annotate checkpoints</a:t>
            </a:r>
          </a:p>
          <a:p>
            <a:pPr marL="292608" indent="-292608">
              <a:spcAft>
                <a:spcPts val="1000"/>
              </a:spcAft>
              <a:buClr>
                <a:srgbClr val="0F766E"/>
              </a:buClr>
              <a:buFont typeface="Arial"/>
              <a:buChar char="▪"/>
            </a:pPr>
            <a:r>
              <a:rPr sz="2400">
                <a:solidFill>
                  <a:srgbClr val="1F2937"/>
                </a:solidFill>
                <a:latin typeface="Calibri"/>
              </a:rPr>
              <a:t>Identify any spec violations and classify causes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Summary: Specs, Generation, and Loop Engineering</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Executable specs are the contract for every public method</a:t>
            </a:r>
          </a:p>
          <a:p>
            <a:pPr marL="292608" indent="-292608">
              <a:spcAft>
                <a:spcPts val="1000"/>
              </a:spcAft>
              <a:buClr>
                <a:srgbClr val="0F766E"/>
              </a:buClr>
              <a:buFont typeface="Arial"/>
              <a:buChar char="▪"/>
            </a:pPr>
            <a:r>
              <a:rPr sz="2400">
                <a:solidFill>
                  <a:srgbClr val="1F2937"/>
                </a:solidFill>
                <a:latin typeface="Calibri"/>
              </a:rPr>
              <a:t>AI agents generate code from specs; tests close the loop</a:t>
            </a:r>
          </a:p>
          <a:p>
            <a:pPr marL="292608" indent="-292608">
              <a:spcAft>
                <a:spcPts val="1000"/>
              </a:spcAft>
              <a:buClr>
                <a:srgbClr val="0F766E"/>
              </a:buClr>
              <a:buFont typeface="Arial"/>
              <a:buChar char="▪"/>
            </a:pPr>
            <a:r>
              <a:rPr sz="2400">
                <a:solidFill>
                  <a:srgbClr val="1F2937"/>
                </a:solidFill>
                <a:latin typeface="Calibri"/>
              </a:rPr>
              <a:t>Iterative loops: plan → generate → execute → reflect</a:t>
            </a:r>
          </a:p>
          <a:p>
            <a:pPr marL="292608" indent="-292608">
              <a:spcAft>
                <a:spcPts val="1000"/>
              </a:spcAft>
              <a:buClr>
                <a:srgbClr val="0F766E"/>
              </a:buClr>
              <a:buFont typeface="Arial"/>
              <a:buChar char="▪"/>
            </a:pPr>
            <a:r>
              <a:rPr sz="2400">
                <a:solidFill>
                  <a:srgbClr val="1F2937"/>
                </a:solidFill>
                <a:latin typeface="Calibri"/>
              </a:rPr>
              <a:t>Structured logs enable full control‑flow tracing</a:t>
            </a:r>
          </a:p>
          <a:p>
            <a:pPr marL="292608" indent="-292608">
              <a:spcAft>
                <a:spcPts val="1000"/>
              </a:spcAft>
              <a:buClr>
                <a:srgbClr val="0F766E"/>
              </a:buClr>
              <a:buFont typeface="Arial"/>
              <a:buChar char="▪"/>
            </a:pPr>
            <a:r>
              <a:rPr sz="2400">
                <a:solidFill>
                  <a:srgbClr val="1F2937"/>
                </a:solidFill>
                <a:latin typeface="Calibri"/>
              </a:rPr>
              <a:t>Failure classification requires log evidence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W07.S1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18</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Competition-level code generation with AlphaCode (2022). https://doi.org/10.1126/science.abq1158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