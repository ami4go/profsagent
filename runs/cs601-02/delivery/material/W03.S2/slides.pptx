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Assign1,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previous session on coding agents, we saw how models use workspace context to understand repository structures. Today, we focus on extending agent capabilities by integrating custom tools using the Model Context Protocol (MCP). Without a standard protocol, connecting an agent in an IDE to a local linter, build system, or custom API requires writing custom glue code for every tool and environment combination.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Context Protocol (MCP) solves the N-by-M integration problem in AI-assisted development. Instead of every AI host creating custom drivers for every tool, MCP standardizes how AI applications connect to context providers and tool executors.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critical to understand the relationship between Hosts, Clients, and Servers. An MCP Host coordinates the application. To connect to tools, the host creates separate MCP Clients. Each MCP Client maintains a logical connection to a single MCP Server. If a workspace uses three servers (a database server, a linter server, and a git server), the host creates three clients. Standard transports include stdio for local child processes and Streamable HTTP for network services, while HTTP+SSE is a legacy transport.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defines three core primitives: Resources, Prompts, and Tools. Notice the distinct role of Tools: they are designed for actions that modify state or execute commands in the workspace. Tools define their accepted input arguments using JSON Schema, while their output is returned as structured MCP content blocks like text stdout, error reports, or images.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Defining a clean JSON Schema is necessary for the AI model to construct valid calls. However, never rely on the model alone for system security or program safety. Schema guidance reduces malformed calls, but the MCP Server must validate incoming arguments on the server side before executing any shell command or linter.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writing a custom tool schema. Notice how every parameter includes a clear description. The linterName parameter restricts options via an enum array to prevent arbitrary binary execution.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check our understanding of MCP client-server topology and schema rules before moving on to code implementation.</a:t>
            </a:r>
          </a:p>
          <a:p/>
          <a:p>
            <a:r>
              <a:t>Answer: B. An MCP Client maintains a logical connection to a specific MCP Server, using stdio or Streamable HTTP transport.</a:t>
            </a:r>
          </a:p>
          <a:p>
            <a:r>
              <a:t>Option 1 is correct: an MCP Client maintains a logical connection to a particular MCP Server over stdio or Streamable HTTP. Option 0 is false because hosts create clients to manage connections. Option 2 is false because JSON Schema defines tool input arguments, not output return types, and Streamable HTTP is preferred over legacy HTTP+SSE. Option 3 is false because input validation occurs on the MCP Server upon receiving a call request.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complete server handler implementation in TypeScript. Notice two essential practices: first, we explicitly validate that filePath and linterName match our expected constraints before calling execSync. Second, we capture errors safely using modern TypeScript typing.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your server code is written, you register it in the workspace configuration file. The agent host reads this configuration and automatically creates an MCP Client to launch or connect to the server when starting an agent session.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strict development environments, integration tasks require zero static analysis warnings. Common configuration issues include missing environmental variables or ambiguous type assertions in tool handlers.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how the catch block types `err` as `unknown`. Accessing `err.message` directly causes a static analyzer diagnostic error. By creating a helper with an `instanceof Error` guard, we satisfy strict compiler checks and avoid runtime crashes.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it is time for practical exercise. Open your development environment and implement the custom linter server. Make sure to run your workspace static analyzer until all warnings are resolved, and run the public test suite.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this check to reinforce how static analysis issues should be solved cleanly without disabling strict compiler flags.</a:t>
            </a:r>
          </a:p>
          <a:p/>
          <a:p>
            <a:r>
              <a:t>Answer: C. Narrow the caught error using an 'err instanceof Error' check before accessing err.message.</a:t>
            </a:r>
          </a:p>
          <a:p>
            <a:r>
              <a:t>Option 2 is correct because in strict TypeScript, caught errors are of type 'unknown' and must be narrowed (e.g., via 'err instanceof Error') before accessing properties. Option 0 uses 'any' which circumvents type checking and violates workspace standards. Option 1 disables strict checks rather than resolving the code issue. Option 3 confuses runtime MCP input schema with static compiler error handling.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MCP provides a clean standard for integrating external tools into AI agent workspaces. Remember to validate inputs on the server, configure stdio or Streamable HTTP transports properly, and ensure strict type narrowing to eliminate all static analysis warnings.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Custom tool integrations using model context protocols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3 · Agent Workspaces and Tool Integrations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Configure custom tool integrations within agent workspaces using model context protocols, with all public tests passing and no warnings from the configured static analyser (CO1.LO2)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Agent Workspaces and External Tools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Coding agents extend LLM capabilities by executing external tools within local workspace environments.</a:t>
            </a:r>
          </a:p>
          <a:p>
            <a:pPr marL="292608" indent="-292608">
              <a:spcAft>
                <a:spcPts val="1000"/>
              </a:spcAft>
              <a:buClr>
                <a:srgbClr val="0F766E"/>
              </a:buClr>
              <a:buFont typeface="Arial"/>
              <a:buChar char="▪"/>
            </a:pPr>
            <a:r>
              <a:rPr sz="2400">
                <a:solidFill>
                  <a:srgbClr val="1F2937"/>
                </a:solidFill>
                <a:latin typeface="Calibri"/>
              </a:rPr>
              <a:t>Custom tool integrations allow agents to run linters, query databases, and execute custom scripts.</a:t>
            </a:r>
          </a:p>
          <a:p>
            <a:pPr marL="292608" indent="-292608">
              <a:spcAft>
                <a:spcPts val="1000"/>
              </a:spcAft>
              <a:buClr>
                <a:srgbClr val="0F766E"/>
              </a:buClr>
              <a:buFont typeface="Arial"/>
              <a:buChar char="▪"/>
            </a:pPr>
            <a:r>
              <a:rPr sz="2400">
                <a:solidFill>
                  <a:srgbClr val="1F2937"/>
                </a:solidFill>
                <a:latin typeface="Calibri"/>
              </a:rPr>
              <a:t>Standardized protocols prevent custom, brittle integration code for every tool and IDE pair.</a:t>
            </a:r>
          </a:p>
          <a:p>
            <a:pPr marL="292608" indent="-292608">
              <a:spcAft>
                <a:spcPts val="1000"/>
              </a:spcAft>
              <a:buClr>
                <a:srgbClr val="0F766E"/>
              </a:buClr>
              <a:buFont typeface="Arial"/>
              <a:buChar char="▪"/>
            </a:pPr>
            <a:r>
              <a:rPr sz="2400">
                <a:solidFill>
                  <a:srgbClr val="1F2937"/>
                </a:solidFill>
                <a:latin typeface="Calibri"/>
              </a:rPr>
              <a:t>Clean workspace configuration requires zero static analysis warnings and passing integration tests.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What is the Model Context Protocol (MCP)?</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200">
                <a:solidFill>
                  <a:srgbClr val="1F2937"/>
                </a:solidFill>
                <a:latin typeface="Calibri"/>
              </a:rPr>
              <a:t>MCP is an open standard enabling AI models to interact securely with local and remote context sources.</a:t>
            </a:r>
          </a:p>
          <a:p>
            <a:pPr marL="292608" indent="-292608">
              <a:spcAft>
                <a:spcPts val="1000"/>
              </a:spcAft>
              <a:buClr>
                <a:srgbClr val="0F766E"/>
              </a:buClr>
              <a:buFont typeface="Arial"/>
              <a:buChar char="▪"/>
            </a:pPr>
            <a:r>
              <a:rPr sz="2200">
                <a:solidFill>
                  <a:srgbClr val="1F2937"/>
                </a:solidFill>
                <a:latin typeface="Calibri"/>
              </a:rPr>
              <a:t>Decouples AI application hosts from specific tool implementations using standard client-server interfaces.</a:t>
            </a:r>
          </a:p>
          <a:p>
            <a:pPr marL="292608" indent="-292608">
              <a:spcAft>
                <a:spcPts val="1000"/>
              </a:spcAft>
              <a:buClr>
                <a:srgbClr val="0F766E"/>
              </a:buClr>
              <a:buFont typeface="Arial"/>
              <a:buChar char="▪"/>
            </a:pPr>
            <a:r>
              <a:rPr sz="2200">
                <a:solidFill>
                  <a:srgbClr val="1F2937"/>
                </a:solidFill>
                <a:latin typeface="Calibri"/>
              </a:rPr>
              <a:t>Replaces bespoke plug-in adapters with uniform protocol interfaces across development environments.</a:t>
            </a:r>
          </a:p>
          <a:p>
            <a:pPr marL="292608" indent="-292608">
              <a:spcAft>
                <a:spcPts val="1000"/>
              </a:spcAft>
              <a:buClr>
                <a:srgbClr val="0F766E"/>
              </a:buClr>
              <a:buFont typeface="Arial"/>
              <a:buChar char="▪"/>
            </a:pPr>
            <a:r>
              <a:rPr sz="2200">
                <a:solidFill>
                  <a:srgbClr val="1F2937"/>
                </a:solidFill>
                <a:latin typeface="Calibri"/>
              </a:rPr>
              <a:t>Provides structured workflows for context retrieval, template prompts, and executable tool calls.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LLM Host</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Client</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Protocol Transport</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Server</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Workspace Tool</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MCP architecture decoupling host applications from workspace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MCP Architecture: Hosts, Clients, and Servers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An MCP Host (e.g., IDE or agent runner) manages user interactions and coordinates AI sessions.</a:t>
            </a:r>
          </a:p>
          <a:p>
            <a:pPr marL="292608" indent="-292608">
              <a:spcAft>
                <a:spcPts val="1000"/>
              </a:spcAft>
              <a:buClr>
                <a:srgbClr val="0F766E"/>
              </a:buClr>
              <a:buFont typeface="Arial"/>
              <a:buChar char="▪"/>
            </a:pPr>
            <a:r>
              <a:rPr sz="2400">
                <a:solidFill>
                  <a:srgbClr val="1F2937"/>
                </a:solidFill>
                <a:latin typeface="Calibri"/>
              </a:rPr>
              <a:t>An MCP Client maintains a logical connection to a particular MCP Server.</a:t>
            </a:r>
          </a:p>
          <a:p>
            <a:pPr marL="292608" indent="-292608">
              <a:spcAft>
                <a:spcPts val="1000"/>
              </a:spcAft>
              <a:buClr>
                <a:srgbClr val="0F766E"/>
              </a:buClr>
              <a:buFont typeface="Arial"/>
              <a:buChar char="▪"/>
            </a:pPr>
            <a:r>
              <a:rPr sz="2400">
                <a:solidFill>
                  <a:srgbClr val="1F2937"/>
                </a:solidFill>
                <a:latin typeface="Calibri"/>
              </a:rPr>
              <a:t>A host may instantiate multiple clients to communicate with multiple specialized servers simultaneously.</a:t>
            </a:r>
          </a:p>
          <a:p>
            <a:pPr marL="292608" indent="-292608">
              <a:spcAft>
                <a:spcPts val="1000"/>
              </a:spcAft>
              <a:buClr>
                <a:srgbClr val="0F766E"/>
              </a:buClr>
              <a:buFont typeface="Arial"/>
              <a:buChar char="▪"/>
            </a:pPr>
            <a:r>
              <a:rPr sz="2400">
                <a:solidFill>
                  <a:srgbClr val="1F2937"/>
                </a:solidFill>
                <a:latin typeface="Calibri"/>
              </a:rPr>
              <a:t>Communication uses standard transports: local stdio for subprocesses or Streamable HTTP for remote servers.</a:t>
            </a:r>
          </a:p>
          <a:p>
            <a:pPr marL="292608" indent="-292608">
              <a:spcAft>
                <a:spcPts val="1000"/>
              </a:spcAft>
              <a:buClr>
                <a:srgbClr val="0F766E"/>
              </a:buClr>
              <a:buFont typeface="Arial"/>
              <a:buChar char="▪"/>
            </a:pPr>
            <a:r>
              <a:rPr sz="2400">
                <a:solidFill>
                  <a:srgbClr val="1F2937"/>
                </a:solidFill>
                <a:latin typeface="Calibri"/>
              </a:rPr>
              <a:t>HTTP+SSE remains as a legacy transport mechanism in older implementations.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MCP Core Primitives: Resources, Prompts, and Tools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Resources expose readable context data like log files, database schemas, or workspace documentation.</a:t>
            </a:r>
          </a:p>
          <a:p>
            <a:pPr marL="292608" indent="-292608">
              <a:spcAft>
                <a:spcPts val="1000"/>
              </a:spcAft>
              <a:buClr>
                <a:srgbClr val="0F766E"/>
              </a:buClr>
              <a:buFont typeface="Arial"/>
              <a:buChar char="▪"/>
            </a:pPr>
            <a:r>
              <a:rPr sz="1800">
                <a:solidFill>
                  <a:srgbClr val="1F2937"/>
                </a:solidFill>
                <a:latin typeface="Calibri"/>
              </a:rPr>
              <a:t>Prompts provide reusable template structures to guide model reasoning for specific tasks.</a:t>
            </a:r>
          </a:p>
          <a:p>
            <a:pPr marL="292608" indent="-292608">
              <a:spcAft>
                <a:spcPts val="1000"/>
              </a:spcAft>
              <a:buClr>
                <a:srgbClr val="0F766E"/>
              </a:buClr>
              <a:buFont typeface="Arial"/>
              <a:buChar char="▪"/>
            </a:pPr>
            <a:r>
              <a:rPr sz="1800">
                <a:solidFill>
                  <a:srgbClr val="1F2937"/>
                </a:solidFill>
                <a:latin typeface="Calibri"/>
              </a:rPr>
              <a:t>Tools allow models to perform side-effect actions such as running builds or invoking static analyzers.</a:t>
            </a:r>
          </a:p>
          <a:p>
            <a:pPr marL="292608" indent="-292608">
              <a:spcAft>
                <a:spcPts val="1000"/>
              </a:spcAft>
              <a:buClr>
                <a:srgbClr val="0F766E"/>
              </a:buClr>
              <a:buFont typeface="Arial"/>
              <a:buChar char="▪"/>
            </a:pPr>
            <a:r>
              <a:rPr sz="1800">
                <a:solidFill>
                  <a:srgbClr val="1F2937"/>
                </a:solidFill>
                <a:latin typeface="Calibri"/>
              </a:rPr>
              <a:t>Tools use JSON Schema to define their input arguments so models know how to call them.</a:t>
            </a:r>
          </a:p>
          <a:p>
            <a:pPr marL="292608" indent="-292608">
              <a:spcAft>
                <a:spcPts val="1000"/>
              </a:spcAft>
              <a:buClr>
                <a:srgbClr val="0F766E"/>
              </a:buClr>
              <a:buFont typeface="Arial"/>
              <a:buChar char="▪"/>
            </a:pPr>
            <a:r>
              <a:rPr sz="1800">
                <a:solidFill>
                  <a:srgbClr val="1F2937"/>
                </a:solidFill>
                <a:latin typeface="Calibri"/>
              </a:rPr>
              <a:t>Tool execution results return as structured MCP content, including text, images, or resource references.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239890"/>
                <a:gridCol w="1239890"/>
                <a:gridCol w="1239890"/>
                <a:gridCol w="1239890"/>
              </a:tblGrid>
              <a:tr h="502920">
                <a:tc>
                  <a:txBody>
                    <a:bodyPr/>
                    <a:lstStyle/>
                    <a:p>
                      <a:r>
                        <a:rPr sz="1400" b="1">
                          <a:solidFill>
                            <a:srgbClr val="CCFBF1"/>
                          </a:solidFill>
                          <a:latin typeface="Calibri"/>
                        </a:rPr>
                        <a:t>Primitive</a:t>
                      </a:r>
                    </a:p>
                  </a:txBody>
                  <a:tcPr>
                    <a:solidFill>
                      <a:srgbClr val="0F766E"/>
                    </a:solidFill>
                  </a:tcPr>
                </a:tc>
                <a:tc>
                  <a:txBody>
                    <a:bodyPr/>
                    <a:lstStyle/>
                    <a:p>
                      <a:r>
                        <a:rPr sz="1400" b="1">
                          <a:solidFill>
                            <a:srgbClr val="CCFBF1"/>
                          </a:solidFill>
                          <a:latin typeface="Calibri"/>
                        </a:rPr>
                        <a:t>Direction</a:t>
                      </a:r>
                    </a:p>
                  </a:txBody>
                  <a:tcPr>
                    <a:solidFill>
                      <a:srgbClr val="0F766E"/>
                    </a:solidFill>
                  </a:tcPr>
                </a:tc>
                <a:tc>
                  <a:txBody>
                    <a:bodyPr/>
                    <a:lstStyle/>
                    <a:p>
                      <a:r>
                        <a:rPr sz="1400" b="1">
                          <a:solidFill>
                            <a:srgbClr val="CCFBF1"/>
                          </a:solidFill>
                          <a:latin typeface="Calibri"/>
                        </a:rPr>
                        <a:t>Purpose</a:t>
                      </a:r>
                    </a:p>
                  </a:txBody>
                  <a:tcPr>
                    <a:solidFill>
                      <a:srgbClr val="0F766E"/>
                    </a:solidFill>
                  </a:tcPr>
                </a:tc>
                <a:tc>
                  <a:txBody>
                    <a:bodyPr/>
                    <a:lstStyle/>
                    <a:p>
                      <a:r>
                        <a:rPr sz="1400" b="1">
                          <a:solidFill>
                            <a:srgbClr val="CCFBF1"/>
                          </a:solidFill>
                          <a:latin typeface="Calibri"/>
                        </a:rPr>
                        <a:t>Data Format</a:t>
                      </a:r>
                    </a:p>
                  </a:txBody>
                  <a:tcPr>
                    <a:solidFill>
                      <a:srgbClr val="0F766E"/>
                    </a:solidFill>
                  </a:tcPr>
                </a:tc>
              </a:tr>
              <a:tr h="502920">
                <a:tc>
                  <a:txBody>
                    <a:bodyPr/>
                    <a:lstStyle/>
                    <a:p>
                      <a:r>
                        <a:rPr sz="1400" b="0">
                          <a:solidFill>
                            <a:srgbClr val="1F2937"/>
                          </a:solidFill>
                          <a:latin typeface="Calibri"/>
                        </a:rPr>
                        <a:t>Resources</a:t>
                      </a:r>
                    </a:p>
                  </a:txBody>
                  <a:tcPr>
                    <a:solidFill>
                      <a:srgbClr val="F3F4F6"/>
                    </a:solidFill>
                  </a:tcPr>
                </a:tc>
                <a:tc>
                  <a:txBody>
                    <a:bodyPr/>
                    <a:lstStyle/>
                    <a:p>
                      <a:r>
                        <a:rPr sz="1400" b="0">
                          <a:solidFill>
                            <a:srgbClr val="1F2937"/>
                          </a:solidFill>
                          <a:latin typeface="Calibri"/>
                        </a:rPr>
                        <a:t>Server to Client</a:t>
                      </a:r>
                    </a:p>
                  </a:txBody>
                  <a:tcPr>
                    <a:solidFill>
                      <a:srgbClr val="F3F4F6"/>
                    </a:solidFill>
                  </a:tcPr>
                </a:tc>
                <a:tc>
                  <a:txBody>
                    <a:bodyPr/>
                    <a:lstStyle/>
                    <a:p>
                      <a:r>
                        <a:rPr sz="1400" b="0">
                          <a:solidFill>
                            <a:srgbClr val="1F2937"/>
                          </a:solidFill>
                          <a:latin typeface="Calibri"/>
                        </a:rPr>
                        <a:t>Expose readable context</a:t>
                      </a:r>
                    </a:p>
                  </a:txBody>
                  <a:tcPr>
                    <a:solidFill>
                      <a:srgbClr val="F3F4F6"/>
                    </a:solidFill>
                  </a:tcPr>
                </a:tc>
                <a:tc>
                  <a:txBody>
                    <a:bodyPr/>
                    <a:lstStyle/>
                    <a:p>
                      <a:r>
                        <a:rPr sz="1400" b="0">
                          <a:solidFill>
                            <a:srgbClr val="1F2937"/>
                          </a:solidFill>
                          <a:latin typeface="Calibri"/>
                        </a:rPr>
                        <a:t>Text / Binary Data</a:t>
                      </a:r>
                    </a:p>
                  </a:txBody>
                  <a:tcPr>
                    <a:solidFill>
                      <a:srgbClr val="F3F4F6"/>
                    </a:solidFill>
                  </a:tcPr>
                </a:tc>
              </a:tr>
              <a:tr h="502920">
                <a:tc>
                  <a:txBody>
                    <a:bodyPr/>
                    <a:lstStyle/>
                    <a:p>
                      <a:r>
                        <a:rPr sz="1400" b="0">
                          <a:solidFill>
                            <a:srgbClr val="1F2937"/>
                          </a:solidFill>
                          <a:latin typeface="Calibri"/>
                        </a:rPr>
                        <a:t>Prompts</a:t>
                      </a:r>
                    </a:p>
                  </a:txBody>
                  <a:tcPr>
                    <a:solidFill>
                      <a:srgbClr val="F3F4F6"/>
                    </a:solidFill>
                  </a:tcPr>
                </a:tc>
                <a:tc>
                  <a:txBody>
                    <a:bodyPr/>
                    <a:lstStyle/>
                    <a:p>
                      <a:r>
                        <a:rPr sz="1400" b="0">
                          <a:solidFill>
                            <a:srgbClr val="1F2937"/>
                          </a:solidFill>
                          <a:latin typeface="Calibri"/>
                        </a:rPr>
                        <a:t>Server to Client</a:t>
                      </a:r>
                    </a:p>
                  </a:txBody>
                  <a:tcPr>
                    <a:solidFill>
                      <a:srgbClr val="F3F4F6"/>
                    </a:solidFill>
                  </a:tcPr>
                </a:tc>
                <a:tc>
                  <a:txBody>
                    <a:bodyPr/>
                    <a:lstStyle/>
                    <a:p>
                      <a:r>
                        <a:rPr sz="1400" b="0">
                          <a:solidFill>
                            <a:srgbClr val="1F2937"/>
                          </a:solidFill>
                          <a:latin typeface="Calibri"/>
                        </a:rPr>
                        <a:t>Provide contextual templates</a:t>
                      </a:r>
                    </a:p>
                  </a:txBody>
                  <a:tcPr>
                    <a:solidFill>
                      <a:srgbClr val="F3F4F6"/>
                    </a:solidFill>
                  </a:tcPr>
                </a:tc>
                <a:tc>
                  <a:txBody>
                    <a:bodyPr/>
                    <a:lstStyle/>
                    <a:p>
                      <a:r>
                        <a:rPr sz="1400" b="0">
                          <a:solidFill>
                            <a:srgbClr val="1F2937"/>
                          </a:solidFill>
                          <a:latin typeface="Calibri"/>
                        </a:rPr>
                        <a:t>Prompt Messages</a:t>
                      </a:r>
                    </a:p>
                  </a:txBody>
                  <a:tcPr>
                    <a:solidFill>
                      <a:srgbClr val="F3F4F6"/>
                    </a:solidFill>
                  </a:tcPr>
                </a:tc>
              </a:tr>
              <a:tr h="502920">
                <a:tc>
                  <a:txBody>
                    <a:bodyPr/>
                    <a:lstStyle/>
                    <a:p>
                      <a:r>
                        <a:rPr sz="1400" b="0">
                          <a:solidFill>
                            <a:srgbClr val="1F2937"/>
                          </a:solidFill>
                          <a:latin typeface="Calibri"/>
                        </a:rPr>
                        <a:t>Tools</a:t>
                      </a:r>
                    </a:p>
                  </a:txBody>
                  <a:tcPr>
                    <a:solidFill>
                      <a:srgbClr val="F3F4F6"/>
                    </a:solidFill>
                  </a:tcPr>
                </a:tc>
                <a:tc>
                  <a:txBody>
                    <a:bodyPr/>
                    <a:lstStyle/>
                    <a:p>
                      <a:r>
                        <a:rPr sz="1400" b="0">
                          <a:solidFill>
                            <a:srgbClr val="1F2937"/>
                          </a:solidFill>
                          <a:latin typeface="Calibri"/>
                        </a:rPr>
                        <a:t>Client to Server</a:t>
                      </a:r>
                    </a:p>
                  </a:txBody>
                  <a:tcPr>
                    <a:solidFill>
                      <a:srgbClr val="F3F4F6"/>
                    </a:solidFill>
                  </a:tcPr>
                </a:tc>
                <a:tc>
                  <a:txBody>
                    <a:bodyPr/>
                    <a:lstStyle/>
                    <a:p>
                      <a:r>
                        <a:rPr sz="1400" b="0">
                          <a:solidFill>
                            <a:srgbClr val="1F2937"/>
                          </a:solidFill>
                          <a:latin typeface="Calibri"/>
                        </a:rPr>
                        <a:t>Execute workspace actions</a:t>
                      </a:r>
                    </a:p>
                  </a:txBody>
                  <a:tcPr>
                    <a:solidFill>
                      <a:srgbClr val="F3F4F6"/>
                    </a:solidFill>
                  </a:tcPr>
                </a:tc>
                <a:tc>
                  <a:txBody>
                    <a:bodyPr/>
                    <a:lstStyle/>
                    <a:p>
                      <a:r>
                        <a:rPr sz="1400" b="0">
                          <a:solidFill>
                            <a:srgbClr val="1F2937"/>
                          </a:solidFill>
                          <a:latin typeface="Calibri"/>
                        </a:rPr>
                        <a:t>JSON Input / Content Output</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Comparison of MCP Core Primitives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Tool Schema Definitions and Input Validation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Tools declare exact parameter types, descriptions, and required fields using JSON Schema format.</a:t>
            </a:r>
          </a:p>
          <a:p>
            <a:pPr marL="292608" indent="-292608">
              <a:spcAft>
                <a:spcPts val="1000"/>
              </a:spcAft>
              <a:buClr>
                <a:srgbClr val="0F766E"/>
              </a:buClr>
              <a:buFont typeface="Arial"/>
              <a:buChar char="▪"/>
            </a:pPr>
            <a:r>
              <a:rPr sz="2400">
                <a:solidFill>
                  <a:srgbClr val="1F2937"/>
                </a:solidFill>
                <a:latin typeface="Calibri"/>
              </a:rPr>
              <a:t>Clear parameter descriptions guide model call generation, reducing malformed parameter attempts.</a:t>
            </a:r>
          </a:p>
          <a:p>
            <a:pPr marL="292608" indent="-292608">
              <a:spcAft>
                <a:spcPts val="1000"/>
              </a:spcAft>
              <a:buClr>
                <a:srgbClr val="0F766E"/>
              </a:buClr>
              <a:buFont typeface="Arial"/>
              <a:buChar char="▪"/>
            </a:pPr>
            <a:r>
              <a:rPr sz="2400">
                <a:solidFill>
                  <a:srgbClr val="1F2937"/>
                </a:solidFill>
                <a:latin typeface="Calibri"/>
              </a:rPr>
              <a:t>Schema guidance reduces but does not eliminate malformed tool call attempts by models.</a:t>
            </a:r>
          </a:p>
          <a:p>
            <a:pPr marL="292608" indent="-292608">
              <a:spcAft>
                <a:spcPts val="1000"/>
              </a:spcAft>
              <a:buClr>
                <a:srgbClr val="0F766E"/>
              </a:buClr>
              <a:buFont typeface="Arial"/>
              <a:buChar char="▪"/>
            </a:pPr>
            <a:r>
              <a:rPr sz="2400">
                <a:solidFill>
                  <a:srgbClr val="1F2937"/>
                </a:solidFill>
                <a:latin typeface="Calibri"/>
              </a:rPr>
              <a:t>Server-side validation rejects invalid arguments before executing actual tool or shell logic.</a:t>
            </a:r>
          </a:p>
          <a:p>
            <a:pPr marL="292608" indent="-292608">
              <a:spcAft>
                <a:spcPts val="1000"/>
              </a:spcAft>
              <a:buClr>
                <a:srgbClr val="0F766E"/>
              </a:buClr>
              <a:buFont typeface="Arial"/>
              <a:buChar char="▪"/>
            </a:pPr>
            <a:r>
              <a:rPr sz="2400">
                <a:solidFill>
                  <a:srgbClr val="1F2937"/>
                </a:solidFill>
                <a:latin typeface="Calibri"/>
              </a:rPr>
              <a:t>Structured error responses inform the agent of validation failures so it can retry correctly.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Worked Problem: Writing a Tool Definition in JSON Schema</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100">
                <a:solidFill>
                  <a:srgbClr val="1F2937"/>
                </a:solidFill>
                <a:latin typeface="Calibri"/>
              </a:rPr>
              <a:t>Step 1: Define the tool name and human-readable description for the LLM tool selector.</a:t>
            </a:r>
          </a:p>
          <a:p>
            <a:pPr marL="292608" indent="-292608">
              <a:spcAft>
                <a:spcPts val="1000"/>
              </a:spcAft>
              <a:buClr>
                <a:srgbClr val="0F766E"/>
              </a:buClr>
              <a:buFont typeface="Arial"/>
              <a:buChar char="▪"/>
            </a:pPr>
            <a:r>
              <a:rPr sz="2100">
                <a:solidFill>
                  <a:srgbClr val="1F2937"/>
                </a:solidFill>
                <a:latin typeface="Calibri"/>
              </a:rPr>
              <a:t>Step 2: Construct the JSON Schema inputSchema object with type 'object'.</a:t>
            </a:r>
          </a:p>
          <a:p>
            <a:pPr marL="292608" indent="-292608">
              <a:spcAft>
                <a:spcPts val="1000"/>
              </a:spcAft>
              <a:buClr>
                <a:srgbClr val="0F766E"/>
              </a:buClr>
              <a:buFont typeface="Arial"/>
              <a:buChar char="▪"/>
            </a:pPr>
            <a:r>
              <a:rPr sz="2100">
                <a:solidFill>
                  <a:srgbClr val="1F2937"/>
                </a:solidFill>
                <a:latin typeface="Calibri"/>
              </a:rPr>
              <a:t>Step 3: Define properties for filePath (string) and linterName (enum: eslint, flake8).</a:t>
            </a:r>
          </a:p>
          <a:p>
            <a:pPr marL="292608" indent="-292608">
              <a:spcAft>
                <a:spcPts val="1000"/>
              </a:spcAft>
              <a:buClr>
                <a:srgbClr val="0F766E"/>
              </a:buClr>
              <a:buFont typeface="Arial"/>
              <a:buChar char="▪"/>
            </a:pPr>
            <a:r>
              <a:rPr sz="2100">
                <a:solidFill>
                  <a:srgbClr val="1F2937"/>
                </a:solidFill>
                <a:latin typeface="Calibri"/>
              </a:rPr>
              <a:t>Step 4: Specify required array ensuring mandatory properties are enforced during validation.</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100" b="0">
                <a:solidFill>
                  <a:srgbClr val="E5E7EB"/>
                </a:solidFill>
                <a:latin typeface="Consolas"/>
              </a:rPr>
              <a:t>{</a:t>
            </a:r>
          </a:p>
          <a:p>
            <a:pPr algn="l"/>
            <a:r>
              <a:rPr sz="1100" b="0">
                <a:solidFill>
                  <a:srgbClr val="E5E7EB"/>
                </a:solidFill>
                <a:latin typeface="Consolas"/>
              </a:rPr>
              <a:t>  "name": "run_linter",</a:t>
            </a:r>
          </a:p>
          <a:p>
            <a:pPr algn="l"/>
            <a:r>
              <a:rPr sz="1100" b="0">
                <a:solidFill>
                  <a:srgbClr val="E5E7EB"/>
                </a:solidFill>
                <a:latin typeface="Consolas"/>
              </a:rPr>
              <a:t>  "description": "Runs a specified linter on a target file path.",</a:t>
            </a:r>
          </a:p>
          <a:p>
            <a:pPr algn="l"/>
            <a:r>
              <a:rPr sz="1100" b="0">
                <a:solidFill>
                  <a:srgbClr val="E5E7EB"/>
                </a:solidFill>
                <a:latin typeface="Consolas"/>
              </a:rPr>
              <a:t>  "inputSchema": {</a:t>
            </a:r>
          </a:p>
          <a:p>
            <a:pPr algn="l"/>
            <a:r>
              <a:rPr sz="1100" b="0">
                <a:solidFill>
                  <a:srgbClr val="E5E7EB"/>
                </a:solidFill>
                <a:latin typeface="Consolas"/>
              </a:rPr>
              <a:t>    "type": "object",</a:t>
            </a:r>
          </a:p>
          <a:p>
            <a:pPr algn="l"/>
            <a:r>
              <a:rPr sz="1100" b="0">
                <a:solidFill>
                  <a:srgbClr val="E5E7EB"/>
                </a:solidFill>
                <a:latin typeface="Consolas"/>
              </a:rPr>
              <a:t>    "properties": {</a:t>
            </a:r>
          </a:p>
          <a:p>
            <a:pPr algn="l"/>
            <a:r>
              <a:rPr sz="1100" b="0">
                <a:solidFill>
                  <a:srgbClr val="E5E7EB"/>
                </a:solidFill>
                <a:latin typeface="Consolas"/>
              </a:rPr>
              <a:t>      "filePath": {</a:t>
            </a:r>
          </a:p>
          <a:p>
            <a:pPr algn="l"/>
            <a:r>
              <a:rPr sz="1100" b="0">
                <a:solidFill>
                  <a:srgbClr val="E5E7EB"/>
                </a:solidFill>
                <a:latin typeface="Consolas"/>
              </a:rPr>
              <a:t>        "type": "string",</a:t>
            </a:r>
          </a:p>
          <a:p>
            <a:pPr algn="l"/>
            <a:r>
              <a:rPr sz="1100" b="0">
                <a:solidFill>
                  <a:srgbClr val="E5E7EB"/>
                </a:solidFill>
                <a:latin typeface="Consolas"/>
              </a:rPr>
              <a:t>        "description": "Relative path to source file within workspace"</a:t>
            </a:r>
          </a:p>
          <a:p>
            <a:pPr algn="l"/>
            <a:r>
              <a:rPr sz="1100" b="0">
                <a:solidFill>
                  <a:srgbClr val="E5E7EB"/>
                </a:solidFill>
                <a:latin typeface="Consolas"/>
              </a:rPr>
              <a:t>      },</a:t>
            </a:r>
          </a:p>
          <a:p>
            <a:pPr algn="l"/>
            <a:r>
              <a:rPr sz="1100" b="0">
                <a:solidFill>
                  <a:srgbClr val="E5E7EB"/>
                </a:solidFill>
                <a:latin typeface="Consolas"/>
              </a:rPr>
              <a:t>      "linterName": {</a:t>
            </a:r>
          </a:p>
          <a:p>
            <a:pPr algn="l"/>
            <a:r>
              <a:rPr sz="1100" b="0">
                <a:solidFill>
                  <a:srgbClr val="E5E7EB"/>
                </a:solidFill>
                <a:latin typeface="Consolas"/>
              </a:rPr>
              <a:t>        "type": "string",</a:t>
            </a:r>
          </a:p>
          <a:p>
            <a:pPr algn="l"/>
            <a:r>
              <a:rPr sz="1100" b="0">
                <a:solidFill>
                  <a:srgbClr val="E5E7EB"/>
                </a:solidFill>
                <a:latin typeface="Consolas"/>
              </a:rPr>
              <a:t>        "enum": ["eslint", "flake8"],</a:t>
            </a:r>
          </a:p>
          <a:p>
            <a:pPr algn="l"/>
            <a:r>
              <a:rPr sz="1100" b="0">
                <a:solidFill>
                  <a:srgbClr val="E5E7EB"/>
                </a:solidFill>
                <a:latin typeface="Consolas"/>
              </a:rPr>
              <a:t>        "description": "Linter tool to execute"</a:t>
            </a:r>
          </a:p>
          <a:p>
            <a:pPr algn="l"/>
            <a:r>
              <a:rPr sz="1100" b="0">
                <a:solidFill>
                  <a:srgbClr val="E5E7EB"/>
                </a:solidFill>
                <a:latin typeface="Consolas"/>
              </a:rPr>
              <a:t>      }</a:t>
            </a:r>
          </a:p>
          <a:p>
            <a:pPr algn="l"/>
            <a:r>
              <a:rPr sz="1100" b="0">
                <a:solidFill>
                  <a:srgbClr val="E5E7EB"/>
                </a:solidFill>
                <a:latin typeface="Consolas"/>
              </a:rPr>
              <a:t>    },</a:t>
            </a:r>
          </a:p>
          <a:p>
            <a:pPr algn="l"/>
            <a:r>
              <a:rPr sz="1100" b="0">
                <a:solidFill>
                  <a:srgbClr val="E5E7EB"/>
                </a:solidFill>
                <a:latin typeface="Consolas"/>
              </a:rPr>
              <a:t>    "required": ["filePath", "linterName"]</a:t>
            </a:r>
          </a:p>
          <a:p>
            <a:pPr algn="l"/>
            <a:r>
              <a:rPr sz="1100" b="0">
                <a:solidFill>
                  <a:srgbClr val="E5E7EB"/>
                </a:solidFill>
                <a:latin typeface="Consolas"/>
              </a:rPr>
              <a:t>  }</a:t>
            </a:r>
          </a:p>
          <a:p>
            <a:pPr algn="l"/>
            <a:r>
              <a:rPr sz="11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Complete JSON Schema definition for a custom linter tool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MCP Transports and Schema Rules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statement correctly describes MCP tool execution and transport architecture?</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An MCP Host connects directly to servers without clients, using JSON Schema to validate server responses.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An MCP Client maintains a logical connection to a specific MCP Server, using stdio or Streamable HTTP transport.</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MCP Tools use JSON Schema to define output return types, and use HTTP+SSE as the required primary transport.</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MCP Servers automatically validate all LLM outputs before they leave the model runner process.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Implementing a Custom MCP Tool Server</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Server validates incoming arguments against the tool schema prior to executing workspace commands.</a:t>
            </a:r>
          </a:p>
          <a:p>
            <a:pPr marL="292608" indent="-292608">
              <a:spcAft>
                <a:spcPts val="1000"/>
              </a:spcAft>
              <a:buClr>
                <a:srgbClr val="0F766E"/>
              </a:buClr>
              <a:buFont typeface="Arial"/>
              <a:buChar char="▪"/>
            </a:pPr>
            <a:r>
              <a:rPr sz="2400">
                <a:solidFill>
                  <a:srgbClr val="1F2937"/>
                </a:solidFill>
                <a:latin typeface="Calibri"/>
              </a:rPr>
              <a:t>Actual tool invocation occurs safely after parameter verification.</a:t>
            </a:r>
          </a:p>
          <a:p>
            <a:pPr marL="292608" indent="-292608">
              <a:spcAft>
                <a:spcPts val="1000"/>
              </a:spcAft>
              <a:buClr>
                <a:srgbClr val="0F766E"/>
              </a:buClr>
              <a:buFont typeface="Arial"/>
              <a:buChar char="▪"/>
            </a:pPr>
            <a:r>
              <a:rPr sz="2400">
                <a:solidFill>
                  <a:srgbClr val="1F2937"/>
                </a:solidFill>
                <a:latin typeface="Calibri"/>
              </a:rPr>
              <a:t>Return responses formatted as MCP content blocks containing stdout or structured error reports.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typescript</a:t>
            </a:r>
          </a:p>
          <a:p>
            <a:pPr algn="l"/>
            <a:r>
              <a:rPr sz="900" b="0">
                <a:solidFill>
                  <a:srgbClr val="E5E7EB"/>
                </a:solidFill>
                <a:latin typeface="Consolas"/>
              </a:rPr>
              <a:t>import { Server } from "@modelcontextprotocol/sdk/server/index.js";</a:t>
            </a:r>
          </a:p>
          <a:p>
            <a:pPr algn="l"/>
            <a:r>
              <a:rPr sz="900" b="0">
                <a:solidFill>
                  <a:srgbClr val="E5E7EB"/>
                </a:solidFill>
                <a:latin typeface="Consolas"/>
              </a:rPr>
              <a:t>import { CallToolRequestSchema } from "@modelcontextprotocol/sdk/types.js";</a:t>
            </a:r>
          </a:p>
          <a:p>
            <a:pPr algn="l"/>
            <a:r>
              <a:rPr sz="900" b="0">
                <a:solidFill>
                  <a:srgbClr val="E5E7EB"/>
                </a:solidFill>
                <a:latin typeface="Consolas"/>
              </a:rPr>
              <a:t>import { execSync } from "child_process";</a:t>
            </a:r>
          </a:p>
          <a:p>
            <a:pPr algn="l"/>
            <a:r>
              <a:rPr sz="900" b="0">
                <a:solidFill>
                  <a:srgbClr val="E5E7EB"/>
                </a:solidFill>
                <a:latin typeface="Consolas"/>
              </a:rPr>
              <a:t/>
            </a:r>
          </a:p>
          <a:p>
            <a:pPr algn="l"/>
            <a:r>
              <a:rPr sz="900" b="0">
                <a:solidFill>
                  <a:srgbClr val="E5E7EB"/>
                </a:solidFill>
                <a:latin typeface="Consolas"/>
              </a:rPr>
              <a:t>server.setRequestHandler(CallToolRequestSchema, async (req) =&gt; {</a:t>
            </a:r>
          </a:p>
          <a:p>
            <a:pPr algn="l"/>
            <a:r>
              <a:rPr sz="900" b="0">
                <a:solidFill>
                  <a:srgbClr val="E5E7EB"/>
                </a:solidFill>
                <a:latin typeface="Consolas"/>
              </a:rPr>
              <a:t>  const { name, arguments: args } = req.params;</a:t>
            </a:r>
          </a:p>
          <a:p>
            <a:pPr algn="l"/>
            <a:r>
              <a:rPr sz="900" b="0">
                <a:solidFill>
                  <a:srgbClr val="E5E7EB"/>
                </a:solidFill>
                <a:latin typeface="Consolas"/>
              </a:rPr>
              <a:t>  if (name !== "run_linter") throw new Error("Unknown tool");</a:t>
            </a:r>
          </a:p>
          <a:p>
            <a:pPr algn="l"/>
            <a:r>
              <a:rPr sz="900" b="0">
                <a:solidFill>
                  <a:srgbClr val="E5E7EB"/>
                </a:solidFill>
                <a:latin typeface="Consolas"/>
              </a:rPr>
              <a:t>  const path = String(args?.filePath || "");</a:t>
            </a:r>
          </a:p>
          <a:p>
            <a:pPr algn="l"/>
            <a:r>
              <a:rPr sz="900" b="0">
                <a:solidFill>
                  <a:srgbClr val="E5E7EB"/>
                </a:solidFill>
                <a:latin typeface="Consolas"/>
              </a:rPr>
              <a:t>  const linter = String(args?.linterName || "");</a:t>
            </a:r>
          </a:p>
          <a:p>
            <a:pPr algn="l"/>
            <a:r>
              <a:rPr sz="900" b="0">
                <a:solidFill>
                  <a:srgbClr val="E5E7EB"/>
                </a:solidFill>
                <a:latin typeface="Consolas"/>
              </a:rPr>
              <a:t>  if (!path || !["eslint", "flake8"].includes(linter)) {</a:t>
            </a:r>
          </a:p>
          <a:p>
            <a:pPr algn="l"/>
            <a:r>
              <a:rPr sz="900" b="0">
                <a:solidFill>
                  <a:srgbClr val="E5E7EB"/>
                </a:solidFill>
                <a:latin typeface="Consolas"/>
              </a:rPr>
              <a:t>    return { content: [{ type: "text", text: "Error: Invalid tool arguments supplied." }] };</a:t>
            </a:r>
          </a:p>
          <a:p>
            <a:pPr algn="l"/>
            <a:r>
              <a:rPr sz="900" b="0">
                <a:solidFill>
                  <a:srgbClr val="E5E7EB"/>
                </a:solidFill>
                <a:latin typeface="Consolas"/>
              </a:rPr>
              <a:t>  }</a:t>
            </a:r>
          </a:p>
          <a:p>
            <a:pPr algn="l"/>
            <a:r>
              <a:rPr sz="900" b="0">
                <a:solidFill>
                  <a:srgbClr val="E5E7EB"/>
                </a:solidFill>
                <a:latin typeface="Consolas"/>
              </a:rPr>
              <a:t>  try {</a:t>
            </a:r>
          </a:p>
          <a:p>
            <a:pPr algn="l"/>
            <a:r>
              <a:rPr sz="900" b="0">
                <a:solidFill>
                  <a:srgbClr val="E5E7EB"/>
                </a:solidFill>
                <a:latin typeface="Consolas"/>
              </a:rPr>
              <a:t>    const stdout = execSync(`${linter} ${path}`).toString();</a:t>
            </a:r>
          </a:p>
          <a:p>
            <a:pPr algn="l"/>
            <a:r>
              <a:rPr sz="900" b="0">
                <a:solidFill>
                  <a:srgbClr val="E5E7EB"/>
                </a:solidFill>
                <a:latin typeface="Consolas"/>
              </a:rPr>
              <a:t>    return { content: [{ type: "text", text: stdout || "Linting passed with 0 errors." }] };</a:t>
            </a:r>
          </a:p>
          <a:p>
            <a:pPr algn="l"/>
            <a:r>
              <a:rPr sz="900" b="0">
                <a:solidFill>
                  <a:srgbClr val="E5E7EB"/>
                </a:solidFill>
                <a:latin typeface="Consolas"/>
              </a:rPr>
              <a:t>  } catch (err: unknown) {</a:t>
            </a:r>
          </a:p>
          <a:p>
            <a:pPr algn="l"/>
            <a:r>
              <a:rPr sz="900" b="0">
                <a:solidFill>
                  <a:srgbClr val="E5E7EB"/>
                </a:solidFill>
                <a:latin typeface="Consolas"/>
              </a:rPr>
              <a:t>    const msg = err instanceof Error ? err.message : String(err);</a:t>
            </a:r>
          </a:p>
          <a:p>
            <a:pPr algn="l"/>
            <a:r>
              <a:rPr sz="900" b="0">
                <a:solidFill>
                  <a:srgbClr val="E5E7EB"/>
                </a:solidFill>
                <a:latin typeface="Consolas"/>
              </a:rPr>
              <a:t>    return { content: [{ type: "text", text: `Linter failed: ${msg}` }] };</a:t>
            </a:r>
          </a:p>
          <a:p>
            <a:pPr algn="l"/>
            <a:r>
              <a:rPr sz="900" b="0">
                <a:solidFill>
                  <a:srgbClr val="E5E7EB"/>
                </a:solidFill>
                <a:latin typeface="Consolas"/>
              </a:rPr>
              <a:t>  }</a:t>
            </a:r>
          </a:p>
          <a:p>
            <a:pPr algn="l"/>
            <a:r>
              <a:rPr sz="9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TypeScript server handling run_linter request with parameter validation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Integrating MCP Servers into Agent Workspaces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1900">
                <a:solidFill>
                  <a:srgbClr val="1F2937"/>
                </a:solidFill>
                <a:latin typeface="Calibri"/>
              </a:rPr>
              <a:t>Workspace configuration files (e.g., mcp.json) declare active tool servers for agent host applications.</a:t>
            </a:r>
          </a:p>
          <a:p>
            <a:pPr marL="292608" indent="-292608">
              <a:spcAft>
                <a:spcPts val="1000"/>
              </a:spcAft>
              <a:buClr>
                <a:srgbClr val="0F766E"/>
              </a:buClr>
              <a:buFont typeface="Arial"/>
              <a:buChar char="▪"/>
            </a:pPr>
            <a:r>
              <a:rPr sz="1900">
                <a:solidFill>
                  <a:srgbClr val="1F2937"/>
                </a:solidFill>
                <a:latin typeface="Calibri"/>
              </a:rPr>
              <a:t>Specifies server launch command, binary executable, environment variables, and argument flags.</a:t>
            </a:r>
          </a:p>
          <a:p>
            <a:pPr marL="292608" indent="-292608">
              <a:spcAft>
                <a:spcPts val="1000"/>
              </a:spcAft>
              <a:buClr>
                <a:srgbClr val="0F766E"/>
              </a:buClr>
              <a:buFont typeface="Arial"/>
              <a:buChar char="▪"/>
            </a:pPr>
            <a:r>
              <a:rPr sz="1900">
                <a:solidFill>
                  <a:srgbClr val="1F2937"/>
                </a:solidFill>
                <a:latin typeface="Calibri"/>
              </a:rPr>
              <a:t>IDEs spawn client instances using stdio sub-processes or establish Streamable HTTP connections.</a:t>
            </a:r>
          </a:p>
          <a:p>
            <a:pPr marL="292608" indent="-292608">
              <a:spcAft>
                <a:spcPts val="1000"/>
              </a:spcAft>
              <a:buClr>
                <a:srgbClr val="0F766E"/>
              </a:buClr>
              <a:buFont typeface="Arial"/>
              <a:buChar char="▪"/>
            </a:pPr>
            <a:r>
              <a:rPr sz="1900">
                <a:solidFill>
                  <a:srgbClr val="1F2937"/>
                </a:solidFill>
                <a:latin typeface="Calibri"/>
              </a:rPr>
              <a:t>Workspace static analyzers check configuration files for schema compliance and unreachable binaries.</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"mcpServers": {</a:t>
            </a:r>
          </a:p>
          <a:p>
            <a:pPr algn="l"/>
            <a:r>
              <a:rPr sz="1400" b="0">
                <a:solidFill>
                  <a:srgbClr val="E5E7EB"/>
                </a:solidFill>
                <a:latin typeface="Consolas"/>
              </a:rPr>
              <a:t>    "code-quality": {</a:t>
            </a:r>
          </a:p>
          <a:p>
            <a:pPr algn="l"/>
            <a:r>
              <a:rPr sz="1400" b="0">
                <a:solidFill>
                  <a:srgbClr val="E5E7EB"/>
                </a:solidFill>
                <a:latin typeface="Consolas"/>
              </a:rPr>
              <a:t>      "command": "node",</a:t>
            </a:r>
          </a:p>
          <a:p>
            <a:pPr algn="l"/>
            <a:r>
              <a:rPr sz="1400" b="0">
                <a:solidFill>
                  <a:srgbClr val="E5E7EB"/>
                </a:solidFill>
                <a:latin typeface="Consolas"/>
              </a:rPr>
              <a:t>      "args": ["./build/index.js"],</a:t>
            </a:r>
          </a:p>
          <a:p>
            <a:pPr algn="l"/>
            <a:r>
              <a:rPr sz="1400" b="0">
                <a:solidFill>
                  <a:srgbClr val="E5E7EB"/>
                </a:solidFill>
                <a:latin typeface="Consolas"/>
              </a:rPr>
              <a:t>      "env": {</a:t>
            </a:r>
          </a:p>
          <a:p>
            <a:pPr algn="l"/>
            <a:r>
              <a:rPr sz="1400" b="0">
                <a:solidFill>
                  <a:srgbClr val="E5E7EB"/>
                </a:solidFill>
                <a:latin typeface="Consolas"/>
              </a:rPr>
              <a:t>        "LOG_LEVEL": "info"</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Example mcp.json workspace configuration entry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Static Analysis &amp; Configuration Diagnostics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Configured static analyzers evaluate workspace settings and server code for type safety and path errors.</a:t>
            </a:r>
          </a:p>
          <a:p>
            <a:pPr marL="292608" indent="-292608">
              <a:spcAft>
                <a:spcPts val="1000"/>
              </a:spcAft>
              <a:buClr>
                <a:srgbClr val="0F766E"/>
              </a:buClr>
              <a:buFont typeface="Arial"/>
              <a:buChar char="▪"/>
            </a:pPr>
            <a:r>
              <a:rPr sz="2400">
                <a:solidFill>
                  <a:srgbClr val="1F2937"/>
                </a:solidFill>
                <a:latin typeface="Calibri"/>
              </a:rPr>
              <a:t>Typical integration warnings stem from missing permissions, unescaped path variables, or missing types.</a:t>
            </a:r>
          </a:p>
          <a:p>
            <a:pPr marL="292608" indent="-292608">
              <a:spcAft>
                <a:spcPts val="1000"/>
              </a:spcAft>
              <a:buClr>
                <a:srgbClr val="0F766E"/>
              </a:buClr>
              <a:buFont typeface="Arial"/>
              <a:buChar char="▪"/>
            </a:pPr>
            <a:r>
              <a:rPr sz="2400">
                <a:solidFill>
                  <a:srgbClr val="1F2937"/>
                </a:solidFill>
                <a:latin typeface="Calibri"/>
              </a:rPr>
              <a:t>Modern TypeScript configurations enforce strict type narrowing for caught errors and request payloads.</a:t>
            </a:r>
          </a:p>
          <a:p>
            <a:pPr marL="292608" indent="-292608">
              <a:spcAft>
                <a:spcPts val="1000"/>
              </a:spcAft>
              <a:buClr>
                <a:srgbClr val="0F766E"/>
              </a:buClr>
              <a:buFont typeface="Arial"/>
              <a:buChar char="▪"/>
            </a:pPr>
            <a:r>
              <a:rPr sz="2400">
                <a:solidFill>
                  <a:srgbClr val="1F2937"/>
                </a:solidFill>
                <a:latin typeface="Calibri"/>
              </a:rPr>
              <a:t>Elimination of compiler warnings ensures robust execution during automated agent invocations.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Fixing Configuration and Analysis Warnings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000">
                <a:solidFill>
                  <a:srgbClr val="1F2937"/>
                </a:solidFill>
                <a:latin typeface="Calibri"/>
              </a:rPr>
              <a:t>Common warning: Catch blocks using err.message fail strict compiler checks when err is unknown.</a:t>
            </a:r>
          </a:p>
          <a:p>
            <a:pPr marL="292608" indent="-292608">
              <a:spcAft>
                <a:spcPts val="1000"/>
              </a:spcAft>
              <a:buClr>
                <a:srgbClr val="0F766E"/>
              </a:buClr>
              <a:buFont typeface="Arial"/>
              <a:buChar char="▪"/>
            </a:pPr>
            <a:r>
              <a:rPr sz="2000">
                <a:solidFill>
                  <a:srgbClr val="1F2937"/>
                </a:solidFill>
                <a:latin typeface="Calibri"/>
              </a:rPr>
              <a:t>Fix: Narrow the unknown type safely using an instanceof Error guard before accessing properties.</a:t>
            </a:r>
          </a:p>
          <a:p>
            <a:pPr marL="292608" indent="-292608">
              <a:spcAft>
                <a:spcPts val="1000"/>
              </a:spcAft>
              <a:buClr>
                <a:srgbClr val="0F766E"/>
              </a:buClr>
              <a:buFont typeface="Arial"/>
              <a:buChar char="▪"/>
            </a:pPr>
            <a:r>
              <a:rPr sz="2000">
                <a:solidFill>
                  <a:srgbClr val="1F2937"/>
                </a:solidFill>
                <a:latin typeface="Calibri"/>
              </a:rPr>
              <a:t>Common config warning: Missing server configuration fields or unvalidated input parameter types.</a:t>
            </a:r>
          </a:p>
          <a:p>
            <a:pPr marL="292608" indent="-292608">
              <a:spcAft>
                <a:spcPts val="1000"/>
              </a:spcAft>
              <a:buClr>
                <a:srgbClr val="0F766E"/>
              </a:buClr>
              <a:buFont typeface="Arial"/>
              <a:buChar char="▪"/>
            </a:pPr>
            <a:r>
              <a:rPr sz="2000">
                <a:solidFill>
                  <a:srgbClr val="1F2937"/>
                </a:solidFill>
                <a:latin typeface="Calibri"/>
              </a:rPr>
              <a:t>Ensuring zero static analysis warnings guarantees reliable agent tool invocation during integration tests.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typescript</a:t>
            </a:r>
          </a:p>
          <a:p>
            <a:pPr algn="l"/>
            <a:r>
              <a:rPr sz="1100" b="0">
                <a:solidFill>
                  <a:srgbClr val="E5E7EB"/>
                </a:solidFill>
                <a:latin typeface="Consolas"/>
              </a:rPr>
              <a:t>function getErrorMessage(err: unknown): string {</a:t>
            </a:r>
          </a:p>
          <a:p>
            <a:pPr algn="l"/>
            <a:r>
              <a:rPr sz="1100" b="0">
                <a:solidFill>
                  <a:srgbClr val="E5E7EB"/>
                </a:solidFill>
                <a:latin typeface="Consolas"/>
              </a:rPr>
              <a:t>  if (err instanceof Error) {</a:t>
            </a:r>
          </a:p>
          <a:p>
            <a:pPr algn="l"/>
            <a:r>
              <a:rPr sz="1100" b="0">
                <a:solidFill>
                  <a:srgbClr val="E5E7EB"/>
                </a:solidFill>
                <a:latin typeface="Consolas"/>
              </a:rPr>
              <a:t>    return err.message;</a:t>
            </a:r>
          </a:p>
          <a:p>
            <a:pPr algn="l"/>
            <a:r>
              <a:rPr sz="1100" b="0">
                <a:solidFill>
                  <a:srgbClr val="E5E7EB"/>
                </a:solidFill>
                <a:latin typeface="Consolas"/>
              </a:rPr>
              <a:t>  }</a:t>
            </a:r>
          </a:p>
          <a:p>
            <a:pPr algn="l"/>
            <a:r>
              <a:rPr sz="1100" b="0">
                <a:solidFill>
                  <a:srgbClr val="E5E7EB"/>
                </a:solidFill>
                <a:latin typeface="Consolas"/>
              </a:rPr>
              <a:t>  if (typeof err === "object" &amp;&amp; err !== null &amp;&amp; "message" in err) {</a:t>
            </a:r>
          </a:p>
          <a:p>
            <a:pPr algn="l"/>
            <a:r>
              <a:rPr sz="1100" b="0">
                <a:solidFill>
                  <a:srgbClr val="E5E7EB"/>
                </a:solidFill>
                <a:latin typeface="Consolas"/>
              </a:rPr>
              <a:t>    return String((err as { message: unknown }).message);</a:t>
            </a:r>
          </a:p>
          <a:p>
            <a:pPr algn="l"/>
            <a:r>
              <a:rPr sz="1100" b="0">
                <a:solidFill>
                  <a:srgbClr val="E5E7EB"/>
                </a:solidFill>
                <a:latin typeface="Consolas"/>
              </a:rPr>
              <a:t>  }</a:t>
            </a:r>
          </a:p>
          <a:p>
            <a:pPr algn="l"/>
            <a:r>
              <a:rPr sz="1100" b="0">
                <a:solidFill>
                  <a:srgbClr val="E5E7EB"/>
                </a:solidFill>
                <a:latin typeface="Consolas"/>
              </a:rPr>
              <a:t>  return String(err);</a:t>
            </a:r>
          </a:p>
          <a:p>
            <a:pPr algn="l"/>
            <a:r>
              <a:rPr sz="1100" b="0">
                <a:solidFill>
                  <a:srgbClr val="E5E7EB"/>
                </a:solidFill>
                <a:latin typeface="Consolas"/>
              </a:rPr>
              <a:t>}</a:t>
            </a:r>
          </a:p>
          <a:p>
            <a:pPr algn="l"/>
            <a:r>
              <a:rPr sz="1100" b="0">
                <a:solidFill>
                  <a:srgbClr val="E5E7EB"/>
                </a:solidFill>
                <a:latin typeface="Consolas"/>
              </a:rPr>
              <a:t/>
            </a:r>
          </a:p>
          <a:p>
            <a:pPr algn="l"/>
            <a:r>
              <a:rPr sz="1100" b="0">
                <a:solidFill>
                  <a:srgbClr val="E5E7EB"/>
                </a:solidFill>
                <a:latin typeface="Consolas"/>
              </a:rPr>
              <a:t>try {</a:t>
            </a:r>
          </a:p>
          <a:p>
            <a:pPr algn="l"/>
            <a:r>
              <a:rPr sz="1100" b="0">
                <a:solidFill>
                  <a:srgbClr val="E5E7EB"/>
                </a:solidFill>
                <a:latin typeface="Consolas"/>
              </a:rPr>
              <a:t>  const res = execSync("eslint src/index.ts");</a:t>
            </a:r>
          </a:p>
          <a:p>
            <a:pPr algn="l"/>
            <a:r>
              <a:rPr sz="1100" b="0">
                <a:solidFill>
                  <a:srgbClr val="E5E7EB"/>
                </a:solidFill>
                <a:latin typeface="Consolas"/>
              </a:rPr>
              <a:t>} catch (err: unknown) {</a:t>
            </a:r>
          </a:p>
          <a:p>
            <a:pPr algn="l"/>
            <a:r>
              <a:rPr sz="1100" b="0">
                <a:solidFill>
                  <a:srgbClr val="E5E7EB"/>
                </a:solidFill>
                <a:latin typeface="Consolas"/>
              </a:rPr>
              <a:t>  const safeMessage = getErrorMessage(err);</a:t>
            </a:r>
          </a:p>
          <a:p>
            <a:pPr algn="l"/>
            <a:r>
              <a:rPr sz="1100" b="0">
                <a:solidFill>
                  <a:srgbClr val="E5E7EB"/>
                </a:solidFill>
                <a:latin typeface="Consolas"/>
              </a:rPr>
              <a:t>  console.error("Static analysis output:", safeMessage);</a:t>
            </a:r>
          </a:p>
          <a:p>
            <a:pPr algn="l"/>
            <a:r>
              <a:rPr sz="11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Type-safe error narrowing function preventing compiler diagnostics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Activity: Build and Integrate a Custom MCP Linter Tool</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Implement a custom MCP server exposing a run_linter tool with JSON Schema validation.</a:t>
            </a:r>
          </a:p>
          <a:p>
            <a:pPr marL="292608" indent="-292608">
              <a:spcAft>
                <a:spcPts val="1000"/>
              </a:spcAft>
              <a:buClr>
                <a:srgbClr val="0F766E"/>
              </a:buClr>
              <a:buFont typeface="Arial"/>
              <a:buChar char="▪"/>
            </a:pPr>
            <a:r>
              <a:rPr sz="2300">
                <a:solidFill>
                  <a:srgbClr val="1F2937"/>
                </a:solidFill>
                <a:latin typeface="Calibri"/>
              </a:rPr>
              <a:t>Configure your local workspace settings (mcp.json) to register the newly built MCP server.</a:t>
            </a:r>
          </a:p>
          <a:p>
            <a:pPr marL="292608" indent="-292608">
              <a:spcAft>
                <a:spcPts val="1000"/>
              </a:spcAft>
              <a:buClr>
                <a:srgbClr val="0F766E"/>
              </a:buClr>
              <a:buFont typeface="Arial"/>
              <a:buChar char="▪"/>
            </a:pPr>
            <a:r>
              <a:rPr sz="2300">
                <a:solidFill>
                  <a:srgbClr val="1F2937"/>
                </a:solidFill>
                <a:latin typeface="Calibri"/>
              </a:rPr>
              <a:t>Run the workspace static analyzer and verify 0 warnings are reported in the build log.</a:t>
            </a:r>
          </a:p>
          <a:p>
            <a:pPr marL="292608" indent="-292608">
              <a:spcAft>
                <a:spcPts val="1000"/>
              </a:spcAft>
              <a:buClr>
                <a:srgbClr val="0F766E"/>
              </a:buClr>
              <a:buFont typeface="Arial"/>
              <a:buChar char="▪"/>
            </a:pPr>
            <a:r>
              <a:rPr sz="2300">
                <a:solidFill>
                  <a:srgbClr val="1F2937"/>
                </a:solidFill>
                <a:latin typeface="Calibri"/>
              </a:rPr>
              <a:t>Execute public integration tests to confirm the AI agent successfully invokes the linter tool.</a:t>
            </a:r>
          </a:p>
        </p:txBody>
      </p:sp>
      <p:sp>
        <p:nvSpPr>
          <p:cNvPr id="8" name="Rounded Rectangle 7"/>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Define Tool Schema</a:t>
            </a:r>
          </a:p>
        </p:txBody>
      </p:sp>
      <p:sp>
        <p:nvSpPr>
          <p:cNvPr id="9" name="Down Arrow 8"/>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Implement Handler</a:t>
            </a:r>
          </a:p>
        </p:txBody>
      </p:sp>
      <p:sp>
        <p:nvSpPr>
          <p:cNvPr id="11" name="Down Arrow 10"/>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Configure mcp.json</a:t>
            </a:r>
          </a:p>
        </p:txBody>
      </p:sp>
      <p:sp>
        <p:nvSpPr>
          <p:cNvPr id="13" name="Down Arrow 12"/>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Run Static Analyzer</a:t>
            </a:r>
          </a:p>
        </p:txBody>
      </p:sp>
      <p:sp>
        <p:nvSpPr>
          <p:cNvPr id="15" name="Down Arrow 14"/>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Pass Integration Tests</a:t>
            </a:r>
          </a:p>
        </p:txBody>
      </p:sp>
      <p:sp>
        <p:nvSpPr>
          <p:cNvPr id="17" name="TextBox 16"/>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Step-by-step workflow for the lab activity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Resolving Diagnostics and Errors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You encounter a static analyzer warning in strict TypeScript when logging tool execution errors: 'Property message does not exist on type unknown'. What is the correct fix?</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Cast the error using (err as any).message to bypass compiler type checking permanently.</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Disable strict null and unknown checks in tsconfig.json so the workspace build succeeds.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Narrow the caught error using an 'err instanceof Error' check before accessing err.message.</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Change the MCP tool input schema to declare that errors are returned as JSON objects.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Summary: Custom Tool Integrations with MCP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Model Context Protocol standardizes agent tool integration through host, client, and server roles.</a:t>
            </a:r>
          </a:p>
          <a:p>
            <a:pPr marL="292608" indent="-292608">
              <a:spcAft>
                <a:spcPts val="1000"/>
              </a:spcAft>
              <a:buClr>
                <a:srgbClr val="0F766E"/>
              </a:buClr>
              <a:buFont typeface="Arial"/>
              <a:buChar char="▪"/>
            </a:pPr>
            <a:r>
              <a:rPr sz="2400">
                <a:solidFill>
                  <a:srgbClr val="1F2937"/>
                </a:solidFill>
                <a:latin typeface="Calibri"/>
              </a:rPr>
              <a:t>MCP Clients connect to individual MCP Servers using stdio or Streamable HTTP.</a:t>
            </a:r>
          </a:p>
          <a:p>
            <a:pPr marL="292608" indent="-292608">
              <a:spcAft>
                <a:spcPts val="1000"/>
              </a:spcAft>
              <a:buClr>
                <a:srgbClr val="0F766E"/>
              </a:buClr>
              <a:buFont typeface="Arial"/>
              <a:buChar char="▪"/>
            </a:pPr>
            <a:r>
              <a:rPr sz="2400">
                <a:solidFill>
                  <a:srgbClr val="1F2937"/>
                </a:solidFill>
                <a:latin typeface="Calibri"/>
              </a:rPr>
              <a:t>Tools use JSON Schema for input argument validation, returning text or structured content objects.</a:t>
            </a:r>
          </a:p>
          <a:p>
            <a:pPr marL="292608" indent="-292608">
              <a:spcAft>
                <a:spcPts val="1000"/>
              </a:spcAft>
              <a:buClr>
                <a:srgbClr val="0F766E"/>
              </a:buClr>
              <a:buFont typeface="Arial"/>
              <a:buChar char="▪"/>
            </a:pPr>
            <a:r>
              <a:rPr sz="2400">
                <a:solidFill>
                  <a:srgbClr val="1F2937"/>
                </a:solidFill>
                <a:latin typeface="Calibri"/>
              </a:rPr>
              <a:t>Server-side validation enforces input parameters before invoking underlying workspace scripts.</a:t>
            </a:r>
          </a:p>
          <a:p>
            <a:pPr marL="292608" indent="-292608">
              <a:spcAft>
                <a:spcPts val="1000"/>
              </a:spcAft>
              <a:buClr>
                <a:srgbClr val="0F766E"/>
              </a:buClr>
              <a:buFont typeface="Arial"/>
              <a:buChar char="▪"/>
            </a:pPr>
            <a:r>
              <a:rPr sz="2400">
                <a:solidFill>
                  <a:srgbClr val="1F2937"/>
                </a:solidFill>
                <a:latin typeface="Calibri"/>
              </a:rPr>
              <a:t>Resolving static analysis diagnostics and narrowing error types ensures warning-free tool configuration.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Query Tuning Framework Using the Model Context Protocol for Workflows (2026). https://doi.org/10.2139/ssrn.6172059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