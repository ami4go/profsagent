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LabEval1,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this lecture to the previous class on iterative development logs and software factory outputs. Emphasize that the agent's final answer is not enough for diagnosis: we need the sequence of actions and observations. Preview the two parts of the class: first, how to classify failures from traces; second, how testing and validation turn observations into reliable decisions. The loop shown here is a teaching abstraction, not a claim about every agent framework.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a trace-reading method: identify the event sequence, then inspect inputs, outputs, and changes. A prompt can state the intended behavior, but it does not by itself show what happened. A test output or runtime exception is an observation of behavior. This distinction matters when deciding whether evidence supports a diagnosis or only suggests a hypothesis.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method using the distinction between a trigger and a consequence. For example, an invalid input may trigger a coercion error, while a later assertion failure may be a downstream symptom. The first unexpected observation is often a useful starting point, but the diagnosis must still explain the causal chain. Require students to quote or precisely paraphrase the relevant log entries in their final analysis.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these as diagnostic categories, not mutually exclusive labels. A single trace can contain several causes. For example, malformed input may expose an implementation defect, and the agent may then fail to respond to the error. The category should be justified by the observed event, not by the agent's own description of its intent. Students will use these categories in the lab.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excerpt is illustrative rather than a verbatim trace from a supplied file. The first error shows an attempt to add an integer and a string. The fallback then attempts integer conversion and reports a ValueError. Together, the entries support an input-coercion failure sequence: the implementation assumes values are already integers, while the supplied values are strings. Do not infer a caller, a specific source line, or a hidden specification requirement that the excerpt does not show.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example shows why expected and actual behavior should be compared directly. The task statement supplies the requirement, while the test output supplies the observed result. The diff helps explain where the behavior changed, but the mismatch is established by the comparison between expected and received values. In a real trace, students should cite the exact entries that establish both sides of the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immediate cause is environmental: the requested test executable is unavailable. The repeated identical command adds a process-level observation: the agent did not adapt after receiving the same error. Keep the two claims separate in an analysis. The excerpt does not prove why pytest is missing, so do not claim a particular installation problem without additional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answer before revealing the explanation. The key distinction is between evidence of a requirement, evidence of an observation, and evidence of a change. A diff can support a diagnosis, but the expected-versus-received test output is the most direct comparison in this question. If students choose the prompt, remind them that the option explicitly contains only the task description.</a:t>
            </a:r>
          </a:p>
          <a:p/>
          <a:p>
            <a:r>
              <a:t>Answer: C. A test output showing expected and received values</a:t>
            </a:r>
          </a:p>
          <a:p>
            <a:r>
              <a:t>The test output directly places expected and received values side by side, so it compares required behavior with observed behavior. A diff shows what changed, but does not itself establish the required result. A prompt containing only the task description states an intention without showing what happened. A timestamp establishes ordering, not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trace analysis becomes useful for iterative development when it produces a hypothesis that can be tested. For example, “the implementation assumes integer inputs” predicts that a string input will fail during arithmetic or conversion. A focused check can then test that prediction. This bridge prepares the second part of the lecture: validation is not only about finding a failing test, but also about deciding whether a proposed fix addresses the diagnosed cause.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the supplied trace file, capped at 2000 lines, and ask them to work individually before comparing with a partner. Require a table with columns for cause, evidence, and confidence. The minimum target is three distinct causes, but students should distinguish a trigger from downstream symptoms. At the end, ask each pair to select one cause and propose a focused validation check. Circulate to check that every diagnosis is supported by a specific log entry.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Shift from retrospective diagnosis to prospective validation. Testing and trace analysis answer related questions: a test asks whether behavior meets an expectation, while a trace explains how the agent reached an observation. In iterative development, use both. A passing test does not prove the whole system is correct, and a failing test does not automatically identify the root cause. The trace supplies context for interpreting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test operationalizes the earlier hypothesis. Before the fix, it exposes the mismatch between the intended input handling and the implementation. After adding explicit conversion, it passes. The test is focused because it checks one behavior and one input shape. It does not replace broader tests for invalid values, empty inputs, or other data types; those belong in the next validation cycle.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Avoid presenting one test type as universally superior. The appropriate evidence depends on the claim. A unit test can support a narrow behavioral claim but may miss interface problems. An integration test can reveal coordination failures but may be harder to localize. Trace review is especially valuable when the failure concerns tool use, environment setup, or repeated agent behavior. The validation plan should state what each check can and cannot establish.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Answer: B. A trace review of the repeated tool calls</a:t>
            </a:r>
          </a:p>
          <a:p>
            <a:r>
              <a:t>A trace review directly shows the repeated command and the unchanged error, supporting a diagnosis of a stalled process in an unavailable environment. An unrelated unit test does not address that evidence. A broader integration test may encounter the same environment problem without explaining it. Repeating the identical command adds no new diagnostic information.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Software Factories and Execution Trace Analysis</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9 · Diagnostic Log Analysis and Software Factories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Analyze execution traces produced by coding agents during iterative loop engineering tasks, for a supplied log file of at most 2000 lines, identifying at least three distinct failure causes with supporting log evidence (CO3.LO2)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From Iterative Coding to Trace Evidence</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An iterative agent repeatedly plans, edits, runs, and observes.</a:t>
            </a:r>
          </a:p>
          <a:p>
            <a:pPr marL="292608" indent="-292608">
              <a:spcAft>
                <a:spcPts val="1000"/>
              </a:spcAft>
              <a:buClr>
                <a:srgbClr val="0F766E"/>
              </a:buClr>
              <a:buFont typeface="Arial"/>
              <a:buChar char="▪"/>
            </a:pPr>
            <a:r>
              <a:rPr sz="2400">
                <a:solidFill>
                  <a:srgbClr val="1F2937"/>
                </a:solidFill>
                <a:latin typeface="Calibri"/>
              </a:rPr>
              <a:t>A trace records actions, tool calls, outputs, and decisions.</a:t>
            </a:r>
          </a:p>
          <a:p>
            <a:pPr marL="292608" indent="-292608">
              <a:spcAft>
                <a:spcPts val="1000"/>
              </a:spcAft>
              <a:buClr>
                <a:srgbClr val="0F766E"/>
              </a:buClr>
              <a:buFont typeface="Arial"/>
              <a:buChar char="▪"/>
            </a:pPr>
            <a:r>
              <a:rPr sz="2400">
                <a:solidFill>
                  <a:srgbClr val="1F2937"/>
                </a:solidFill>
                <a:latin typeface="Calibri"/>
              </a:rPr>
              <a:t>Trace analysis links each failure to concrete log evidence.</a:t>
            </a:r>
          </a:p>
          <a:p>
            <a:pPr marL="292608" indent="-292608">
              <a:spcAft>
                <a:spcPts val="1000"/>
              </a:spcAft>
              <a:buClr>
                <a:srgbClr val="0F766E"/>
              </a:buClr>
              <a:buFont typeface="Arial"/>
              <a:buChar char="▪"/>
            </a:pPr>
            <a:r>
              <a:rPr sz="2400">
                <a:solidFill>
                  <a:srgbClr val="1F2937"/>
                </a:solidFill>
                <a:latin typeface="Calibri"/>
              </a:rPr>
              <a:t>The goal is diagnosis, not merely repeating the agent.</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Plan</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Edit</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Run</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Observe</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Revise</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A simplified iterative development loop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What Makes a Trace Useful</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Timestamps reveal ordering and repeated attempts.</a:t>
            </a:r>
          </a:p>
          <a:p>
            <a:pPr marL="292608" indent="-292608">
              <a:spcAft>
                <a:spcPts val="1000"/>
              </a:spcAft>
              <a:buClr>
                <a:srgbClr val="0F766E"/>
              </a:buClr>
              <a:buFont typeface="Arial"/>
              <a:buChar char="▪"/>
            </a:pPr>
            <a:r>
              <a:rPr sz="2400">
                <a:solidFill>
                  <a:srgbClr val="1F2937"/>
                </a:solidFill>
                <a:latin typeface="Calibri"/>
              </a:rPr>
              <a:t>Tool inputs show what the agent actually requested.</a:t>
            </a:r>
          </a:p>
          <a:p>
            <a:pPr marL="292608" indent="-292608">
              <a:spcAft>
                <a:spcPts val="1000"/>
              </a:spcAft>
              <a:buClr>
                <a:srgbClr val="0F766E"/>
              </a:buClr>
              <a:buFont typeface="Arial"/>
              <a:buChar char="▪"/>
            </a:pPr>
            <a:r>
              <a:rPr sz="2400">
                <a:solidFill>
                  <a:srgbClr val="1F2937"/>
                </a:solidFill>
                <a:latin typeface="Calibri"/>
              </a:rPr>
              <a:t>Tool outputs expose errors, test results, and generated artifacts.</a:t>
            </a:r>
          </a:p>
          <a:p>
            <a:pPr marL="292608" indent="-292608">
              <a:spcAft>
                <a:spcPts val="1000"/>
              </a:spcAft>
              <a:buClr>
                <a:srgbClr val="0F766E"/>
              </a:buClr>
              <a:buFont typeface="Arial"/>
              <a:buChar char="▪"/>
            </a:pPr>
            <a:r>
              <a:rPr sz="2400">
                <a:solidFill>
                  <a:srgbClr val="1F2937"/>
                </a:solidFill>
                <a:latin typeface="Calibri"/>
              </a:rPr>
              <a:t>Diff entries connect changes to later behavior.</a:t>
            </a:r>
          </a:p>
          <a:p>
            <a:pPr marL="292608" indent="-292608">
              <a:spcAft>
                <a:spcPts val="1000"/>
              </a:spcAft>
              <a:buClr>
                <a:srgbClr val="0F766E"/>
              </a:buClr>
              <a:buFont typeface="Arial"/>
              <a:buChar char="▪"/>
            </a:pPr>
            <a:r>
              <a:rPr sz="2400">
                <a:solidFill>
                  <a:srgbClr val="1F2937"/>
                </a:solidFill>
                <a:latin typeface="Calibri"/>
              </a:rPr>
              <a:t>Prompts provide context, but observations provide direct evidence.</a:t>
            </a:r>
          </a:p>
        </p:txBody>
      </p:sp>
      <p:graphicFrame>
        <p:nvGraphicFramePr>
          <p:cNvPr id="7" name="Table 6"/>
          <p:cNvGraphicFramePr>
            <a:graphicFrameLocks noGrp="1"/>
          </p:cNvGraphicFramePr>
          <p:nvPr/>
        </p:nvGraphicFramePr>
        <p:xfrm>
          <a:off x="6683495" y="1463040"/>
          <a:ext cx="4959560" cy="2514600"/>
        </p:xfrm>
        <a:graphic>
          <a:graphicData uri="http://schemas.openxmlformats.org/drawingml/2006/table">
            <a:tbl>
              <a:tblPr firstRow="1" bandRow="1">
                <a:tableStyleId>{5C22544A-7EE6-4342-B048-85BDC9FD1C3A}</a:tableStyleId>
              </a:tblPr>
              <a:tblGrid>
                <a:gridCol w="2479780"/>
                <a:gridCol w="2479780"/>
              </a:tblGrid>
              <a:tr h="502920">
                <a:tc>
                  <a:txBody>
                    <a:bodyPr/>
                    <a:lstStyle/>
                    <a:p>
                      <a:r>
                        <a:rPr sz="1400" b="1">
                          <a:solidFill>
                            <a:srgbClr val="CCFBF1"/>
                          </a:solidFill>
                          <a:latin typeface="Calibri"/>
                        </a:rPr>
                        <a:t>Element</a:t>
                      </a:r>
                    </a:p>
                  </a:txBody>
                  <a:tcPr>
                    <a:solidFill>
                      <a:srgbClr val="0F766E"/>
                    </a:solidFill>
                  </a:tcPr>
                </a:tc>
                <a:tc>
                  <a:txBody>
                    <a:bodyPr/>
                    <a:lstStyle/>
                    <a:p>
                      <a:r>
                        <a:rPr sz="1400" b="1">
                          <a:solidFill>
                            <a:srgbClr val="CCFBF1"/>
                          </a:solidFill>
                          <a:latin typeface="Calibri"/>
                        </a:rPr>
                        <a:t>Diagnostic question</a:t>
                      </a:r>
                    </a:p>
                  </a:txBody>
                  <a:tcPr>
                    <a:solidFill>
                      <a:srgbClr val="0F766E"/>
                    </a:solidFill>
                  </a:tcPr>
                </a:tc>
              </a:tr>
              <a:tr h="502920">
                <a:tc>
                  <a:txBody>
                    <a:bodyPr/>
                    <a:lstStyle/>
                    <a:p>
                      <a:r>
                        <a:rPr sz="1400" b="0">
                          <a:solidFill>
                            <a:srgbClr val="1F2937"/>
                          </a:solidFill>
                          <a:latin typeface="Calibri"/>
                        </a:rPr>
                        <a:t>Timestamp</a:t>
                      </a:r>
                    </a:p>
                  </a:txBody>
                  <a:tcPr>
                    <a:solidFill>
                      <a:srgbClr val="F3F4F6"/>
                    </a:solidFill>
                  </a:tcPr>
                </a:tc>
                <a:tc>
                  <a:txBody>
                    <a:bodyPr/>
                    <a:lstStyle/>
                    <a:p>
                      <a:r>
                        <a:rPr sz="1400" b="0">
                          <a:solidFill>
                            <a:srgbClr val="1F2937"/>
                          </a:solidFill>
                          <a:latin typeface="Calibri"/>
                        </a:rPr>
                        <a:t>When did the event occur?</a:t>
                      </a:r>
                    </a:p>
                  </a:txBody>
                  <a:tcPr>
                    <a:solidFill>
                      <a:srgbClr val="F3F4F6"/>
                    </a:solidFill>
                  </a:tcPr>
                </a:tc>
              </a:tr>
              <a:tr h="502920">
                <a:tc>
                  <a:txBody>
                    <a:bodyPr/>
                    <a:lstStyle/>
                    <a:p>
                      <a:r>
                        <a:rPr sz="1400" b="0">
                          <a:solidFill>
                            <a:srgbClr val="1F2937"/>
                          </a:solidFill>
                          <a:latin typeface="Calibri"/>
                        </a:rPr>
                        <a:t>Tool input</a:t>
                      </a:r>
                    </a:p>
                  </a:txBody>
                  <a:tcPr>
                    <a:solidFill>
                      <a:srgbClr val="F3F4F6"/>
                    </a:solidFill>
                  </a:tcPr>
                </a:tc>
                <a:tc>
                  <a:txBody>
                    <a:bodyPr/>
                    <a:lstStyle/>
                    <a:p>
                      <a:r>
                        <a:rPr sz="1400" b="0">
                          <a:solidFill>
                            <a:srgbClr val="1F2937"/>
                          </a:solidFill>
                          <a:latin typeface="Calibri"/>
                        </a:rPr>
                        <a:t>What action was requested?</a:t>
                      </a:r>
                    </a:p>
                  </a:txBody>
                  <a:tcPr>
                    <a:solidFill>
                      <a:srgbClr val="F3F4F6"/>
                    </a:solidFill>
                  </a:tcPr>
                </a:tc>
              </a:tr>
              <a:tr h="502920">
                <a:tc>
                  <a:txBody>
                    <a:bodyPr/>
                    <a:lstStyle/>
                    <a:p>
                      <a:r>
                        <a:rPr sz="1400" b="0">
                          <a:solidFill>
                            <a:srgbClr val="1F2937"/>
                          </a:solidFill>
                          <a:latin typeface="Calibri"/>
                        </a:rPr>
                        <a:t>Tool output</a:t>
                      </a:r>
                    </a:p>
                  </a:txBody>
                  <a:tcPr>
                    <a:solidFill>
                      <a:srgbClr val="F3F4F6"/>
                    </a:solidFill>
                  </a:tcPr>
                </a:tc>
                <a:tc>
                  <a:txBody>
                    <a:bodyPr/>
                    <a:lstStyle/>
                    <a:p>
                      <a:r>
                        <a:rPr sz="1400" b="0">
                          <a:solidFill>
                            <a:srgbClr val="1F2937"/>
                          </a:solidFill>
                          <a:latin typeface="Calibri"/>
                        </a:rPr>
                        <a:t>What did the system return?</a:t>
                      </a:r>
                    </a:p>
                  </a:txBody>
                  <a:tcPr>
                    <a:solidFill>
                      <a:srgbClr val="F3F4F6"/>
                    </a:solidFill>
                  </a:tcPr>
                </a:tc>
              </a:tr>
              <a:tr h="502920">
                <a:tc>
                  <a:txBody>
                    <a:bodyPr/>
                    <a:lstStyle/>
                    <a:p>
                      <a:r>
                        <a:rPr sz="1400" b="0">
                          <a:solidFill>
                            <a:srgbClr val="1F2937"/>
                          </a:solidFill>
                          <a:latin typeface="Calibri"/>
                        </a:rPr>
                        <a:t>Diff</a:t>
                      </a:r>
                    </a:p>
                  </a:txBody>
                  <a:tcPr>
                    <a:solidFill>
                      <a:srgbClr val="F3F4F6"/>
                    </a:solidFill>
                  </a:tcPr>
                </a:tc>
                <a:tc>
                  <a:txBody>
                    <a:bodyPr/>
                    <a:lstStyle/>
                    <a:p>
                      <a:r>
                        <a:rPr sz="1400" b="0">
                          <a:solidFill>
                            <a:srgbClr val="1F2937"/>
                          </a:solidFill>
                          <a:latin typeface="Calibri"/>
                        </a:rPr>
                        <a:t>What changed between attempts?</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Trace elements and diagnostic questions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A Repeatable Trace Analysis Method</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Define the expected behavior before judging the trace.</a:t>
            </a:r>
          </a:p>
          <a:p>
            <a:pPr marL="292608" indent="-292608">
              <a:spcAft>
                <a:spcPts val="1000"/>
              </a:spcAft>
              <a:buClr>
                <a:srgbClr val="0F766E"/>
              </a:buClr>
              <a:buFont typeface="Arial"/>
              <a:buChar char="▪"/>
            </a:pPr>
            <a:r>
              <a:rPr sz="2400">
                <a:solidFill>
                  <a:srgbClr val="1F2937"/>
                </a:solidFill>
                <a:latin typeface="Calibri"/>
              </a:rPr>
              <a:t>Locate the first unexpected observation.</a:t>
            </a:r>
          </a:p>
          <a:p>
            <a:pPr marL="292608" indent="-292608">
              <a:spcAft>
                <a:spcPts val="1000"/>
              </a:spcAft>
              <a:buClr>
                <a:srgbClr val="0F766E"/>
              </a:buClr>
              <a:buFont typeface="Arial"/>
              <a:buChar char="▪"/>
            </a:pPr>
            <a:r>
              <a:rPr sz="2400">
                <a:solidFill>
                  <a:srgbClr val="1F2937"/>
                </a:solidFill>
                <a:latin typeface="Calibri"/>
              </a:rPr>
              <a:t>Separate the trigger from later consequences.</a:t>
            </a:r>
          </a:p>
          <a:p>
            <a:pPr marL="292608" indent="-292608">
              <a:spcAft>
                <a:spcPts val="1000"/>
              </a:spcAft>
              <a:buClr>
                <a:srgbClr val="0F766E"/>
              </a:buClr>
              <a:buFont typeface="Arial"/>
              <a:buChar char="▪"/>
            </a:pPr>
            <a:r>
              <a:rPr sz="2400">
                <a:solidFill>
                  <a:srgbClr val="1F2937"/>
                </a:solidFill>
                <a:latin typeface="Calibri"/>
              </a:rPr>
              <a:t>Classify the failure using observable evidence.</a:t>
            </a:r>
          </a:p>
          <a:p>
            <a:pPr marL="292608" indent="-292608">
              <a:spcAft>
                <a:spcPts val="1000"/>
              </a:spcAft>
              <a:buClr>
                <a:srgbClr val="0F766E"/>
              </a:buClr>
              <a:buFont typeface="Arial"/>
              <a:buChar char="▪"/>
            </a:pPr>
            <a:r>
              <a:rPr sz="2400">
                <a:solidFill>
                  <a:srgbClr val="1F2937"/>
                </a:solidFill>
                <a:latin typeface="Calibri"/>
              </a:rPr>
              <a:t>Support the diagnosis with exact log excerpts.</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Expectation</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First anomaly</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Cause</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Consequences</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Evidence</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Evidence-first trace analysis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Failure Cause Categories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000">
                <a:solidFill>
                  <a:srgbClr val="1F2937"/>
                </a:solidFill>
                <a:latin typeface="Calibri"/>
              </a:rPr>
              <a:t>Specification mismatch: required behavior differs from observed behavior.</a:t>
            </a:r>
          </a:p>
          <a:p>
            <a:pPr marL="292608" indent="-292608">
              <a:spcAft>
                <a:spcPts val="1000"/>
              </a:spcAft>
              <a:buClr>
                <a:srgbClr val="0F766E"/>
              </a:buClr>
              <a:buFont typeface="Arial"/>
              <a:buChar char="▪"/>
            </a:pPr>
            <a:r>
              <a:rPr sz="2000">
                <a:solidFill>
                  <a:srgbClr val="1F2937"/>
                </a:solidFill>
                <a:latin typeface="Calibri"/>
              </a:rPr>
              <a:t>Tool or environment failure: the execution environment prevents the intended action.</a:t>
            </a:r>
          </a:p>
          <a:p>
            <a:pPr marL="292608" indent="-292608">
              <a:spcAft>
                <a:spcPts val="1000"/>
              </a:spcAft>
              <a:buClr>
                <a:srgbClr val="0F766E"/>
              </a:buClr>
              <a:buFont typeface="Arial"/>
              <a:buChar char="▪"/>
            </a:pPr>
            <a:r>
              <a:rPr sz="2000">
                <a:solidFill>
                  <a:srgbClr val="1F2937"/>
                </a:solidFill>
                <a:latin typeface="Calibri"/>
              </a:rPr>
              <a:t>Input or data failure: inputs violate assumptions used by the implementation.</a:t>
            </a:r>
          </a:p>
          <a:p>
            <a:pPr marL="292608" indent="-292608">
              <a:spcAft>
                <a:spcPts val="1000"/>
              </a:spcAft>
              <a:buClr>
                <a:srgbClr val="0F766E"/>
              </a:buClr>
              <a:buFont typeface="Arial"/>
              <a:buChar char="▪"/>
            </a:pPr>
            <a:r>
              <a:rPr sz="2000">
                <a:solidFill>
                  <a:srgbClr val="1F2937"/>
                </a:solidFill>
                <a:latin typeface="Calibri"/>
              </a:rPr>
              <a:t>Implementation defect: the code produces incorrect behavior for valid inputs.</a:t>
            </a:r>
          </a:p>
          <a:p>
            <a:pPr marL="292608" indent="-292608">
              <a:spcAft>
                <a:spcPts val="1000"/>
              </a:spcAft>
              <a:buClr>
                <a:srgbClr val="0F766E"/>
              </a:buClr>
              <a:buFont typeface="Arial"/>
              <a:buChar char="▪"/>
            </a:pPr>
            <a:r>
              <a:rPr sz="2000">
                <a:solidFill>
                  <a:srgbClr val="1F2937"/>
                </a:solidFill>
                <a:latin typeface="Calibri"/>
              </a:rPr>
              <a:t>Process failure: the agent stops, loops, or ignores useful feedback.</a:t>
            </a:r>
          </a:p>
        </p:txBody>
      </p:sp>
      <p:graphicFrame>
        <p:nvGraphicFramePr>
          <p:cNvPr id="7" name="Table 6"/>
          <p:cNvGraphicFramePr>
            <a:graphicFrameLocks noGrp="1"/>
          </p:cNvGraphicFramePr>
          <p:nvPr/>
        </p:nvGraphicFramePr>
        <p:xfrm>
          <a:off x="6683495" y="1463040"/>
          <a:ext cx="4959560" cy="3017520"/>
        </p:xfrm>
        <a:graphic>
          <a:graphicData uri="http://schemas.openxmlformats.org/drawingml/2006/table">
            <a:tbl>
              <a:tblPr firstRow="1" bandRow="1">
                <a:tableStyleId>{5C22544A-7EE6-4342-B048-85BDC9FD1C3A}</a:tableStyleId>
              </a:tblPr>
              <a:tblGrid>
                <a:gridCol w="2479780"/>
                <a:gridCol w="2479780"/>
              </a:tblGrid>
              <a:tr h="502920">
                <a:tc>
                  <a:txBody>
                    <a:bodyPr/>
                    <a:lstStyle/>
                    <a:p>
                      <a:r>
                        <a:rPr sz="1400" b="1">
                          <a:solidFill>
                            <a:srgbClr val="CCFBF1"/>
                          </a:solidFill>
                          <a:latin typeface="Calibri"/>
                        </a:rPr>
                        <a:t>Category</a:t>
                      </a:r>
                    </a:p>
                  </a:txBody>
                  <a:tcPr>
                    <a:solidFill>
                      <a:srgbClr val="0F766E"/>
                    </a:solidFill>
                  </a:tcPr>
                </a:tc>
                <a:tc>
                  <a:txBody>
                    <a:bodyPr/>
                    <a:lstStyle/>
                    <a:p>
                      <a:r>
                        <a:rPr sz="1400" b="1">
                          <a:solidFill>
                            <a:srgbClr val="CCFBF1"/>
                          </a:solidFill>
                          <a:latin typeface="Calibri"/>
                        </a:rPr>
                        <a:t>Typical evidence</a:t>
                      </a:r>
                    </a:p>
                  </a:txBody>
                  <a:tcPr>
                    <a:solidFill>
                      <a:srgbClr val="0F766E"/>
                    </a:solidFill>
                  </a:tcPr>
                </a:tc>
              </a:tr>
              <a:tr h="502920">
                <a:tc>
                  <a:txBody>
                    <a:bodyPr/>
                    <a:lstStyle/>
                    <a:p>
                      <a:r>
                        <a:rPr sz="1400" b="0">
                          <a:solidFill>
                            <a:srgbClr val="1F2937"/>
                          </a:solidFill>
                          <a:latin typeface="Calibri"/>
                        </a:rPr>
                        <a:t>Specification</a:t>
                      </a:r>
                    </a:p>
                  </a:txBody>
                  <a:tcPr>
                    <a:solidFill>
                      <a:srgbClr val="F3F4F6"/>
                    </a:solidFill>
                  </a:tcPr>
                </a:tc>
                <a:tc>
                  <a:txBody>
                    <a:bodyPr/>
                    <a:lstStyle/>
                    <a:p>
                      <a:r>
                        <a:rPr sz="1400" b="0">
                          <a:solidFill>
                            <a:srgbClr val="1F2937"/>
                          </a:solidFill>
                          <a:latin typeface="Calibri"/>
                        </a:rPr>
                        <a:t>Expected and actual outputs differ</a:t>
                      </a:r>
                    </a:p>
                  </a:txBody>
                  <a:tcPr>
                    <a:solidFill>
                      <a:srgbClr val="F3F4F6"/>
                    </a:solidFill>
                  </a:tcPr>
                </a:tc>
              </a:tr>
              <a:tr h="502920">
                <a:tc>
                  <a:txBody>
                    <a:bodyPr/>
                    <a:lstStyle/>
                    <a:p>
                      <a:r>
                        <a:rPr sz="1400" b="0">
                          <a:solidFill>
                            <a:srgbClr val="1F2937"/>
                          </a:solidFill>
                          <a:latin typeface="Calibri"/>
                        </a:rPr>
                        <a:t>Environment</a:t>
                      </a:r>
                    </a:p>
                  </a:txBody>
                  <a:tcPr>
                    <a:solidFill>
                      <a:srgbClr val="F3F4F6"/>
                    </a:solidFill>
                  </a:tcPr>
                </a:tc>
                <a:tc>
                  <a:txBody>
                    <a:bodyPr/>
                    <a:lstStyle/>
                    <a:p>
                      <a:r>
                        <a:rPr sz="1400" b="0">
                          <a:solidFill>
                            <a:srgbClr val="1F2937"/>
                          </a:solidFill>
                          <a:latin typeface="Calibri"/>
                        </a:rPr>
                        <a:t>Tool reports unavailable or invalid setup</a:t>
                      </a:r>
                    </a:p>
                  </a:txBody>
                  <a:tcPr>
                    <a:solidFill>
                      <a:srgbClr val="F3F4F6"/>
                    </a:solidFill>
                  </a:tcPr>
                </a:tc>
              </a:tr>
              <a:tr h="502920">
                <a:tc>
                  <a:txBody>
                    <a:bodyPr/>
                    <a:lstStyle/>
                    <a:p>
                      <a:r>
                        <a:rPr sz="1400" b="0">
                          <a:solidFill>
                            <a:srgbClr val="1F2937"/>
                          </a:solidFill>
                          <a:latin typeface="Calibri"/>
                        </a:rPr>
                        <a:t>Input</a:t>
                      </a:r>
                    </a:p>
                  </a:txBody>
                  <a:tcPr>
                    <a:solidFill>
                      <a:srgbClr val="F3F4F6"/>
                    </a:solidFill>
                  </a:tcPr>
                </a:tc>
                <a:tc>
                  <a:txBody>
                    <a:bodyPr/>
                    <a:lstStyle/>
                    <a:p>
                      <a:r>
                        <a:rPr sz="1400" b="0">
                          <a:solidFill>
                            <a:srgbClr val="1F2937"/>
                          </a:solidFill>
                          <a:latin typeface="Calibri"/>
                        </a:rPr>
                        <a:t>Invalid value or malformed data</a:t>
                      </a:r>
                    </a:p>
                  </a:txBody>
                  <a:tcPr>
                    <a:solidFill>
                      <a:srgbClr val="F3F4F6"/>
                    </a:solidFill>
                  </a:tcPr>
                </a:tc>
              </a:tr>
              <a:tr h="502920">
                <a:tc>
                  <a:txBody>
                    <a:bodyPr/>
                    <a:lstStyle/>
                    <a:p>
                      <a:r>
                        <a:rPr sz="1400" b="0">
                          <a:solidFill>
                            <a:srgbClr val="1F2937"/>
                          </a:solidFill>
                          <a:latin typeface="Calibri"/>
                        </a:rPr>
                        <a:t>Implementation</a:t>
                      </a:r>
                    </a:p>
                  </a:txBody>
                  <a:tcPr>
                    <a:solidFill>
                      <a:srgbClr val="F3F4F6"/>
                    </a:solidFill>
                  </a:tcPr>
                </a:tc>
                <a:tc>
                  <a:txBody>
                    <a:bodyPr/>
                    <a:lstStyle/>
                    <a:p>
                      <a:r>
                        <a:rPr sz="1400" b="0">
                          <a:solidFill>
                            <a:srgbClr val="1F2937"/>
                          </a:solidFill>
                          <a:latin typeface="Calibri"/>
                        </a:rPr>
                        <a:t>Wrong result on valid input</a:t>
                      </a:r>
                    </a:p>
                  </a:txBody>
                  <a:tcPr>
                    <a:solidFill>
                      <a:srgbClr val="F3F4F6"/>
                    </a:solidFill>
                  </a:tcPr>
                </a:tc>
              </a:tr>
              <a:tr h="502920">
                <a:tc>
                  <a:txBody>
                    <a:bodyPr/>
                    <a:lstStyle/>
                    <a:p>
                      <a:r>
                        <a:rPr sz="1400" b="0">
                          <a:solidFill>
                            <a:srgbClr val="1F2937"/>
                          </a:solidFill>
                          <a:latin typeface="Calibri"/>
                        </a:rPr>
                        <a:t>Process</a:t>
                      </a:r>
                    </a:p>
                  </a:txBody>
                  <a:tcPr>
                    <a:solidFill>
                      <a:srgbClr val="F3F4F6"/>
                    </a:solidFill>
                  </a:tcPr>
                </a:tc>
                <a:tc>
                  <a:txBody>
                    <a:bodyPr/>
                    <a:lstStyle/>
                    <a:p>
                      <a:r>
                        <a:rPr sz="1400" b="0">
                          <a:solidFill>
                            <a:srgbClr val="1F2937"/>
                          </a:solidFill>
                          <a:latin typeface="Calibri"/>
                        </a:rPr>
                        <a:t>Repeated attempt without progress</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Categories distinguished by evidence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900" b="1">
                <a:solidFill>
                  <a:srgbClr val="1F2937"/>
                </a:solidFill>
                <a:latin typeface="Calibri"/>
              </a:rPr>
              <a:t>Trace Excerpt: Input-Coercion Failure Sequence</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The tool receives a numeric-looking string where an integer is required.</a:t>
            </a:r>
          </a:p>
          <a:p>
            <a:pPr marL="292608" indent="-292608">
              <a:spcAft>
                <a:spcPts val="1000"/>
              </a:spcAft>
              <a:buClr>
                <a:srgbClr val="0F766E"/>
              </a:buClr>
              <a:buFont typeface="Arial"/>
              <a:buChar char="▪"/>
            </a:pPr>
            <a:r>
              <a:rPr sz="2300">
                <a:solidFill>
                  <a:srgbClr val="1F2937"/>
                </a:solidFill>
                <a:latin typeface="Calibri"/>
              </a:rPr>
              <a:t>Conversion raises a TypeError before the requested operation runs.</a:t>
            </a:r>
          </a:p>
          <a:p>
            <a:pPr marL="292608" indent="-292608">
              <a:spcAft>
                <a:spcPts val="1000"/>
              </a:spcAft>
              <a:buClr>
                <a:srgbClr val="0F766E"/>
              </a:buClr>
              <a:buFont typeface="Arial"/>
              <a:buChar char="▪"/>
            </a:pPr>
            <a:r>
              <a:rPr sz="2300">
                <a:solidFill>
                  <a:srgbClr val="1F2937"/>
                </a:solidFill>
                <a:latin typeface="Calibri"/>
              </a:rPr>
              <a:t>A later fallback raises a ValueError while handling the bad value.</a:t>
            </a:r>
          </a:p>
          <a:p>
            <a:pPr marL="292608" indent="-292608">
              <a:spcAft>
                <a:spcPts val="1000"/>
              </a:spcAft>
              <a:buClr>
                <a:srgbClr val="0F766E"/>
              </a:buClr>
              <a:buFont typeface="Arial"/>
              <a:buChar char="▪"/>
            </a:pPr>
            <a:r>
              <a:rPr sz="2300">
                <a:solidFill>
                  <a:srgbClr val="1F2937"/>
                </a:solidFill>
                <a:latin typeface="Calibri"/>
              </a:rPr>
              <a:t>The sequence indicates input-coercion failure, not one isolated exception.</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text</a:t>
            </a:r>
          </a:p>
          <a:p>
            <a:pPr algn="l"/>
            <a:r>
              <a:rPr sz="1200" b="0">
                <a:solidFill>
                  <a:srgbClr val="E5E7EB"/>
                </a:solidFill>
                <a:latin typeface="Consolas"/>
              </a:rPr>
              <a:t>tool: calculate_total</a:t>
            </a:r>
          </a:p>
          <a:p>
            <a:pPr algn="l"/>
            <a:r>
              <a:rPr sz="1200" b="0">
                <a:solidFill>
                  <a:srgbClr val="E5E7EB"/>
                </a:solidFill>
                <a:latin typeface="Consolas"/>
              </a:rPr>
              <a:t>input: {"values": ["10", "20"]}</a:t>
            </a:r>
          </a:p>
          <a:p>
            <a:pPr algn="l"/>
            <a:r>
              <a:rPr sz="1200" b="0">
                <a:solidFill>
                  <a:srgbClr val="E5E7EB"/>
                </a:solidFill>
                <a:latin typeface="Consolas"/>
              </a:rPr>
              <a:t>output: TypeError: unsupported operand type for +: 'int' and 'str'</a:t>
            </a:r>
          </a:p>
          <a:p>
            <a:pPr algn="l"/>
            <a:r>
              <a:rPr sz="1200" b="0">
                <a:solidFill>
                  <a:srgbClr val="E5E7EB"/>
                </a:solidFill>
                <a:latin typeface="Consolas"/>
              </a:rPr>
              <a:t>tool: calculate_total_fallback</a:t>
            </a:r>
          </a:p>
          <a:p>
            <a:pPr algn="l"/>
            <a:r>
              <a:rPr sz="1200" b="0">
                <a:solidFill>
                  <a:srgbClr val="E5E7EB"/>
                </a:solidFill>
                <a:latin typeface="Consolas"/>
              </a:rPr>
              <a:t>input: {"values": ["10", "20"]}</a:t>
            </a:r>
          </a:p>
          <a:p>
            <a:pPr algn="l"/>
            <a:r>
              <a:rPr sz="1200" b="0">
                <a:solidFill>
                  <a:srgbClr val="E5E7EB"/>
                </a:solidFill>
                <a:latin typeface="Consolas"/>
              </a:rPr>
              <a:t>output: ValueError: invalid literal for int() with base 10: '10'</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Illustrative trace excerpt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Trace Excerpt: Specification Mismatch</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The task requires a positive result for valid positive inputs.</a:t>
            </a:r>
          </a:p>
          <a:p>
            <a:pPr marL="292608" indent="-292608">
              <a:spcAft>
                <a:spcPts val="1000"/>
              </a:spcAft>
              <a:buClr>
                <a:srgbClr val="0F766E"/>
              </a:buClr>
              <a:buFont typeface="Arial"/>
              <a:buChar char="▪"/>
            </a:pPr>
            <a:r>
              <a:rPr sz="2400">
                <a:solidFill>
                  <a:srgbClr val="1F2937"/>
                </a:solidFill>
                <a:latin typeface="Calibri"/>
              </a:rPr>
              <a:t>The implementation returns zero when the input is one.</a:t>
            </a:r>
          </a:p>
          <a:p>
            <a:pPr marL="292608" indent="-292608">
              <a:spcAft>
                <a:spcPts val="1000"/>
              </a:spcAft>
              <a:buClr>
                <a:srgbClr val="0F766E"/>
              </a:buClr>
              <a:buFont typeface="Arial"/>
              <a:buChar char="▪"/>
            </a:pPr>
            <a:r>
              <a:rPr sz="2400">
                <a:solidFill>
                  <a:srgbClr val="1F2937"/>
                </a:solidFill>
                <a:latin typeface="Calibri"/>
              </a:rPr>
              <a:t>The test output shows expected 1 but received 0.</a:t>
            </a:r>
          </a:p>
          <a:p>
            <a:pPr marL="292608" indent="-292608">
              <a:spcAft>
                <a:spcPts val="1000"/>
              </a:spcAft>
              <a:buClr>
                <a:srgbClr val="0F766E"/>
              </a:buClr>
              <a:buFont typeface="Arial"/>
              <a:buChar char="▪"/>
            </a:pPr>
            <a:r>
              <a:rPr sz="2400">
                <a:solidFill>
                  <a:srgbClr val="1F2937"/>
                </a:solidFill>
                <a:latin typeface="Calibri"/>
              </a:rPr>
              <a:t>The diff changes the result calculation, so the mismatch is observable.</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text</a:t>
            </a:r>
          </a:p>
          <a:p>
            <a:pPr algn="l"/>
            <a:r>
              <a:rPr sz="1400" b="0">
                <a:solidFill>
                  <a:srgbClr val="E5E7EB"/>
                </a:solidFill>
                <a:latin typeface="Consolas"/>
              </a:rPr>
              <a:t>task: return the input when it is positive</a:t>
            </a:r>
          </a:p>
          <a:p>
            <a:pPr algn="l"/>
            <a:r>
              <a:rPr sz="1400" b="0">
                <a:solidFill>
                  <a:srgbClr val="E5E7EB"/>
                </a:solidFill>
                <a:latin typeface="Consolas"/>
              </a:rPr>
              <a:t>edit: result = 0 if value &lt;= 0 else value</a:t>
            </a:r>
          </a:p>
          <a:p>
            <a:pPr algn="l"/>
            <a:r>
              <a:rPr sz="1400" b="0">
                <a:solidFill>
                  <a:srgbClr val="E5E7EB"/>
                </a:solidFill>
                <a:latin typeface="Consolas"/>
              </a:rPr>
              <a:t>test: test_positive_one</a:t>
            </a:r>
          </a:p>
          <a:p>
            <a:pPr algn="l"/>
            <a:r>
              <a:rPr sz="1400" b="0">
                <a:solidFill>
                  <a:srgbClr val="E5E7EB"/>
                </a:solidFill>
                <a:latin typeface="Consolas"/>
              </a:rPr>
              <a:t>expected: 1</a:t>
            </a:r>
          </a:p>
          <a:p>
            <a:pPr algn="l"/>
            <a:r>
              <a:rPr sz="1400" b="0">
                <a:solidFill>
                  <a:srgbClr val="E5E7EB"/>
                </a:solidFill>
                <a:latin typeface="Consolas"/>
              </a:rPr>
              <a:t>received: 0</a:t>
            </a:r>
          </a:p>
          <a:p>
            <a:pPr algn="l"/>
            <a:r>
              <a:rPr sz="1400" b="0">
                <a:solidFill>
                  <a:srgbClr val="E5E7EB"/>
                </a:solidFill>
                <a:latin typeface="Consolas"/>
              </a:rPr>
              <a:t>status: failed</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Illustrative trace excerpt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Trace Excerpt: Environment and Process Failures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The test command fails because the required executable is unavailable.</a:t>
            </a:r>
          </a:p>
          <a:p>
            <a:pPr marL="292608" indent="-292608">
              <a:spcAft>
                <a:spcPts val="1000"/>
              </a:spcAft>
              <a:buClr>
                <a:srgbClr val="0F766E"/>
              </a:buClr>
              <a:buFont typeface="Arial"/>
              <a:buChar char="▪"/>
            </a:pPr>
            <a:r>
              <a:rPr sz="2300">
                <a:solidFill>
                  <a:srgbClr val="1F2937"/>
                </a:solidFill>
                <a:latin typeface="Calibri"/>
              </a:rPr>
              <a:t>The agent repeats the same command without changing the environment.</a:t>
            </a:r>
          </a:p>
          <a:p>
            <a:pPr marL="292608" indent="-292608">
              <a:spcAft>
                <a:spcPts val="1000"/>
              </a:spcAft>
              <a:buClr>
                <a:srgbClr val="0F766E"/>
              </a:buClr>
              <a:buFont typeface="Arial"/>
              <a:buChar char="▪"/>
            </a:pPr>
            <a:r>
              <a:rPr sz="2300">
                <a:solidFill>
                  <a:srgbClr val="1F2937"/>
                </a:solidFill>
                <a:latin typeface="Calibri"/>
              </a:rPr>
              <a:t>The trace shows no new diagnostic information between attempts.</a:t>
            </a:r>
          </a:p>
          <a:p>
            <a:pPr marL="292608" indent="-292608">
              <a:spcAft>
                <a:spcPts val="1000"/>
              </a:spcAft>
              <a:buClr>
                <a:srgbClr val="0F766E"/>
              </a:buClr>
              <a:buFont typeface="Arial"/>
              <a:buChar char="▪"/>
            </a:pPr>
            <a:r>
              <a:rPr sz="2300">
                <a:solidFill>
                  <a:srgbClr val="1F2937"/>
                </a:solidFill>
                <a:latin typeface="Calibri"/>
              </a:rPr>
              <a:t>The evidence supports an environment failure and a stalled process.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text</a:t>
            </a:r>
          </a:p>
          <a:p>
            <a:pPr algn="l"/>
            <a:r>
              <a:rPr sz="1400" b="0">
                <a:solidFill>
                  <a:srgbClr val="E5E7EB"/>
                </a:solidFill>
                <a:latin typeface="Consolas"/>
              </a:rPr>
              <a:t>tool: run_tests</a:t>
            </a:r>
          </a:p>
          <a:p>
            <a:pPr algn="l"/>
            <a:r>
              <a:rPr sz="1400" b="0">
                <a:solidFill>
                  <a:srgbClr val="E5E7EB"/>
                </a:solidFill>
                <a:latin typeface="Consolas"/>
              </a:rPr>
              <a:t>command: pytest -q</a:t>
            </a:r>
          </a:p>
          <a:p>
            <a:pPr algn="l"/>
            <a:r>
              <a:rPr sz="1400" b="0">
                <a:solidFill>
                  <a:srgbClr val="E5E7EB"/>
                </a:solidFill>
                <a:latin typeface="Consolas"/>
              </a:rPr>
              <a:t>output: command not found: pytest</a:t>
            </a:r>
          </a:p>
          <a:p>
            <a:pPr algn="l"/>
            <a:r>
              <a:rPr sz="1400" b="0">
                <a:solidFill>
                  <a:srgbClr val="E5E7EB"/>
                </a:solidFill>
                <a:latin typeface="Consolas"/>
              </a:rPr>
              <a:t>tool: run_tests</a:t>
            </a:r>
          </a:p>
          <a:p>
            <a:pPr algn="l"/>
            <a:r>
              <a:rPr sz="1400" b="0">
                <a:solidFill>
                  <a:srgbClr val="E5E7EB"/>
                </a:solidFill>
                <a:latin typeface="Consolas"/>
              </a:rPr>
              <a:t>command: pytest -q</a:t>
            </a:r>
          </a:p>
          <a:p>
            <a:pPr algn="l"/>
            <a:r>
              <a:rPr sz="1400" b="0">
                <a:solidFill>
                  <a:srgbClr val="E5E7EB"/>
                </a:solidFill>
                <a:latin typeface="Consolas"/>
              </a:rPr>
              <a:t>output: command not found: pytest</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Illustrative trace excerpt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Trace Analysis Fundamentals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Which trace element most directly compares required behavior with observed behavior?</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A diff between two file versions</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A prompt containing only the task description</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A test output showing expected and received values</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A timestamp between two tool calls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From Diagnosis to a Testable Hypothesis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Write the failure as a falsifiable behavioral statement.</a:t>
            </a:r>
          </a:p>
          <a:p>
            <a:pPr marL="292608" indent="-292608">
              <a:spcAft>
                <a:spcPts val="1000"/>
              </a:spcAft>
              <a:buClr>
                <a:srgbClr val="0F766E"/>
              </a:buClr>
              <a:buFont typeface="Arial"/>
              <a:buChar char="▪"/>
            </a:pPr>
            <a:r>
              <a:rPr sz="2400">
                <a:solidFill>
                  <a:srgbClr val="1F2937"/>
                </a:solidFill>
                <a:latin typeface="Calibri"/>
              </a:rPr>
              <a:t>Name the input, operation, and observed result.</a:t>
            </a:r>
          </a:p>
          <a:p>
            <a:pPr marL="292608" indent="-292608">
              <a:spcAft>
                <a:spcPts val="1000"/>
              </a:spcAft>
              <a:buClr>
                <a:srgbClr val="0F766E"/>
              </a:buClr>
              <a:buFont typeface="Arial"/>
              <a:buChar char="▪"/>
            </a:pPr>
            <a:r>
              <a:rPr sz="2400">
                <a:solidFill>
                  <a:srgbClr val="1F2937"/>
                </a:solidFill>
                <a:latin typeface="Calibri"/>
              </a:rPr>
              <a:t>Separate the suspected cause from the supporting observation.</a:t>
            </a:r>
          </a:p>
          <a:p>
            <a:pPr marL="292608" indent="-292608">
              <a:spcAft>
                <a:spcPts val="1000"/>
              </a:spcAft>
              <a:buClr>
                <a:srgbClr val="0F766E"/>
              </a:buClr>
              <a:buFont typeface="Arial"/>
              <a:buChar char="▪"/>
            </a:pPr>
            <a:r>
              <a:rPr sz="2400">
                <a:solidFill>
                  <a:srgbClr val="1F2937"/>
                </a:solidFill>
                <a:latin typeface="Calibri"/>
              </a:rPr>
              <a:t>Define a small check that could confirm or reject the hypothesis.</a:t>
            </a:r>
          </a:p>
          <a:p>
            <a:pPr marL="292608" indent="-292608">
              <a:spcAft>
                <a:spcPts val="1000"/>
              </a:spcAft>
              <a:buClr>
                <a:srgbClr val="0F766E"/>
              </a:buClr>
              <a:buFont typeface="Arial"/>
              <a:buChar char="▪"/>
            </a:pPr>
            <a:r>
              <a:rPr sz="2400">
                <a:solidFill>
                  <a:srgbClr val="1F2937"/>
                </a:solidFill>
                <a:latin typeface="Calibri"/>
              </a:rPr>
              <a:t>Record what evidence would change the diagnosis.</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Claim</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Prediction</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Check</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Evidence</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Revision</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Turning a trace finding into validation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Lab: Diagnose a Supplied Trace</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Activity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Open the supplied trace and state the expected behavior.</a:t>
            </a:r>
          </a:p>
          <a:p>
            <a:pPr marL="292608" indent="-292608">
              <a:spcAft>
                <a:spcPts val="1000"/>
              </a:spcAft>
              <a:buClr>
                <a:srgbClr val="0F766E"/>
              </a:buClr>
              <a:buFont typeface="Arial"/>
              <a:buChar char="▪"/>
            </a:pPr>
            <a:r>
              <a:rPr sz="2400">
                <a:solidFill>
                  <a:srgbClr val="1F2937"/>
                </a:solidFill>
                <a:latin typeface="Calibri"/>
              </a:rPr>
              <a:t>Identify the first unexpected observation and its trigger.</a:t>
            </a:r>
          </a:p>
          <a:p>
            <a:pPr marL="292608" indent="-292608">
              <a:spcAft>
                <a:spcPts val="1000"/>
              </a:spcAft>
              <a:buClr>
                <a:srgbClr val="0F766E"/>
              </a:buClr>
              <a:buFont typeface="Arial"/>
              <a:buChar char="▪"/>
            </a:pPr>
            <a:r>
              <a:rPr sz="2400">
                <a:solidFill>
                  <a:srgbClr val="1F2937"/>
                </a:solidFill>
                <a:latin typeface="Calibri"/>
              </a:rPr>
              <a:t>Classify at least three distinct failure causes.</a:t>
            </a:r>
          </a:p>
          <a:p>
            <a:pPr marL="292608" indent="-292608">
              <a:spcAft>
                <a:spcPts val="1000"/>
              </a:spcAft>
              <a:buClr>
                <a:srgbClr val="0F766E"/>
              </a:buClr>
              <a:buFont typeface="Arial"/>
              <a:buChar char="▪"/>
            </a:pPr>
            <a:r>
              <a:rPr sz="2400">
                <a:solidFill>
                  <a:srgbClr val="1F2937"/>
                </a:solidFill>
                <a:latin typeface="Calibri"/>
              </a:rPr>
              <a:t>For each cause, cite supporting log evidence.</a:t>
            </a:r>
          </a:p>
          <a:p>
            <a:pPr marL="292608" indent="-292608">
              <a:spcAft>
                <a:spcPts val="1000"/>
              </a:spcAft>
              <a:buClr>
                <a:srgbClr val="0F766E"/>
              </a:buClr>
              <a:buFont typeface="Arial"/>
              <a:buChar char="▪"/>
            </a:pPr>
            <a:r>
              <a:rPr sz="2400">
                <a:solidFill>
                  <a:srgbClr val="1F2937"/>
                </a:solidFill>
                <a:latin typeface="Calibri"/>
              </a:rPr>
              <a:t>Write one validation check for your strongest diagnosis.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Testing in the Iteration Loop</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W09.S2   ·   Sources: [C3]</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 test states an observable expectation about behavior.</a:t>
            </a:r>
          </a:p>
          <a:p>
            <a:pPr marL="292608" indent="-292608">
              <a:spcAft>
                <a:spcPts val="1000"/>
              </a:spcAft>
              <a:buClr>
                <a:srgbClr val="0F766E"/>
              </a:buClr>
              <a:buFont typeface="Arial"/>
              <a:buChar char="▪"/>
            </a:pPr>
            <a:r>
              <a:rPr sz="2400">
                <a:solidFill>
                  <a:srgbClr val="1F2937"/>
                </a:solidFill>
                <a:latin typeface="Calibri"/>
              </a:rPr>
              <a:t>A failing test can expose a mismatch between requirement and implementation.</a:t>
            </a:r>
          </a:p>
          <a:p>
            <a:pPr marL="292608" indent="-292608">
              <a:spcAft>
                <a:spcPts val="1000"/>
              </a:spcAft>
              <a:buClr>
                <a:srgbClr val="0F766E"/>
              </a:buClr>
              <a:buFont typeface="Arial"/>
              <a:buChar char="▪"/>
            </a:pPr>
            <a:r>
              <a:rPr sz="2400">
                <a:solidFill>
                  <a:srgbClr val="1F2937"/>
                </a:solidFill>
                <a:latin typeface="Calibri"/>
              </a:rPr>
              <a:t>A passing test provides evidence for one specified case.</a:t>
            </a:r>
          </a:p>
          <a:p>
            <a:pPr marL="292608" indent="-292608">
              <a:spcAft>
                <a:spcPts val="1000"/>
              </a:spcAft>
              <a:buClr>
                <a:srgbClr val="0F766E"/>
              </a:buClr>
              <a:buFont typeface="Arial"/>
              <a:buChar char="▪"/>
            </a:pPr>
            <a:r>
              <a:rPr sz="2400">
                <a:solidFill>
                  <a:srgbClr val="1F2937"/>
                </a:solidFill>
                <a:latin typeface="Calibri"/>
              </a:rPr>
              <a:t>Regression tests protect behavior that should remain unchanged.</a:t>
            </a:r>
          </a:p>
          <a:p>
            <a:pPr marL="292608" indent="-292608">
              <a:spcAft>
                <a:spcPts val="1000"/>
              </a:spcAft>
              <a:buClr>
                <a:srgbClr val="0F766E"/>
              </a:buClr>
              <a:buFont typeface="Arial"/>
              <a:buChar char="▪"/>
            </a:pPr>
            <a:r>
              <a:rPr sz="2400">
                <a:solidFill>
                  <a:srgbClr val="1F2937"/>
                </a:solidFill>
                <a:latin typeface="Calibri"/>
              </a:rPr>
              <a:t>Validation combines test results with trace evidence and scope.</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Specify</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Implement</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Test</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Diagnose</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Revise</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A validation-oriented development loop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Worked Validation: From Failure to Focused Test</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The trace shows a string input reaching integer arithmetic.</a:t>
            </a:r>
          </a:p>
          <a:p>
            <a:pPr marL="292608" indent="-292608">
              <a:spcAft>
                <a:spcPts val="1000"/>
              </a:spcAft>
              <a:buClr>
                <a:srgbClr val="0F766E"/>
              </a:buClr>
              <a:buFont typeface="Arial"/>
              <a:buChar char="▪"/>
            </a:pPr>
            <a:r>
              <a:rPr sz="2300">
                <a:solidFill>
                  <a:srgbClr val="1F2937"/>
                </a:solidFill>
                <a:latin typeface="Calibri"/>
              </a:rPr>
              <a:t>The hypothesis is that numeric strings are not accepted.</a:t>
            </a:r>
          </a:p>
          <a:p>
            <a:pPr marL="292608" indent="-292608">
              <a:spcAft>
                <a:spcPts val="1000"/>
              </a:spcAft>
              <a:buClr>
                <a:srgbClr val="0F766E"/>
              </a:buClr>
              <a:buFont typeface="Arial"/>
              <a:buChar char="▪"/>
            </a:pPr>
            <a:r>
              <a:rPr sz="2300">
                <a:solidFill>
                  <a:srgbClr val="1F2937"/>
                </a:solidFill>
                <a:latin typeface="Calibri"/>
              </a:rPr>
              <a:t>A focused test passes a numeric string and expects a numeric result.</a:t>
            </a:r>
          </a:p>
          <a:p>
            <a:pPr marL="292608" indent="-292608">
              <a:spcAft>
                <a:spcPts val="1000"/>
              </a:spcAft>
              <a:buClr>
                <a:srgbClr val="0F766E"/>
              </a:buClr>
              <a:buFont typeface="Arial"/>
              <a:buChar char="▪"/>
            </a:pPr>
            <a:r>
              <a:rPr sz="2300">
                <a:solidFill>
                  <a:srgbClr val="1F2937"/>
                </a:solidFill>
                <a:latin typeface="Calibri"/>
              </a:rPr>
              <a:t>The test fails before the fix and passes after conversion is added.</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python</a:t>
            </a:r>
          </a:p>
          <a:p>
            <a:pPr algn="l"/>
            <a:r>
              <a:rPr sz="1400" b="0">
                <a:solidFill>
                  <a:srgbClr val="E5E7EB"/>
                </a:solidFill>
                <a:latin typeface="Consolas"/>
              </a:rPr>
              <a:t>def test_total_accepts_numeric_strings():</a:t>
            </a:r>
          </a:p>
          <a:p>
            <a:pPr algn="l"/>
            <a:r>
              <a:rPr sz="1400" b="0">
                <a:solidFill>
                  <a:srgbClr val="E5E7EB"/>
                </a:solidFill>
                <a:latin typeface="Consolas"/>
              </a:rPr>
              <a:t>    assert calculate_total(["10", "20"]) == 30</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Illustrative focused test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Choosing Validation Evidence</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W09.S2   ·   Sources: [C3]</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Use unit tests for isolated behavior and boundary conditions.</a:t>
            </a:r>
          </a:p>
          <a:p>
            <a:pPr marL="292608" indent="-292608">
              <a:spcAft>
                <a:spcPts val="1000"/>
              </a:spcAft>
              <a:buClr>
                <a:srgbClr val="0F766E"/>
              </a:buClr>
              <a:buFont typeface="Arial"/>
              <a:buChar char="▪"/>
            </a:pPr>
            <a:r>
              <a:rPr sz="2400">
                <a:solidFill>
                  <a:srgbClr val="1F2937"/>
                </a:solidFill>
                <a:latin typeface="Calibri"/>
              </a:rPr>
              <a:t>Use integration tests for interactions between components.</a:t>
            </a:r>
          </a:p>
          <a:p>
            <a:pPr marL="292608" indent="-292608">
              <a:spcAft>
                <a:spcPts val="1000"/>
              </a:spcAft>
              <a:buClr>
                <a:srgbClr val="0F766E"/>
              </a:buClr>
              <a:buFont typeface="Arial"/>
              <a:buChar char="▪"/>
            </a:pPr>
            <a:r>
              <a:rPr sz="2400">
                <a:solidFill>
                  <a:srgbClr val="1F2937"/>
                </a:solidFill>
                <a:latin typeface="Calibri"/>
              </a:rPr>
              <a:t>Use regression tests to detect newly introduced breakage.</a:t>
            </a:r>
          </a:p>
          <a:p>
            <a:pPr marL="292608" indent="-292608">
              <a:spcAft>
                <a:spcPts val="1000"/>
              </a:spcAft>
              <a:buClr>
                <a:srgbClr val="0F766E"/>
              </a:buClr>
              <a:buFont typeface="Arial"/>
              <a:buChar char="▪"/>
            </a:pPr>
            <a:r>
              <a:rPr sz="2400">
                <a:solidFill>
                  <a:srgbClr val="1F2937"/>
                </a:solidFill>
                <a:latin typeface="Calibri"/>
              </a:rPr>
              <a:t>Use trace review to explain failures and process breakdowns.</a:t>
            </a:r>
          </a:p>
          <a:p>
            <a:pPr marL="292608" indent="-292608">
              <a:spcAft>
                <a:spcPts val="1000"/>
              </a:spcAft>
              <a:buClr>
                <a:srgbClr val="0F766E"/>
              </a:buClr>
              <a:buFont typeface="Arial"/>
              <a:buChar char="▪"/>
            </a:pPr>
            <a:r>
              <a:rPr sz="2400">
                <a:solidFill>
                  <a:srgbClr val="1F2937"/>
                </a:solidFill>
                <a:latin typeface="Calibri"/>
              </a:rPr>
              <a:t>Match evidence strength to the claim being made.</a:t>
            </a:r>
          </a:p>
        </p:txBody>
      </p:sp>
      <p:graphicFrame>
        <p:nvGraphicFramePr>
          <p:cNvPr id="7" name="Table 6"/>
          <p:cNvGraphicFramePr>
            <a:graphicFrameLocks noGrp="1"/>
          </p:cNvGraphicFramePr>
          <p:nvPr/>
        </p:nvGraphicFramePr>
        <p:xfrm>
          <a:off x="6683495" y="1463040"/>
          <a:ext cx="4959560" cy="2514600"/>
        </p:xfrm>
        <a:graphic>
          <a:graphicData uri="http://schemas.openxmlformats.org/drawingml/2006/table">
            <a:tbl>
              <a:tblPr firstRow="1" bandRow="1">
                <a:tableStyleId>{5C22544A-7EE6-4342-B048-85BDC9FD1C3A}</a:tableStyleId>
              </a:tblPr>
              <a:tblGrid>
                <a:gridCol w="2479780"/>
                <a:gridCol w="2479780"/>
              </a:tblGrid>
              <a:tr h="502920">
                <a:tc>
                  <a:txBody>
                    <a:bodyPr/>
                    <a:lstStyle/>
                    <a:p>
                      <a:r>
                        <a:rPr sz="1400" b="1">
                          <a:solidFill>
                            <a:srgbClr val="CCFBF1"/>
                          </a:solidFill>
                          <a:latin typeface="Calibri"/>
                        </a:rPr>
                        <a:t>Evidence</a:t>
                      </a:r>
                    </a:p>
                  </a:txBody>
                  <a:tcPr>
                    <a:solidFill>
                      <a:srgbClr val="0F766E"/>
                    </a:solidFill>
                  </a:tcPr>
                </a:tc>
                <a:tc>
                  <a:txBody>
                    <a:bodyPr/>
                    <a:lstStyle/>
                    <a:p>
                      <a:r>
                        <a:rPr sz="1400" b="1">
                          <a:solidFill>
                            <a:srgbClr val="CCFBF1"/>
                          </a:solidFill>
                          <a:latin typeface="Calibri"/>
                        </a:rPr>
                        <a:t>Best-supported claim</a:t>
                      </a:r>
                    </a:p>
                  </a:txBody>
                  <a:tcPr>
                    <a:solidFill>
                      <a:srgbClr val="0F766E"/>
                    </a:solidFill>
                  </a:tcPr>
                </a:tc>
              </a:tr>
              <a:tr h="502920">
                <a:tc>
                  <a:txBody>
                    <a:bodyPr/>
                    <a:lstStyle/>
                    <a:p>
                      <a:r>
                        <a:rPr sz="1400" b="0">
                          <a:solidFill>
                            <a:srgbClr val="1F2937"/>
                          </a:solidFill>
                          <a:latin typeface="Calibri"/>
                        </a:rPr>
                        <a:t>Unit test</a:t>
                      </a:r>
                    </a:p>
                  </a:txBody>
                  <a:tcPr>
                    <a:solidFill>
                      <a:srgbClr val="F3F4F6"/>
                    </a:solidFill>
                  </a:tcPr>
                </a:tc>
                <a:tc>
                  <a:txBody>
                    <a:bodyPr/>
                    <a:lstStyle/>
                    <a:p>
                      <a:r>
                        <a:rPr sz="1400" b="0">
                          <a:solidFill>
                            <a:srgbClr val="1F2937"/>
                          </a:solidFill>
                          <a:latin typeface="Calibri"/>
                        </a:rPr>
                        <a:t>One function behaves as expected</a:t>
                      </a:r>
                    </a:p>
                  </a:txBody>
                  <a:tcPr>
                    <a:solidFill>
                      <a:srgbClr val="F3F4F6"/>
                    </a:solidFill>
                  </a:tcPr>
                </a:tc>
              </a:tr>
              <a:tr h="502920">
                <a:tc>
                  <a:txBody>
                    <a:bodyPr/>
                    <a:lstStyle/>
                    <a:p>
                      <a:r>
                        <a:rPr sz="1400" b="0">
                          <a:solidFill>
                            <a:srgbClr val="1F2937"/>
                          </a:solidFill>
                          <a:latin typeface="Calibri"/>
                        </a:rPr>
                        <a:t>Integration test</a:t>
                      </a:r>
                    </a:p>
                  </a:txBody>
                  <a:tcPr>
                    <a:solidFill>
                      <a:srgbClr val="F3F4F6"/>
                    </a:solidFill>
                  </a:tcPr>
                </a:tc>
                <a:tc>
                  <a:txBody>
                    <a:bodyPr/>
                    <a:lstStyle/>
                    <a:p>
                      <a:r>
                        <a:rPr sz="1400" b="0">
                          <a:solidFill>
                            <a:srgbClr val="1F2937"/>
                          </a:solidFill>
                          <a:latin typeface="Calibri"/>
                        </a:rPr>
                        <a:t>Components interact correctly</a:t>
                      </a:r>
                    </a:p>
                  </a:txBody>
                  <a:tcPr>
                    <a:solidFill>
                      <a:srgbClr val="F3F4F6"/>
                    </a:solidFill>
                  </a:tcPr>
                </a:tc>
              </a:tr>
              <a:tr h="502920">
                <a:tc>
                  <a:txBody>
                    <a:bodyPr/>
                    <a:lstStyle/>
                    <a:p>
                      <a:r>
                        <a:rPr sz="1400" b="0">
                          <a:solidFill>
                            <a:srgbClr val="1F2937"/>
                          </a:solidFill>
                          <a:latin typeface="Calibri"/>
                        </a:rPr>
                        <a:t>Regression test</a:t>
                      </a:r>
                    </a:p>
                  </a:txBody>
                  <a:tcPr>
                    <a:solidFill>
                      <a:srgbClr val="F3F4F6"/>
                    </a:solidFill>
                  </a:tcPr>
                </a:tc>
                <a:tc>
                  <a:txBody>
                    <a:bodyPr/>
                    <a:lstStyle/>
                    <a:p>
                      <a:r>
                        <a:rPr sz="1400" b="0">
                          <a:solidFill>
                            <a:srgbClr val="1F2937"/>
                          </a:solidFill>
                          <a:latin typeface="Calibri"/>
                        </a:rPr>
                        <a:t>Existing behavior remains intact</a:t>
                      </a:r>
                    </a:p>
                  </a:txBody>
                  <a:tcPr>
                    <a:solidFill>
                      <a:srgbClr val="F3F4F6"/>
                    </a:solidFill>
                  </a:tcPr>
                </a:tc>
              </a:tr>
              <a:tr h="502920">
                <a:tc>
                  <a:txBody>
                    <a:bodyPr/>
                    <a:lstStyle/>
                    <a:p>
                      <a:r>
                        <a:rPr sz="1400" b="0">
                          <a:solidFill>
                            <a:srgbClr val="1F2937"/>
                          </a:solidFill>
                          <a:latin typeface="Calibri"/>
                        </a:rPr>
                        <a:t>Trace review</a:t>
                      </a:r>
                    </a:p>
                  </a:txBody>
                  <a:tcPr>
                    <a:solidFill>
                      <a:srgbClr val="F3F4F6"/>
                    </a:solidFill>
                  </a:tcPr>
                </a:tc>
                <a:tc>
                  <a:txBody>
                    <a:bodyPr/>
                    <a:lstStyle/>
                    <a:p>
                      <a:r>
                        <a:rPr sz="1400" b="0">
                          <a:solidFill>
                            <a:srgbClr val="1F2937"/>
                          </a:solidFill>
                          <a:latin typeface="Calibri"/>
                        </a:rPr>
                        <a:t>The agent's actions explain the failure</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Validation choices and their scope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Choosing the Right Validation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A trace shows the agent repeatedly running the same unavailable test command. Which validation evidence is most directly useful?</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A unit test for an unrelated helper function</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A trace review of the repeated tool calls</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A broader integration test with no environment check</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A second identical test command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W09.S2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[C3] Autonomous Coding Agents for Software Development Testing and Debugging (2026). https://doi.org/10.2139/ssrn.7515638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