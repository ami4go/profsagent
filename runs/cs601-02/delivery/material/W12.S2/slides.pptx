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the previous lecture introduced layered safety mechanisms — guardrails, sandboxing, and human‑in‑the‑loop checkpoints. Emphasize that without measurable signals those layers cannot be validated in production. Connect the idea of observability to today’s focus on quantitative deployment metrics.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AI‑native systems change rapidly — model versions, prompt templates, and data pipelines all shift. Without concrete metrics, teams rely on anecdotal evidence. Metrics turn subjective confidence into objective release criteria and feed automated control loops.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Service Level Indicator (SLI) as a quantifiable measure such as request latency or error count. Service Level Objective (SLO) is the target value the team commits to. Stress that SLOs must be realistic, measurable, and agreed upon by stakeholders. Use the table to illustrate typical pairs for AI‑model serving and micro‑services.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budget quantifies how much unreliability is tolerable before the SLO is violated. Burn rate expresses how fast that budget is being spent. A burn rate above 1× means the budget will be exhausted before the window ends; 2× or higher is a common alert threshold. This concept underpins automated rollback policies.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typical canary release: a small traffic slice receives the new build. Real‑time SLIs (p99 latency, 5xx rate) are compared against SLOs. If the new version breaches an SLO or the short‑window burn rate exceeds the alert threshold, the automation rolls back immediately. Otherwise the rollout proceeds.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blue‑green deployments the new model runs alongside the current one. Traffic is switched atomically. Metrics such as inference latency (p95), token‑generation errors, and safety‑filter rejections are monitored. If the remaining error budget falls below a safety margin, the system automatically reverts to the green (stable)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a robust evaluation routine that guards against empty log lists (avoiding division by zero) and validates that the SLO’s permitted error rate is positive before computing a budget ratio. Show how the function returns a clear ‘no observations’ marker instead of crashing. This mirrors the safe‑coding practices required for automated rollback pipelines.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pull the provided multi‑component project, execute the metric collector (which emits SLI JSON per service), then apply the evaluation function from the worked problem. They visualise compliance and error‑budget remaining in a simple dashboard (e.g., Grafana or Matplotlib) and decide whether a simulated new release should be rolled back. Instructor circulates to discuss edge cases.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tests the ability to compute error‑budget consumption proportionally. The most tempting wrong answer (0.50) comes from assuming half the time means half the budget, ignoring the SLO’s percentage definition.</a:t>
            </a:r>
          </a:p>
          <a:p/>
          <a:p>
            <a:r>
              <a:t>Answer: B. 0.75</a:t>
            </a:r>
          </a:p>
          <a:p>
            <a:r>
              <a:t>Total error budget = 0.1% of 30 days = 0.03 day‑equivalents. Consumed = 0.05% of 15 days = 0.0075 day‑equivalents. Remaining = 0.03 - 0.0075 = 0.0225, which is 75% of the total budget. Option A (0.50) incorrectly assumes linear time scaling without accounting for the SLO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Reinforces the operational meaning of burn rate. Students often confuse burn‑rate magnitude with absolute safety; the key is the ratio to 1×.</a:t>
            </a:r>
          </a:p>
          <a:p/>
          <a:p>
            <a:r>
              <a:t>Answer: B. Budget will be exhausted before the window ends</a:t>
            </a:r>
          </a:p>
          <a:p>
            <a:r>
              <a:t>A burn rate &gt; 1× means the budget is being spent faster than the window’s duration allows; at 2.5× the budget will run out well before the window closes. Option A is the common misconception that any burn rate below 10× is safe.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dashboards aggregate per‑service SLIs into a single pane of glass. They display current compliance, remaining error budget, and burn‑rate sparklines. Alerting rules are attached to the same pipeline so that operators see the same numbers that automation uses for rollback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common policy tiers: a fast‑burn alert (e.g., &gt;2×) triggers immediate rollback; a slow‑burn alert (budget below 10%) pauses further releases and notifies on‑call. Both are wired into the CI/CD system so that a failing deployment cannot propagate to downstream services.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three frequent bugs: (1) naive division by len(logs) when a service has no traffic yet; (2) including cold‑start requests in latency SLIs, which inflates p99; (3) counting harmless validation errors the same as safety‑filter rejections. The worked problem earlier demonstrates a guard against the first pitfall.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restating that reliable AI‑native deployment hinges on well‑defined SLIs, realistic SLOs, and error‑budget accounting. Emphasize that the automation only works when the metric code handles edge cases (empty logs, zero‑error SLOs). Remind students that the end‑semester assessment will ask them to evaluate a supplied project using exactly these techniques.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Deployment and reliability metric evaluation</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12 · Reliable AI-Native Pipelines and Deployment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Evaluate deployment and reliability metrics for a supplied multi-component software project, demonstrating live, with 2 scenario walkthroughs chosen by the evaluator (CO4.LO3)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Reliable AI‑native architectures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[C3]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Week 11 covered safety layers</a:t>
            </a:r>
          </a:p>
          <a:p>
            <a:pPr marL="292608" indent="-292608">
              <a:spcAft>
                <a:spcPts val="1000"/>
              </a:spcAft>
              <a:buClr>
                <a:srgbClr val="0F766E"/>
              </a:buClr>
              <a:buFont typeface="Arial"/>
              <a:buChar char="▪"/>
            </a:pPr>
            <a:r>
              <a:rPr sz="2400">
                <a:solidFill>
                  <a:srgbClr val="1F2937"/>
                </a:solidFill>
                <a:latin typeface="Calibri"/>
              </a:rPr>
              <a:t>Trustworthy pipelines need observability</a:t>
            </a:r>
          </a:p>
          <a:p>
            <a:pPr marL="292608" indent="-292608">
              <a:spcAft>
                <a:spcPts val="1000"/>
              </a:spcAft>
              <a:buClr>
                <a:srgbClr val="0F766E"/>
              </a:buClr>
              <a:buFont typeface="Arial"/>
              <a:buChar char="▪"/>
            </a:pPr>
            <a:r>
              <a:rPr sz="2400">
                <a:solidFill>
                  <a:srgbClr val="1F2937"/>
                </a:solidFill>
                <a:latin typeface="Calibri"/>
              </a:rPr>
              <a:t>Metrics close the feedback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deployment metrics matter</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Metrics expose real‑world behavior</a:t>
            </a:r>
          </a:p>
          <a:p>
            <a:pPr marL="292608" indent="-292608">
              <a:spcAft>
                <a:spcPts val="1000"/>
              </a:spcAft>
              <a:buClr>
                <a:srgbClr val="0F766E"/>
              </a:buClr>
              <a:buFont typeface="Arial"/>
              <a:buChar char="▪"/>
            </a:pPr>
            <a:r>
              <a:rPr sz="2400">
                <a:solidFill>
                  <a:srgbClr val="1F2937"/>
                </a:solidFill>
                <a:latin typeface="Calibri"/>
              </a:rPr>
              <a:t>Guide automated rollback decisions</a:t>
            </a:r>
          </a:p>
          <a:p>
            <a:pPr marL="292608" indent="-292608">
              <a:spcAft>
                <a:spcPts val="1000"/>
              </a:spcAft>
              <a:buClr>
                <a:srgbClr val="0F766E"/>
              </a:buClr>
              <a:buFont typeface="Arial"/>
              <a:buChar char="▪"/>
            </a:pPr>
            <a:r>
              <a:rPr sz="2400">
                <a:solidFill>
                  <a:srgbClr val="1F2937"/>
                </a:solidFill>
                <a:latin typeface="Calibri"/>
              </a:rPr>
              <a:t>Enable continuous reliability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SLIs and SLOs defined</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SLI = measurable service behavior</a:t>
            </a:r>
          </a:p>
          <a:p>
            <a:pPr marL="292608" indent="-292608">
              <a:spcAft>
                <a:spcPts val="1000"/>
              </a:spcAft>
              <a:buClr>
                <a:srgbClr val="0F766E"/>
              </a:buClr>
              <a:buFont typeface="Arial"/>
              <a:buChar char="▪"/>
            </a:pPr>
            <a:r>
              <a:rPr sz="2400">
                <a:solidFill>
                  <a:srgbClr val="1F2937"/>
                </a:solidFill>
                <a:latin typeface="Calibri"/>
              </a:rPr>
              <a:t>SLO = target threshold for SLI</a:t>
            </a:r>
          </a:p>
          <a:p>
            <a:pPr marL="292608" indent="-292608">
              <a:spcAft>
                <a:spcPts val="1000"/>
              </a:spcAft>
              <a:buClr>
                <a:srgbClr val="0F766E"/>
              </a:buClr>
              <a:buFont typeface="Arial"/>
              <a:buChar char="▪"/>
            </a:pPr>
            <a:r>
              <a:rPr sz="2400">
                <a:solidFill>
                  <a:srgbClr val="1F2937"/>
                </a:solidFill>
                <a:latin typeface="Calibri"/>
              </a:rPr>
              <a:t>Examples: latency &lt;200 ms, error rate &lt;0.1%</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SLI</a:t>
                      </a:r>
                    </a:p>
                  </a:txBody>
                  <a:tcPr>
                    <a:solidFill>
                      <a:srgbClr val="0F766E"/>
                    </a:solidFill>
                  </a:tcPr>
                </a:tc>
                <a:tc>
                  <a:txBody>
                    <a:bodyPr/>
                    <a:lstStyle/>
                    <a:p>
                      <a:r>
                        <a:rPr sz="1400" b="1">
                          <a:solidFill>
                            <a:srgbClr val="CCFBF1"/>
                          </a:solidFill>
                          <a:latin typeface="Calibri"/>
                        </a:rPr>
                        <a:t>SLO example</a:t>
                      </a:r>
                    </a:p>
                  </a:txBody>
                  <a:tcPr>
                    <a:solidFill>
                      <a:srgbClr val="0F766E"/>
                    </a:solidFill>
                  </a:tcPr>
                </a:tc>
              </a:tr>
              <a:tr h="502920">
                <a:tc>
                  <a:txBody>
                    <a:bodyPr/>
                    <a:lstStyle/>
                    <a:p>
                      <a:r>
                        <a:rPr sz="1400" b="0">
                          <a:solidFill>
                            <a:srgbClr val="1F2937"/>
                          </a:solidFill>
                          <a:latin typeface="Calibri"/>
                        </a:rPr>
                        <a:t>Latency (p99)</a:t>
                      </a:r>
                    </a:p>
                  </a:txBody>
                  <a:tcPr>
                    <a:solidFill>
                      <a:srgbClr val="F3F4F6"/>
                    </a:solidFill>
                  </a:tcPr>
                </a:tc>
                <a:tc>
                  <a:txBody>
                    <a:bodyPr/>
                    <a:lstStyle/>
                    <a:p>
                      <a:r>
                        <a:rPr sz="1400" b="0">
                          <a:solidFill>
                            <a:srgbClr val="1F2937"/>
                          </a:solidFill>
                          <a:latin typeface="Calibri"/>
                        </a:rPr>
                        <a:t>&lt;200 ms</a:t>
                      </a:r>
                    </a:p>
                  </a:txBody>
                  <a:tcPr>
                    <a:solidFill>
                      <a:srgbClr val="F3F4F6"/>
                    </a:solidFill>
                  </a:tcPr>
                </a:tc>
              </a:tr>
              <a:tr h="502920">
                <a:tc>
                  <a:txBody>
                    <a:bodyPr/>
                    <a:lstStyle/>
                    <a:p>
                      <a:r>
                        <a:rPr sz="1400" b="0">
                          <a:solidFill>
                            <a:srgbClr val="1F2937"/>
                          </a:solidFill>
                          <a:latin typeface="Calibri"/>
                        </a:rPr>
                        <a:t>Error rate</a:t>
                      </a:r>
                    </a:p>
                  </a:txBody>
                  <a:tcPr>
                    <a:solidFill>
                      <a:srgbClr val="F3F4F6"/>
                    </a:solidFill>
                  </a:tcPr>
                </a:tc>
                <a:tc>
                  <a:txBody>
                    <a:bodyPr/>
                    <a:lstStyle/>
                    <a:p>
                      <a:r>
                        <a:rPr sz="1400" b="0">
                          <a:solidFill>
                            <a:srgbClr val="1F2937"/>
                          </a:solidFill>
                          <a:latin typeface="Calibri"/>
                        </a:rPr>
                        <a:t>&lt;0.1%</a:t>
                      </a:r>
                    </a:p>
                  </a:txBody>
                  <a:tcPr>
                    <a:solidFill>
                      <a:srgbClr val="F3F4F6"/>
                    </a:solidFill>
                  </a:tcPr>
                </a:tc>
              </a:tr>
              <a:tr h="502920">
                <a:tc>
                  <a:txBody>
                    <a:bodyPr/>
                    <a:lstStyle/>
                    <a:p>
                      <a:r>
                        <a:rPr sz="1400" b="0">
                          <a:solidFill>
                            <a:srgbClr val="1F2937"/>
                          </a:solidFill>
                          <a:latin typeface="Calibri"/>
                        </a:rPr>
                        <a:t>Availability</a:t>
                      </a:r>
                    </a:p>
                  </a:txBody>
                  <a:tcPr>
                    <a:solidFill>
                      <a:srgbClr val="F3F4F6"/>
                    </a:solidFill>
                  </a:tcPr>
                </a:tc>
                <a:tc>
                  <a:txBody>
                    <a:bodyPr/>
                    <a:lstStyle/>
                    <a:p>
                      <a:r>
                        <a:rPr sz="1400" b="0">
                          <a:solidFill>
                            <a:srgbClr val="1F2937"/>
                          </a:solidFill>
                          <a:latin typeface="Calibri"/>
                        </a:rPr>
                        <a:t>99.9%</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Common SLI / SLO pairs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Error budgets and burn rate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[C3]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Error budget = 1 – SLO</a:t>
            </a:r>
          </a:p>
          <a:p>
            <a:pPr marL="292608" indent="-292608">
              <a:spcAft>
                <a:spcPts val="1000"/>
              </a:spcAft>
              <a:buClr>
                <a:srgbClr val="0F766E"/>
              </a:buClr>
              <a:buFont typeface="Arial"/>
              <a:buChar char="▪"/>
            </a:pPr>
            <a:r>
              <a:rPr sz="2400">
                <a:solidFill>
                  <a:srgbClr val="1F2937"/>
                </a:solidFill>
                <a:latin typeface="Calibri"/>
              </a:rPr>
              <a:t>Burn rate = budget consumed / time</a:t>
            </a:r>
          </a:p>
          <a:p>
            <a:pPr marL="292608" indent="-292608">
              <a:spcAft>
                <a:spcPts val="1000"/>
              </a:spcAft>
              <a:buClr>
                <a:srgbClr val="0F766E"/>
              </a:buClr>
              <a:buFont typeface="Arial"/>
              <a:buChar char="▪"/>
            </a:pPr>
            <a:r>
              <a:rPr sz="2400">
                <a:solidFill>
                  <a:srgbClr val="1F2937"/>
                </a:solidFill>
                <a:latin typeface="Calibri"/>
              </a:rPr>
              <a:t>High burn rate triggers alerts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Budget allocated</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Consumption measured</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Burn rate computed</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Alert if &gt; threshold</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Error budget lifecycle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Scenario 1: Microservice deployment walkthrough</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[C4]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Deploy new version to canary</a:t>
            </a:r>
          </a:p>
          <a:p>
            <a:pPr marL="292608" indent="-292608">
              <a:spcAft>
                <a:spcPts val="1000"/>
              </a:spcAft>
              <a:buClr>
                <a:srgbClr val="0F766E"/>
              </a:buClr>
              <a:buFont typeface="Arial"/>
              <a:buChar char="▪"/>
            </a:pPr>
            <a:r>
              <a:rPr sz="2400">
                <a:solidFill>
                  <a:srgbClr val="1F2937"/>
                </a:solidFill>
                <a:latin typeface="Calibri"/>
              </a:rPr>
              <a:t>Monitor latency and error SLIs</a:t>
            </a:r>
          </a:p>
          <a:p>
            <a:pPr marL="292608" indent="-292608">
              <a:spcAft>
                <a:spcPts val="1000"/>
              </a:spcAft>
              <a:buClr>
                <a:srgbClr val="0F766E"/>
              </a:buClr>
              <a:buFont typeface="Arial"/>
              <a:buChar char="▪"/>
            </a:pPr>
            <a:r>
              <a:rPr sz="2400">
                <a:solidFill>
                  <a:srgbClr val="1F2937"/>
                </a:solidFill>
                <a:latin typeface="Calibri"/>
              </a:rPr>
              <a:t>Roll back if SLO breached or burn rate spikes</a:t>
            </a:r>
          </a:p>
        </p:txBody>
      </p:sp>
      <p:sp>
        <p:nvSpPr>
          <p:cNvPr id="8" name="Rounded Rectangle 7"/>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Canary deploy</a:t>
            </a:r>
          </a:p>
        </p:txBody>
      </p:sp>
      <p:sp>
        <p:nvSpPr>
          <p:cNvPr id="9" name="Down Arrow 8"/>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Collect SLIs</a:t>
            </a:r>
          </a:p>
        </p:txBody>
      </p:sp>
      <p:sp>
        <p:nvSpPr>
          <p:cNvPr id="11" name="Down Arrow 10"/>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Evaluate SLO</a:t>
            </a:r>
          </a:p>
        </p:txBody>
      </p:sp>
      <p:sp>
        <p:nvSpPr>
          <p:cNvPr id="13" name="Down Arrow 12"/>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Rollback or promote</a:t>
            </a:r>
          </a:p>
        </p:txBody>
      </p:sp>
      <p:sp>
        <p:nvSpPr>
          <p:cNvPr id="15" name="TextBox 14"/>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Canary deployment decision loop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Scenario 2: AI model serving deployment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[C1] [C4]</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Blue‑green deploy model endpoint</a:t>
            </a:r>
          </a:p>
          <a:p>
            <a:pPr marL="292608" indent="-292608">
              <a:spcAft>
                <a:spcPts val="1000"/>
              </a:spcAft>
              <a:buClr>
                <a:srgbClr val="0F766E"/>
              </a:buClr>
              <a:buFont typeface="Arial"/>
              <a:buChar char="▪"/>
            </a:pPr>
            <a:r>
              <a:rPr sz="2400">
                <a:solidFill>
                  <a:srgbClr val="1F2937"/>
                </a:solidFill>
                <a:latin typeface="Calibri"/>
              </a:rPr>
              <a:t>Track inference latency &amp; error codes</a:t>
            </a:r>
          </a:p>
          <a:p>
            <a:pPr marL="292608" indent="-292608">
              <a:spcAft>
                <a:spcPts val="1000"/>
              </a:spcAft>
              <a:buClr>
                <a:srgbClr val="0F766E"/>
              </a:buClr>
              <a:buFont typeface="Arial"/>
              <a:buChar char="▪"/>
            </a:pPr>
            <a:r>
              <a:rPr sz="2400">
                <a:solidFill>
                  <a:srgbClr val="1F2937"/>
                </a:solidFill>
                <a:latin typeface="Calibri"/>
              </a:rPr>
              <a:t>Auto‑rollback on error‑budget exhaustion</a:t>
            </a:r>
          </a:p>
        </p:txBody>
      </p:sp>
      <p:sp>
        <p:nvSpPr>
          <p:cNvPr id="8" name="Rounded Rectangle 7"/>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Blue‑green switch</a:t>
            </a:r>
          </a:p>
        </p:txBody>
      </p:sp>
      <p:sp>
        <p:nvSpPr>
          <p:cNvPr id="9" name="Down Arrow 8"/>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Observe metrics</a:t>
            </a:r>
          </a:p>
        </p:txBody>
      </p:sp>
      <p:sp>
        <p:nvSpPr>
          <p:cNvPr id="11" name="Down Arrow 10"/>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Check error budget</a:t>
            </a:r>
          </a:p>
        </p:txBody>
      </p:sp>
      <p:sp>
        <p:nvSpPr>
          <p:cNvPr id="13" name="Down Arrow 12"/>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Rollback if needed</a:t>
            </a:r>
          </a:p>
        </p:txBody>
      </p:sp>
      <p:sp>
        <p:nvSpPr>
          <p:cNvPr id="15" name="TextBox 14"/>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Blue‑green model swap with budget guard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Evaluating supplied project metrics step‑by‑step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[C2] [C3]</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Load per‑service SLI logs</a:t>
            </a:r>
          </a:p>
          <a:p>
            <a:pPr marL="292608" indent="-292608">
              <a:spcAft>
                <a:spcPts val="1000"/>
              </a:spcAft>
              <a:buClr>
                <a:srgbClr val="0F766E"/>
              </a:buClr>
              <a:buFont typeface="Arial"/>
              <a:buChar char="▪"/>
            </a:pPr>
            <a:r>
              <a:rPr sz="2400">
                <a:solidFill>
                  <a:srgbClr val="1F2937"/>
                </a:solidFill>
                <a:latin typeface="Calibri"/>
              </a:rPr>
              <a:t>Compute SLO compliance per service</a:t>
            </a:r>
          </a:p>
          <a:p>
            <a:pPr marL="292608" indent="-292608">
              <a:spcAft>
                <a:spcPts val="1000"/>
              </a:spcAft>
              <a:buClr>
                <a:srgbClr val="0F766E"/>
              </a:buClr>
              <a:buFont typeface="Arial"/>
              <a:buChar char="▪"/>
            </a:pPr>
            <a:r>
              <a:rPr sz="2400">
                <a:solidFill>
                  <a:srgbClr val="1F2937"/>
                </a:solidFill>
                <a:latin typeface="Calibri"/>
              </a:rPr>
              <a:t>Calculate remaining error budget safely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900" b="0">
                <a:solidFill>
                  <a:srgbClr val="E5E7EB"/>
                </a:solidFill>
                <a:latin typeface="Consolas"/>
              </a:rPr>
              <a:t>def evaluate_service(logs, slo_target):</a:t>
            </a:r>
          </a:p>
          <a:p>
            <a:pPr algn="l"/>
            <a:r>
              <a:rPr sz="900" b="0">
                <a:solidFill>
                  <a:srgbClr val="E5E7EB"/>
                </a:solidFill>
                <a:latin typeface="Consolas"/>
              </a:rPr>
              <a:t>    if not logs:</a:t>
            </a:r>
          </a:p>
          <a:p>
            <a:pPr algn="l"/>
            <a:r>
              <a:rPr sz="900" b="0">
                <a:solidFill>
                  <a:srgbClr val="E5E7EB"/>
                </a:solidFill>
                <a:latin typeface="Consolas"/>
              </a:rPr>
              <a:t>        return {'compliance': None, 'budget_remaining': None, 'note': 'no observations'}</a:t>
            </a:r>
          </a:p>
          <a:p>
            <a:pPr algn="l"/>
            <a:r>
              <a:rPr sz="900" b="0">
                <a:solidFill>
                  <a:srgbClr val="E5E7EB"/>
                </a:solidFill>
                <a:latin typeface="Consolas"/>
              </a:rPr>
              <a:t>    bad = sum(1 for e in logs if e['latency_ms'] &gt; slo_target['latency_ms'] or e['error'])</a:t>
            </a:r>
          </a:p>
          <a:p>
            <a:pPr algn="l"/>
            <a:r>
              <a:rPr sz="900" b="0">
                <a:solidFill>
                  <a:srgbClr val="E5E7EB"/>
                </a:solidFill>
                <a:latin typeface="Consolas"/>
              </a:rPr>
              <a:t>    total = len(logs)</a:t>
            </a:r>
          </a:p>
          <a:p>
            <a:pPr algn="l"/>
            <a:r>
              <a:rPr sz="900" b="0">
                <a:solidFill>
                  <a:srgbClr val="E5E7EB"/>
                </a:solidFill>
                <a:latin typeface="Consolas"/>
              </a:rPr>
              <a:t>    compliance = 1 - bad / total</a:t>
            </a:r>
          </a:p>
          <a:p>
            <a:pPr algn="l"/>
            <a:r>
              <a:rPr sz="900" b="0">
                <a:solidFill>
                  <a:srgbClr val="E5E7EB"/>
                </a:solidFill>
                <a:latin typeface="Consolas"/>
              </a:rPr>
              <a:t>    max_err = slo_target.get('max_error_rate', 0.001)</a:t>
            </a:r>
          </a:p>
          <a:p>
            <a:pPr algn="l"/>
            <a:r>
              <a:rPr sz="900" b="0">
                <a:solidFill>
                  <a:srgbClr val="E5E7EB"/>
                </a:solidFill>
                <a:latin typeface="Consolas"/>
              </a:rPr>
              <a:t>    if max_err &lt;= 0:</a:t>
            </a:r>
          </a:p>
          <a:p>
            <a:pPr algn="l"/>
            <a:r>
              <a:rPr sz="900" b="0">
                <a:solidFill>
                  <a:srgbClr val="E5E7EB"/>
                </a:solidFill>
                <a:latin typeface="Consolas"/>
              </a:rPr>
              <a:t>        budget = None</a:t>
            </a:r>
          </a:p>
          <a:p>
            <a:pPr algn="l"/>
            <a:r>
              <a:rPr sz="900" b="0">
                <a:solidFill>
                  <a:srgbClr val="E5E7EB"/>
                </a:solidFill>
                <a:latin typeface="Consolas"/>
              </a:rPr>
              <a:t>    else:</a:t>
            </a:r>
          </a:p>
          <a:p>
            <a:pPr algn="l"/>
            <a:r>
              <a:rPr sz="900" b="0">
                <a:solidFill>
                  <a:srgbClr val="E5E7EB"/>
                </a:solidFill>
                <a:latin typeface="Consolas"/>
              </a:rPr>
              <a:t>        budget = max(0, (max_err - bad/total) / max_err)</a:t>
            </a:r>
          </a:p>
          <a:p>
            <a:pPr algn="l"/>
            <a:r>
              <a:rPr sz="900" b="0">
                <a:solidFill>
                  <a:srgbClr val="E5E7EB"/>
                </a:solidFill>
                <a:latin typeface="Consolas"/>
              </a:rPr>
              <a:t>    return {'compliance': compliance, 'budget_remaining': budget}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Safe metric evaluation snippet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Hands‑on: Metric evaluation lab</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[C5]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Clone supplied repo</a:t>
            </a:r>
          </a:p>
          <a:p>
            <a:pPr marL="292608" indent="-292608">
              <a:spcAft>
                <a:spcPts val="1000"/>
              </a:spcAft>
              <a:buClr>
                <a:srgbClr val="0F766E"/>
              </a:buClr>
              <a:buFont typeface="Arial"/>
              <a:buChar char="▪"/>
            </a:pPr>
            <a:r>
              <a:rPr sz="2400">
                <a:solidFill>
                  <a:srgbClr val="1F2937"/>
                </a:solidFill>
                <a:latin typeface="Calibri"/>
              </a:rPr>
              <a:t>Run metric collector script</a:t>
            </a:r>
          </a:p>
          <a:p>
            <a:pPr marL="292608" indent="-292608">
              <a:spcAft>
                <a:spcPts val="1000"/>
              </a:spcAft>
              <a:buClr>
                <a:srgbClr val="0F766E"/>
              </a:buClr>
              <a:buFont typeface="Arial"/>
              <a:buChar char="▪"/>
            </a:pPr>
            <a:r>
              <a:rPr sz="2400">
                <a:solidFill>
                  <a:srgbClr val="1F2937"/>
                </a:solidFill>
                <a:latin typeface="Calibri"/>
              </a:rPr>
              <a:t>Produce dashboard and rollback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Error budget calculation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A service has an SLO of 99.9% availability over a 30‑day window. After 15 days it has experienced 0.05% downtime. What is the remaining error budget as a fraction of the total budget?</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0.50</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0.75</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0.25</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0.90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Burn rate interpretation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If a service’s error budget is being consumed at a burn rate of 2.5×, what does this indicate about the remaining budget?</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Budget will last the full window</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Budget will be exhausted before the window ends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Budget is increasing</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Burn rate is irrelevant to budget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Reliability metric dashboards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Unified view of SLIs across services</a:t>
            </a:r>
          </a:p>
          <a:p>
            <a:pPr marL="292608" indent="-292608">
              <a:spcAft>
                <a:spcPts val="1000"/>
              </a:spcAft>
              <a:buClr>
                <a:srgbClr val="0F766E"/>
              </a:buClr>
              <a:buFont typeface="Arial"/>
              <a:buChar char="▪"/>
            </a:pPr>
            <a:r>
              <a:rPr sz="2400">
                <a:solidFill>
                  <a:srgbClr val="1F2937"/>
                </a:solidFill>
                <a:latin typeface="Calibri"/>
              </a:rPr>
              <a:t>Show error budget remaining</a:t>
            </a:r>
          </a:p>
          <a:p>
            <a:pPr marL="292608" indent="-292608">
              <a:spcAft>
                <a:spcPts val="1000"/>
              </a:spcAft>
              <a:buClr>
                <a:srgbClr val="0F766E"/>
              </a:buClr>
              <a:buFont typeface="Arial"/>
              <a:buChar char="▪"/>
            </a:pPr>
            <a:r>
              <a:rPr sz="2400">
                <a:solidFill>
                  <a:srgbClr val="1F2937"/>
                </a:solidFill>
                <a:latin typeface="Calibri"/>
              </a:rPr>
              <a:t>Highlight burn‑rate trends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Data ingest</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Aggregation</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Visualization</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Alerting</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Dashboard data pipeline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Alerting and automated rollback policies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[C3]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burn‑rate thresholds</a:t>
            </a:r>
          </a:p>
          <a:p>
            <a:pPr marL="292608" indent="-292608">
              <a:spcAft>
                <a:spcPts val="1000"/>
              </a:spcAft>
              <a:buClr>
                <a:srgbClr val="0F766E"/>
              </a:buClr>
              <a:buFont typeface="Arial"/>
              <a:buChar char="▪"/>
            </a:pPr>
            <a:r>
              <a:rPr sz="2400">
                <a:solidFill>
                  <a:srgbClr val="1F2937"/>
                </a:solidFill>
                <a:latin typeface="Calibri"/>
              </a:rPr>
              <a:t>Link alerts to CI/CD rollback</a:t>
            </a:r>
          </a:p>
          <a:p>
            <a:pPr marL="292608" indent="-292608">
              <a:spcAft>
                <a:spcPts val="1000"/>
              </a:spcAft>
              <a:buClr>
                <a:srgbClr val="0F766E"/>
              </a:buClr>
              <a:buFont typeface="Arial"/>
              <a:buChar char="▪"/>
            </a:pPr>
            <a:r>
              <a:rPr sz="2400">
                <a:solidFill>
                  <a:srgbClr val="1F2937"/>
                </a:solidFill>
                <a:latin typeface="Calibri"/>
              </a:rPr>
              <a:t>Prevent cascade failures</a:t>
            </a:r>
          </a:p>
        </p:txBody>
      </p:sp>
      <p:graphicFrame>
        <p:nvGraphicFramePr>
          <p:cNvPr id="7" name="Table 6"/>
          <p:cNvGraphicFramePr>
            <a:graphicFrameLocks noGrp="1"/>
          </p:cNvGraphicFramePr>
          <p:nvPr/>
        </p:nvGraphicFramePr>
        <p:xfrm>
          <a:off x="6683495" y="1463040"/>
          <a:ext cx="4959560" cy="150876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Policy</a:t>
                      </a:r>
                    </a:p>
                  </a:txBody>
                  <a:tcPr>
                    <a:solidFill>
                      <a:srgbClr val="0F766E"/>
                    </a:solidFill>
                  </a:tcPr>
                </a:tc>
                <a:tc>
                  <a:txBody>
                    <a:bodyPr/>
                    <a:lstStyle/>
                    <a:p>
                      <a:r>
                        <a:rPr sz="1400" b="1">
                          <a:solidFill>
                            <a:srgbClr val="CCFBF1"/>
                          </a:solidFill>
                          <a:latin typeface="Calibri"/>
                        </a:rPr>
                        <a:t>Trigger</a:t>
                      </a:r>
                    </a:p>
                  </a:txBody>
                  <a:tcPr>
                    <a:solidFill>
                      <a:srgbClr val="0F766E"/>
                    </a:solidFill>
                  </a:tcPr>
                </a:tc>
              </a:tr>
              <a:tr h="502920">
                <a:tc>
                  <a:txBody>
                    <a:bodyPr/>
                    <a:lstStyle/>
                    <a:p>
                      <a:r>
                        <a:rPr sz="1400" b="0">
                          <a:solidFill>
                            <a:srgbClr val="1F2937"/>
                          </a:solidFill>
                          <a:latin typeface="Calibri"/>
                        </a:rPr>
                        <a:t>Fast burn</a:t>
                      </a:r>
                    </a:p>
                  </a:txBody>
                  <a:tcPr>
                    <a:solidFill>
                      <a:srgbClr val="F3F4F6"/>
                    </a:solidFill>
                  </a:tcPr>
                </a:tc>
                <a:tc>
                  <a:txBody>
                    <a:bodyPr/>
                    <a:lstStyle/>
                    <a:p>
                      <a:r>
                        <a:rPr sz="1400" b="0">
                          <a:solidFill>
                            <a:srgbClr val="1F2937"/>
                          </a:solidFill>
                          <a:latin typeface="Calibri"/>
                        </a:rPr>
                        <a:t>Burn rate &gt; 2×</a:t>
                      </a:r>
                    </a:p>
                  </a:txBody>
                  <a:tcPr>
                    <a:solidFill>
                      <a:srgbClr val="F3F4F6"/>
                    </a:solidFill>
                  </a:tcPr>
                </a:tc>
              </a:tr>
              <a:tr h="502920">
                <a:tc>
                  <a:txBody>
                    <a:bodyPr/>
                    <a:lstStyle/>
                    <a:p>
                      <a:r>
                        <a:rPr sz="1400" b="0">
                          <a:solidFill>
                            <a:srgbClr val="1F2937"/>
                          </a:solidFill>
                          <a:latin typeface="Calibri"/>
                        </a:rPr>
                        <a:t>Slow burn</a:t>
                      </a:r>
                    </a:p>
                  </a:txBody>
                  <a:tcPr>
                    <a:solidFill>
                      <a:srgbClr val="F3F4F6"/>
                    </a:solidFill>
                  </a:tcPr>
                </a:tc>
                <a:tc>
                  <a:txBody>
                    <a:bodyPr/>
                    <a:lstStyle/>
                    <a:p>
                      <a:r>
                        <a:rPr sz="1400" b="0">
                          <a:solidFill>
                            <a:srgbClr val="1F2937"/>
                          </a:solidFill>
                          <a:latin typeface="Calibri"/>
                        </a:rPr>
                        <a:t>Budget &lt; 10%</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Example rollback policies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Common pitfalls in metric evaluation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   ·   Sources: [C2]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Dividing by zero on empty logs</a:t>
            </a:r>
          </a:p>
          <a:p>
            <a:pPr marL="292608" indent="-292608">
              <a:spcAft>
                <a:spcPts val="1000"/>
              </a:spcAft>
              <a:buClr>
                <a:srgbClr val="0F766E"/>
              </a:buClr>
              <a:buFont typeface="Arial"/>
              <a:buChar char="▪"/>
            </a:pPr>
            <a:r>
              <a:rPr sz="2400">
                <a:solidFill>
                  <a:srgbClr val="1F2937"/>
                </a:solidFill>
                <a:latin typeface="Calibri"/>
              </a:rPr>
              <a:t>Ignoring cold‑start latency spikes</a:t>
            </a:r>
          </a:p>
          <a:p>
            <a:pPr marL="292608" indent="-292608">
              <a:spcAft>
                <a:spcPts val="1000"/>
              </a:spcAft>
              <a:buClr>
                <a:srgbClr val="0F766E"/>
              </a:buClr>
              <a:buFont typeface="Arial"/>
              <a:buChar char="▪"/>
            </a:pPr>
            <a:r>
              <a:rPr sz="2400">
                <a:solidFill>
                  <a:srgbClr val="1F2937"/>
                </a:solidFill>
                <a:latin typeface="Calibri"/>
              </a:rPr>
              <a:t>Treating all errors equally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Key takeaways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SLIs/SLOs drive quantitative reliability</a:t>
            </a:r>
          </a:p>
          <a:p>
            <a:pPr marL="292608" indent="-292608">
              <a:spcAft>
                <a:spcPts val="1000"/>
              </a:spcAft>
              <a:buClr>
                <a:srgbClr val="0F766E"/>
              </a:buClr>
              <a:buFont typeface="Arial"/>
              <a:buChar char="▪"/>
            </a:pPr>
            <a:r>
              <a:rPr sz="2400">
                <a:solidFill>
                  <a:srgbClr val="1F2937"/>
                </a:solidFill>
                <a:latin typeface="Calibri"/>
              </a:rPr>
              <a:t>Error budgets guide release decisions</a:t>
            </a:r>
          </a:p>
          <a:p>
            <a:pPr marL="292608" indent="-292608">
              <a:spcAft>
                <a:spcPts val="1000"/>
              </a:spcAft>
              <a:buClr>
                <a:srgbClr val="0F766E"/>
              </a:buClr>
              <a:buFont typeface="Arial"/>
              <a:buChar char="▪"/>
            </a:pPr>
            <a:r>
              <a:rPr sz="2400">
                <a:solidFill>
                  <a:srgbClr val="1F2937"/>
                </a:solidFill>
                <a:latin typeface="Calibri"/>
              </a:rPr>
              <a:t>Automated rollback needs safe metric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