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lecture's learning outcomes from the approved course design. Assessed in: LabEval1, Endsem.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Iterative development with AI agents shifts programming from single-shot prompt engineering to managing structured execution loops. In an iterative loop, the coding agent continuously generates source code, executes tests or static analysis tools, inspects the failure output, and modifies its approach. Understanding this loop requires software engineers to trace state updates and control flow through agent log artifacts, ensuring that iterations converge toward correct code rather than infinite repetition or divergent bugs.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Coding agents operate using an action-observation loop commonly structured around reasoning frameworks like ReAct. Each iteration begins with an observation of the workspace state, followed by internal reasoning where the LLM plans its next edit or command. The agent then executes a tool call, modifying files or running test scripts. Observing how control flows across these four phases in execution logs allows developers to pinpoint exactly where an agent strays off course during complex tasks.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 artifacts produced during iterative agent tasks serve as the primary source of truth for software developers. Unlike standard application logs, agent logs contain interleaved streams of LLM prompts, model responses, system tool invocations, and workspace environmental feedback like compiler outputs. By systematically analyzing these log artifacts, developers can trace every decision point, verify whether feedback was interpreted correctly, and diagnose systemic failure patterns across long-running development loops.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Tracing execution logs requires categorizing log events into distinct control-flow steps. A typical trace includes prompt dispatch steps, tool calls like file reading or patch application, shell execution steps with process status codes, and loop condition evaluations. Recognizing these steps within multi-megabyte log files allows engineers to construct a step-by-step state machine of the agent's behavior, showing how inputs led to actions and how test outcomes modified subsequent prompts.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check tests your understanding of execution control flow in agent logs. Identifying the distinction between model prompt dispatches, tool invocations, and environment feedback is essential when reading structured traces to determine when and how an agent modifies project state.</a:t>
            </a:r>
          </a:p>
          <a:p/>
          <a:p>
            <a:r>
              <a:t>Answer: B. A tool invocation event executing a patch or write_file command.</a:t>
            </a:r>
          </a:p>
          <a:p>
            <a:r>
              <a:t>Option 1 is correct because a tool invocation event (e.g., executing a patch or writing a file) represents the exact boundary where the agent acts upon the environment. Option 0 is model input, Option 2 is environment feedback (observation), and Option 3 represents loop completion rather than an active workspace modification step.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Standardized log schemas like OpenTelemetry or JSON lines structure agent trace data into parseable events. Each entry captures essential metadata such as trace identifiers, step counters, timestamped payloads, and execution status. Using structured schemas ensures that both human developers and automated trace analysis tools can quickly parse control-flow steps, isolate failed tool invocations, and measure iteration latency across complex software engineering tasks.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walk through a real-world trace artifact generated during a bug fix loop. In iteration 1, the log records a file-read tool invocation targeted at the failing module. In iteration 2, the agent generates a patch, but the test runner outputs a non-zero exit code due to an unhandled null pointer. In iteration 3, the agent extracts the stack trace from stdout, rewrites the conditional logic, and re-executes tests, yielding a zero exit code and successful termination.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worked problem, we trace a log artifact where an agent becomes stuck in an oscillating loop. Step 1 records the initial failure. In step 2, the agent modifies function A, fixing bug 1 but breaking bug 2. In step 3, seeing bug 2 fail, the agent reverts function A and breaks bug 1 again. By mapping each tool invocation and test exit code chronologically in our trace sheet, we document how missing context in the prompt causes endless cycling between two failure states.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agent loops extend over many iterations, context windows accumulate historical failure logs, standard error outputs, and discarded diffs. Research shows this causes 'complexity backpressure,' where model reasoning degrades due to context saturation. In execution logs, backpressure manifests as repeated patch retries, hallucinated file paths, or premature agent termination. Tracing these indicators helps engineers determine when to reset agent state rather than letting the loop run continuously.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question tests your ability to diagnose failure modes directly from trace observations. Recognizing when an agent repeats actions without modifying state allows you to catch infinite loops early and intervene.</a:t>
            </a:r>
          </a:p>
          <a:p/>
          <a:p>
            <a:r>
              <a:t>Answer: B. An unhandled error state causing an infinite non-convergent loop.</a:t>
            </a:r>
          </a:p>
          <a:p>
            <a:r>
              <a:t>Option 1 is correct because executing identical actions without modifying environment state indicates the agent is trapped in an infinite non-convergent loop. Option 0 is wrong because the code is not changing or converging. Option 2 misattributes loop stagnation to normal variation. Option 3 is incorrect because tool calls are explicit agent decisions, not replayed network packets.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hands-on activity, you will work in pairs using student development machines. You are given a raw JSON-lines log artifact from an agent attempting a refactoring task. Your goal is to construct a complete chronological trace map, listing every control-flow step, tool invocation, test result, and state transition. Identify the exact step where the agent misinterpreted a compiler error and record your findings in the lab worksheet.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Tracing logs is not just a diagnostic tool—it directly informs query tuning and loop refinement. By analyzing execution traces, engineers discover where prompts were ambiguous or where tool output flooded the context window. Using frameworks like the Model Context Protocol (MCP), developers can dynamically prune irrelevant history or adjust system prompts, ensuring subsequent iterations maintain lean context and precise instruction flow.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modern software factories, log tracing is integrated directly into CI/CD pipelines and developer tooling. Telemetry collectors stream log events in real time, feeding dashboards that visualize state transitions, token consumption, and execution bottlenecks. Furthermore, automated guardrails monitor traces live: if a log shows three identical failing iterations, the execution loop is automatically halted, saving API costs and preventing corrupted git commits.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today's lecture, mastering iterative development with AI coding agents requires deep visibility into execution logs. By tracing every control-flow step across log artifacts, you can diagnose where agents fail, detect complexity backpressure early, and apply query tuning to fix loop behavior. Next week, we will expand on these trace artifacts to analyze software factory outputs and multi-agent coordination records.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280160"/>
            <a:ext cx="10545775" cy="457200"/>
          </a:xfrm>
          <a:prstGeom prst="rect">
            <a:avLst/>
          </a:prstGeom>
          <a:noFill/>
        </p:spPr>
        <p:txBody>
          <a:bodyPr wrap="square" anchor="t" lIns="45720" rIns="45720">
            <a:spAutoFit/>
          </a:bodyPr>
          <a:lstStyle/>
          <a:p>
            <a:pPr algn="l"/>
            <a:r>
              <a:rPr sz="1800" b="0">
                <a:solidFill>
                  <a:srgbClr val="CCFBF1"/>
                </a:solidFill>
                <a:latin typeface="Calibri"/>
              </a:rPr>
              <a:t>Software Development using AI</a:t>
            </a:r>
          </a:p>
        </p:txBody>
      </p:sp>
      <p:sp>
        <p:nvSpPr>
          <p:cNvPr id="4" name="TextBox 3"/>
          <p:cNvSpPr txBox="1"/>
          <p:nvPr/>
        </p:nvSpPr>
        <p:spPr>
          <a:xfrm>
            <a:off x="822960" y="1828800"/>
            <a:ext cx="10545775" cy="2011680"/>
          </a:xfrm>
          <a:prstGeom prst="rect">
            <a:avLst/>
          </a:prstGeom>
          <a:noFill/>
        </p:spPr>
        <p:txBody>
          <a:bodyPr wrap="square" anchor="ctr" lIns="45720" rIns="45720">
            <a:spAutoFit/>
          </a:bodyPr>
          <a:lstStyle/>
          <a:p>
            <a:pPr algn="l"/>
            <a:r>
              <a:rPr sz="4400" b="1">
                <a:solidFill>
                  <a:srgbClr val="CCFBF1"/>
                </a:solidFill>
                <a:latin typeface="Calibri"/>
              </a:rPr>
              <a:t>Iterative Development and Loop Engineering</a:t>
            </a:r>
          </a:p>
        </p:txBody>
      </p:sp>
      <p:sp>
        <p:nvSpPr>
          <p:cNvPr id="5" name="TextBox 4"/>
          <p:cNvSpPr txBox="1"/>
          <p:nvPr/>
        </p:nvSpPr>
        <p:spPr>
          <a:xfrm>
            <a:off x="822960" y="4023360"/>
            <a:ext cx="10545775" cy="548640"/>
          </a:xfrm>
          <a:prstGeom prst="rect">
            <a:avLst/>
          </a:prstGeom>
          <a:noFill/>
        </p:spPr>
        <p:txBody>
          <a:bodyPr wrap="square" anchor="t" lIns="45720" rIns="45720">
            <a:spAutoFit/>
          </a:bodyPr>
          <a:lstStyle/>
          <a:p>
            <a:pPr algn="l"/>
            <a:r>
              <a:rPr sz="1800" b="0">
                <a:solidFill>
                  <a:srgbClr val="CCFBF1"/>
                </a:solidFill>
                <a:latin typeface="Calibri"/>
              </a:rPr>
              <a:t>Week 7 · Iterative Loop Engineering and Tracing · 90 min</a:t>
            </a:r>
          </a:p>
        </p:txBody>
      </p:sp>
      <p:sp>
        <p:nvSpPr>
          <p:cNvPr id="6" name="TextBox 5"/>
          <p:cNvSpPr txBox="1"/>
          <p:nvPr/>
        </p:nvSpPr>
        <p:spPr>
          <a:xfrm>
            <a:off x="822960" y="6035040"/>
            <a:ext cx="10545775" cy="365760"/>
          </a:xfrm>
          <a:prstGeom prst="rect">
            <a:avLst/>
          </a:prstGeom>
          <a:noFill/>
        </p:spPr>
        <p:txBody>
          <a:bodyPr wrap="square" anchor="t" lIns="45720" rIns="45720">
            <a:spAutoFit/>
          </a:bodyPr>
          <a:lstStyle/>
          <a:p>
            <a:pPr algn="l"/>
            <a:r>
              <a:rPr sz="1200" b="0">
                <a:solidFill>
                  <a:srgbClr val="CCFBF1"/>
                </a:solidFill>
                <a:latin typeface="Calibri"/>
              </a:rPr>
              <a:t>Draft generated by ProfsAgent from the course design: review and edit before teaching.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By the end of this lecture you can</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W07.S2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2</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Trace execution logs produced by coding agents during iterative loop engineering tasks, recording all control-flow steps across the log artifact (CO3.LO1)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What Is Iterative Loop Engineering in AI Development?</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W07.S2   ·   Sources: [C4] [C6]</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3</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Iterative loop engineering drives autonomous agent code creation through feedback loops.</a:t>
            </a:r>
          </a:p>
          <a:p>
            <a:pPr marL="292608" indent="-292608">
              <a:spcAft>
                <a:spcPts val="1000"/>
              </a:spcAft>
              <a:buClr>
                <a:srgbClr val="0F766E"/>
              </a:buClr>
              <a:buFont typeface="Arial"/>
              <a:buChar char="▪"/>
            </a:pPr>
            <a:r>
              <a:rPr sz="2400">
                <a:solidFill>
                  <a:srgbClr val="1F2937"/>
                </a:solidFill>
                <a:latin typeface="Calibri"/>
              </a:rPr>
              <a:t>Agents generate code, execute tests, evaluate output, and refine solutions repeatedly.</a:t>
            </a:r>
          </a:p>
          <a:p>
            <a:pPr marL="292608" indent="-292608">
              <a:spcAft>
                <a:spcPts val="1000"/>
              </a:spcAft>
              <a:buClr>
                <a:srgbClr val="0F766E"/>
              </a:buClr>
              <a:buFont typeface="Arial"/>
              <a:buChar char="▪"/>
            </a:pPr>
            <a:r>
              <a:rPr sz="2400">
                <a:solidFill>
                  <a:srgbClr val="1F2937"/>
                </a:solidFill>
                <a:latin typeface="Calibri"/>
              </a:rPr>
              <a:t>Tracking agent behavior requires inspecting execution logs across every iteration cycle.</a:t>
            </a:r>
          </a:p>
        </p:txBody>
      </p:sp>
      <p:sp>
        <p:nvSpPr>
          <p:cNvPr id="7" name="Rounded Rectangle 6"/>
          <p:cNvSpPr/>
          <p:nvPr/>
        </p:nvSpPr>
        <p:spPr>
          <a:xfrm>
            <a:off x="6683495" y="146304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Prompt Dispatch</a:t>
            </a:r>
          </a:p>
        </p:txBody>
      </p:sp>
      <p:sp>
        <p:nvSpPr>
          <p:cNvPr id="8" name="Down Arrow 7"/>
          <p:cNvSpPr/>
          <p:nvPr/>
        </p:nvSpPr>
        <p:spPr>
          <a:xfrm>
            <a:off x="9026115" y="233629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62890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Code Generation</a:t>
            </a:r>
          </a:p>
        </p:txBody>
      </p:sp>
      <p:sp>
        <p:nvSpPr>
          <p:cNvPr id="10" name="Down Arrow 9"/>
          <p:cNvSpPr/>
          <p:nvPr/>
        </p:nvSpPr>
        <p:spPr>
          <a:xfrm>
            <a:off x="9026115" y="350215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79476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Test Execution</a:t>
            </a:r>
          </a:p>
        </p:txBody>
      </p:sp>
      <p:sp>
        <p:nvSpPr>
          <p:cNvPr id="12" name="Down Arrow 11"/>
          <p:cNvSpPr/>
          <p:nvPr/>
        </p:nvSpPr>
        <p:spPr>
          <a:xfrm>
            <a:off x="9026115" y="466801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96062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Log Feedback &amp; Refine</a:t>
            </a:r>
          </a:p>
        </p:txBody>
      </p:sp>
      <p:sp>
        <p:nvSpPr>
          <p:cNvPr id="14" name="TextBox 13"/>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Iterative agent execution loop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The Structural Components of Agent Execution Loops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W07.S2   ·   Sources: [C6]</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4</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Observation: Agent receives test logs, compiler errors, or tool outputs.</a:t>
            </a:r>
          </a:p>
          <a:p>
            <a:pPr marL="292608" indent="-292608">
              <a:spcAft>
                <a:spcPts val="1000"/>
              </a:spcAft>
              <a:buClr>
                <a:srgbClr val="0F766E"/>
              </a:buClr>
              <a:buFont typeface="Arial"/>
              <a:buChar char="▪"/>
            </a:pPr>
            <a:r>
              <a:rPr sz="2300">
                <a:solidFill>
                  <a:srgbClr val="1F2937"/>
                </a:solidFill>
                <a:latin typeface="Calibri"/>
              </a:rPr>
              <a:t>Thought: Model reasons about the failure cause and selects an action.</a:t>
            </a:r>
          </a:p>
          <a:p>
            <a:pPr marL="292608" indent="-292608">
              <a:spcAft>
                <a:spcPts val="1000"/>
              </a:spcAft>
              <a:buClr>
                <a:srgbClr val="0F766E"/>
              </a:buClr>
              <a:buFont typeface="Arial"/>
              <a:buChar char="▪"/>
            </a:pPr>
            <a:r>
              <a:rPr sz="2300">
                <a:solidFill>
                  <a:srgbClr val="1F2937"/>
                </a:solidFill>
                <a:latin typeface="Calibri"/>
              </a:rPr>
              <a:t>Action: Model issues tool calls such as file edits or test commands.</a:t>
            </a:r>
          </a:p>
          <a:p>
            <a:pPr marL="292608" indent="-292608">
              <a:spcAft>
                <a:spcPts val="1000"/>
              </a:spcAft>
              <a:buClr>
                <a:srgbClr val="0F766E"/>
              </a:buClr>
              <a:buFont typeface="Arial"/>
              <a:buChar char="▪"/>
            </a:pPr>
            <a:r>
              <a:rPr sz="2300">
                <a:solidFill>
                  <a:srgbClr val="1F2937"/>
                </a:solidFill>
                <a:latin typeface="Calibri"/>
              </a:rPr>
              <a:t>Environment State: Execution environment updates state and returns new logs.</a:t>
            </a:r>
          </a:p>
        </p:txBody>
      </p:sp>
      <p:sp>
        <p:nvSpPr>
          <p:cNvPr id="7" name="Rounded Rectangle 6"/>
          <p:cNvSpPr/>
          <p:nvPr/>
        </p:nvSpPr>
        <p:spPr>
          <a:xfrm>
            <a:off x="6683495" y="146304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Observation</a:t>
            </a:r>
          </a:p>
        </p:txBody>
      </p:sp>
      <p:sp>
        <p:nvSpPr>
          <p:cNvPr id="8" name="Down Arrow 7"/>
          <p:cNvSpPr/>
          <p:nvPr/>
        </p:nvSpPr>
        <p:spPr>
          <a:xfrm>
            <a:off x="9026115" y="233629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62890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Reasoning</a:t>
            </a:r>
          </a:p>
        </p:txBody>
      </p:sp>
      <p:sp>
        <p:nvSpPr>
          <p:cNvPr id="10" name="Down Arrow 9"/>
          <p:cNvSpPr/>
          <p:nvPr/>
        </p:nvSpPr>
        <p:spPr>
          <a:xfrm>
            <a:off x="9026115" y="350215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79476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Action Execution</a:t>
            </a:r>
          </a:p>
        </p:txBody>
      </p:sp>
      <p:sp>
        <p:nvSpPr>
          <p:cNvPr id="12" name="Down Arrow 11"/>
          <p:cNvSpPr/>
          <p:nvPr/>
        </p:nvSpPr>
        <p:spPr>
          <a:xfrm>
            <a:off x="9026115" y="466801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96062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Environment State Update</a:t>
            </a:r>
          </a:p>
        </p:txBody>
      </p:sp>
      <p:sp>
        <p:nvSpPr>
          <p:cNvPr id="14" name="TextBox 13"/>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Four-phase agent loop interaction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Log Artifacts as Execution History Records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W07.S2   ·   Sources: [C3] [C6]</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5</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Logs capture timestamped records of prompts, model calls, and environmental responses.</a:t>
            </a:r>
          </a:p>
          <a:p>
            <a:pPr marL="292608" indent="-292608">
              <a:spcAft>
                <a:spcPts val="1000"/>
              </a:spcAft>
              <a:buClr>
                <a:srgbClr val="0F766E"/>
              </a:buClr>
              <a:buFont typeface="Arial"/>
              <a:buChar char="▪"/>
            </a:pPr>
            <a:r>
              <a:rPr sz="2400">
                <a:solidFill>
                  <a:srgbClr val="1F2937"/>
                </a:solidFill>
                <a:latin typeface="Calibri"/>
              </a:rPr>
              <a:t>Structured logs format tool invocations, shell commands, and stdout/stderr streams.</a:t>
            </a:r>
          </a:p>
          <a:p>
            <a:pPr marL="292608" indent="-292608">
              <a:spcAft>
                <a:spcPts val="1000"/>
              </a:spcAft>
              <a:buClr>
                <a:srgbClr val="0F766E"/>
              </a:buClr>
              <a:buFont typeface="Arial"/>
              <a:buChar char="▪"/>
            </a:pPr>
            <a:r>
              <a:rPr sz="2400">
                <a:solidFill>
                  <a:srgbClr val="1F2937"/>
                </a:solidFill>
                <a:latin typeface="Calibri"/>
              </a:rPr>
              <a:t>Unstructured trace files contain full raw context windows sent back and forth.</a:t>
            </a:r>
          </a:p>
          <a:p>
            <a:pPr marL="292608" indent="-292608">
              <a:spcAft>
                <a:spcPts val="1000"/>
              </a:spcAft>
              <a:buClr>
                <a:srgbClr val="0F766E"/>
              </a:buClr>
              <a:buFont typeface="Arial"/>
              <a:buChar char="▪"/>
            </a:pPr>
            <a:r>
              <a:rPr sz="2400">
                <a:solidFill>
                  <a:srgbClr val="1F2937"/>
                </a:solidFill>
                <a:latin typeface="Calibri"/>
              </a:rPr>
              <a:t>Tracing logs enables post-mortem analysis of agent reasoning and failure trajectories.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Identifying Control-Flow Steps in Execution Tracing</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W07.S2   ·   Sources: [C2] [C6]</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6</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Prompt dispatch marks the start of a logical reasoning step.</a:t>
            </a:r>
          </a:p>
          <a:p>
            <a:pPr marL="292608" indent="-292608">
              <a:spcAft>
                <a:spcPts val="1000"/>
              </a:spcAft>
              <a:buClr>
                <a:srgbClr val="0F766E"/>
              </a:buClr>
              <a:buFont typeface="Arial"/>
              <a:buChar char="▪"/>
            </a:pPr>
            <a:r>
              <a:rPr sz="2400">
                <a:solidFill>
                  <a:srgbClr val="1F2937"/>
                </a:solidFill>
                <a:latin typeface="Calibri"/>
              </a:rPr>
              <a:t>Tool invocation indicates a transition from reasoning to environment action.</a:t>
            </a:r>
          </a:p>
          <a:p>
            <a:pPr marL="292608" indent="-292608">
              <a:spcAft>
                <a:spcPts val="1000"/>
              </a:spcAft>
              <a:buClr>
                <a:srgbClr val="0F766E"/>
              </a:buClr>
              <a:buFont typeface="Arial"/>
              <a:buChar char="▪"/>
            </a:pPr>
            <a:r>
              <a:rPr sz="2400">
                <a:solidFill>
                  <a:srgbClr val="1F2937"/>
                </a:solidFill>
                <a:latin typeface="Calibri"/>
              </a:rPr>
              <a:t>Shell execution records system-level tool results and exit codes.</a:t>
            </a:r>
          </a:p>
          <a:p>
            <a:pPr marL="292608" indent="-292608">
              <a:spcAft>
                <a:spcPts val="1000"/>
              </a:spcAft>
              <a:buClr>
                <a:srgbClr val="0F766E"/>
              </a:buClr>
              <a:buFont typeface="Arial"/>
              <a:buChar char="▪"/>
            </a:pPr>
            <a:r>
              <a:rPr sz="2400">
                <a:solidFill>
                  <a:srgbClr val="1F2937"/>
                </a:solidFill>
                <a:latin typeface="Calibri"/>
              </a:rPr>
              <a:t>State evaluation determines whether to continue looping or terminate.</a:t>
            </a:r>
          </a:p>
        </p:txBody>
      </p:sp>
      <p:graphicFrame>
        <p:nvGraphicFramePr>
          <p:cNvPr id="7" name="Table 6"/>
          <p:cNvGraphicFramePr>
            <a:graphicFrameLocks noGrp="1"/>
          </p:cNvGraphicFramePr>
          <p:nvPr/>
        </p:nvGraphicFramePr>
        <p:xfrm>
          <a:off x="6683495" y="1463040"/>
          <a:ext cx="4959560" cy="2514600"/>
        </p:xfrm>
        <a:graphic>
          <a:graphicData uri="http://schemas.openxmlformats.org/drawingml/2006/table">
            <a:tbl>
              <a:tblPr firstRow="1" bandRow="1">
                <a:tableStyleId>{5C22544A-7EE6-4342-B048-85BDC9FD1C3A}</a:tableStyleId>
              </a:tblPr>
              <a:tblGrid>
                <a:gridCol w="1653186"/>
                <a:gridCol w="1653186"/>
                <a:gridCol w="1653188"/>
              </a:tblGrid>
              <a:tr h="502920">
                <a:tc>
                  <a:txBody>
                    <a:bodyPr/>
                    <a:lstStyle/>
                    <a:p>
                      <a:r>
                        <a:rPr sz="1400" b="1">
                          <a:solidFill>
                            <a:srgbClr val="CCFBF1"/>
                          </a:solidFill>
                          <a:latin typeface="Calibri"/>
                        </a:rPr>
                        <a:t>Step Type</a:t>
                      </a:r>
                    </a:p>
                  </a:txBody>
                  <a:tcPr>
                    <a:solidFill>
                      <a:srgbClr val="0F766E"/>
                    </a:solidFill>
                  </a:tcPr>
                </a:tc>
                <a:tc>
                  <a:txBody>
                    <a:bodyPr/>
                    <a:lstStyle/>
                    <a:p>
                      <a:r>
                        <a:rPr sz="1400" b="1">
                          <a:solidFill>
                            <a:srgbClr val="CCFBF1"/>
                          </a:solidFill>
                          <a:latin typeface="Calibri"/>
                        </a:rPr>
                        <a:t>Log Indicator</a:t>
                      </a:r>
                    </a:p>
                  </a:txBody>
                  <a:tcPr>
                    <a:solidFill>
                      <a:srgbClr val="0F766E"/>
                    </a:solidFill>
                  </a:tcPr>
                </a:tc>
                <a:tc>
                  <a:txBody>
                    <a:bodyPr/>
                    <a:lstStyle/>
                    <a:p>
                      <a:r>
                        <a:rPr sz="1400" b="1">
                          <a:solidFill>
                            <a:srgbClr val="CCFBF1"/>
                          </a:solidFill>
                          <a:latin typeface="Calibri"/>
                        </a:rPr>
                        <a:t>Information Captured</a:t>
                      </a:r>
                    </a:p>
                  </a:txBody>
                  <a:tcPr>
                    <a:solidFill>
                      <a:srgbClr val="0F766E"/>
                    </a:solidFill>
                  </a:tcPr>
                </a:tc>
              </a:tr>
              <a:tr h="502920">
                <a:tc>
                  <a:txBody>
                    <a:bodyPr/>
                    <a:lstStyle/>
                    <a:p>
                      <a:r>
                        <a:rPr sz="1400" b="0">
                          <a:solidFill>
                            <a:srgbClr val="1F2937"/>
                          </a:solidFill>
                          <a:latin typeface="Calibri"/>
                        </a:rPr>
                        <a:t>Prompt Dispatch</a:t>
                      </a:r>
                    </a:p>
                  </a:txBody>
                  <a:tcPr>
                    <a:solidFill>
                      <a:srgbClr val="F3F4F6"/>
                    </a:solidFill>
                  </a:tcPr>
                </a:tc>
                <a:tc>
                  <a:txBody>
                    <a:bodyPr/>
                    <a:lstStyle/>
                    <a:p>
                      <a:r>
                        <a:rPr sz="1400" b="0">
                          <a:solidFill>
                            <a:srgbClr val="1F2937"/>
                          </a:solidFill>
                          <a:latin typeface="Calibri"/>
                        </a:rPr>
                        <a:t>system_prompt / user_input</a:t>
                      </a:r>
                    </a:p>
                  </a:txBody>
                  <a:tcPr>
                    <a:solidFill>
                      <a:srgbClr val="F3F4F6"/>
                    </a:solidFill>
                  </a:tcPr>
                </a:tc>
                <a:tc>
                  <a:txBody>
                    <a:bodyPr/>
                    <a:lstStyle/>
                    <a:p>
                      <a:r>
                        <a:rPr sz="1400" b="0">
                          <a:solidFill>
                            <a:srgbClr val="1F2937"/>
                          </a:solidFill>
                          <a:latin typeface="Calibri"/>
                        </a:rPr>
                        <a:t>Context window &amp; instructions</a:t>
                      </a:r>
                    </a:p>
                  </a:txBody>
                  <a:tcPr>
                    <a:solidFill>
                      <a:srgbClr val="F3F4F6"/>
                    </a:solidFill>
                  </a:tcPr>
                </a:tc>
              </a:tr>
              <a:tr h="502920">
                <a:tc>
                  <a:txBody>
                    <a:bodyPr/>
                    <a:lstStyle/>
                    <a:p>
                      <a:r>
                        <a:rPr sz="1400" b="0">
                          <a:solidFill>
                            <a:srgbClr val="1F2937"/>
                          </a:solidFill>
                          <a:latin typeface="Calibri"/>
                        </a:rPr>
                        <a:t>Tool Invoc</a:t>
                      </a:r>
                    </a:p>
                  </a:txBody>
                  <a:tcPr>
                    <a:solidFill>
                      <a:srgbClr val="F3F4F6"/>
                    </a:solidFill>
                  </a:tcPr>
                </a:tc>
                <a:tc>
                  <a:txBody>
                    <a:bodyPr/>
                    <a:lstStyle/>
                    <a:p>
                      <a:r>
                        <a:rPr sz="1400" b="0">
                          <a:solidFill>
                            <a:srgbClr val="1F2937"/>
                          </a:solidFill>
                          <a:latin typeface="Calibri"/>
                        </a:rPr>
                        <a:t>call_tool / function_call</a:t>
                      </a:r>
                    </a:p>
                  </a:txBody>
                  <a:tcPr>
                    <a:solidFill>
                      <a:srgbClr val="F3F4F6"/>
                    </a:solidFill>
                  </a:tcPr>
                </a:tc>
                <a:tc>
                  <a:txBody>
                    <a:bodyPr/>
                    <a:lstStyle/>
                    <a:p>
                      <a:r>
                        <a:rPr sz="1400" b="0">
                          <a:solidFill>
                            <a:srgbClr val="1F2937"/>
                          </a:solidFill>
                          <a:latin typeface="Calibri"/>
                        </a:rPr>
                        <a:t>Arguments &amp; file targets</a:t>
                      </a:r>
                    </a:p>
                  </a:txBody>
                  <a:tcPr>
                    <a:solidFill>
                      <a:srgbClr val="F3F4F6"/>
                    </a:solidFill>
                  </a:tcPr>
                </a:tc>
              </a:tr>
              <a:tr h="502920">
                <a:tc>
                  <a:txBody>
                    <a:bodyPr/>
                    <a:lstStyle/>
                    <a:p>
                      <a:r>
                        <a:rPr sz="1400" b="0">
                          <a:solidFill>
                            <a:srgbClr val="1F2937"/>
                          </a:solidFill>
                          <a:latin typeface="Calibri"/>
                        </a:rPr>
                        <a:t>Shell Output</a:t>
                      </a:r>
                    </a:p>
                  </a:txBody>
                  <a:tcPr>
                    <a:solidFill>
                      <a:srgbClr val="F3F4F6"/>
                    </a:solidFill>
                  </a:tcPr>
                </a:tc>
                <a:tc>
                  <a:txBody>
                    <a:bodyPr/>
                    <a:lstStyle/>
                    <a:p>
                      <a:r>
                        <a:rPr sz="1400" b="0">
                          <a:solidFill>
                            <a:srgbClr val="1F2937"/>
                          </a:solidFill>
                          <a:latin typeface="Calibri"/>
                        </a:rPr>
                        <a:t>stdout / stderr / exit_code</a:t>
                      </a:r>
                    </a:p>
                  </a:txBody>
                  <a:tcPr>
                    <a:solidFill>
                      <a:srgbClr val="F3F4F6"/>
                    </a:solidFill>
                  </a:tcPr>
                </a:tc>
                <a:tc>
                  <a:txBody>
                    <a:bodyPr/>
                    <a:lstStyle/>
                    <a:p>
                      <a:r>
                        <a:rPr sz="1400" b="0">
                          <a:solidFill>
                            <a:srgbClr val="1F2937"/>
                          </a:solidFill>
                          <a:latin typeface="Calibri"/>
                        </a:rPr>
                        <a:t>Test results &amp; error traces</a:t>
                      </a:r>
                    </a:p>
                  </a:txBody>
                  <a:tcPr>
                    <a:solidFill>
                      <a:srgbClr val="F3F4F6"/>
                    </a:solidFill>
                  </a:tcPr>
                </a:tc>
              </a:tr>
              <a:tr h="502920">
                <a:tc>
                  <a:txBody>
                    <a:bodyPr/>
                    <a:lstStyle/>
                    <a:p>
                      <a:r>
                        <a:rPr sz="1400" b="0">
                          <a:solidFill>
                            <a:srgbClr val="1F2937"/>
                          </a:solidFill>
                          <a:latin typeface="Calibri"/>
                        </a:rPr>
                        <a:t>Evaluation</a:t>
                      </a:r>
                    </a:p>
                  </a:txBody>
                  <a:tcPr>
                    <a:solidFill>
                      <a:srgbClr val="F3F4F6"/>
                    </a:solidFill>
                  </a:tcPr>
                </a:tc>
                <a:tc>
                  <a:txBody>
                    <a:bodyPr/>
                    <a:lstStyle/>
                    <a:p>
                      <a:r>
                        <a:rPr sz="1400" b="0">
                          <a:solidFill>
                            <a:srgbClr val="1F2937"/>
                          </a:solidFill>
                          <a:latin typeface="Calibri"/>
                        </a:rPr>
                        <a:t>loop_status / terminate</a:t>
                      </a:r>
                    </a:p>
                  </a:txBody>
                  <a:tcPr>
                    <a:solidFill>
                      <a:srgbClr val="F3F4F6"/>
                    </a:solidFill>
                  </a:tcPr>
                </a:tc>
                <a:tc>
                  <a:txBody>
                    <a:bodyPr/>
                    <a:lstStyle/>
                    <a:p>
                      <a:r>
                        <a:rPr sz="1400" b="0">
                          <a:solidFill>
                            <a:srgbClr val="1F2937"/>
                          </a:solidFill>
                          <a:latin typeface="Calibri"/>
                        </a:rPr>
                        <a:t>Convergence state</a:t>
                      </a:r>
                    </a:p>
                  </a:txBody>
                  <a:tcPr>
                    <a:solidFill>
                      <a:srgbClr val="F3F4F6"/>
                    </a:solidFill>
                  </a:tcPr>
                </a:tc>
              </a:tr>
            </a:tbl>
          </a:graphicData>
        </a:graphic>
      </p:graphicFrame>
      <p:sp>
        <p:nvSpPr>
          <p:cNvPr id="8" name="TextBox 7"/>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Control-flow step classification in agent logs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900" b="1">
                <a:solidFill>
                  <a:srgbClr val="1F2937"/>
                </a:solidFill>
                <a:latin typeface="Calibri"/>
              </a:rPr>
              <a:t>Check Point: Identifying Agent Loop Components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W07.S2   ·   Sources: [C6]</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7</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300" b="1">
                <a:solidFill>
                  <a:srgbClr val="1F2937"/>
                </a:solidFill>
                <a:latin typeface="Calibri"/>
              </a:rPr>
              <a:t>When tracing an agent log artifact, which log event signals a transition from internal reasoning to active workspace modification?</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2000" b="0">
                <a:solidFill>
                  <a:srgbClr val="1F2937"/>
                </a:solidFill>
                <a:latin typeface="Calibri"/>
              </a:rPr>
              <a:t>The raw system prompt dispatch sent to the model context window.</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2000" b="0">
                <a:solidFill>
                  <a:srgbClr val="1F2937"/>
                </a:solidFill>
                <a:latin typeface="Calibri"/>
              </a:rPr>
              <a:t>A tool invocation event executing a patch or write_file command.</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2000" b="0">
                <a:solidFill>
                  <a:srgbClr val="1F2937"/>
                </a:solidFill>
                <a:latin typeface="Calibri"/>
              </a:rPr>
              <a:t>A stdout stream capture containing unit test assertion results.</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2000" b="0">
                <a:solidFill>
                  <a:srgbClr val="1F2937"/>
                </a:solidFill>
                <a:latin typeface="Calibri"/>
              </a:rPr>
              <a:t>The final model response token indicating execution completion.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Log Formatting and Schema Standards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W07.S2   ·   Sources: [C5] [C6]</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8</a:t>
            </a:r>
          </a:p>
        </p:txBody>
      </p:sp>
      <p:sp>
        <p:nvSpPr>
          <p:cNvPr id="6" name="TextBox 5"/>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JSON-Lines and OpenTelemetry provide structured formats for agent trace events.</a:t>
            </a:r>
          </a:p>
          <a:p>
            <a:pPr marL="292608" indent="-292608">
              <a:spcAft>
                <a:spcPts val="1000"/>
              </a:spcAft>
              <a:buClr>
                <a:srgbClr val="0F766E"/>
              </a:buClr>
              <a:buFont typeface="Arial"/>
              <a:buChar char="▪"/>
            </a:pPr>
            <a:r>
              <a:rPr sz="2300">
                <a:solidFill>
                  <a:srgbClr val="1F2937"/>
                </a:solidFill>
                <a:latin typeface="Calibri"/>
              </a:rPr>
              <a:t>Key fields include trace_id, span_id, timestamp, step_type, and payload.</a:t>
            </a:r>
          </a:p>
          <a:p>
            <a:pPr marL="292608" indent="-292608">
              <a:spcAft>
                <a:spcPts val="1000"/>
              </a:spcAft>
              <a:buClr>
                <a:srgbClr val="0F766E"/>
              </a:buClr>
              <a:buFont typeface="Arial"/>
              <a:buChar char="▪"/>
            </a:pPr>
            <a:r>
              <a:rPr sz="2300">
                <a:solidFill>
                  <a:srgbClr val="1F2937"/>
                </a:solidFill>
                <a:latin typeface="Calibri"/>
              </a:rPr>
              <a:t>Tool execution payloads record input arguments, execution duration, and exit status.</a:t>
            </a:r>
          </a:p>
          <a:p>
            <a:pPr marL="292608" indent="-292608">
              <a:spcAft>
                <a:spcPts val="1000"/>
              </a:spcAft>
              <a:buClr>
                <a:srgbClr val="0F766E"/>
              </a:buClr>
              <a:buFont typeface="Arial"/>
              <a:buChar char="▪"/>
            </a:pPr>
            <a:r>
              <a:rPr sz="2300">
                <a:solidFill>
                  <a:srgbClr val="1F2937"/>
                </a:solidFill>
                <a:latin typeface="Calibri"/>
              </a:rPr>
              <a:t>Standardized schemas allow automated log parsing and visual trace representation.</a:t>
            </a:r>
          </a:p>
        </p:txBody>
      </p:sp>
      <p:sp>
        <p:nvSpPr>
          <p:cNvPr id="7" name="Rounded Rectangle 6"/>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json</a:t>
            </a:r>
          </a:p>
          <a:p>
            <a:pPr algn="l"/>
            <a:r>
              <a:rPr sz="1300" b="0">
                <a:solidFill>
                  <a:srgbClr val="E5E7EB"/>
                </a:solidFill>
                <a:latin typeface="Consolas"/>
              </a:rPr>
              <a:t>{</a:t>
            </a:r>
          </a:p>
          <a:p>
            <a:pPr algn="l"/>
            <a:r>
              <a:rPr sz="1300" b="0">
                <a:solidFill>
                  <a:srgbClr val="E5E7EB"/>
                </a:solidFill>
                <a:latin typeface="Consolas"/>
              </a:rPr>
              <a:t>  "timestamp": "2026-03-29T10:15:00Z",</a:t>
            </a:r>
          </a:p>
          <a:p>
            <a:pPr algn="l"/>
            <a:r>
              <a:rPr sz="1300" b="0">
                <a:solidFill>
                  <a:srgbClr val="E5E7EB"/>
                </a:solidFill>
                <a:latin typeface="Consolas"/>
              </a:rPr>
              <a:t>  "trace_id": "tr-8842",</a:t>
            </a:r>
          </a:p>
          <a:p>
            <a:pPr algn="l"/>
            <a:r>
              <a:rPr sz="1300" b="0">
                <a:solidFill>
                  <a:srgbClr val="E5E7EB"/>
                </a:solidFill>
                <a:latin typeface="Consolas"/>
              </a:rPr>
              <a:t>  "step": 2,</a:t>
            </a:r>
          </a:p>
          <a:p>
            <a:pPr algn="l"/>
            <a:r>
              <a:rPr sz="1300" b="0">
                <a:solidFill>
                  <a:srgbClr val="E5E7EB"/>
                </a:solidFill>
                <a:latin typeface="Consolas"/>
              </a:rPr>
              <a:t>  "type": "tool_call",</a:t>
            </a:r>
          </a:p>
          <a:p>
            <a:pPr algn="l"/>
            <a:r>
              <a:rPr sz="1300" b="0">
                <a:solidFill>
                  <a:srgbClr val="E5E7EB"/>
                </a:solidFill>
                <a:latin typeface="Consolas"/>
              </a:rPr>
              <a:t>  "tool": "patch_file",</a:t>
            </a:r>
          </a:p>
          <a:p>
            <a:pPr algn="l"/>
            <a:r>
              <a:rPr sz="1300" b="0">
                <a:solidFill>
                  <a:srgbClr val="E5E7EB"/>
                </a:solidFill>
                <a:latin typeface="Consolas"/>
              </a:rPr>
              <a:t>  "args": {"path": "src/app.py", "diff": "@@ -10 +10 @@"},</a:t>
            </a:r>
          </a:p>
          <a:p>
            <a:pPr algn="l"/>
            <a:r>
              <a:rPr sz="1300" b="0">
                <a:solidFill>
                  <a:srgbClr val="E5E7EB"/>
                </a:solidFill>
                <a:latin typeface="Consolas"/>
              </a:rPr>
              <a:t>  "result": {"status": "success", "exit_code": 0}</a:t>
            </a:r>
          </a:p>
          <a:p>
            <a:pPr algn="l"/>
            <a:r>
              <a:rPr sz="1300" b="0">
                <a:solidFill>
                  <a:srgbClr val="E5E7EB"/>
                </a:solidFill>
                <a:latin typeface="Consolas"/>
              </a:rPr>
              <a:t>}</a:t>
            </a:r>
          </a:p>
        </p:txBody>
      </p:sp>
      <p:sp>
        <p:nvSpPr>
          <p:cNvPr id="9" name="TextBox 8"/>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Structured JSON-Lines event entry from an agent execution trace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800" b="1">
                <a:solidFill>
                  <a:srgbClr val="1F2937"/>
                </a:solidFill>
                <a:latin typeface="Calibri"/>
              </a:rPr>
              <a:t>Example: Tracing a Multi-Step Fix Execution Log</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Example</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W07.S2   ·   Sources: [C2] [C6]</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9</a:t>
            </a:r>
          </a:p>
        </p:txBody>
      </p:sp>
      <p:sp>
        <p:nvSpPr>
          <p:cNvPr id="7" name="TextBox 6"/>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Trace begins with user bug report passed to the prompt builder.</a:t>
            </a:r>
          </a:p>
          <a:p>
            <a:pPr marL="292608" indent="-292608">
              <a:spcAft>
                <a:spcPts val="1000"/>
              </a:spcAft>
              <a:buClr>
                <a:srgbClr val="0F766E"/>
              </a:buClr>
              <a:buFont typeface="Arial"/>
              <a:buChar char="▪"/>
            </a:pPr>
            <a:r>
              <a:rPr sz="2400">
                <a:solidFill>
                  <a:srgbClr val="1F2937"/>
                </a:solidFill>
                <a:latin typeface="Calibri"/>
              </a:rPr>
              <a:t>Iteration 1: Agent reads test logs and locates broken method in source code.</a:t>
            </a:r>
          </a:p>
          <a:p>
            <a:pPr marL="292608" indent="-292608">
              <a:spcAft>
                <a:spcPts val="1000"/>
              </a:spcAft>
              <a:buClr>
                <a:srgbClr val="0F766E"/>
              </a:buClr>
              <a:buFont typeface="Arial"/>
              <a:buChar char="▪"/>
            </a:pPr>
            <a:r>
              <a:rPr sz="2400">
                <a:solidFill>
                  <a:srgbClr val="1F2937"/>
                </a:solidFill>
                <a:latin typeface="Calibri"/>
              </a:rPr>
              <a:t>Iteration 2: Agent generates git patch and executes test suite runner.</a:t>
            </a:r>
          </a:p>
          <a:p>
            <a:pPr marL="292608" indent="-292608">
              <a:spcAft>
                <a:spcPts val="1000"/>
              </a:spcAft>
              <a:buClr>
                <a:srgbClr val="0F766E"/>
              </a:buClr>
              <a:buFont typeface="Arial"/>
              <a:buChar char="▪"/>
            </a:pPr>
            <a:r>
              <a:rPr sz="2400">
                <a:solidFill>
                  <a:srgbClr val="1F2937"/>
                </a:solidFill>
                <a:latin typeface="Calibri"/>
              </a:rPr>
              <a:t>Iteration 3: Test runner fails; agent inspects trace and applies second patch.</a:t>
            </a:r>
          </a:p>
        </p:txBody>
      </p:sp>
      <p:sp>
        <p:nvSpPr>
          <p:cNvPr id="8" name="Rounded Rectangle 7"/>
          <p:cNvSpPr/>
          <p:nvPr/>
        </p:nvSpPr>
        <p:spPr>
          <a:xfrm>
            <a:off x="6683495" y="1463040"/>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Read Bug Report</a:t>
            </a:r>
          </a:p>
        </p:txBody>
      </p:sp>
      <p:sp>
        <p:nvSpPr>
          <p:cNvPr id="9" name="Down Arrow 8"/>
          <p:cNvSpPr/>
          <p:nvPr/>
        </p:nvSpPr>
        <p:spPr>
          <a:xfrm>
            <a:off x="9026115" y="2103120"/>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683495" y="2395728"/>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Locate Source File</a:t>
            </a:r>
          </a:p>
        </p:txBody>
      </p:sp>
      <p:sp>
        <p:nvSpPr>
          <p:cNvPr id="11" name="Down Arrow 10"/>
          <p:cNvSpPr/>
          <p:nvPr/>
        </p:nvSpPr>
        <p:spPr>
          <a:xfrm>
            <a:off x="9026115" y="3035808"/>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683495" y="3328416"/>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Apply Initial Patch</a:t>
            </a:r>
          </a:p>
        </p:txBody>
      </p:sp>
      <p:sp>
        <p:nvSpPr>
          <p:cNvPr id="13" name="Down Arrow 12"/>
          <p:cNvSpPr/>
          <p:nvPr/>
        </p:nvSpPr>
        <p:spPr>
          <a:xfrm>
            <a:off x="9026115" y="3968496"/>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683495" y="4261104"/>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Inspect Test Failure</a:t>
            </a:r>
          </a:p>
        </p:txBody>
      </p:sp>
      <p:sp>
        <p:nvSpPr>
          <p:cNvPr id="15" name="Down Arrow 14"/>
          <p:cNvSpPr/>
          <p:nvPr/>
        </p:nvSpPr>
        <p:spPr>
          <a:xfrm>
            <a:off x="9026115" y="4901184"/>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683495" y="5193792"/>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Apply Final Fix</a:t>
            </a:r>
          </a:p>
        </p:txBody>
      </p:sp>
      <p:sp>
        <p:nvSpPr>
          <p:cNvPr id="17" name="TextBox 16"/>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Multi-step bug repair trace progression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500" b="1">
                <a:solidFill>
                  <a:srgbClr val="1F2937"/>
                </a:solidFill>
                <a:latin typeface="Calibri"/>
              </a:rPr>
              <a:t>Worked Problem: Manual Log Tracing of an Oscillating Loop</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Worked problem</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W07.S2   ·   Sources: [C3] [C6]</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10</a:t>
            </a:r>
          </a:p>
        </p:txBody>
      </p:sp>
      <p:sp>
        <p:nvSpPr>
          <p:cNvPr id="7" name="TextBox 6"/>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200">
                <a:solidFill>
                  <a:srgbClr val="1F2937"/>
                </a:solidFill>
                <a:latin typeface="Calibri"/>
              </a:rPr>
              <a:t>Problem: Trace a 5-step log where an agent toggles between two bad fixes.</a:t>
            </a:r>
          </a:p>
          <a:p>
            <a:pPr marL="292608" indent="-292608">
              <a:spcAft>
                <a:spcPts val="1000"/>
              </a:spcAft>
              <a:buClr>
                <a:srgbClr val="0F766E"/>
              </a:buClr>
              <a:buFont typeface="Arial"/>
              <a:buChar char="▪"/>
            </a:pPr>
            <a:r>
              <a:rPr sz="2200">
                <a:solidFill>
                  <a:srgbClr val="1F2937"/>
                </a:solidFill>
                <a:latin typeface="Calibri"/>
              </a:rPr>
              <a:t>Step 1: Identify initial test failure log in iteration 1.</a:t>
            </a:r>
          </a:p>
          <a:p>
            <a:pPr marL="292608" indent="-292608">
              <a:spcAft>
                <a:spcPts val="1000"/>
              </a:spcAft>
              <a:buClr>
                <a:srgbClr val="0F766E"/>
              </a:buClr>
              <a:buFont typeface="Arial"/>
              <a:buChar char="▪"/>
            </a:pPr>
            <a:r>
              <a:rPr sz="2200">
                <a:solidFill>
                  <a:srgbClr val="1F2937"/>
                </a:solidFill>
                <a:latin typeface="Calibri"/>
              </a:rPr>
              <a:t>Step 2: Record file edit action in iteration 2 that causes new regression.</a:t>
            </a:r>
          </a:p>
          <a:p>
            <a:pPr marL="292608" indent="-292608">
              <a:spcAft>
                <a:spcPts val="1000"/>
              </a:spcAft>
              <a:buClr>
                <a:srgbClr val="0F766E"/>
              </a:buClr>
              <a:buFont typeface="Arial"/>
              <a:buChar char="▪"/>
            </a:pPr>
            <a:r>
              <a:rPr sz="2200">
                <a:solidFill>
                  <a:srgbClr val="1F2937"/>
                </a:solidFill>
                <a:latin typeface="Calibri"/>
              </a:rPr>
              <a:t>Step 3: Observe revert and re-application of initial bug in iteration 3.</a:t>
            </a:r>
          </a:p>
          <a:p>
            <a:pPr marL="292608" indent="-292608">
              <a:spcAft>
                <a:spcPts val="1000"/>
              </a:spcAft>
              <a:buClr>
                <a:srgbClr val="0F766E"/>
              </a:buClr>
              <a:buFont typeface="Arial"/>
              <a:buChar char="▪"/>
            </a:pPr>
            <a:r>
              <a:rPr sz="2200">
                <a:solidFill>
                  <a:srgbClr val="1F2937"/>
                </a:solidFill>
                <a:latin typeface="Calibri"/>
              </a:rPr>
              <a:t>Step 4: Map control-flow loop cycles to document agent oscillation.</a:t>
            </a:r>
          </a:p>
        </p:txBody>
      </p:sp>
      <p:sp>
        <p:nvSpPr>
          <p:cNvPr id="8" name="Rounded Rectangle 7"/>
          <p:cNvSpPr/>
          <p:nvPr/>
        </p:nvSpPr>
        <p:spPr>
          <a:xfrm>
            <a:off x="6683495" y="1463040"/>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Test Failure A</a:t>
            </a:r>
          </a:p>
        </p:txBody>
      </p:sp>
      <p:sp>
        <p:nvSpPr>
          <p:cNvPr id="9" name="Down Arrow 8"/>
          <p:cNvSpPr/>
          <p:nvPr/>
        </p:nvSpPr>
        <p:spPr>
          <a:xfrm>
            <a:off x="9026115" y="2103120"/>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683495" y="2395728"/>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Edit Function 1</a:t>
            </a:r>
          </a:p>
        </p:txBody>
      </p:sp>
      <p:sp>
        <p:nvSpPr>
          <p:cNvPr id="11" name="Down Arrow 10"/>
          <p:cNvSpPr/>
          <p:nvPr/>
        </p:nvSpPr>
        <p:spPr>
          <a:xfrm>
            <a:off x="9026115" y="3035808"/>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683495" y="3328416"/>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Test Failure B</a:t>
            </a:r>
          </a:p>
        </p:txBody>
      </p:sp>
      <p:sp>
        <p:nvSpPr>
          <p:cNvPr id="13" name="Down Arrow 12"/>
          <p:cNvSpPr/>
          <p:nvPr/>
        </p:nvSpPr>
        <p:spPr>
          <a:xfrm>
            <a:off x="9026115" y="3968496"/>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683495" y="4261104"/>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Revert Function 1</a:t>
            </a:r>
          </a:p>
        </p:txBody>
      </p:sp>
      <p:sp>
        <p:nvSpPr>
          <p:cNvPr id="15" name="Down Arrow 14"/>
          <p:cNvSpPr/>
          <p:nvPr/>
        </p:nvSpPr>
        <p:spPr>
          <a:xfrm>
            <a:off x="9026115" y="4901184"/>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683495" y="5193792"/>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Return to Failure A</a:t>
            </a:r>
          </a:p>
        </p:txBody>
      </p:sp>
      <p:sp>
        <p:nvSpPr>
          <p:cNvPr id="17" name="TextBox 16"/>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Oscillating loop trace progression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Complexity Backpressure and Failure Modes in Traces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W07.S2   ·   Sources: [C3]</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11</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Complexity backpressure occurs when context accumulation degrades model reasoning.</a:t>
            </a:r>
          </a:p>
          <a:p>
            <a:pPr marL="292608" indent="-292608">
              <a:spcAft>
                <a:spcPts val="1000"/>
              </a:spcAft>
              <a:buClr>
                <a:srgbClr val="0F766E"/>
              </a:buClr>
              <a:buFont typeface="Arial"/>
              <a:buChar char="▪"/>
            </a:pPr>
            <a:r>
              <a:rPr sz="2400">
                <a:solidFill>
                  <a:srgbClr val="1F2937"/>
                </a:solidFill>
                <a:latin typeface="Calibri"/>
              </a:rPr>
              <a:t>Repeated patch failures introduce noise and context window bloat in traces.</a:t>
            </a:r>
          </a:p>
          <a:p>
            <a:pPr marL="292608" indent="-292608">
              <a:spcAft>
                <a:spcPts val="1000"/>
              </a:spcAft>
              <a:buClr>
                <a:srgbClr val="0F766E"/>
              </a:buClr>
              <a:buFont typeface="Arial"/>
              <a:buChar char="▪"/>
            </a:pPr>
            <a:r>
              <a:rPr sz="2400">
                <a:solidFill>
                  <a:srgbClr val="1F2937"/>
                </a:solidFill>
                <a:latin typeface="Calibri"/>
              </a:rPr>
              <a:t>Oscillating loops, premature termination, and hallucinated tool arguments appear in logs.</a:t>
            </a:r>
          </a:p>
          <a:p>
            <a:pPr marL="292608" indent="-292608">
              <a:spcAft>
                <a:spcPts val="1000"/>
              </a:spcAft>
              <a:buClr>
                <a:srgbClr val="0F766E"/>
              </a:buClr>
              <a:buFont typeface="Arial"/>
              <a:buChar char="▪"/>
            </a:pPr>
            <a:r>
              <a:rPr sz="2400">
                <a:solidFill>
                  <a:srgbClr val="1F2937"/>
                </a:solidFill>
                <a:latin typeface="Calibri"/>
              </a:rPr>
              <a:t>Tracing logs exposes when context limits degrade patch quality.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900" b="1">
                <a:solidFill>
                  <a:srgbClr val="1F2937"/>
                </a:solidFill>
                <a:latin typeface="Calibri"/>
              </a:rPr>
              <a:t>Check Point: Analyzing Loop Failure Indicators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W07.S2   ·   Sources: [C3] [C6]</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12</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100" b="1">
                <a:solidFill>
                  <a:srgbClr val="1F2937"/>
                </a:solidFill>
                <a:latin typeface="Calibri"/>
              </a:rPr>
              <a:t>While inspecting an execution log trace, you notice an agent executing identical patch tools and test runs across four consecutive iterations with no code changes. What does this log pattern signify?</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1900" b="0">
                <a:solidFill>
                  <a:srgbClr val="1F2937"/>
                </a:solidFill>
                <a:latin typeface="Calibri"/>
              </a:rPr>
              <a:t>Successful convergence toward an optimal patch solution.</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1900" b="0">
                <a:solidFill>
                  <a:srgbClr val="1F2937"/>
                </a:solidFill>
                <a:latin typeface="Calibri"/>
              </a:rPr>
              <a:t>An unhandled error state causing an infinite non-convergent loop.</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1900" b="0">
                <a:solidFill>
                  <a:srgbClr val="1F2937"/>
                </a:solidFill>
                <a:latin typeface="Calibri"/>
              </a:rPr>
              <a:t>Normal behavior caused by stochastic variation in model output.</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1900" b="0">
                <a:solidFill>
                  <a:srgbClr val="1F2937"/>
                </a:solidFill>
                <a:latin typeface="Calibri"/>
              </a:rPr>
              <a:t>External network rate limiting forcing tool command replay.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600" b="1">
                <a:solidFill>
                  <a:srgbClr val="1F2937"/>
                </a:solidFill>
                <a:latin typeface="Calibri"/>
              </a:rPr>
              <a:t>Hands-on Activity: Trace Construction from Raw Logs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Activity</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W07.S2   ·   Sources: [C6]</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13</a:t>
            </a:r>
          </a:p>
        </p:txBody>
      </p:sp>
      <p:sp>
        <p:nvSpPr>
          <p:cNvPr id="7" name="TextBox 6"/>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Download the provided raw log artifact containing 20 execution step events.</a:t>
            </a:r>
          </a:p>
          <a:p>
            <a:pPr marL="292608" indent="-292608">
              <a:spcAft>
                <a:spcPts val="1000"/>
              </a:spcAft>
              <a:buClr>
                <a:srgbClr val="0F766E"/>
              </a:buClr>
              <a:buFont typeface="Arial"/>
              <a:buChar char="▪"/>
            </a:pPr>
            <a:r>
              <a:rPr sz="2400">
                <a:solidFill>
                  <a:srgbClr val="1F2937"/>
                </a:solidFill>
                <a:latin typeface="Calibri"/>
              </a:rPr>
              <a:t>Parse log JSON entries and map out the agent's control-flow trajectory.</a:t>
            </a:r>
          </a:p>
          <a:p>
            <a:pPr marL="292608" indent="-292608">
              <a:spcAft>
                <a:spcPts val="1000"/>
              </a:spcAft>
              <a:buClr>
                <a:srgbClr val="0F766E"/>
              </a:buClr>
              <a:buFont typeface="Arial"/>
              <a:buChar char="▪"/>
            </a:pPr>
            <a:r>
              <a:rPr sz="2400">
                <a:solidFill>
                  <a:srgbClr val="1F2937"/>
                </a:solidFill>
                <a:latin typeface="Calibri"/>
              </a:rPr>
              <a:t>Identify all tool calls, test outcomes, and iteration boundaries in your trace table.</a:t>
            </a:r>
          </a:p>
          <a:p>
            <a:pPr marL="292608" indent="-292608">
              <a:spcAft>
                <a:spcPts val="1000"/>
              </a:spcAft>
              <a:buClr>
                <a:srgbClr val="0F766E"/>
              </a:buClr>
              <a:buFont typeface="Arial"/>
              <a:buChar char="▪"/>
            </a:pPr>
            <a:r>
              <a:rPr sz="2400">
                <a:solidFill>
                  <a:srgbClr val="1F2937"/>
                </a:solidFill>
                <a:latin typeface="Calibri"/>
              </a:rPr>
              <a:t>Highlight the exact log step where control flow diverged from expected logic.</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Log-Informed Loop Engineering and Query Tuning</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W07.S2   ·   Sources: [C5]</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14</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Traces reveal exact prompts and context states that triggered agent errors.</a:t>
            </a:r>
          </a:p>
          <a:p>
            <a:pPr marL="292608" indent="-292608">
              <a:spcAft>
                <a:spcPts val="1000"/>
              </a:spcAft>
              <a:buClr>
                <a:srgbClr val="0F766E"/>
              </a:buClr>
              <a:buFont typeface="Arial"/>
              <a:buChar char="▪"/>
            </a:pPr>
            <a:r>
              <a:rPr sz="2300">
                <a:solidFill>
                  <a:srgbClr val="1F2937"/>
                </a:solidFill>
                <a:latin typeface="Calibri"/>
              </a:rPr>
              <a:t>Query tuning modifies prompt templates based on observed log failure points.</a:t>
            </a:r>
          </a:p>
          <a:p>
            <a:pPr marL="292608" indent="-292608">
              <a:spcAft>
                <a:spcPts val="1000"/>
              </a:spcAft>
              <a:buClr>
                <a:srgbClr val="0F766E"/>
              </a:buClr>
              <a:buFont typeface="Arial"/>
              <a:buChar char="▪"/>
            </a:pPr>
            <a:r>
              <a:rPr sz="2300">
                <a:solidFill>
                  <a:srgbClr val="1F2937"/>
                </a:solidFill>
                <a:latin typeface="Calibri"/>
              </a:rPr>
              <a:t>Context pruning truncates historical tool outputs to alleviate backpressure.</a:t>
            </a:r>
          </a:p>
          <a:p>
            <a:pPr marL="292608" indent="-292608">
              <a:spcAft>
                <a:spcPts val="1000"/>
              </a:spcAft>
              <a:buClr>
                <a:srgbClr val="0F766E"/>
              </a:buClr>
              <a:buFont typeface="Arial"/>
              <a:buChar char="▪"/>
            </a:pPr>
            <a:r>
              <a:rPr sz="2300">
                <a:solidFill>
                  <a:srgbClr val="1F2937"/>
                </a:solidFill>
                <a:latin typeface="Calibri"/>
              </a:rPr>
              <a:t>Model Context Protocol (MCP) enables standardized context injection in loops.</a:t>
            </a:r>
          </a:p>
        </p:txBody>
      </p:sp>
      <p:sp>
        <p:nvSpPr>
          <p:cNvPr id="7" name="Rounded Rectangle 6"/>
          <p:cNvSpPr/>
          <p:nvPr/>
        </p:nvSpPr>
        <p:spPr>
          <a:xfrm>
            <a:off x="6683495" y="146304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Trace Log Analysis</a:t>
            </a:r>
          </a:p>
        </p:txBody>
      </p:sp>
      <p:sp>
        <p:nvSpPr>
          <p:cNvPr id="8" name="Down Arrow 7"/>
          <p:cNvSpPr/>
          <p:nvPr/>
        </p:nvSpPr>
        <p:spPr>
          <a:xfrm>
            <a:off x="9026115" y="233629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62890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Identify Context Bloat</a:t>
            </a:r>
          </a:p>
        </p:txBody>
      </p:sp>
      <p:sp>
        <p:nvSpPr>
          <p:cNvPr id="10" name="Down Arrow 9"/>
          <p:cNvSpPr/>
          <p:nvPr/>
        </p:nvSpPr>
        <p:spPr>
          <a:xfrm>
            <a:off x="9026115" y="350215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79476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Tune MCP Prompt</a:t>
            </a:r>
          </a:p>
        </p:txBody>
      </p:sp>
      <p:sp>
        <p:nvSpPr>
          <p:cNvPr id="12" name="Down Arrow 11"/>
          <p:cNvSpPr/>
          <p:nvPr/>
        </p:nvSpPr>
        <p:spPr>
          <a:xfrm>
            <a:off x="9026115" y="466801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96062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Re-run Agent Loop</a:t>
            </a:r>
          </a:p>
        </p:txBody>
      </p:sp>
      <p:sp>
        <p:nvSpPr>
          <p:cNvPr id="14" name="TextBox 13"/>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Trace-driven loop tuning workflow</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Integrating Automated Tracing into Software Pipelines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W07.S2   ·   Sources: [C4] [C6]</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15</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Automated log collectors capture telemetry across multi-agent software tasks.</a:t>
            </a:r>
          </a:p>
          <a:p>
            <a:pPr marL="292608" indent="-292608">
              <a:spcAft>
                <a:spcPts val="1000"/>
              </a:spcAft>
              <a:buClr>
                <a:srgbClr val="0F766E"/>
              </a:buClr>
              <a:buFont typeface="Arial"/>
              <a:buChar char="▪"/>
            </a:pPr>
            <a:r>
              <a:rPr sz="2300">
                <a:solidFill>
                  <a:srgbClr val="1F2937"/>
                </a:solidFill>
                <a:latin typeface="Calibri"/>
              </a:rPr>
              <a:t>Dashboard visualizations render state transitions, tool latency, and token costs.</a:t>
            </a:r>
          </a:p>
          <a:p>
            <a:pPr marL="292608" indent="-292608">
              <a:spcAft>
                <a:spcPts val="1000"/>
              </a:spcAft>
              <a:buClr>
                <a:srgbClr val="0F766E"/>
              </a:buClr>
              <a:buFont typeface="Arial"/>
              <a:buChar char="▪"/>
            </a:pPr>
            <a:r>
              <a:rPr sz="2300">
                <a:solidFill>
                  <a:srgbClr val="1F2937"/>
                </a:solidFill>
                <a:latin typeface="Calibri"/>
              </a:rPr>
              <a:t>Guardrail checks monitor log traces in real time to break infinite loops.</a:t>
            </a:r>
          </a:p>
          <a:p>
            <a:pPr marL="292608" indent="-292608">
              <a:spcAft>
                <a:spcPts val="1000"/>
              </a:spcAft>
              <a:buClr>
                <a:srgbClr val="0F766E"/>
              </a:buClr>
              <a:buFont typeface="Arial"/>
              <a:buChar char="▪"/>
            </a:pPr>
            <a:r>
              <a:rPr sz="2300">
                <a:solidFill>
                  <a:srgbClr val="1F2937"/>
                </a:solidFill>
                <a:latin typeface="Calibri"/>
              </a:rPr>
              <a:t>Structured log retention enables continuous evaluation of agent capabilities.</a:t>
            </a:r>
          </a:p>
        </p:txBody>
      </p:sp>
      <p:sp>
        <p:nvSpPr>
          <p:cNvPr id="7" name="Rounded Rectangle 6"/>
          <p:cNvSpPr/>
          <p:nvPr/>
        </p:nvSpPr>
        <p:spPr>
          <a:xfrm>
            <a:off x="6683495" y="146304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Agent Execution</a:t>
            </a:r>
          </a:p>
        </p:txBody>
      </p:sp>
      <p:sp>
        <p:nvSpPr>
          <p:cNvPr id="8" name="Down Arrow 7"/>
          <p:cNvSpPr/>
          <p:nvPr/>
        </p:nvSpPr>
        <p:spPr>
          <a:xfrm>
            <a:off x="9026115" y="233629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62890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Telemetry Collector</a:t>
            </a:r>
          </a:p>
        </p:txBody>
      </p:sp>
      <p:sp>
        <p:nvSpPr>
          <p:cNvPr id="10" name="Down Arrow 9"/>
          <p:cNvSpPr/>
          <p:nvPr/>
        </p:nvSpPr>
        <p:spPr>
          <a:xfrm>
            <a:off x="9026115" y="350215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79476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Real-Time Guardrail</a:t>
            </a:r>
          </a:p>
        </p:txBody>
      </p:sp>
      <p:sp>
        <p:nvSpPr>
          <p:cNvPr id="12" name="Down Arrow 11"/>
          <p:cNvSpPr/>
          <p:nvPr/>
        </p:nvSpPr>
        <p:spPr>
          <a:xfrm>
            <a:off x="9026115" y="466801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96062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Dashboard / Intervene</a:t>
            </a:r>
          </a:p>
        </p:txBody>
      </p:sp>
      <p:sp>
        <p:nvSpPr>
          <p:cNvPr id="14" name="TextBox 13"/>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Automated log telemetry and guardrail pipeline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700" b="1">
                <a:solidFill>
                  <a:srgbClr val="1F2937"/>
                </a:solidFill>
                <a:latin typeface="Calibri"/>
              </a:rPr>
              <a:t>Summary: Tracing Agent Iterative Development Loops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Summary</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W07.S2   ·   Sources: [C3] [C4] [C6]</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16</a:t>
            </a:r>
          </a:p>
        </p:txBody>
      </p:sp>
      <p:sp>
        <p:nvSpPr>
          <p:cNvPr id="7" name="TextBox 6"/>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Iterative loop engineering relies on observing and directing agent execution loops.</a:t>
            </a:r>
          </a:p>
          <a:p>
            <a:pPr marL="292608" indent="-292608">
              <a:spcAft>
                <a:spcPts val="1000"/>
              </a:spcAft>
              <a:buClr>
                <a:srgbClr val="0F766E"/>
              </a:buClr>
              <a:buFont typeface="Arial"/>
              <a:buChar char="▪"/>
            </a:pPr>
            <a:r>
              <a:rPr sz="2400">
                <a:solidFill>
                  <a:srgbClr val="1F2937"/>
                </a:solidFill>
                <a:latin typeface="Calibri"/>
              </a:rPr>
              <a:t>Tracing log artifacts requires tracking prompt dispatch, tool calls, and state changes.</a:t>
            </a:r>
          </a:p>
          <a:p>
            <a:pPr marL="292608" indent="-292608">
              <a:spcAft>
                <a:spcPts val="1000"/>
              </a:spcAft>
              <a:buClr>
                <a:srgbClr val="0F766E"/>
              </a:buClr>
              <a:buFont typeface="Arial"/>
              <a:buChar char="▪"/>
            </a:pPr>
            <a:r>
              <a:rPr sz="2400">
                <a:solidFill>
                  <a:srgbClr val="1F2937"/>
                </a:solidFill>
                <a:latin typeface="Calibri"/>
              </a:rPr>
              <a:t>Log patterns expose failure modes like complexity backpressure and infinite loops.</a:t>
            </a:r>
          </a:p>
          <a:p>
            <a:pPr marL="292608" indent="-292608">
              <a:spcAft>
                <a:spcPts val="1000"/>
              </a:spcAft>
              <a:buClr>
                <a:srgbClr val="0F766E"/>
              </a:buClr>
              <a:buFont typeface="Arial"/>
              <a:buChar char="▪"/>
            </a:pPr>
            <a:r>
              <a:rPr sz="2400">
                <a:solidFill>
                  <a:srgbClr val="1F2937"/>
                </a:solidFill>
                <a:latin typeface="Calibri"/>
              </a:rPr>
              <a:t>Continuous trace analysis enables targeted query tuning and pipeline guardrails.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References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W07.S2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17</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1800">
                <a:solidFill>
                  <a:srgbClr val="1F2937"/>
                </a:solidFill>
                <a:latin typeface="Calibri"/>
              </a:rPr>
              <a:t>[C2] SPECIFICATION-DRIVEN DEVELOPMENT AS STRUCTURED APPROACH FOR SOURCE CODE GENERATION (2026). https://doi.org/10.52058/2786-6025-2026-4(58)-2631-2644</a:t>
            </a:r>
          </a:p>
          <a:p>
            <a:pPr marL="292608" indent="-292608">
              <a:spcAft>
                <a:spcPts val="1000"/>
              </a:spcAft>
              <a:buClr>
                <a:srgbClr val="0F766E"/>
              </a:buClr>
              <a:buFont typeface="Arial"/>
              <a:buChar char="▪"/>
            </a:pPr>
            <a:r>
              <a:rPr sz="1800">
                <a:solidFill>
                  <a:srgbClr val="1F2937"/>
                </a:solidFill>
                <a:latin typeface="Calibri"/>
              </a:rPr>
              <a:t>[C3] Complexity Backpressure for AI Coding Agents: A Cross-Model Study on Substantive Software Tasks (2026). https://doi.org/10.1109/sse72781.2026.00047</a:t>
            </a:r>
          </a:p>
          <a:p>
            <a:pPr marL="292608" indent="-292608">
              <a:spcAft>
                <a:spcPts val="1000"/>
              </a:spcAft>
              <a:buClr>
                <a:srgbClr val="0F766E"/>
              </a:buClr>
              <a:buFont typeface="Arial"/>
              <a:buChar char="▪"/>
            </a:pPr>
            <a:r>
              <a:rPr sz="1800">
                <a:solidFill>
                  <a:srgbClr val="1F2937"/>
                </a:solidFill>
                <a:latin typeface="Calibri"/>
              </a:rPr>
              <a:t>[C4] 8 Redefining and Transforming Software Development with Generative AI (2025). https://doi.org/10.1515/9783111677798-008</a:t>
            </a:r>
          </a:p>
          <a:p>
            <a:pPr marL="292608" indent="-292608">
              <a:spcAft>
                <a:spcPts val="1000"/>
              </a:spcAft>
              <a:buClr>
                <a:srgbClr val="0F766E"/>
              </a:buClr>
              <a:buFont typeface="Arial"/>
              <a:buChar char="▪"/>
            </a:pPr>
            <a:r>
              <a:rPr sz="1800">
                <a:solidFill>
                  <a:srgbClr val="1F2937"/>
                </a:solidFill>
                <a:latin typeface="Calibri"/>
              </a:rPr>
              <a:t>[C5] Query Tuning Framework Using the Model Context Protocol for Workflows (2026). https://doi.org/10.2139/ssrn.6172059</a:t>
            </a:r>
          </a:p>
          <a:p>
            <a:pPr marL="292608" indent="-292608">
              <a:spcAft>
                <a:spcPts val="1000"/>
              </a:spcAft>
              <a:buClr>
                <a:srgbClr val="0F766E"/>
              </a:buClr>
              <a:buFont typeface="Arial"/>
              <a:buChar char="▪"/>
            </a:pPr>
            <a:r>
              <a:rPr sz="1800">
                <a:solidFill>
                  <a:srgbClr val="1F2937"/>
                </a:solidFill>
                <a:latin typeface="Calibri"/>
              </a:rPr>
              <a:t>[C6] Autonomous Coding Agents for Software Development Testing and Debugging (2026). https://doi.org/10.2139/ssrn.7515638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