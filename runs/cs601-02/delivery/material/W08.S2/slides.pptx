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lecture's learning outcomes from the approved course design. Assessed in: LabEval1, Endsem.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Remind students of the four-phase loop from Week 7. Emphasize that each iteration produces logs and artifacts. This lecture focuses on analyzing those outputs.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Logs are the primary evidence for understanding agent behavior. They differ from traditional version control by including natural language interactions. Source C3 discusses complexity backpressure and logs.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software factory concept (C2, C4) structures the end-to-end process. Outputs at each stage are logged for analysis.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log types reveal different failure causes. Prompt logs show reasoning errors; execution traces show tool misuse; test logs show functional defects.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lab, you will work with logs containing four seeded defects. This lecture prepares you to spot at least two. The categories are based on common AI coding agent failures (C1, C6).</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log entries step by step. Show how the agent's natural language reasoning leads to the code error. This is a worked example of the analysis process.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Demonstrate how to trace from test failure back to the factory stage that generated the code. Use execution trace to pinpoint the line. This models the skill for the lab.</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checks understanding of log types. The most tempting wrong answer is execution trace because it shows the bug manifestation.</a:t>
            </a:r>
          </a:p>
          <a:p/>
          <a:p>
            <a:r>
              <a:t>Answer: A. Prompt/response log</a:t>
            </a:r>
          </a:p>
          <a:p>
            <a:r>
              <a:t>Prompt/response logs capture the agent's natural language reasoning, where the off-by-one logic was expressed. Execution traces show the resulting code execution, not the reasoning. Test logs only show failure, not cause. Artifact diffs show code changes but not the reasoning.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Distribute log packages (prepared from lab materials). Students apply the analysis techniques demonstrated. TAs circulate to guide. This is the core hands-on component.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Reinforces the importance of tracing back to the generation stage. The tempting wrong answer is execution trace because it's the immediate failure context.</a:t>
            </a:r>
          </a:p>
          <a:p/>
          <a:p>
            <a:r>
              <a:t>Answer: A. Prompt log from the code generation stage</a:t>
            </a:r>
          </a:p>
          <a:p>
            <a:r>
              <a:t>The prompt log from code generation shows whether the agent considered security requirements. The execution trace only shows the test failure. Deployment logs are too late. The specification may not reflect what the agent actually did.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categories are drawn from research (C3, C6). Understanding them helps target log analysis. The lab defects represent these categories.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a systematic approach. The activity should follow this pattern. Good documentation is essential for the lab report.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the key points. Remind students of the lab deliverables and how this connects to next week's topic on trace analysis.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280160"/>
            <a:ext cx="10545775" cy="457200"/>
          </a:xfrm>
          <a:prstGeom prst="rect">
            <a:avLst/>
          </a:prstGeom>
          <a:noFill/>
        </p:spPr>
        <p:txBody>
          <a:bodyPr wrap="square" anchor="t" lIns="45720" rIns="45720">
            <a:spAutoFit/>
          </a:bodyPr>
          <a:lstStyle/>
          <a:p>
            <a:pPr algn="l"/>
            <a:r>
              <a:rPr sz="1800" b="0">
                <a:solidFill>
                  <a:srgbClr val="CCFBF1"/>
                </a:solidFill>
                <a:latin typeface="Calibri"/>
              </a:rPr>
              <a:t>Software Development using AI</a:t>
            </a:r>
          </a:p>
        </p:txBody>
      </p:sp>
      <p:sp>
        <p:nvSpPr>
          <p:cNvPr id="4" name="TextBox 3"/>
          <p:cNvSpPr txBox="1"/>
          <p:nvPr/>
        </p:nvSpPr>
        <p:spPr>
          <a:xfrm>
            <a:off x="822960" y="1828800"/>
            <a:ext cx="10545775" cy="2011680"/>
          </a:xfrm>
          <a:prstGeom prst="rect">
            <a:avLst/>
          </a:prstGeom>
          <a:noFill/>
        </p:spPr>
        <p:txBody>
          <a:bodyPr wrap="square" anchor="ctr" lIns="45720" rIns="45720">
            <a:spAutoFit/>
          </a:bodyPr>
          <a:lstStyle/>
          <a:p>
            <a:pPr algn="l"/>
            <a:r>
              <a:rPr sz="4400" b="1">
                <a:solidFill>
                  <a:srgbClr val="CCFBF1"/>
                </a:solidFill>
                <a:latin typeface="Calibri"/>
              </a:rPr>
              <a:t>Iterative development logs and software factory outputs</a:t>
            </a:r>
          </a:p>
        </p:txBody>
      </p:sp>
      <p:sp>
        <p:nvSpPr>
          <p:cNvPr id="5" name="TextBox 4"/>
          <p:cNvSpPr txBox="1"/>
          <p:nvPr/>
        </p:nvSpPr>
        <p:spPr>
          <a:xfrm>
            <a:off x="822960" y="4023360"/>
            <a:ext cx="10545775" cy="548640"/>
          </a:xfrm>
          <a:prstGeom prst="rect">
            <a:avLst/>
          </a:prstGeom>
          <a:noFill/>
        </p:spPr>
        <p:txBody>
          <a:bodyPr wrap="square" anchor="t" lIns="45720" rIns="45720">
            <a:spAutoFit/>
          </a:bodyPr>
          <a:lstStyle/>
          <a:p>
            <a:pPr algn="l"/>
            <a:r>
              <a:rPr sz="1800" b="0">
                <a:solidFill>
                  <a:srgbClr val="CCFBF1"/>
                </a:solidFill>
                <a:latin typeface="Calibri"/>
              </a:rPr>
              <a:t>Week 8 · Iterative Loop Engineering and Tracing · 90 min</a:t>
            </a:r>
          </a:p>
        </p:txBody>
      </p:sp>
      <p:sp>
        <p:nvSpPr>
          <p:cNvPr id="6" name="TextBox 5"/>
          <p:cNvSpPr txBox="1"/>
          <p:nvPr/>
        </p:nvSpPr>
        <p:spPr>
          <a:xfrm>
            <a:off x="822960" y="6035040"/>
            <a:ext cx="10545775" cy="365760"/>
          </a:xfrm>
          <a:prstGeom prst="rect">
            <a:avLst/>
          </a:prstGeom>
          <a:noFill/>
        </p:spPr>
        <p:txBody>
          <a:bodyPr wrap="square" anchor="t" lIns="45720" rIns="45720">
            <a:spAutoFit/>
          </a:bodyPr>
          <a:lstStyle/>
          <a:p>
            <a:pPr algn="l"/>
            <a:r>
              <a:rPr sz="1200" b="0">
                <a:solidFill>
                  <a:srgbClr val="CCFBF1"/>
                </a:solidFill>
                <a:latin typeface="Calibri"/>
              </a:rPr>
              <a:t>Draft generated by ProfsAgent from the course design: review and edit before teaching.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By the end of this lecture you can</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W08.S2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2</a:t>
            </a:r>
          </a:p>
        </p:txBody>
      </p:sp>
      <p:sp>
        <p:nvSpPr>
          <p:cNvPr id="6" name="TextBox 5"/>
          <p:cNvSpPr txBox="1"/>
          <p:nvPr/>
        </p:nvSpPr>
        <p:spPr>
          <a:xfrm>
            <a:off x="548640" y="1463040"/>
            <a:ext cx="11094415" cy="475488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Examine iterative development logs and software factory outputs, identifying at least 2 of the 4 seeded defects, with a proposed fix for each (CO3.LO3)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Recap: Iterative Development and Loop Engineering</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W08.S2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3</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Iterative loops: plan, code, test, reflect</a:t>
            </a:r>
          </a:p>
          <a:p>
            <a:pPr marL="292608" indent="-292608">
              <a:spcAft>
                <a:spcPts val="1000"/>
              </a:spcAft>
              <a:buClr>
                <a:srgbClr val="0F766E"/>
              </a:buClr>
              <a:buFont typeface="Arial"/>
              <a:buChar char="▪"/>
            </a:pPr>
            <a:r>
              <a:rPr sz="2400">
                <a:solidFill>
                  <a:srgbClr val="1F2937"/>
                </a:solidFill>
                <a:latin typeface="Calibri"/>
              </a:rPr>
              <a:t>Loop engineering structures AI-agent interactions</a:t>
            </a:r>
          </a:p>
          <a:p>
            <a:pPr marL="292608" indent="-292608">
              <a:spcAft>
                <a:spcPts val="1000"/>
              </a:spcAft>
              <a:buClr>
                <a:srgbClr val="0F766E"/>
              </a:buClr>
              <a:buFont typeface="Arial"/>
              <a:buChar char="▪"/>
            </a:pPr>
            <a:r>
              <a:rPr sz="2400">
                <a:solidFill>
                  <a:srgbClr val="1F2937"/>
                </a:solidFill>
                <a:latin typeface="Calibri"/>
              </a:rPr>
              <a:t>Previous week: basic loop patterns and tooling</a:t>
            </a:r>
          </a:p>
        </p:txBody>
      </p:sp>
      <p:sp>
        <p:nvSpPr>
          <p:cNvPr id="7" name="Rounded Rectangle 6"/>
          <p:cNvSpPr/>
          <p:nvPr/>
        </p:nvSpPr>
        <p:spPr>
          <a:xfrm>
            <a:off x="6683495" y="146304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Plan</a:t>
            </a:r>
          </a:p>
        </p:txBody>
      </p:sp>
      <p:sp>
        <p:nvSpPr>
          <p:cNvPr id="8" name="Down Arrow 7"/>
          <p:cNvSpPr/>
          <p:nvPr/>
        </p:nvSpPr>
        <p:spPr>
          <a:xfrm>
            <a:off x="9026115" y="233629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83495" y="262890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Code</a:t>
            </a:r>
          </a:p>
        </p:txBody>
      </p:sp>
      <p:sp>
        <p:nvSpPr>
          <p:cNvPr id="10" name="Down Arrow 9"/>
          <p:cNvSpPr/>
          <p:nvPr/>
        </p:nvSpPr>
        <p:spPr>
          <a:xfrm>
            <a:off x="9026115" y="350215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83495" y="379476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Test</a:t>
            </a:r>
          </a:p>
        </p:txBody>
      </p:sp>
      <p:sp>
        <p:nvSpPr>
          <p:cNvPr id="12" name="Down Arrow 11"/>
          <p:cNvSpPr/>
          <p:nvPr/>
        </p:nvSpPr>
        <p:spPr>
          <a:xfrm>
            <a:off x="9026115" y="4668012"/>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83495" y="4960620"/>
            <a:ext cx="4959560" cy="845820"/>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Reflect</a:t>
            </a:r>
          </a:p>
        </p:txBody>
      </p:sp>
      <p:sp>
        <p:nvSpPr>
          <p:cNvPr id="14" name="TextBox 13"/>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Four-phase iterative loop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What Are Iterative Development Logs?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W08.S2   ·   Sources: [C3]</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4</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Structured records of each loop iteration</a:t>
            </a:r>
          </a:p>
          <a:p>
            <a:pPr marL="292608" indent="-292608">
              <a:spcAft>
                <a:spcPts val="1000"/>
              </a:spcAft>
              <a:buClr>
                <a:srgbClr val="0F766E"/>
              </a:buClr>
              <a:buFont typeface="Arial"/>
              <a:buChar char="▪"/>
            </a:pPr>
            <a:r>
              <a:rPr sz="2400">
                <a:solidFill>
                  <a:srgbClr val="1F2937"/>
                </a:solidFill>
                <a:latin typeface="Calibri"/>
              </a:rPr>
              <a:t>Capture prompts, code diffs, test results, agent decisions</a:t>
            </a:r>
          </a:p>
          <a:p>
            <a:pPr marL="292608" indent="-292608">
              <a:spcAft>
                <a:spcPts val="1000"/>
              </a:spcAft>
              <a:buClr>
                <a:srgbClr val="0F766E"/>
              </a:buClr>
              <a:buFont typeface="Arial"/>
              <a:buChar char="▪"/>
            </a:pPr>
            <a:r>
              <a:rPr sz="2400">
                <a:solidFill>
                  <a:srgbClr val="1F2937"/>
                </a:solidFill>
                <a:latin typeface="Calibri"/>
              </a:rPr>
              <a:t>Enable traceability and debugging of AI-assisted coding</a:t>
            </a:r>
          </a:p>
        </p:txBody>
      </p:sp>
      <p:graphicFrame>
        <p:nvGraphicFramePr>
          <p:cNvPr id="7" name="Table 6"/>
          <p:cNvGraphicFramePr>
            <a:graphicFrameLocks noGrp="1"/>
          </p:cNvGraphicFramePr>
          <p:nvPr/>
        </p:nvGraphicFramePr>
        <p:xfrm>
          <a:off x="6683495" y="1463040"/>
          <a:ext cx="4959560" cy="2011680"/>
        </p:xfrm>
        <a:graphic>
          <a:graphicData uri="http://schemas.openxmlformats.org/drawingml/2006/table">
            <a:tbl>
              <a:tblPr firstRow="1" bandRow="1">
                <a:tableStyleId>{5C22544A-7EE6-4342-B048-85BDC9FD1C3A}</a:tableStyleId>
              </a:tblPr>
              <a:tblGrid>
                <a:gridCol w="1653186"/>
                <a:gridCol w="1653186"/>
                <a:gridCol w="1653188"/>
              </a:tblGrid>
              <a:tr h="502920">
                <a:tc>
                  <a:txBody>
                    <a:bodyPr/>
                    <a:lstStyle/>
                    <a:p>
                      <a:r>
                        <a:rPr sz="1400" b="1">
                          <a:solidFill>
                            <a:srgbClr val="CCFBF1"/>
                          </a:solidFill>
                          <a:latin typeface="Calibri"/>
                        </a:rPr>
                        <a:t>Prompt Log</a:t>
                      </a:r>
                    </a:p>
                  </a:txBody>
                  <a:tcPr>
                    <a:solidFill>
                      <a:srgbClr val="0F766E"/>
                    </a:solidFill>
                  </a:tcPr>
                </a:tc>
                <a:tc>
                  <a:txBody>
                    <a:bodyPr/>
                    <a:lstStyle/>
                    <a:p>
                      <a:r>
                        <a:rPr sz="1400" b="1">
                          <a:solidFill>
                            <a:srgbClr val="CCFBF1"/>
                          </a:solidFill>
                          <a:latin typeface="Calibri"/>
                        </a:rPr>
                        <a:t>Agent reasoning and user prompts</a:t>
                      </a:r>
                    </a:p>
                  </a:txBody>
                  <a:tcPr>
                    <a:solidFill>
                      <a:srgbClr val="0F766E"/>
                    </a:solidFill>
                  </a:tcPr>
                </a:tc>
                <a:tc>
                  <a:txBody>
                    <a:bodyPr/>
                    <a:lstStyle/>
                    <a:p>
                      <a:r>
                        <a:rPr sz="1400" b="1">
                          <a:solidFill>
                            <a:srgbClr val="CCFBF1"/>
                          </a:solidFill>
                          <a:latin typeface="Calibri"/>
                        </a:rPr>
                        <a:t>Reveals reasoning errors</a:t>
                      </a:r>
                    </a:p>
                  </a:txBody>
                  <a:tcPr>
                    <a:solidFill>
                      <a:srgbClr val="0F766E"/>
                    </a:solidFill>
                  </a:tcPr>
                </a:tc>
              </a:tr>
              <a:tr h="502920">
                <a:tc>
                  <a:txBody>
                    <a:bodyPr/>
                    <a:lstStyle/>
                    <a:p>
                      <a:r>
                        <a:rPr sz="1400" b="0">
                          <a:solidFill>
                            <a:srgbClr val="1F2937"/>
                          </a:solidFill>
                          <a:latin typeface="Calibri"/>
                        </a:rPr>
                        <a:t>Code Diff Log</a:t>
                      </a:r>
                    </a:p>
                  </a:txBody>
                  <a:tcPr>
                    <a:solidFill>
                      <a:srgbClr val="F3F4F6"/>
                    </a:solidFill>
                  </a:tcPr>
                </a:tc>
                <a:tc>
                  <a:txBody>
                    <a:bodyPr/>
                    <a:lstStyle/>
                    <a:p>
                      <a:r>
                        <a:rPr sz="1400" b="0">
                          <a:solidFill>
                            <a:srgbClr val="1F2937"/>
                          </a:solidFill>
                          <a:latin typeface="Calibri"/>
                        </a:rPr>
                        <a:t>Changes between iterations</a:t>
                      </a:r>
                    </a:p>
                  </a:txBody>
                  <a:tcPr>
                    <a:solidFill>
                      <a:srgbClr val="F3F4F6"/>
                    </a:solidFill>
                  </a:tcPr>
                </a:tc>
                <a:tc>
                  <a:txBody>
                    <a:bodyPr/>
                    <a:lstStyle/>
                    <a:p>
                      <a:r>
                        <a:rPr sz="1400" b="0">
                          <a:solidFill>
                            <a:srgbClr val="1F2937"/>
                          </a:solidFill>
                          <a:latin typeface="Calibri"/>
                        </a:rPr>
                        <a:t>Shows introduced bugs</a:t>
                      </a:r>
                    </a:p>
                  </a:txBody>
                  <a:tcPr>
                    <a:solidFill>
                      <a:srgbClr val="F3F4F6"/>
                    </a:solidFill>
                  </a:tcPr>
                </a:tc>
              </a:tr>
              <a:tr h="502920">
                <a:tc>
                  <a:txBody>
                    <a:bodyPr/>
                    <a:lstStyle/>
                    <a:p>
                      <a:r>
                        <a:rPr sz="1400" b="0">
                          <a:solidFill>
                            <a:srgbClr val="1F2937"/>
                          </a:solidFill>
                          <a:latin typeface="Calibri"/>
                        </a:rPr>
                        <a:t>Test Result Log</a:t>
                      </a:r>
                    </a:p>
                  </a:txBody>
                  <a:tcPr>
                    <a:solidFill>
                      <a:srgbClr val="F3F4F6"/>
                    </a:solidFill>
                  </a:tcPr>
                </a:tc>
                <a:tc>
                  <a:txBody>
                    <a:bodyPr/>
                    <a:lstStyle/>
                    <a:p>
                      <a:r>
                        <a:rPr sz="1400" b="0">
                          <a:solidFill>
                            <a:srgbClr val="1F2937"/>
                          </a:solidFill>
                          <a:latin typeface="Calibri"/>
                        </a:rPr>
                        <a:t>Pass/fail, coverage, errors</a:t>
                      </a:r>
                    </a:p>
                  </a:txBody>
                  <a:tcPr>
                    <a:solidFill>
                      <a:srgbClr val="F3F4F6"/>
                    </a:solidFill>
                  </a:tcPr>
                </a:tc>
                <a:tc>
                  <a:txBody>
                    <a:bodyPr/>
                    <a:lstStyle/>
                    <a:p>
                      <a:r>
                        <a:rPr sz="1400" b="0">
                          <a:solidFill>
                            <a:srgbClr val="1F2937"/>
                          </a:solidFill>
                          <a:latin typeface="Calibri"/>
                        </a:rPr>
                        <a:t>Indicates functional defects</a:t>
                      </a:r>
                    </a:p>
                  </a:txBody>
                  <a:tcPr>
                    <a:solidFill>
                      <a:srgbClr val="F3F4F6"/>
                    </a:solidFill>
                  </a:tcPr>
                </a:tc>
              </a:tr>
              <a:tr h="502920">
                <a:tc>
                  <a:txBody>
                    <a:bodyPr/>
                    <a:lstStyle/>
                    <a:p>
                      <a:r>
                        <a:rPr sz="1400" b="0">
                          <a:solidFill>
                            <a:srgbClr val="1F2937"/>
                          </a:solidFill>
                          <a:latin typeface="Calibri"/>
                        </a:rPr>
                        <a:t>Reflection Log</a:t>
                      </a:r>
                    </a:p>
                  </a:txBody>
                  <a:tcPr>
                    <a:solidFill>
                      <a:srgbClr val="F3F4F6"/>
                    </a:solidFill>
                  </a:tcPr>
                </a:tc>
                <a:tc>
                  <a:txBody>
                    <a:bodyPr/>
                    <a:lstStyle/>
                    <a:p>
                      <a:r>
                        <a:rPr sz="1400" b="0">
                          <a:solidFill>
                            <a:srgbClr val="1F2937"/>
                          </a:solidFill>
                          <a:latin typeface="Calibri"/>
                        </a:rPr>
                        <a:t>Agent self-assessment</a:t>
                      </a:r>
                    </a:p>
                  </a:txBody>
                  <a:tcPr>
                    <a:solidFill>
                      <a:srgbClr val="F3F4F6"/>
                    </a:solidFill>
                  </a:tcPr>
                </a:tc>
                <a:tc>
                  <a:txBody>
                    <a:bodyPr/>
                    <a:lstStyle/>
                    <a:p>
                      <a:r>
                        <a:rPr sz="1400" b="0">
                          <a:solidFill>
                            <a:srgbClr val="1F2937"/>
                          </a:solidFill>
                          <a:latin typeface="Calibri"/>
                        </a:rPr>
                        <a:t>Highlights strategy shifts</a:t>
                      </a:r>
                    </a:p>
                  </a:txBody>
                  <a:tcPr>
                    <a:solidFill>
                      <a:srgbClr val="F3F4F6"/>
                    </a:solidFill>
                  </a:tcPr>
                </a:tc>
              </a:tr>
            </a:tbl>
          </a:graphicData>
        </a:graphic>
      </p:graphicFrame>
      <p:sp>
        <p:nvSpPr>
          <p:cNvPr id="8" name="TextBox 7"/>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Common log types in iterative development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Software Factory Outputs in AI-Assisted Development</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W08.S2   ·   Sources: [C2] [C4]</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5</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Software factory: automated pipeline from spec to deployable code</a:t>
            </a:r>
          </a:p>
          <a:p>
            <a:pPr marL="292608" indent="-292608">
              <a:spcAft>
                <a:spcPts val="1000"/>
              </a:spcAft>
              <a:buClr>
                <a:srgbClr val="0F766E"/>
              </a:buClr>
              <a:buFont typeface="Arial"/>
              <a:buChar char="▪"/>
            </a:pPr>
            <a:r>
              <a:rPr sz="2400">
                <a:solidFill>
                  <a:srgbClr val="1F2937"/>
                </a:solidFill>
                <a:latin typeface="Calibri"/>
              </a:rPr>
              <a:t>Outputs: generated code, test suites, documentation, deployment scripts</a:t>
            </a:r>
          </a:p>
          <a:p>
            <a:pPr marL="292608" indent="-292608">
              <a:spcAft>
                <a:spcPts val="1000"/>
              </a:spcAft>
              <a:buClr>
                <a:srgbClr val="0F766E"/>
              </a:buClr>
              <a:buFont typeface="Arial"/>
              <a:buChar char="▪"/>
            </a:pPr>
            <a:r>
              <a:rPr sz="2400">
                <a:solidFill>
                  <a:srgbClr val="1F2937"/>
                </a:solidFill>
                <a:latin typeface="Calibri"/>
              </a:rPr>
              <a:t>Logs link factory stages to iterative loop iterations</a:t>
            </a:r>
          </a:p>
        </p:txBody>
      </p:sp>
      <p:sp>
        <p:nvSpPr>
          <p:cNvPr id="7" name="Rounded Rectangle 6"/>
          <p:cNvSpPr/>
          <p:nvPr/>
        </p:nvSpPr>
        <p:spPr>
          <a:xfrm>
            <a:off x="6683495" y="1463040"/>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Specification</a:t>
            </a:r>
          </a:p>
        </p:txBody>
      </p:sp>
      <p:sp>
        <p:nvSpPr>
          <p:cNvPr id="8" name="Down Arrow 7"/>
          <p:cNvSpPr/>
          <p:nvPr/>
        </p:nvSpPr>
        <p:spPr>
          <a:xfrm>
            <a:off x="9026115" y="2103120"/>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83495" y="2395728"/>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Code Generation</a:t>
            </a:r>
          </a:p>
        </p:txBody>
      </p:sp>
      <p:sp>
        <p:nvSpPr>
          <p:cNvPr id="10" name="Down Arrow 9"/>
          <p:cNvSpPr/>
          <p:nvPr/>
        </p:nvSpPr>
        <p:spPr>
          <a:xfrm>
            <a:off x="9026115" y="3035808"/>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83495" y="3328416"/>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Testing</a:t>
            </a:r>
          </a:p>
        </p:txBody>
      </p:sp>
      <p:sp>
        <p:nvSpPr>
          <p:cNvPr id="12" name="Down Arrow 11"/>
          <p:cNvSpPr/>
          <p:nvPr/>
        </p:nvSpPr>
        <p:spPr>
          <a:xfrm>
            <a:off x="9026115" y="3968496"/>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83495" y="4261104"/>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Packaging</a:t>
            </a:r>
          </a:p>
        </p:txBody>
      </p:sp>
      <p:sp>
        <p:nvSpPr>
          <p:cNvPr id="14" name="Down Arrow 13"/>
          <p:cNvSpPr/>
          <p:nvPr/>
        </p:nvSpPr>
        <p:spPr>
          <a:xfrm>
            <a:off x="9026115" y="4901184"/>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683495" y="5193792"/>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Deployment</a:t>
            </a:r>
          </a:p>
        </p:txBody>
      </p:sp>
      <p:sp>
        <p:nvSpPr>
          <p:cNvPr id="16" name="TextBox 15"/>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Software factory pipeline stages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Key Log and Output Types for Analysis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W08.S2   ·   Sources: [C3] [C6]</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6</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Prompt/response logs: agent reasoning traces</a:t>
            </a:r>
          </a:p>
          <a:p>
            <a:pPr marL="292608" indent="-292608">
              <a:spcAft>
                <a:spcPts val="1000"/>
              </a:spcAft>
              <a:buClr>
                <a:srgbClr val="0F766E"/>
              </a:buClr>
              <a:buFont typeface="Arial"/>
              <a:buChar char="▪"/>
            </a:pPr>
            <a:r>
              <a:rPr sz="2400">
                <a:solidFill>
                  <a:srgbClr val="1F2937"/>
                </a:solidFill>
                <a:latin typeface="Calibri"/>
              </a:rPr>
              <a:t>Execution traces: tool calls, file edits, command outputs</a:t>
            </a:r>
          </a:p>
          <a:p>
            <a:pPr marL="292608" indent="-292608">
              <a:spcAft>
                <a:spcPts val="1000"/>
              </a:spcAft>
              <a:buClr>
                <a:srgbClr val="0F766E"/>
              </a:buClr>
              <a:buFont typeface="Arial"/>
              <a:buChar char="▪"/>
            </a:pPr>
            <a:r>
              <a:rPr sz="2400">
                <a:solidFill>
                  <a:srgbClr val="1F2937"/>
                </a:solidFill>
                <a:latin typeface="Calibri"/>
              </a:rPr>
              <a:t>Test logs: pass/fail, coverage, error messages</a:t>
            </a:r>
          </a:p>
          <a:p>
            <a:pPr marL="292608" indent="-292608">
              <a:spcAft>
                <a:spcPts val="1000"/>
              </a:spcAft>
              <a:buClr>
                <a:srgbClr val="0F766E"/>
              </a:buClr>
              <a:buFont typeface="Arial"/>
              <a:buChar char="▪"/>
            </a:pPr>
            <a:r>
              <a:rPr sz="2400">
                <a:solidFill>
                  <a:srgbClr val="1F2937"/>
                </a:solidFill>
                <a:latin typeface="Calibri"/>
              </a:rPr>
              <a:t>Artifact diffs: code changes between iterations</a:t>
            </a:r>
          </a:p>
        </p:txBody>
      </p:sp>
      <p:graphicFrame>
        <p:nvGraphicFramePr>
          <p:cNvPr id="7" name="Table 6"/>
          <p:cNvGraphicFramePr>
            <a:graphicFrameLocks noGrp="1"/>
          </p:cNvGraphicFramePr>
          <p:nvPr/>
        </p:nvGraphicFramePr>
        <p:xfrm>
          <a:off x="6683495" y="1463040"/>
          <a:ext cx="4959560" cy="2011680"/>
        </p:xfrm>
        <a:graphic>
          <a:graphicData uri="http://schemas.openxmlformats.org/drawingml/2006/table">
            <a:tbl>
              <a:tblPr firstRow="1" bandRow="1">
                <a:tableStyleId>{5C22544A-7EE6-4342-B048-85BDC9FD1C3A}</a:tableStyleId>
              </a:tblPr>
              <a:tblGrid>
                <a:gridCol w="1653186"/>
                <a:gridCol w="1653186"/>
                <a:gridCol w="1653188"/>
              </a:tblGrid>
              <a:tr h="502920">
                <a:tc>
                  <a:txBody>
                    <a:bodyPr/>
                    <a:lstStyle/>
                    <a:p>
                      <a:r>
                        <a:rPr sz="1400" b="1">
                          <a:solidFill>
                            <a:srgbClr val="CCFBF1"/>
                          </a:solidFill>
                          <a:latin typeface="Calibri"/>
                        </a:rPr>
                        <a:t>Prompt/Response</a:t>
                      </a:r>
                    </a:p>
                  </a:txBody>
                  <a:tcPr>
                    <a:solidFill>
                      <a:srgbClr val="0F766E"/>
                    </a:solidFill>
                  </a:tcPr>
                </a:tc>
                <a:tc>
                  <a:txBody>
                    <a:bodyPr/>
                    <a:lstStyle/>
                    <a:p>
                      <a:r>
                        <a:rPr sz="1400" b="1">
                          <a:solidFill>
                            <a:srgbClr val="CCFBF1"/>
                          </a:solidFill>
                          <a:latin typeface="Calibri"/>
                        </a:rPr>
                        <a:t>Natural language reasoning</a:t>
                      </a:r>
                    </a:p>
                  </a:txBody>
                  <a:tcPr>
                    <a:solidFill>
                      <a:srgbClr val="0F766E"/>
                    </a:solidFill>
                  </a:tcPr>
                </a:tc>
                <a:tc>
                  <a:txBody>
                    <a:bodyPr/>
                    <a:lstStyle/>
                    <a:p>
                      <a:r>
                        <a:rPr sz="1400" b="1">
                          <a:solidFill>
                            <a:srgbClr val="CCFBF1"/>
                          </a:solidFill>
                          <a:latin typeface="Calibri"/>
                        </a:rPr>
                        <a:t>Reasoning errors, missed requirements</a:t>
                      </a:r>
                    </a:p>
                  </a:txBody>
                  <a:tcPr>
                    <a:solidFill>
                      <a:srgbClr val="0F766E"/>
                    </a:solidFill>
                  </a:tcPr>
                </a:tc>
              </a:tr>
              <a:tr h="502920">
                <a:tc>
                  <a:txBody>
                    <a:bodyPr/>
                    <a:lstStyle/>
                    <a:p>
                      <a:r>
                        <a:rPr sz="1400" b="0">
                          <a:solidFill>
                            <a:srgbClr val="1F2937"/>
                          </a:solidFill>
                          <a:latin typeface="Calibri"/>
                        </a:rPr>
                        <a:t>Execution Trace</a:t>
                      </a:r>
                    </a:p>
                  </a:txBody>
                  <a:tcPr>
                    <a:solidFill>
                      <a:srgbClr val="F3F4F6"/>
                    </a:solidFill>
                  </a:tcPr>
                </a:tc>
                <a:tc>
                  <a:txBody>
                    <a:bodyPr/>
                    <a:lstStyle/>
                    <a:p>
                      <a:r>
                        <a:rPr sz="1400" b="0">
                          <a:solidFill>
                            <a:srgbClr val="1F2937"/>
                          </a:solidFill>
                          <a:latin typeface="Calibri"/>
                        </a:rPr>
                        <a:t>Tool calls, file edits, commands</a:t>
                      </a:r>
                    </a:p>
                  </a:txBody>
                  <a:tcPr>
                    <a:solidFill>
                      <a:srgbClr val="F3F4F6"/>
                    </a:solidFill>
                  </a:tcPr>
                </a:tc>
                <a:tc>
                  <a:txBody>
                    <a:bodyPr/>
                    <a:lstStyle/>
                    <a:p>
                      <a:r>
                        <a:rPr sz="1400" b="0">
                          <a:solidFill>
                            <a:srgbClr val="1F2937"/>
                          </a:solidFill>
                          <a:latin typeface="Calibri"/>
                        </a:rPr>
                        <a:t>Tool misuse, runtime errors</a:t>
                      </a:r>
                    </a:p>
                  </a:txBody>
                  <a:tcPr>
                    <a:solidFill>
                      <a:srgbClr val="F3F4F6"/>
                    </a:solidFill>
                  </a:tcPr>
                </a:tc>
              </a:tr>
              <a:tr h="502920">
                <a:tc>
                  <a:txBody>
                    <a:bodyPr/>
                    <a:lstStyle/>
                    <a:p>
                      <a:r>
                        <a:rPr sz="1400" b="0">
                          <a:solidFill>
                            <a:srgbClr val="1F2937"/>
                          </a:solidFill>
                          <a:latin typeface="Calibri"/>
                        </a:rPr>
                        <a:t>Test Log</a:t>
                      </a:r>
                    </a:p>
                  </a:txBody>
                  <a:tcPr>
                    <a:solidFill>
                      <a:srgbClr val="F3F4F6"/>
                    </a:solidFill>
                  </a:tcPr>
                </a:tc>
                <a:tc>
                  <a:txBody>
                    <a:bodyPr/>
                    <a:lstStyle/>
                    <a:p>
                      <a:r>
                        <a:rPr sz="1400" b="0">
                          <a:solidFill>
                            <a:srgbClr val="1F2937"/>
                          </a:solidFill>
                          <a:latin typeface="Calibri"/>
                        </a:rPr>
                        <a:t>Pass/fail, coverage, stack traces</a:t>
                      </a:r>
                    </a:p>
                  </a:txBody>
                  <a:tcPr>
                    <a:solidFill>
                      <a:srgbClr val="F3F4F6"/>
                    </a:solidFill>
                  </a:tcPr>
                </a:tc>
                <a:tc>
                  <a:txBody>
                    <a:bodyPr/>
                    <a:lstStyle/>
                    <a:p>
                      <a:r>
                        <a:rPr sz="1400" b="0">
                          <a:solidFill>
                            <a:srgbClr val="1F2937"/>
                          </a:solidFill>
                          <a:latin typeface="Calibri"/>
                        </a:rPr>
                        <a:t>Functional defects, regressions</a:t>
                      </a:r>
                    </a:p>
                  </a:txBody>
                  <a:tcPr>
                    <a:solidFill>
                      <a:srgbClr val="F3F4F6"/>
                    </a:solidFill>
                  </a:tcPr>
                </a:tc>
              </a:tr>
              <a:tr h="502920">
                <a:tc>
                  <a:txBody>
                    <a:bodyPr/>
                    <a:lstStyle/>
                    <a:p>
                      <a:r>
                        <a:rPr sz="1400" b="0">
                          <a:solidFill>
                            <a:srgbClr val="1F2937"/>
                          </a:solidFill>
                          <a:latin typeface="Calibri"/>
                        </a:rPr>
                        <a:t>Artifact Diff</a:t>
                      </a:r>
                    </a:p>
                  </a:txBody>
                  <a:tcPr>
                    <a:solidFill>
                      <a:srgbClr val="F3F4F6"/>
                    </a:solidFill>
                  </a:tcPr>
                </a:tc>
                <a:tc>
                  <a:txBody>
                    <a:bodyPr/>
                    <a:lstStyle/>
                    <a:p>
                      <a:r>
                        <a:rPr sz="1400" b="0">
                          <a:solidFill>
                            <a:srgbClr val="1F2937"/>
                          </a:solidFill>
                          <a:latin typeface="Calibri"/>
                        </a:rPr>
                        <a:t>Code changes between iterations</a:t>
                      </a:r>
                    </a:p>
                  </a:txBody>
                  <a:tcPr>
                    <a:solidFill>
                      <a:srgbClr val="F3F4F6"/>
                    </a:solidFill>
                  </a:tcPr>
                </a:tc>
                <a:tc>
                  <a:txBody>
                    <a:bodyPr/>
                    <a:lstStyle/>
                    <a:p>
                      <a:r>
                        <a:rPr sz="1400" b="0">
                          <a:solidFill>
                            <a:srgbClr val="1F2937"/>
                          </a:solidFill>
                          <a:latin typeface="Calibri"/>
                        </a:rPr>
                        <a:t>Introduced bugs, refactoring issues</a:t>
                      </a:r>
                    </a:p>
                  </a:txBody>
                  <a:tcPr>
                    <a:solidFill>
                      <a:srgbClr val="F3F4F6"/>
                    </a:solidFill>
                  </a:tcPr>
                </a:tc>
              </a:tr>
            </a:tbl>
          </a:graphicData>
        </a:graphic>
      </p:graphicFrame>
      <p:sp>
        <p:nvSpPr>
          <p:cNvPr id="8" name="TextBox 7"/>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Log types and their analysis value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Seeded Defects: Purpose and Categories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W08.S2   ·   Sources: [C1] [C6]</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7</a:t>
            </a:r>
          </a:p>
        </p:txBody>
      </p:sp>
      <p:sp>
        <p:nvSpPr>
          <p:cNvPr id="6" name="TextBox 5"/>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Seeded defects: intentional faults inserted for evaluation</a:t>
            </a:r>
          </a:p>
          <a:p>
            <a:pPr marL="292608" indent="-292608">
              <a:spcAft>
                <a:spcPts val="1000"/>
              </a:spcAft>
              <a:buClr>
                <a:srgbClr val="0F766E"/>
              </a:buClr>
              <a:buFont typeface="Arial"/>
              <a:buChar char="▪"/>
            </a:pPr>
            <a:r>
              <a:rPr sz="2400">
                <a:solidFill>
                  <a:srgbClr val="1F2937"/>
                </a:solidFill>
                <a:latin typeface="Calibri"/>
              </a:rPr>
              <a:t>Four categories: logic error, API misuse, security flaw, performance bottleneck</a:t>
            </a:r>
          </a:p>
          <a:p>
            <a:pPr marL="292608" indent="-292608">
              <a:spcAft>
                <a:spcPts val="1000"/>
              </a:spcAft>
              <a:buClr>
                <a:srgbClr val="0F766E"/>
              </a:buClr>
              <a:buFont typeface="Arial"/>
              <a:buChar char="▪"/>
            </a:pPr>
            <a:r>
              <a:rPr sz="2400">
                <a:solidFill>
                  <a:srgbClr val="1F2937"/>
                </a:solidFill>
                <a:latin typeface="Calibri"/>
              </a:rPr>
              <a:t>Identifying them validates log analysis skills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Example: Finding a Logic Error in Prompt Logs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Example</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W08.S2   ·   Sources: [C3] [C6]</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8</a:t>
            </a:r>
          </a:p>
        </p:txBody>
      </p:sp>
      <p:sp>
        <p:nvSpPr>
          <p:cNvPr id="7" name="TextBox 6"/>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Defect: off-by-one error in loop boundary condition</a:t>
            </a:r>
          </a:p>
          <a:p>
            <a:pPr marL="292608" indent="-292608">
              <a:spcAft>
                <a:spcPts val="1000"/>
              </a:spcAft>
              <a:buClr>
                <a:srgbClr val="0F766E"/>
              </a:buClr>
              <a:buFont typeface="Arial"/>
              <a:buChar char="▪"/>
            </a:pPr>
            <a:r>
              <a:rPr sz="2400">
                <a:solidFill>
                  <a:srgbClr val="1F2937"/>
                </a:solidFill>
                <a:latin typeface="Calibri"/>
              </a:rPr>
              <a:t>Log shows agent reasoning: "loop from 0 to n inclusive"</a:t>
            </a:r>
          </a:p>
          <a:p>
            <a:pPr marL="292608" indent="-292608">
              <a:spcAft>
                <a:spcPts val="1000"/>
              </a:spcAft>
              <a:buClr>
                <a:srgbClr val="0F766E"/>
              </a:buClr>
              <a:buFont typeface="Arial"/>
              <a:buChar char="▪"/>
            </a:pPr>
            <a:r>
              <a:rPr sz="2400">
                <a:solidFill>
                  <a:srgbClr val="1F2937"/>
                </a:solidFill>
                <a:latin typeface="Calibri"/>
              </a:rPr>
              <a:t>Code diff reveals `for i in range(n+1):` instead of `range(n)`</a:t>
            </a:r>
          </a:p>
          <a:p>
            <a:pPr marL="292608" indent="-292608">
              <a:spcAft>
                <a:spcPts val="1000"/>
              </a:spcAft>
              <a:buClr>
                <a:srgbClr val="0F766E"/>
              </a:buClr>
              <a:buFont typeface="Arial"/>
              <a:buChar char="▪"/>
            </a:pPr>
            <a:r>
              <a:rPr sz="2400">
                <a:solidFill>
                  <a:srgbClr val="1F2937"/>
                </a:solidFill>
                <a:latin typeface="Calibri"/>
              </a:rPr>
              <a:t>Fix: change to `range(n)` and add test for boundary</a:t>
            </a:r>
          </a:p>
        </p:txBody>
      </p:sp>
      <p:sp>
        <p:nvSpPr>
          <p:cNvPr id="8" name="Rounded Rectangle 7"/>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python</a:t>
            </a:r>
          </a:p>
          <a:p>
            <a:pPr algn="l"/>
            <a:r>
              <a:rPr sz="1400" b="0">
                <a:solidFill>
                  <a:srgbClr val="E5E7EB"/>
                </a:solidFill>
                <a:latin typeface="Consolas"/>
              </a:rPr>
              <a:t># Agent-generated code (buggy)</a:t>
            </a:r>
          </a:p>
          <a:p>
            <a:pPr algn="l"/>
            <a:r>
              <a:rPr sz="1400" b="0">
                <a:solidFill>
                  <a:srgbClr val="E5E7EB"/>
                </a:solidFill>
                <a:latin typeface="Consolas"/>
              </a:rPr>
              <a:t>for i in range(n+1):</a:t>
            </a:r>
          </a:p>
          <a:p>
            <a:pPr algn="l"/>
            <a:r>
              <a:rPr sz="1400" b="0">
                <a:solidFill>
                  <a:srgbClr val="E5E7EB"/>
                </a:solidFill>
                <a:latin typeface="Consolas"/>
              </a:rPr>
              <a:t>    process(item[i])</a:t>
            </a:r>
          </a:p>
          <a:p>
            <a:pPr algn="l"/>
            <a:r>
              <a:rPr sz="1400" b="0">
                <a:solidFill>
                  <a:srgbClr val="E5E7EB"/>
                </a:solidFill>
                <a:latin typeface="Consolas"/>
              </a:rPr>
              <a:t/>
            </a:r>
          </a:p>
          <a:p>
            <a:pPr algn="l"/>
            <a:r>
              <a:rPr sz="1400" b="0">
                <a:solidFill>
                  <a:srgbClr val="E5E7EB"/>
                </a:solidFill>
                <a:latin typeface="Consolas"/>
              </a:rPr>
              <a:t># Fixed code</a:t>
            </a:r>
          </a:p>
          <a:p>
            <a:pPr algn="l"/>
            <a:r>
              <a:rPr sz="1400" b="0">
                <a:solidFill>
                  <a:srgbClr val="E5E7EB"/>
                </a:solidFill>
                <a:latin typeface="Consolas"/>
              </a:rPr>
              <a:t>for i in range(n):</a:t>
            </a:r>
          </a:p>
          <a:p>
            <a:pPr algn="l"/>
            <a:r>
              <a:rPr sz="1400" b="0">
                <a:solidFill>
                  <a:srgbClr val="E5E7EB"/>
                </a:solidFill>
                <a:latin typeface="Consolas"/>
              </a:rPr>
              <a:t>    process(item[i])</a:t>
            </a:r>
          </a:p>
          <a:p>
            <a:pPr algn="l"/>
            <a:r>
              <a:rPr sz="1400" b="0">
                <a:solidFill>
                  <a:srgbClr val="E5E7EB"/>
                </a:solidFill>
                <a:latin typeface="Consolas"/>
              </a:rPr>
              <a:t/>
            </a:r>
          </a:p>
          <a:p>
            <a:pPr algn="l"/>
            <a:r>
              <a:rPr sz="1400" b="0">
                <a:solidFill>
                  <a:srgbClr val="E5E7EB"/>
                </a:solidFill>
                <a:latin typeface="Consolas"/>
              </a:rPr>
              <a:t># Added boundary test</a:t>
            </a:r>
          </a:p>
          <a:p>
            <a:pPr algn="l"/>
            <a:r>
              <a:rPr sz="1400" b="0">
                <a:solidFill>
                  <a:srgbClr val="E5E7EB"/>
                </a:solidFill>
                <a:latin typeface="Consolas"/>
              </a:rPr>
              <a:t>def test_boundary():</a:t>
            </a:r>
          </a:p>
          <a:p>
            <a:pPr algn="l"/>
            <a:r>
              <a:rPr sz="1400" b="0">
                <a:solidFill>
                  <a:srgbClr val="E5E7EB"/>
                </a:solidFill>
                <a:latin typeface="Consolas"/>
              </a:rPr>
              <a:t>    assert process(item[0]) == expected</a:t>
            </a:r>
          </a:p>
          <a:p>
            <a:pPr algn="l"/>
            <a:r>
              <a:rPr sz="1400" b="0">
                <a:solidFill>
                  <a:srgbClr val="E5E7EB"/>
                </a:solidFill>
                <a:latin typeface="Consolas"/>
              </a:rPr>
              <a:t>    assert process(item[n-1]) == expected</a:t>
            </a:r>
          </a:p>
        </p:txBody>
      </p:sp>
      <p:sp>
        <p:nvSpPr>
          <p:cNvPr id="10" name="TextBox 9"/>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Off-by-one error and fix</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Worked Problem: API Misuse in Generated Code</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Worked problem</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W08.S2   ·   Sources: [C2] [C6]</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9</a:t>
            </a:r>
          </a:p>
        </p:txBody>
      </p:sp>
      <p:sp>
        <p:nvSpPr>
          <p:cNvPr id="7" name="TextBox 6"/>
          <p:cNvSpPr txBox="1"/>
          <p:nvPr/>
        </p:nvSpPr>
        <p:spPr>
          <a:xfrm>
            <a:off x="548640" y="1463040"/>
            <a:ext cx="4659654" cy="4709160"/>
          </a:xfrm>
          <a:prstGeom prst="rect">
            <a:avLst/>
          </a:prstGeom>
          <a:noFill/>
        </p:spPr>
        <p:txBody>
          <a:bodyPr wrap="square">
            <a:spAutoFit/>
          </a:bodyPr>
          <a:lstStyle/>
          <a:p>
            <a:pPr marL="292608" indent="-292608">
              <a:spcAft>
                <a:spcPts val="1000"/>
              </a:spcAft>
              <a:buClr>
                <a:srgbClr val="0F766E"/>
              </a:buClr>
              <a:buFont typeface="Arial"/>
              <a:buChar char="▪"/>
            </a:pPr>
            <a:r>
              <a:rPr sz="2300">
                <a:solidFill>
                  <a:srgbClr val="1F2937"/>
                </a:solidFill>
                <a:latin typeface="Calibri"/>
              </a:rPr>
              <a:t>Defect: incorrect use of library function `json.load` vs `json.loads`</a:t>
            </a:r>
          </a:p>
          <a:p>
            <a:pPr marL="292608" indent="-292608">
              <a:spcAft>
                <a:spcPts val="1000"/>
              </a:spcAft>
              <a:buClr>
                <a:srgbClr val="0F766E"/>
              </a:buClr>
              <a:buFont typeface="Arial"/>
              <a:buChar char="▪"/>
            </a:pPr>
            <a:r>
              <a:rPr sz="2300">
                <a:solidFill>
                  <a:srgbClr val="1F2937"/>
                </a:solidFill>
                <a:latin typeface="Calibri"/>
              </a:rPr>
              <a:t>Factory output: generated code reads string but uses `json.load(file)`</a:t>
            </a:r>
          </a:p>
          <a:p>
            <a:pPr marL="292608" indent="-292608">
              <a:spcAft>
                <a:spcPts val="1000"/>
              </a:spcAft>
              <a:buClr>
                <a:srgbClr val="0F766E"/>
              </a:buClr>
              <a:buFont typeface="Arial"/>
              <a:buChar char="▪"/>
            </a:pPr>
            <a:r>
              <a:rPr sz="2300">
                <a:solidFill>
                  <a:srgbClr val="1F2937"/>
                </a:solidFill>
                <a:latin typeface="Calibri"/>
              </a:rPr>
              <a:t>Execution trace shows `AttributeError: 'str' object has no attribute 'read'`</a:t>
            </a:r>
          </a:p>
          <a:p>
            <a:pPr marL="292608" indent="-292608">
              <a:spcAft>
                <a:spcPts val="1000"/>
              </a:spcAft>
              <a:buClr>
                <a:srgbClr val="0F766E"/>
              </a:buClr>
              <a:buFont typeface="Arial"/>
              <a:buChar char="▪"/>
            </a:pPr>
            <a:r>
              <a:rPr sz="2300">
                <a:solidFill>
                  <a:srgbClr val="1F2937"/>
                </a:solidFill>
                <a:latin typeface="Calibri"/>
              </a:rPr>
              <a:t>Fix: replace with `json.loads(string)` and add input validation</a:t>
            </a:r>
          </a:p>
        </p:txBody>
      </p:sp>
      <p:sp>
        <p:nvSpPr>
          <p:cNvPr id="8" name="Rounded Rectangle 7"/>
          <p:cNvSpPr/>
          <p:nvPr/>
        </p:nvSpPr>
        <p:spPr>
          <a:xfrm>
            <a:off x="5574054" y="1463040"/>
            <a:ext cx="6069001" cy="4343400"/>
          </a:xfrm>
          <a:prstGeom prst="roundRect">
            <a:avLst>
              <a:gd name="adj" fmla="val 4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56934" y="1600200"/>
            <a:ext cx="5703241" cy="4069080"/>
          </a:xfrm>
          <a:prstGeom prst="rect">
            <a:avLst/>
          </a:prstGeom>
          <a:noFill/>
        </p:spPr>
        <p:txBody>
          <a:bodyPr wrap="none" anchor="t" lIns="45720" rIns="45720">
            <a:spAutoFit/>
          </a:bodyPr>
          <a:lstStyle/>
          <a:p>
            <a:pPr algn="l"/>
            <a:r>
              <a:rPr sz="1100" b="0">
                <a:solidFill>
                  <a:srgbClr val="CCFBF1"/>
                </a:solidFill>
                <a:latin typeface="Consolas"/>
              </a:rPr>
              <a:t>python</a:t>
            </a:r>
          </a:p>
          <a:p>
            <a:pPr algn="l"/>
            <a:r>
              <a:rPr sz="1400" b="0">
                <a:solidFill>
                  <a:srgbClr val="E5E7EB"/>
                </a:solidFill>
                <a:latin typeface="Consolas"/>
              </a:rPr>
              <a:t># Generated code (buggy)</a:t>
            </a:r>
          </a:p>
          <a:p>
            <a:pPr algn="l"/>
            <a:r>
              <a:rPr sz="1400" b="0">
                <a:solidFill>
                  <a:srgbClr val="E5E7EB"/>
                </a:solidFill>
                <a:latin typeface="Consolas"/>
              </a:rPr>
              <a:t>import json</a:t>
            </a:r>
          </a:p>
          <a:p>
            <a:pPr algn="l"/>
            <a:r>
              <a:rPr sz="1400" b="0">
                <a:solidFill>
                  <a:srgbClr val="E5E7EB"/>
                </a:solidFill>
                <a:latin typeface="Consolas"/>
              </a:rPr>
              <a:t>data = json.load(json_string)  # expects file-like object</a:t>
            </a:r>
          </a:p>
          <a:p>
            <a:pPr algn="l"/>
            <a:r>
              <a:rPr sz="1400" b="0">
                <a:solidFill>
                  <a:srgbClr val="E5E7EB"/>
                </a:solidFill>
                <a:latin typeface="Consolas"/>
              </a:rPr>
              <a:t/>
            </a:r>
          </a:p>
          <a:p>
            <a:pPr algn="l"/>
            <a:r>
              <a:rPr sz="1400" b="0">
                <a:solidFill>
                  <a:srgbClr val="E5E7EB"/>
                </a:solidFill>
                <a:latin typeface="Consolas"/>
              </a:rPr>
              <a:t># Corrected code</a:t>
            </a:r>
          </a:p>
          <a:p>
            <a:pPr algn="l"/>
            <a:r>
              <a:rPr sz="1400" b="0">
                <a:solidFill>
                  <a:srgbClr val="E5E7EB"/>
                </a:solidFill>
                <a:latin typeface="Consolas"/>
              </a:rPr>
              <a:t>data = json.loads(json_string)  # parses string directly</a:t>
            </a:r>
          </a:p>
          <a:p>
            <a:pPr algn="l"/>
            <a:r>
              <a:rPr sz="1400" b="0">
                <a:solidFill>
                  <a:srgbClr val="E5E7EB"/>
                </a:solidFill>
                <a:latin typeface="Consolas"/>
              </a:rPr>
              <a:t/>
            </a:r>
          </a:p>
          <a:p>
            <a:pPr algn="l"/>
            <a:r>
              <a:rPr sz="1400" b="0">
                <a:solidFill>
                  <a:srgbClr val="E5E7EB"/>
                </a:solidFill>
                <a:latin typeface="Consolas"/>
              </a:rPr>
              <a:t># Added validation</a:t>
            </a:r>
          </a:p>
          <a:p>
            <a:pPr algn="l"/>
            <a:r>
              <a:rPr sz="1400" b="0">
                <a:solidFill>
                  <a:srgbClr val="E5E7EB"/>
                </a:solidFill>
                <a:latin typeface="Consolas"/>
              </a:rPr>
              <a:t>if not isinstance(json_string, str):</a:t>
            </a:r>
          </a:p>
          <a:p>
            <a:pPr algn="l"/>
            <a:r>
              <a:rPr sz="1400" b="0">
                <a:solidFill>
                  <a:srgbClr val="E5E7EB"/>
                </a:solidFill>
                <a:latin typeface="Consolas"/>
              </a:rPr>
              <a:t>    raise TypeError("Expected JSON string")</a:t>
            </a:r>
          </a:p>
        </p:txBody>
      </p:sp>
      <p:sp>
        <p:nvSpPr>
          <p:cNvPr id="10" name="TextBox 9"/>
          <p:cNvSpPr txBox="1"/>
          <p:nvPr/>
        </p:nvSpPr>
        <p:spPr>
          <a:xfrm>
            <a:off x="5574054" y="5806440"/>
            <a:ext cx="6069001" cy="365760"/>
          </a:xfrm>
          <a:prstGeom prst="rect">
            <a:avLst/>
          </a:prstGeom>
          <a:noFill/>
        </p:spPr>
        <p:txBody>
          <a:bodyPr wrap="square" anchor="t" lIns="45720" rIns="45720">
            <a:spAutoFit/>
          </a:bodyPr>
          <a:lstStyle/>
          <a:p>
            <a:pPr algn="ctr"/>
            <a:r>
              <a:rPr sz="1200" b="0">
                <a:solidFill>
                  <a:srgbClr val="6B7280"/>
                </a:solidFill>
                <a:latin typeface="Calibri"/>
              </a:rPr>
              <a:t>API misuse error and correction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Check: Log Analysis Fundamentals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Check</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W08.S2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10</a:t>
            </a:r>
          </a:p>
        </p:txBody>
      </p:sp>
      <p:sp>
        <p:nvSpPr>
          <p:cNvPr id="7" name="TextBox 6"/>
          <p:cNvSpPr txBox="1"/>
          <p:nvPr/>
        </p:nvSpPr>
        <p:spPr>
          <a:xfrm>
            <a:off x="1280160" y="1463040"/>
            <a:ext cx="9631375" cy="1188720"/>
          </a:xfrm>
          <a:prstGeom prst="rect">
            <a:avLst/>
          </a:prstGeom>
          <a:noFill/>
        </p:spPr>
        <p:txBody>
          <a:bodyPr wrap="square" anchor="t" lIns="45720" rIns="45720">
            <a:spAutoFit/>
          </a:bodyPr>
          <a:lstStyle/>
          <a:p>
            <a:pPr algn="l"/>
            <a:r>
              <a:rPr sz="2600" b="1">
                <a:solidFill>
                  <a:srgbClr val="1F2937"/>
                </a:solidFill>
                <a:latin typeface="Calibri"/>
              </a:rPr>
              <a:t>Which log type would most directly reveal an agent's reasoning error leading to an off-by-one loop bug?</a:t>
            </a:r>
          </a:p>
        </p:txBody>
      </p:sp>
      <p:sp>
        <p:nvSpPr>
          <p:cNvPr id="8" name="Rounded Rectangle 7"/>
          <p:cNvSpPr/>
          <p:nvPr/>
        </p:nvSpPr>
        <p:spPr>
          <a:xfrm>
            <a:off x="1280160" y="2834640"/>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17320" y="2961513"/>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A</a:t>
            </a:r>
          </a:p>
        </p:txBody>
      </p:sp>
      <p:sp>
        <p:nvSpPr>
          <p:cNvPr id="10" name="TextBox 9"/>
          <p:cNvSpPr txBox="1"/>
          <p:nvPr/>
        </p:nvSpPr>
        <p:spPr>
          <a:xfrm>
            <a:off x="2057400" y="2834640"/>
            <a:ext cx="8625535" cy="710946"/>
          </a:xfrm>
          <a:prstGeom prst="rect">
            <a:avLst/>
          </a:prstGeom>
          <a:noFill/>
        </p:spPr>
        <p:txBody>
          <a:bodyPr wrap="square" anchor="ctr" lIns="45720" rIns="45720">
            <a:spAutoFit/>
          </a:bodyPr>
          <a:lstStyle/>
          <a:p>
            <a:pPr algn="l"/>
            <a:r>
              <a:rPr sz="2000" b="0">
                <a:solidFill>
                  <a:srgbClr val="1F2937"/>
                </a:solidFill>
                <a:latin typeface="Calibri"/>
              </a:rPr>
              <a:t>Prompt/response log</a:t>
            </a:r>
          </a:p>
        </p:txBody>
      </p:sp>
      <p:sp>
        <p:nvSpPr>
          <p:cNvPr id="11" name="Rounded Rectangle 10"/>
          <p:cNvSpPr/>
          <p:nvPr/>
        </p:nvSpPr>
        <p:spPr>
          <a:xfrm>
            <a:off x="1280160" y="3710178"/>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17320" y="3837051"/>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B</a:t>
            </a:r>
          </a:p>
        </p:txBody>
      </p:sp>
      <p:sp>
        <p:nvSpPr>
          <p:cNvPr id="13" name="TextBox 12"/>
          <p:cNvSpPr txBox="1"/>
          <p:nvPr/>
        </p:nvSpPr>
        <p:spPr>
          <a:xfrm>
            <a:off x="2057400" y="3710178"/>
            <a:ext cx="8625535" cy="710946"/>
          </a:xfrm>
          <a:prstGeom prst="rect">
            <a:avLst/>
          </a:prstGeom>
          <a:noFill/>
        </p:spPr>
        <p:txBody>
          <a:bodyPr wrap="square" anchor="ctr" lIns="45720" rIns="45720">
            <a:spAutoFit/>
          </a:bodyPr>
          <a:lstStyle/>
          <a:p>
            <a:pPr algn="l"/>
            <a:r>
              <a:rPr sz="2000" b="0">
                <a:solidFill>
                  <a:srgbClr val="1F2937"/>
                </a:solidFill>
                <a:latin typeface="Calibri"/>
              </a:rPr>
              <a:t>Execution trace</a:t>
            </a:r>
          </a:p>
        </p:txBody>
      </p:sp>
      <p:sp>
        <p:nvSpPr>
          <p:cNvPr id="14" name="Rounded Rectangle 13"/>
          <p:cNvSpPr/>
          <p:nvPr/>
        </p:nvSpPr>
        <p:spPr>
          <a:xfrm>
            <a:off x="1280160" y="4585716"/>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17320" y="4712589"/>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C</a:t>
            </a:r>
          </a:p>
        </p:txBody>
      </p:sp>
      <p:sp>
        <p:nvSpPr>
          <p:cNvPr id="16" name="TextBox 15"/>
          <p:cNvSpPr txBox="1"/>
          <p:nvPr/>
        </p:nvSpPr>
        <p:spPr>
          <a:xfrm>
            <a:off x="2057400" y="4585716"/>
            <a:ext cx="8625535" cy="710946"/>
          </a:xfrm>
          <a:prstGeom prst="rect">
            <a:avLst/>
          </a:prstGeom>
          <a:noFill/>
        </p:spPr>
        <p:txBody>
          <a:bodyPr wrap="square" anchor="ctr" lIns="45720" rIns="45720">
            <a:spAutoFit/>
          </a:bodyPr>
          <a:lstStyle/>
          <a:p>
            <a:pPr algn="l"/>
            <a:r>
              <a:rPr sz="2000" b="0">
                <a:solidFill>
                  <a:srgbClr val="1F2937"/>
                </a:solidFill>
                <a:latin typeface="Calibri"/>
              </a:rPr>
              <a:t>Test result log</a:t>
            </a:r>
          </a:p>
        </p:txBody>
      </p:sp>
      <p:sp>
        <p:nvSpPr>
          <p:cNvPr id="17" name="Rounded Rectangle 16"/>
          <p:cNvSpPr/>
          <p:nvPr/>
        </p:nvSpPr>
        <p:spPr>
          <a:xfrm>
            <a:off x="1280160" y="5461254"/>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17320" y="5588127"/>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D</a:t>
            </a:r>
          </a:p>
        </p:txBody>
      </p:sp>
      <p:sp>
        <p:nvSpPr>
          <p:cNvPr id="19" name="TextBox 18"/>
          <p:cNvSpPr txBox="1"/>
          <p:nvPr/>
        </p:nvSpPr>
        <p:spPr>
          <a:xfrm>
            <a:off x="2057400" y="5461254"/>
            <a:ext cx="8625535" cy="710946"/>
          </a:xfrm>
          <a:prstGeom prst="rect">
            <a:avLst/>
          </a:prstGeom>
          <a:noFill/>
        </p:spPr>
        <p:txBody>
          <a:bodyPr wrap="square" anchor="ctr" lIns="45720" rIns="45720">
            <a:spAutoFit/>
          </a:bodyPr>
          <a:lstStyle/>
          <a:p>
            <a:pPr algn="l"/>
            <a:r>
              <a:rPr sz="2000" b="0">
                <a:solidFill>
                  <a:srgbClr val="1F2937"/>
                </a:solidFill>
                <a:latin typeface="Calibri"/>
              </a:rPr>
              <a:t>Artifact diff</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2700" b="1">
                <a:solidFill>
                  <a:srgbClr val="1F2937"/>
                </a:solidFill>
                <a:latin typeface="Calibri"/>
              </a:rPr>
              <a:t>Activity: Identify Seeded Defects in Provided Logs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Activity</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W08.S2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11</a:t>
            </a:r>
          </a:p>
        </p:txBody>
      </p:sp>
      <p:sp>
        <p:nvSpPr>
          <p:cNvPr id="7" name="TextBox 6"/>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Work in pairs with provided log packages</a:t>
            </a:r>
          </a:p>
          <a:p>
            <a:pPr marL="292608" indent="-292608">
              <a:spcAft>
                <a:spcPts val="1000"/>
              </a:spcAft>
              <a:buClr>
                <a:srgbClr val="0F766E"/>
              </a:buClr>
              <a:buFont typeface="Arial"/>
              <a:buChar char="▪"/>
            </a:pPr>
            <a:r>
              <a:rPr sz="2400">
                <a:solidFill>
                  <a:srgbClr val="1F2937"/>
                </a:solidFill>
                <a:latin typeface="Calibri"/>
              </a:rPr>
              <a:t>Each package contains 4 seeded defects across log types</a:t>
            </a:r>
          </a:p>
          <a:p>
            <a:pPr marL="292608" indent="-292608">
              <a:spcAft>
                <a:spcPts val="1000"/>
              </a:spcAft>
              <a:buClr>
                <a:srgbClr val="0F766E"/>
              </a:buClr>
              <a:buFont typeface="Arial"/>
              <a:buChar char="▪"/>
            </a:pPr>
            <a:r>
              <a:rPr sz="2400">
                <a:solidFill>
                  <a:srgbClr val="1F2937"/>
                </a:solidFill>
                <a:latin typeface="Calibri"/>
              </a:rPr>
              <a:t>Goal: identify at least 2 defects and propose fixes</a:t>
            </a:r>
          </a:p>
          <a:p>
            <a:pPr marL="292608" indent="-292608">
              <a:spcAft>
                <a:spcPts val="1000"/>
              </a:spcAft>
              <a:buClr>
                <a:srgbClr val="0F766E"/>
              </a:buClr>
              <a:buFont typeface="Arial"/>
              <a:buChar char="▪"/>
            </a:pPr>
            <a:r>
              <a:rPr sz="2400">
                <a:solidFill>
                  <a:srgbClr val="1F2937"/>
                </a:solidFill>
                <a:latin typeface="Calibri"/>
              </a:rPr>
              <a:t>Document findings in the lab worksheet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Check: Defect Identification Strategy</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Check</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W08.S2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12</a:t>
            </a:r>
          </a:p>
        </p:txBody>
      </p:sp>
      <p:sp>
        <p:nvSpPr>
          <p:cNvPr id="7" name="TextBox 6"/>
          <p:cNvSpPr txBox="1"/>
          <p:nvPr/>
        </p:nvSpPr>
        <p:spPr>
          <a:xfrm>
            <a:off x="1280160" y="1463040"/>
            <a:ext cx="9631375" cy="1188720"/>
          </a:xfrm>
          <a:prstGeom prst="rect">
            <a:avLst/>
          </a:prstGeom>
          <a:noFill/>
        </p:spPr>
        <p:txBody>
          <a:bodyPr wrap="square" anchor="t" lIns="45720" rIns="45720">
            <a:spAutoFit/>
          </a:bodyPr>
          <a:lstStyle/>
          <a:p>
            <a:pPr algn="l"/>
            <a:r>
              <a:rPr sz="2300" b="1">
                <a:solidFill>
                  <a:srgbClr val="1F2937"/>
                </a:solidFill>
                <a:latin typeface="Calibri"/>
              </a:rPr>
              <a:t>When analyzing a software factory output, you see a test failure due to a missing authentication check. Which log should you examine first to find the root cause?</a:t>
            </a:r>
          </a:p>
        </p:txBody>
      </p:sp>
      <p:sp>
        <p:nvSpPr>
          <p:cNvPr id="8" name="Rounded Rectangle 7"/>
          <p:cNvSpPr/>
          <p:nvPr/>
        </p:nvSpPr>
        <p:spPr>
          <a:xfrm>
            <a:off x="1280160" y="2834640"/>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17320" y="2961513"/>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A</a:t>
            </a:r>
          </a:p>
        </p:txBody>
      </p:sp>
      <p:sp>
        <p:nvSpPr>
          <p:cNvPr id="10" name="TextBox 9"/>
          <p:cNvSpPr txBox="1"/>
          <p:nvPr/>
        </p:nvSpPr>
        <p:spPr>
          <a:xfrm>
            <a:off x="2057400" y="2834640"/>
            <a:ext cx="8625535" cy="710946"/>
          </a:xfrm>
          <a:prstGeom prst="rect">
            <a:avLst/>
          </a:prstGeom>
          <a:noFill/>
        </p:spPr>
        <p:txBody>
          <a:bodyPr wrap="square" anchor="ctr" lIns="45720" rIns="45720">
            <a:spAutoFit/>
          </a:bodyPr>
          <a:lstStyle/>
          <a:p>
            <a:pPr algn="l"/>
            <a:r>
              <a:rPr sz="2000" b="0">
                <a:solidFill>
                  <a:srgbClr val="1F2937"/>
                </a:solidFill>
                <a:latin typeface="Calibri"/>
              </a:rPr>
              <a:t>Prompt log from the code generation stage</a:t>
            </a:r>
          </a:p>
        </p:txBody>
      </p:sp>
      <p:sp>
        <p:nvSpPr>
          <p:cNvPr id="11" name="Rounded Rectangle 10"/>
          <p:cNvSpPr/>
          <p:nvPr/>
        </p:nvSpPr>
        <p:spPr>
          <a:xfrm>
            <a:off x="1280160" y="3710178"/>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17320" y="3837051"/>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B</a:t>
            </a:r>
          </a:p>
        </p:txBody>
      </p:sp>
      <p:sp>
        <p:nvSpPr>
          <p:cNvPr id="13" name="TextBox 12"/>
          <p:cNvSpPr txBox="1"/>
          <p:nvPr/>
        </p:nvSpPr>
        <p:spPr>
          <a:xfrm>
            <a:off x="2057400" y="3710178"/>
            <a:ext cx="8625535" cy="710946"/>
          </a:xfrm>
          <a:prstGeom prst="rect">
            <a:avLst/>
          </a:prstGeom>
          <a:noFill/>
        </p:spPr>
        <p:txBody>
          <a:bodyPr wrap="square" anchor="ctr" lIns="45720" rIns="45720">
            <a:spAutoFit/>
          </a:bodyPr>
          <a:lstStyle/>
          <a:p>
            <a:pPr algn="l"/>
            <a:r>
              <a:rPr sz="2000" b="0">
                <a:solidFill>
                  <a:srgbClr val="1F2937"/>
                </a:solidFill>
                <a:latin typeface="Calibri"/>
              </a:rPr>
              <a:t>Execution trace of the test run</a:t>
            </a:r>
          </a:p>
        </p:txBody>
      </p:sp>
      <p:sp>
        <p:nvSpPr>
          <p:cNvPr id="14" name="Rounded Rectangle 13"/>
          <p:cNvSpPr/>
          <p:nvPr/>
        </p:nvSpPr>
        <p:spPr>
          <a:xfrm>
            <a:off x="1280160" y="4585716"/>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417320" y="4712589"/>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C</a:t>
            </a:r>
          </a:p>
        </p:txBody>
      </p:sp>
      <p:sp>
        <p:nvSpPr>
          <p:cNvPr id="16" name="TextBox 15"/>
          <p:cNvSpPr txBox="1"/>
          <p:nvPr/>
        </p:nvSpPr>
        <p:spPr>
          <a:xfrm>
            <a:off x="2057400" y="4585716"/>
            <a:ext cx="8625535" cy="710946"/>
          </a:xfrm>
          <a:prstGeom prst="rect">
            <a:avLst/>
          </a:prstGeom>
          <a:noFill/>
        </p:spPr>
        <p:txBody>
          <a:bodyPr wrap="square" anchor="ctr" lIns="45720" rIns="45720">
            <a:spAutoFit/>
          </a:bodyPr>
          <a:lstStyle/>
          <a:p>
            <a:pPr algn="l"/>
            <a:r>
              <a:rPr sz="2000" b="0">
                <a:solidFill>
                  <a:srgbClr val="1F2937"/>
                </a:solidFill>
                <a:latin typeface="Calibri"/>
              </a:rPr>
              <a:t>Deployment script log</a:t>
            </a:r>
          </a:p>
        </p:txBody>
      </p:sp>
      <p:sp>
        <p:nvSpPr>
          <p:cNvPr id="17" name="Rounded Rectangle 16"/>
          <p:cNvSpPr/>
          <p:nvPr/>
        </p:nvSpPr>
        <p:spPr>
          <a:xfrm>
            <a:off x="1280160" y="5461254"/>
            <a:ext cx="9631375" cy="710946"/>
          </a:xfrm>
          <a:prstGeom prst="round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417320" y="5588127"/>
            <a:ext cx="457200" cy="45720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CCFBF1"/>
                </a:solidFill>
                <a:latin typeface="Calibri"/>
              </a:rPr>
              <a:t>D</a:t>
            </a:r>
          </a:p>
        </p:txBody>
      </p:sp>
      <p:sp>
        <p:nvSpPr>
          <p:cNvPr id="19" name="TextBox 18"/>
          <p:cNvSpPr txBox="1"/>
          <p:nvPr/>
        </p:nvSpPr>
        <p:spPr>
          <a:xfrm>
            <a:off x="2057400" y="5461254"/>
            <a:ext cx="8625535" cy="710946"/>
          </a:xfrm>
          <a:prstGeom prst="rect">
            <a:avLst/>
          </a:prstGeom>
          <a:noFill/>
        </p:spPr>
        <p:txBody>
          <a:bodyPr wrap="square" anchor="ctr" lIns="45720" rIns="45720">
            <a:spAutoFit/>
          </a:bodyPr>
          <a:lstStyle/>
          <a:p>
            <a:pPr algn="l"/>
            <a:r>
              <a:rPr sz="2000" b="0">
                <a:solidFill>
                  <a:srgbClr val="1F2937"/>
                </a:solidFill>
                <a:latin typeface="Calibri"/>
              </a:rPr>
              <a:t>Specification document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Common Failure Causes in Iterative Loop Engineering</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W08.S2   ·   Sources: [C3] [C6]</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13</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Reasoning errors: flawed logic in agent's natural language</a:t>
            </a:r>
          </a:p>
          <a:p>
            <a:pPr marL="292608" indent="-292608">
              <a:spcAft>
                <a:spcPts val="1000"/>
              </a:spcAft>
              <a:buClr>
                <a:srgbClr val="0F766E"/>
              </a:buClr>
              <a:buFont typeface="Arial"/>
              <a:buChar char="▪"/>
            </a:pPr>
            <a:r>
              <a:rPr sz="2400">
                <a:solidFill>
                  <a:srgbClr val="1F2937"/>
                </a:solidFill>
                <a:latin typeface="Calibri"/>
              </a:rPr>
              <a:t>Tool misuse: incorrect API calls, wrong parameters</a:t>
            </a:r>
          </a:p>
          <a:p>
            <a:pPr marL="292608" indent="-292608">
              <a:spcAft>
                <a:spcPts val="1000"/>
              </a:spcAft>
              <a:buClr>
                <a:srgbClr val="0F766E"/>
              </a:buClr>
              <a:buFont typeface="Arial"/>
              <a:buChar char="▪"/>
            </a:pPr>
            <a:r>
              <a:rPr sz="2400">
                <a:solidFill>
                  <a:srgbClr val="1F2937"/>
                </a:solidFill>
                <a:latin typeface="Calibri"/>
              </a:rPr>
              <a:t>Context loss: agent forgets earlier constraints</a:t>
            </a:r>
          </a:p>
          <a:p>
            <a:pPr marL="292608" indent="-292608">
              <a:spcAft>
                <a:spcPts val="1000"/>
              </a:spcAft>
              <a:buClr>
                <a:srgbClr val="0F766E"/>
              </a:buClr>
              <a:buFont typeface="Arial"/>
              <a:buChar char="▪"/>
            </a:pPr>
            <a:r>
              <a:rPr sz="2400">
                <a:solidFill>
                  <a:srgbClr val="1F2937"/>
                </a:solidFill>
                <a:latin typeface="Calibri"/>
              </a:rPr>
              <a:t>Complexity backpressure: agent degrades on large tasks (C3)</a:t>
            </a:r>
          </a:p>
        </p:txBody>
      </p:sp>
      <p:graphicFrame>
        <p:nvGraphicFramePr>
          <p:cNvPr id="7" name="Table 6"/>
          <p:cNvGraphicFramePr>
            <a:graphicFrameLocks noGrp="1"/>
          </p:cNvGraphicFramePr>
          <p:nvPr/>
        </p:nvGraphicFramePr>
        <p:xfrm>
          <a:off x="6683495" y="1463040"/>
          <a:ext cx="4959560" cy="2011680"/>
        </p:xfrm>
        <a:graphic>
          <a:graphicData uri="http://schemas.openxmlformats.org/drawingml/2006/table">
            <a:tbl>
              <a:tblPr firstRow="1" bandRow="1">
                <a:tableStyleId>{5C22544A-7EE6-4342-B048-85BDC9FD1C3A}</a:tableStyleId>
              </a:tblPr>
              <a:tblGrid>
                <a:gridCol w="1653186"/>
                <a:gridCol w="1653186"/>
                <a:gridCol w="1653188"/>
              </a:tblGrid>
              <a:tr h="502920">
                <a:tc>
                  <a:txBody>
                    <a:bodyPr/>
                    <a:lstStyle/>
                    <a:p>
                      <a:r>
                        <a:rPr sz="1400" b="1">
                          <a:solidFill>
                            <a:srgbClr val="CCFBF1"/>
                          </a:solidFill>
                          <a:latin typeface="Calibri"/>
                        </a:rPr>
                        <a:t>Reasoning Error</a:t>
                      </a:r>
                    </a:p>
                  </a:txBody>
                  <a:tcPr>
                    <a:solidFill>
                      <a:srgbClr val="0F766E"/>
                    </a:solidFill>
                  </a:tcPr>
                </a:tc>
                <a:tc>
                  <a:txBody>
                    <a:bodyPr/>
                    <a:lstStyle/>
                    <a:p>
                      <a:r>
                        <a:rPr sz="1400" b="1">
                          <a:solidFill>
                            <a:srgbClr val="CCFBF1"/>
                          </a:solidFill>
                          <a:latin typeface="Calibri"/>
                        </a:rPr>
                        <a:t>Prompt log shows flawed logic</a:t>
                      </a:r>
                    </a:p>
                  </a:txBody>
                  <a:tcPr>
                    <a:solidFill>
                      <a:srgbClr val="0F766E"/>
                    </a:solidFill>
                  </a:tcPr>
                </a:tc>
                <a:tc>
                  <a:txBody>
                    <a:bodyPr/>
                    <a:lstStyle/>
                    <a:p>
                      <a:r>
                        <a:rPr sz="1400" b="1">
                          <a:solidFill>
                            <a:srgbClr val="CCFBF1"/>
                          </a:solidFill>
                          <a:latin typeface="Calibri"/>
                        </a:rPr>
                        <a:t>Off-by-one, incorrect algorithm</a:t>
                      </a:r>
                    </a:p>
                  </a:txBody>
                  <a:tcPr>
                    <a:solidFill>
                      <a:srgbClr val="0F766E"/>
                    </a:solidFill>
                  </a:tcPr>
                </a:tc>
              </a:tr>
              <a:tr h="502920">
                <a:tc>
                  <a:txBody>
                    <a:bodyPr/>
                    <a:lstStyle/>
                    <a:p>
                      <a:r>
                        <a:rPr sz="1400" b="0">
                          <a:solidFill>
                            <a:srgbClr val="1F2937"/>
                          </a:solidFill>
                          <a:latin typeface="Calibri"/>
                        </a:rPr>
                        <a:t>Tool Misuse</a:t>
                      </a:r>
                    </a:p>
                  </a:txBody>
                  <a:tcPr>
                    <a:solidFill>
                      <a:srgbClr val="F3F4F6"/>
                    </a:solidFill>
                  </a:tcPr>
                </a:tc>
                <a:tc>
                  <a:txBody>
                    <a:bodyPr/>
                    <a:lstStyle/>
                    <a:p>
                      <a:r>
                        <a:rPr sz="1400" b="0">
                          <a:solidFill>
                            <a:srgbClr val="1F2937"/>
                          </a:solidFill>
                          <a:latin typeface="Calibri"/>
                        </a:rPr>
                        <a:t>Execution trace shows wrong API</a:t>
                      </a:r>
                    </a:p>
                  </a:txBody>
                  <a:tcPr>
                    <a:solidFill>
                      <a:srgbClr val="F3F4F6"/>
                    </a:solidFill>
                  </a:tcPr>
                </a:tc>
                <a:tc>
                  <a:txBody>
                    <a:bodyPr/>
                    <a:lstStyle/>
                    <a:p>
                      <a:r>
                        <a:rPr sz="1400" b="0">
                          <a:solidFill>
                            <a:srgbClr val="1F2937"/>
                          </a:solidFill>
                          <a:latin typeface="Calibri"/>
                        </a:rPr>
                        <a:t>json.load vs json.loads</a:t>
                      </a:r>
                    </a:p>
                  </a:txBody>
                  <a:tcPr>
                    <a:solidFill>
                      <a:srgbClr val="F3F4F6"/>
                    </a:solidFill>
                  </a:tcPr>
                </a:tc>
              </a:tr>
              <a:tr h="502920">
                <a:tc>
                  <a:txBody>
                    <a:bodyPr/>
                    <a:lstStyle/>
                    <a:p>
                      <a:r>
                        <a:rPr sz="1400" b="0">
                          <a:solidFill>
                            <a:srgbClr val="1F2937"/>
                          </a:solidFill>
                          <a:latin typeface="Calibri"/>
                        </a:rPr>
                        <a:t>Context Loss</a:t>
                      </a:r>
                    </a:p>
                  </a:txBody>
                  <a:tcPr>
                    <a:solidFill>
                      <a:srgbClr val="F3F4F6"/>
                    </a:solidFill>
                  </a:tcPr>
                </a:tc>
                <a:tc>
                  <a:txBody>
                    <a:bodyPr/>
                    <a:lstStyle/>
                    <a:p>
                      <a:r>
                        <a:rPr sz="1400" b="0">
                          <a:solidFill>
                            <a:srgbClr val="1F2937"/>
                          </a:solidFill>
                          <a:latin typeface="Calibri"/>
                        </a:rPr>
                        <a:t>Prompt log misses earlier constraint</a:t>
                      </a:r>
                    </a:p>
                  </a:txBody>
                  <a:tcPr>
                    <a:solidFill>
                      <a:srgbClr val="F3F4F6"/>
                    </a:solidFill>
                  </a:tcPr>
                </a:tc>
                <a:tc>
                  <a:txBody>
                    <a:bodyPr/>
                    <a:lstStyle/>
                    <a:p>
                      <a:r>
                        <a:rPr sz="1400" b="0">
                          <a:solidFill>
                            <a:srgbClr val="1F2937"/>
                          </a:solidFill>
                          <a:latin typeface="Calibri"/>
                        </a:rPr>
                        <a:t>Security requirement dropped</a:t>
                      </a:r>
                    </a:p>
                  </a:txBody>
                  <a:tcPr>
                    <a:solidFill>
                      <a:srgbClr val="F3F4F6"/>
                    </a:solidFill>
                  </a:tcPr>
                </a:tc>
              </a:tr>
              <a:tr h="502920">
                <a:tc>
                  <a:txBody>
                    <a:bodyPr/>
                    <a:lstStyle/>
                    <a:p>
                      <a:r>
                        <a:rPr sz="1400" b="0">
                          <a:solidFill>
                            <a:srgbClr val="1F2937"/>
                          </a:solidFill>
                          <a:latin typeface="Calibri"/>
                        </a:rPr>
                        <a:t>Complexity Backpressure</a:t>
                      </a:r>
                    </a:p>
                  </a:txBody>
                  <a:tcPr>
                    <a:solidFill>
                      <a:srgbClr val="F3F4F6"/>
                    </a:solidFill>
                  </a:tcPr>
                </a:tc>
                <a:tc>
                  <a:txBody>
                    <a:bodyPr/>
                    <a:lstStyle/>
                    <a:p>
                      <a:r>
                        <a:rPr sz="1400" b="0">
                          <a:solidFill>
                            <a:srgbClr val="1F2937"/>
                          </a:solidFill>
                          <a:latin typeface="Calibri"/>
                        </a:rPr>
                        <a:t>Later iterations show degradation</a:t>
                      </a:r>
                    </a:p>
                  </a:txBody>
                  <a:tcPr>
                    <a:solidFill>
                      <a:srgbClr val="F3F4F6"/>
                    </a:solidFill>
                  </a:tcPr>
                </a:tc>
                <a:tc>
                  <a:txBody>
                    <a:bodyPr/>
                    <a:lstStyle/>
                    <a:p>
                      <a:r>
                        <a:rPr sz="1400" b="0">
                          <a:solidFill>
                            <a:srgbClr val="1F2937"/>
                          </a:solidFill>
                          <a:latin typeface="Calibri"/>
                        </a:rPr>
                        <a:t>Incomplete code, hallucinations</a:t>
                      </a:r>
                    </a:p>
                  </a:txBody>
                  <a:tcPr>
                    <a:solidFill>
                      <a:srgbClr val="F3F4F6"/>
                    </a:solidFill>
                  </a:tcPr>
                </a:tc>
              </a:tr>
            </a:tbl>
          </a:graphicData>
        </a:graphic>
      </p:graphicFrame>
      <p:sp>
        <p:nvSpPr>
          <p:cNvPr id="8" name="TextBox 7"/>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Failure causes and corresponding log evidence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Best Practices for Analyzing Iterative Logs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W08.S2   ·   Sources: [C3] [C5]</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14</a:t>
            </a:r>
          </a:p>
        </p:txBody>
      </p:sp>
      <p:sp>
        <p:nvSpPr>
          <p:cNvPr id="6" name="TextBox 5"/>
          <p:cNvSpPr txBox="1"/>
          <p:nvPr/>
        </p:nvSpPr>
        <p:spPr>
          <a:xfrm>
            <a:off x="548640" y="1463040"/>
            <a:ext cx="576909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Start from test failures and trace backward</a:t>
            </a:r>
          </a:p>
          <a:p>
            <a:pPr marL="292608" indent="-292608">
              <a:spcAft>
                <a:spcPts val="1000"/>
              </a:spcAft>
              <a:buClr>
                <a:srgbClr val="0F766E"/>
              </a:buClr>
              <a:buFont typeface="Arial"/>
              <a:buChar char="▪"/>
            </a:pPr>
            <a:r>
              <a:rPr sz="2400">
                <a:solidFill>
                  <a:srgbClr val="1F2937"/>
                </a:solidFill>
                <a:latin typeface="Calibri"/>
              </a:rPr>
              <a:t>Correlate prompt logs with code diffs</a:t>
            </a:r>
          </a:p>
          <a:p>
            <a:pPr marL="292608" indent="-292608">
              <a:spcAft>
                <a:spcPts val="1000"/>
              </a:spcAft>
              <a:buClr>
                <a:srgbClr val="0F766E"/>
              </a:buClr>
              <a:buFont typeface="Arial"/>
              <a:buChar char="▪"/>
            </a:pPr>
            <a:r>
              <a:rPr sz="2400">
                <a:solidFill>
                  <a:srgbClr val="1F2937"/>
                </a:solidFill>
                <a:latin typeface="Calibri"/>
              </a:rPr>
              <a:t>Use execution traces to verify tool usage</a:t>
            </a:r>
          </a:p>
          <a:p>
            <a:pPr marL="292608" indent="-292608">
              <a:spcAft>
                <a:spcPts val="1000"/>
              </a:spcAft>
              <a:buClr>
                <a:srgbClr val="0F766E"/>
              </a:buClr>
              <a:buFont typeface="Arial"/>
              <a:buChar char="▪"/>
            </a:pPr>
            <a:r>
              <a:rPr sz="2400">
                <a:solidFill>
                  <a:srgbClr val="1F2937"/>
                </a:solidFill>
                <a:latin typeface="Calibri"/>
              </a:rPr>
              <a:t>Document findings with log references</a:t>
            </a:r>
          </a:p>
        </p:txBody>
      </p:sp>
      <p:sp>
        <p:nvSpPr>
          <p:cNvPr id="7" name="Rounded Rectangle 6"/>
          <p:cNvSpPr/>
          <p:nvPr/>
        </p:nvSpPr>
        <p:spPr>
          <a:xfrm>
            <a:off x="6683495" y="1463040"/>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Test Failure</a:t>
            </a:r>
          </a:p>
        </p:txBody>
      </p:sp>
      <p:sp>
        <p:nvSpPr>
          <p:cNvPr id="8" name="Down Arrow 7"/>
          <p:cNvSpPr/>
          <p:nvPr/>
        </p:nvSpPr>
        <p:spPr>
          <a:xfrm>
            <a:off x="9026115" y="2103120"/>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83495" y="2395728"/>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Execution Trace</a:t>
            </a:r>
          </a:p>
        </p:txBody>
      </p:sp>
      <p:sp>
        <p:nvSpPr>
          <p:cNvPr id="10" name="Down Arrow 9"/>
          <p:cNvSpPr/>
          <p:nvPr/>
        </p:nvSpPr>
        <p:spPr>
          <a:xfrm>
            <a:off x="9026115" y="3035808"/>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83495" y="3328416"/>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Code Diff</a:t>
            </a:r>
          </a:p>
        </p:txBody>
      </p:sp>
      <p:sp>
        <p:nvSpPr>
          <p:cNvPr id="12" name="Down Arrow 11"/>
          <p:cNvSpPr/>
          <p:nvPr/>
        </p:nvSpPr>
        <p:spPr>
          <a:xfrm>
            <a:off x="9026115" y="3968496"/>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683495" y="4261104"/>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Prompt Log</a:t>
            </a:r>
          </a:p>
        </p:txBody>
      </p:sp>
      <p:sp>
        <p:nvSpPr>
          <p:cNvPr id="14" name="Down Arrow 13"/>
          <p:cNvSpPr/>
          <p:nvPr/>
        </p:nvSpPr>
        <p:spPr>
          <a:xfrm>
            <a:off x="9026115" y="4901184"/>
            <a:ext cx="274320" cy="265176"/>
          </a:xfrm>
          <a:prstGeom prst="downArrow">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683495" y="5193792"/>
            <a:ext cx="4959560" cy="612648"/>
          </a:xfrm>
          <a:prstGeom prst="roundRect">
            <a:avLst/>
          </a:prstGeom>
          <a:solidFill>
            <a:srgbClr val="CCFBF1"/>
          </a:solidFill>
          <a:ln>
            <a:solidFill>
              <a:srgbClr val="0F766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a:solidFill>
                  <a:srgbClr val="1F2937"/>
                </a:solidFill>
                <a:latin typeface="Calibri"/>
              </a:rPr>
              <a:t>Root Cause</a:t>
            </a:r>
          </a:p>
        </p:txBody>
      </p:sp>
      <p:sp>
        <p:nvSpPr>
          <p:cNvPr id="16" name="TextBox 15"/>
          <p:cNvSpPr txBox="1"/>
          <p:nvPr/>
        </p:nvSpPr>
        <p:spPr>
          <a:xfrm>
            <a:off x="6683495" y="5806440"/>
            <a:ext cx="4959560" cy="365760"/>
          </a:xfrm>
          <a:prstGeom prst="rect">
            <a:avLst/>
          </a:prstGeom>
          <a:noFill/>
        </p:spPr>
        <p:txBody>
          <a:bodyPr wrap="square" anchor="t" lIns="45720" rIns="45720">
            <a:spAutoFit/>
          </a:bodyPr>
          <a:lstStyle/>
          <a:p>
            <a:pPr algn="ctr"/>
            <a:r>
              <a:rPr sz="1200" b="0">
                <a:solidFill>
                  <a:srgbClr val="6B7280"/>
                </a:solidFill>
                <a:latin typeface="Calibri"/>
              </a:rPr>
              <a:t>Systematic log analysis workflow</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9082735" cy="868680"/>
          </a:xfrm>
          <a:prstGeom prst="rect">
            <a:avLst/>
          </a:prstGeom>
          <a:noFill/>
        </p:spPr>
        <p:txBody>
          <a:bodyPr wrap="square" anchor="ctr" lIns="45720" rIns="45720">
            <a:spAutoFit/>
          </a:bodyPr>
          <a:lstStyle/>
          <a:p>
            <a:pPr algn="l"/>
            <a:r>
              <a:rPr sz="3000" b="1">
                <a:solidFill>
                  <a:srgbClr val="1F2937"/>
                </a:solidFill>
                <a:latin typeface="Calibri"/>
              </a:rPr>
              <a:t>Summary: Iterative Logs and Factory Outputs</a:t>
            </a:r>
          </a:p>
        </p:txBody>
      </p:sp>
      <p:sp>
        <p:nvSpPr>
          <p:cNvPr id="4" name="Rounded Rectangle 3"/>
          <p:cNvSpPr/>
          <p:nvPr/>
        </p:nvSpPr>
        <p:spPr>
          <a:xfrm>
            <a:off x="9814255" y="502920"/>
            <a:ext cx="1828800" cy="457200"/>
          </a:xfrm>
          <a:prstGeom prst="roundRect">
            <a:avLst/>
          </a:prstGeom>
          <a:solidFill>
            <a:srgbClr val="CCF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0F766E"/>
                </a:solidFill>
                <a:latin typeface="Calibri"/>
              </a:rPr>
              <a:t>Summary</a:t>
            </a:r>
          </a:p>
        </p:txBody>
      </p:sp>
      <p:sp>
        <p:nvSpPr>
          <p:cNvPr id="5" name="TextBox 4"/>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W08.S2</a:t>
            </a:r>
          </a:p>
        </p:txBody>
      </p:sp>
      <p:sp>
        <p:nvSpPr>
          <p:cNvPr id="6" name="TextBox 5"/>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15</a:t>
            </a:r>
          </a:p>
        </p:txBody>
      </p:sp>
      <p:sp>
        <p:nvSpPr>
          <p:cNvPr id="7" name="TextBox 6"/>
          <p:cNvSpPr txBox="1"/>
          <p:nvPr/>
        </p:nvSpPr>
        <p:spPr>
          <a:xfrm>
            <a:off x="548640" y="1463040"/>
            <a:ext cx="11094415" cy="4709160"/>
          </a:xfrm>
          <a:prstGeom prst="rect">
            <a:avLst/>
          </a:prstGeom>
          <a:noFill/>
        </p:spPr>
        <p:txBody>
          <a:bodyPr wrap="square">
            <a:spAutoFit/>
          </a:bodyPr>
          <a:lstStyle/>
          <a:p>
            <a:pPr marL="292608" indent="-292608">
              <a:spcAft>
                <a:spcPts val="1000"/>
              </a:spcAft>
              <a:buClr>
                <a:srgbClr val="0F766E"/>
              </a:buClr>
              <a:buFont typeface="Arial"/>
              <a:buChar char="▪"/>
            </a:pPr>
            <a:r>
              <a:rPr sz="2400">
                <a:solidFill>
                  <a:srgbClr val="1F2937"/>
                </a:solidFill>
                <a:latin typeface="Calibri"/>
              </a:rPr>
              <a:t>Logs and outputs are the evidence for analyzing AI-assisted development</a:t>
            </a:r>
          </a:p>
          <a:p>
            <a:pPr marL="292608" indent="-292608">
              <a:spcAft>
                <a:spcPts val="1000"/>
              </a:spcAft>
              <a:buClr>
                <a:srgbClr val="0F766E"/>
              </a:buClr>
              <a:buFont typeface="Arial"/>
              <a:buChar char="▪"/>
            </a:pPr>
            <a:r>
              <a:rPr sz="2400">
                <a:solidFill>
                  <a:srgbClr val="1F2937"/>
                </a:solidFill>
                <a:latin typeface="Calibri"/>
              </a:rPr>
              <a:t>Four log types: prompt, execution, test, artifact</a:t>
            </a:r>
          </a:p>
          <a:p>
            <a:pPr marL="292608" indent="-292608">
              <a:spcAft>
                <a:spcPts val="1000"/>
              </a:spcAft>
              <a:buClr>
                <a:srgbClr val="0F766E"/>
              </a:buClr>
              <a:buFont typeface="Arial"/>
              <a:buChar char="▪"/>
            </a:pPr>
            <a:r>
              <a:rPr sz="2400">
                <a:solidFill>
                  <a:srgbClr val="1F2937"/>
                </a:solidFill>
                <a:latin typeface="Calibri"/>
              </a:rPr>
              <a:t>Seeded defects represent common failure categories</a:t>
            </a:r>
          </a:p>
          <a:p>
            <a:pPr marL="292608" indent="-292608">
              <a:spcAft>
                <a:spcPts val="1000"/>
              </a:spcAft>
              <a:buClr>
                <a:srgbClr val="0F766E"/>
              </a:buClr>
              <a:buFont typeface="Arial"/>
              <a:buChar char="▪"/>
            </a:pPr>
            <a:r>
              <a:rPr sz="2400">
                <a:solidFill>
                  <a:srgbClr val="1F2937"/>
                </a:solidFill>
                <a:latin typeface="Calibri"/>
              </a:rPr>
              <a:t>Systematic tracing from failure to root cause enables fixes</a:t>
            </a:r>
          </a:p>
          <a:p>
            <a:pPr marL="292608" indent="-292608">
              <a:spcAft>
                <a:spcPts val="1000"/>
              </a:spcAft>
              <a:buClr>
                <a:srgbClr val="0F766E"/>
              </a:buClr>
              <a:buFont typeface="Arial"/>
              <a:buChar char="▪"/>
            </a:pPr>
            <a:r>
              <a:rPr sz="2400">
                <a:solidFill>
                  <a:srgbClr val="1F2937"/>
                </a:solidFill>
                <a:latin typeface="Calibri"/>
              </a:rPr>
              <a:t>Lab: identify at least 2 of 4 seeded defects with fixes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411480"/>
            <a:ext cx="128016" cy="68580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868680"/>
          </a:xfrm>
          <a:prstGeom prst="rect">
            <a:avLst/>
          </a:prstGeom>
          <a:noFill/>
        </p:spPr>
        <p:txBody>
          <a:bodyPr wrap="square" anchor="ctr" lIns="45720" rIns="45720">
            <a:spAutoFit/>
          </a:bodyPr>
          <a:lstStyle/>
          <a:p>
            <a:pPr algn="l"/>
            <a:r>
              <a:rPr sz="3000" b="1">
                <a:solidFill>
                  <a:srgbClr val="1F2937"/>
                </a:solidFill>
                <a:latin typeface="Calibri"/>
              </a:rPr>
              <a:t>References</a:t>
            </a:r>
          </a:p>
        </p:txBody>
      </p:sp>
      <p:sp>
        <p:nvSpPr>
          <p:cNvPr id="4" name="TextBox 3"/>
          <p:cNvSpPr txBox="1"/>
          <p:nvPr/>
        </p:nvSpPr>
        <p:spPr>
          <a:xfrm>
            <a:off x="548640" y="6400800"/>
            <a:ext cx="10362895" cy="320040"/>
          </a:xfrm>
          <a:prstGeom prst="rect">
            <a:avLst/>
          </a:prstGeom>
          <a:noFill/>
        </p:spPr>
        <p:txBody>
          <a:bodyPr wrap="square" anchor="t" lIns="45720" rIns="45720">
            <a:spAutoFit/>
          </a:bodyPr>
          <a:lstStyle/>
          <a:p>
            <a:pPr algn="l"/>
            <a:r>
              <a:rPr sz="1100" b="0">
                <a:solidFill>
                  <a:srgbClr val="6B7280"/>
                </a:solidFill>
                <a:latin typeface="Calibri"/>
              </a:rPr>
              <a:t>Software Development using AI  ·  W08.S2</a:t>
            </a:r>
          </a:p>
        </p:txBody>
      </p:sp>
      <p:sp>
        <p:nvSpPr>
          <p:cNvPr id="5" name="TextBox 4"/>
          <p:cNvSpPr txBox="1"/>
          <p:nvPr/>
        </p:nvSpPr>
        <p:spPr>
          <a:xfrm>
            <a:off x="10911535" y="6400800"/>
            <a:ext cx="731520" cy="320040"/>
          </a:xfrm>
          <a:prstGeom prst="rect">
            <a:avLst/>
          </a:prstGeom>
          <a:noFill/>
        </p:spPr>
        <p:txBody>
          <a:bodyPr wrap="square" anchor="t" lIns="45720" rIns="45720">
            <a:spAutoFit/>
          </a:bodyPr>
          <a:lstStyle/>
          <a:p>
            <a:pPr algn="r"/>
            <a:r>
              <a:rPr sz="1100" b="0">
                <a:solidFill>
                  <a:srgbClr val="6B7280"/>
                </a:solidFill>
                <a:latin typeface="Calibri"/>
              </a:rPr>
              <a:t>16</a:t>
            </a:r>
          </a:p>
        </p:txBody>
      </p:sp>
      <p:sp>
        <p:nvSpPr>
          <p:cNvPr id="6" name="TextBox 5"/>
          <p:cNvSpPr txBox="1"/>
          <p:nvPr/>
        </p:nvSpPr>
        <p:spPr>
          <a:xfrm>
            <a:off x="548640" y="1463040"/>
            <a:ext cx="11094415" cy="4754880"/>
          </a:xfrm>
          <a:prstGeom prst="rect">
            <a:avLst/>
          </a:prstGeom>
          <a:noFill/>
        </p:spPr>
        <p:txBody>
          <a:bodyPr wrap="square">
            <a:spAutoFit/>
          </a:bodyPr>
          <a:lstStyle/>
          <a:p>
            <a:pPr marL="292608" indent="-292608">
              <a:spcAft>
                <a:spcPts val="1000"/>
              </a:spcAft>
              <a:buClr>
                <a:srgbClr val="0F766E"/>
              </a:buClr>
              <a:buFont typeface="Arial"/>
              <a:buChar char="▪"/>
            </a:pPr>
            <a:r>
              <a:rPr sz="1800">
                <a:solidFill>
                  <a:srgbClr val="1F2937"/>
                </a:solidFill>
                <a:latin typeface="Calibri"/>
              </a:rPr>
              <a:t>[C1] Competition-level code generation with AlphaCode (2022). https://doi.org/10.1126/science.abq1158</a:t>
            </a:r>
          </a:p>
          <a:p>
            <a:pPr marL="292608" indent="-292608">
              <a:spcAft>
                <a:spcPts val="1000"/>
              </a:spcAft>
              <a:buClr>
                <a:srgbClr val="0F766E"/>
              </a:buClr>
              <a:buFont typeface="Arial"/>
              <a:buChar char="▪"/>
            </a:pPr>
            <a:r>
              <a:rPr sz="1800">
                <a:solidFill>
                  <a:srgbClr val="1F2937"/>
                </a:solidFill>
                <a:latin typeface="Calibri"/>
              </a:rPr>
              <a:t>[C2] SPECIFICATION-DRIVEN DEVELOPMENT AS STRUCTURED APPROACH FOR SOURCE CODE GENERATION (2026). https://doi.org/10.52058/2786-6025-2026-4(58)-2631-2644</a:t>
            </a:r>
          </a:p>
          <a:p>
            <a:pPr marL="292608" indent="-292608">
              <a:spcAft>
                <a:spcPts val="1000"/>
              </a:spcAft>
              <a:buClr>
                <a:srgbClr val="0F766E"/>
              </a:buClr>
              <a:buFont typeface="Arial"/>
              <a:buChar char="▪"/>
            </a:pPr>
            <a:r>
              <a:rPr sz="1800">
                <a:solidFill>
                  <a:srgbClr val="1F2937"/>
                </a:solidFill>
                <a:latin typeface="Calibri"/>
              </a:rPr>
              <a:t>[C3] Complexity Backpressure for AI Coding Agents: A Cross-Model Study on Substantive Software Tasks (2026). https://doi.org/10.1109/sse72781.2026.00047</a:t>
            </a:r>
          </a:p>
          <a:p>
            <a:pPr marL="292608" indent="-292608">
              <a:spcAft>
                <a:spcPts val="1000"/>
              </a:spcAft>
              <a:buClr>
                <a:srgbClr val="0F766E"/>
              </a:buClr>
              <a:buFont typeface="Arial"/>
              <a:buChar char="▪"/>
            </a:pPr>
            <a:r>
              <a:rPr sz="1800">
                <a:solidFill>
                  <a:srgbClr val="1F2937"/>
                </a:solidFill>
                <a:latin typeface="Calibri"/>
              </a:rPr>
              <a:t>[C4] 8 Redefining and Transforming Software Development with Generative AI (2025). https://doi.org/10.1515/9783111677798-008</a:t>
            </a:r>
          </a:p>
          <a:p>
            <a:pPr marL="292608" indent="-292608">
              <a:spcAft>
                <a:spcPts val="1000"/>
              </a:spcAft>
              <a:buClr>
                <a:srgbClr val="0F766E"/>
              </a:buClr>
              <a:buFont typeface="Arial"/>
              <a:buChar char="▪"/>
            </a:pPr>
            <a:r>
              <a:rPr sz="1800">
                <a:solidFill>
                  <a:srgbClr val="1F2937"/>
                </a:solidFill>
                <a:latin typeface="Calibri"/>
              </a:rPr>
              <a:t>[C5] Query Tuning Framework Using the Model Context Protocol for Workflows (2026). https://doi.org/10.2139/ssrn.6172059</a:t>
            </a:r>
          </a:p>
          <a:p>
            <a:pPr marL="292608" indent="-292608">
              <a:spcAft>
                <a:spcPts val="1000"/>
              </a:spcAft>
              <a:buClr>
                <a:srgbClr val="0F766E"/>
              </a:buClr>
              <a:buFont typeface="Arial"/>
              <a:buChar char="▪"/>
            </a:pPr>
            <a:r>
              <a:rPr sz="1800">
                <a:solidFill>
                  <a:srgbClr val="1F2937"/>
                </a:solidFill>
                <a:latin typeface="Calibri"/>
              </a:rPr>
              <a:t>[C6] Autonomous Coding Agents for Software Development Testing and Debugging (2026). https://doi.org/10.2139/ssrn.7515638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