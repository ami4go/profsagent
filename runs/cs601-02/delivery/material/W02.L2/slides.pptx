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lecture's learning outcomes from the approved course design. Assessed in: Quiz1, Assign1, Midsem, Endsem.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In this lecture, we examine how autonomous coding agents interact with development workspaces through context engineering and tool protocols. An agent's effectiveness depends heavily on what context it receives in its prompt window. Context engineering goes beyond basic prompt writing; it involves structuring workspace metadata, local file snapshots, and available tools so the agent understands the repository layout. Without structured context, agents frequently hallucinate non-existent methods or misuse libraries. Today, we will explore how tool integration standardizes this flow.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Context Protocol (MCP) provides an open standard connecting agent hosts—such as IDEs or CLI tools—with capability providers known as MCP servers. Rather than hardcoding custom integrations inside the agent codebase, MCP decouples the LLM host from tool execution. An MCP server exposes specific tools, system resources, and contextual prompt templates. The client host discovers these capabilities at startup. This modularity allows developers to plug in custom linters, test runners, or database inspection tools cleanly without altering the underlying agent logic.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vital to understand how MCP host-server communication works. MCP relies on the JSON-RPC 2.0 protocol over two primary transports: stdio for local subprocesses and SSE (Server-Sent Events) for remote network connections. Tool registration does not involve calling a central REST API endpoint or sending POST requests to a central registry service. Instead, when the client host starts, it initiates a bidirectional JSON-RPC handshake directly with configured local or remote MCP servers. The host sends a tools/list request, and the server returns JSON schemas describing available functions and expected parameters.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 engineering balances precision and token consumption. Providing full source files for large codebases exhausts context windows quickly and introduces noise. Effective context engineering selectively feeds relevant snippets, static analysis diagnostics, and test results into the agent prompt window. Accurate tool schemas are critical: clear descriptions guide the model on when to trigger an execution. Furthermore, tool outputs must be truncated or formatted cleanly to prevent context pollution from obscure stack traces or verbose logs.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walk through configuring a custom tool step by step. Suppose we want our agent to trigger local JUnit tests. First, we define the tool schema, specifying required inputs like the test class name. Second, we write the server script using an MCP SDK, binding the tool handler to execute the build tool CLI. Third, in the agent host config—such as mcp_config.json—we add an entry under mcpServers pointing to our executable over stdio. Finally, we launch the client host and check that the server initializes without warnings and responds correctly to tool requests.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concrete example of integrating static analyzers alongside unit test runners. When an agent generates code, it triggers a static analysis tool server via MCP. If the static analyzer flags missing imports or type mismatches, the tool returns formatted JSON diagnostic messages back to the agent. The agent processes these structured errors, modifies the source code, and runs the unit test tool. This feedback loop continues until the static analyzer reports zero configuration warnings and all public integration tests pass successfully.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minute to answer this question individually. Think about how the host client establishes communication with local vs remote tools under the Model Context Protocol.</a:t>
            </a:r>
          </a:p>
          <a:p/>
          <a:p>
            <a:r>
              <a:t>Answer: B. By sending a JSON-RPC 2.0 tools/list request over stdio or SSE transport.</a:t>
            </a:r>
          </a:p>
          <a:p>
            <a:r>
              <a:t>MCP servers expose tools directly to host environments via JSON-RPC 2.0 messages transmitted over stdio (for local servers) or SSE (for remote servers). Host environments discover tools by requesting 'tools/list' during connection initialization. Option 0 is incorrect because MCP does not rely on a central REST API endpoint or registry service.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achieve a seamless workspace integration, configuration hygiene is essential. Common issues include schema validation errors, missing environment variables, or tool execution timeouts. When an MCP server returns unhandled stdout noise, static analyzers or client hosts may flag configuration warnings. Developers should run pre-flight checks: verifying that tool execution commands execute headlessly without waiting for user input, validating JSON Schemas against standard specifications, and ensuring that all paths in the host config resolve cleanly on the development machine.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configuring custom tools for AI coding agents requires understanding both context engineering and protocol-level integration. By using the Model Context Protocol over stdio or SSE, host applications can dynamically discover and execute custom tools like test runners and static analyzers via JSON-RPC 2.0. Clean tool definitions, precise schemas, and thorough validation eliminate warnings and enable autonomous agents to pass all public integration tests reliably.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45775" cy="457200"/>
          </a:xfrm>
          <a:prstGeom prst="rect">
            <a:avLst/>
          </a:prstGeom>
          <a:noFill/>
        </p:spPr>
        <p:txBody>
          <a:bodyPr wrap="square" anchor="t" lIns="45720" rIns="45720">
            <a:spAutoFit/>
          </a:bodyPr>
          <a:lstStyle/>
          <a:p>
            <a:pPr algn="l"/>
            <a:r>
              <a:rPr sz="1800" b="0">
                <a:solidFill>
                  <a:srgbClr val="CCFBF1"/>
                </a:solidFill>
                <a:latin typeface="Calibri"/>
              </a:rPr>
              <a:t>Software Development using AI</a:t>
            </a:r>
          </a:p>
        </p:txBody>
      </p:sp>
      <p:sp>
        <p:nvSpPr>
          <p:cNvPr id="4" name="TextBox 3"/>
          <p:cNvSpPr txBox="1"/>
          <p:nvPr/>
        </p:nvSpPr>
        <p:spPr>
          <a:xfrm>
            <a:off x="822960" y="1828800"/>
            <a:ext cx="10545775" cy="2011680"/>
          </a:xfrm>
          <a:prstGeom prst="rect">
            <a:avLst/>
          </a:prstGeom>
          <a:noFill/>
        </p:spPr>
        <p:txBody>
          <a:bodyPr wrap="square" anchor="ctr" lIns="45720" rIns="45720">
            <a:spAutoFit/>
          </a:bodyPr>
          <a:lstStyle/>
          <a:p>
            <a:pPr algn="l"/>
            <a:r>
              <a:rPr sz="4400" b="1">
                <a:solidFill>
                  <a:srgbClr val="CCFBF1"/>
                </a:solidFill>
                <a:latin typeface="Calibri"/>
              </a:rPr>
              <a:t>Coding agents and context engineering</a:t>
            </a:r>
          </a:p>
        </p:txBody>
      </p:sp>
      <p:sp>
        <p:nvSpPr>
          <p:cNvPr id="5" name="TextBox 4"/>
          <p:cNvSpPr txBox="1"/>
          <p:nvPr/>
        </p:nvSpPr>
        <p:spPr>
          <a:xfrm>
            <a:off x="822960" y="4023360"/>
            <a:ext cx="10545775" cy="548640"/>
          </a:xfrm>
          <a:prstGeom prst="rect">
            <a:avLst/>
          </a:prstGeom>
          <a:noFill/>
        </p:spPr>
        <p:txBody>
          <a:bodyPr wrap="square" anchor="t" lIns="45720" rIns="45720">
            <a:spAutoFit/>
          </a:bodyPr>
          <a:lstStyle/>
          <a:p>
            <a:pPr algn="l"/>
            <a:r>
              <a:rPr sz="1800" b="0">
                <a:solidFill>
                  <a:srgbClr val="CCFBF1"/>
                </a:solidFill>
                <a:latin typeface="Calibri"/>
              </a:rPr>
              <a:t>Week 2 · Agent Workspaces and Tool Integrations · 1 h</a:t>
            </a:r>
          </a:p>
        </p:txBody>
      </p:sp>
      <p:sp>
        <p:nvSpPr>
          <p:cNvPr id="6" name="TextBox 5"/>
          <p:cNvSpPr txBox="1"/>
          <p:nvPr/>
        </p:nvSpPr>
        <p:spPr>
          <a:xfrm>
            <a:off x="822960" y="6035040"/>
            <a:ext cx="10545775" cy="365760"/>
          </a:xfrm>
          <a:prstGeom prst="rect">
            <a:avLst/>
          </a:prstGeom>
          <a:noFill/>
        </p:spPr>
        <p:txBody>
          <a:bodyPr wrap="square" anchor="t" lIns="45720" rIns="45720">
            <a:spAutoFit/>
          </a:bodyPr>
          <a:lstStyle/>
          <a:p>
            <a:pPr algn="l"/>
            <a:r>
              <a:rPr sz="1200" b="0">
                <a:solidFill>
                  <a:srgbClr val="CCFBF1"/>
                </a:solidFill>
                <a:latin typeface="Calibri"/>
              </a:rPr>
              <a:t>Draft generated by ProfsAgent from the course design: review and edit before teaching.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By the end of this lecture you can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W02.L2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2</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Configure custom tool integrations within agent workspaces using model context protocols, with all public tests passing and no warnings from the configured static analyser (CO1.LO2)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Agent Workspaces and Context Engineering</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W02.L2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3</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Coding agents rely on structured workspace context to generate accurate code.</a:t>
            </a:r>
          </a:p>
          <a:p>
            <a:pPr marL="292608" indent="-292608">
              <a:spcAft>
                <a:spcPts val="1000"/>
              </a:spcAft>
              <a:buClr>
                <a:srgbClr val="0F766E"/>
              </a:buClr>
              <a:buFont typeface="Arial"/>
              <a:buChar char="▪"/>
            </a:pPr>
            <a:r>
              <a:rPr sz="2400">
                <a:solidFill>
                  <a:srgbClr val="1F2937"/>
                </a:solidFill>
                <a:latin typeface="Calibri"/>
              </a:rPr>
              <a:t>Context engineering curates prompts, project files, and tool definitions for the agent.</a:t>
            </a:r>
          </a:p>
          <a:p>
            <a:pPr marL="292608" indent="-292608">
              <a:spcAft>
                <a:spcPts val="1000"/>
              </a:spcAft>
              <a:buClr>
                <a:srgbClr val="0F766E"/>
              </a:buClr>
              <a:buFont typeface="Arial"/>
              <a:buChar char="▪"/>
            </a:pPr>
            <a:r>
              <a:rPr sz="2400">
                <a:solidFill>
                  <a:srgbClr val="1F2937"/>
                </a:solidFill>
                <a:latin typeface="Calibri"/>
              </a:rPr>
              <a:t>Poor context configuration leads to hallucinated dependencies and execution failures.</a:t>
            </a:r>
          </a:p>
          <a:p>
            <a:pPr marL="292608" indent="-292608">
              <a:spcAft>
                <a:spcPts val="1000"/>
              </a:spcAft>
              <a:buClr>
                <a:srgbClr val="0F766E"/>
              </a:buClr>
              <a:buFont typeface="Arial"/>
              <a:buChar char="▪"/>
            </a:pPr>
            <a:r>
              <a:rPr sz="2400">
                <a:solidFill>
                  <a:srgbClr val="1F2937"/>
                </a:solidFill>
                <a:latin typeface="Calibri"/>
              </a:rPr>
              <a:t>Integration with development tools expands agent capabilities dynamically in the workspace.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Model Context Protocol (MCP) Architecture</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W02.L2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4</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MCP standardizes communication between host environments and language model agents.</a:t>
            </a:r>
          </a:p>
          <a:p>
            <a:pPr marL="292608" indent="-292608">
              <a:spcAft>
                <a:spcPts val="1000"/>
              </a:spcAft>
              <a:buClr>
                <a:srgbClr val="0F766E"/>
              </a:buClr>
              <a:buFont typeface="Arial"/>
              <a:buChar char="▪"/>
            </a:pPr>
            <a:r>
              <a:rPr sz="2300">
                <a:solidFill>
                  <a:srgbClr val="1F2937"/>
                </a:solidFill>
                <a:latin typeface="Calibri"/>
              </a:rPr>
              <a:t>Hosts run MCP client interfaces connected to lightweight local or remote servers.</a:t>
            </a:r>
          </a:p>
          <a:p>
            <a:pPr marL="292608" indent="-292608">
              <a:spcAft>
                <a:spcPts val="1000"/>
              </a:spcAft>
              <a:buClr>
                <a:srgbClr val="0F766E"/>
              </a:buClr>
              <a:buFont typeface="Arial"/>
              <a:buChar char="▪"/>
            </a:pPr>
            <a:r>
              <a:rPr sz="2300">
                <a:solidFill>
                  <a:srgbClr val="1F2937"/>
                </a:solidFill>
                <a:latin typeface="Calibri"/>
              </a:rPr>
              <a:t>Servers expose tools, resources, and prompt templates without hardcoding API endpoints.</a:t>
            </a:r>
          </a:p>
          <a:p>
            <a:pPr marL="292608" indent="-292608">
              <a:spcAft>
                <a:spcPts val="1000"/>
              </a:spcAft>
              <a:buClr>
                <a:srgbClr val="0F766E"/>
              </a:buClr>
              <a:buFont typeface="Arial"/>
              <a:buChar char="▪"/>
            </a:pPr>
            <a:r>
              <a:rPr sz="2300">
                <a:solidFill>
                  <a:srgbClr val="1F2937"/>
                </a:solidFill>
                <a:latin typeface="Calibri"/>
              </a:rPr>
              <a:t>Separation of host and server promotes modular and secure tool extensions.</a:t>
            </a:r>
          </a:p>
        </p:txBody>
      </p:sp>
      <p:sp>
        <p:nvSpPr>
          <p:cNvPr id="7" name="Rounded Rectangle 6"/>
          <p:cNvSpPr/>
          <p:nvPr/>
        </p:nvSpPr>
        <p:spPr>
          <a:xfrm>
            <a:off x="6683495" y="1600200"/>
            <a:ext cx="4959560" cy="86868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Client Host Environment</a:t>
            </a:r>
          </a:p>
        </p:txBody>
      </p:sp>
      <p:sp>
        <p:nvSpPr>
          <p:cNvPr id="8" name="Down Arrow 7"/>
          <p:cNvSpPr/>
          <p:nvPr/>
        </p:nvSpPr>
        <p:spPr>
          <a:xfrm>
            <a:off x="9026115" y="249631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788920"/>
            <a:ext cx="4959560" cy="86868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MCP Client Protocol Layer</a:t>
            </a:r>
          </a:p>
        </p:txBody>
      </p:sp>
      <p:sp>
        <p:nvSpPr>
          <p:cNvPr id="10" name="Down Arrow 9"/>
          <p:cNvSpPr/>
          <p:nvPr/>
        </p:nvSpPr>
        <p:spPr>
          <a:xfrm>
            <a:off x="9026115" y="368503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977640"/>
            <a:ext cx="4959560" cy="86868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JSON-RPC Transport</a:t>
            </a:r>
          </a:p>
        </p:txBody>
      </p:sp>
      <p:sp>
        <p:nvSpPr>
          <p:cNvPr id="12" name="Down Arrow 11"/>
          <p:cNvSpPr/>
          <p:nvPr/>
        </p:nvSpPr>
        <p:spPr>
          <a:xfrm>
            <a:off x="9026115" y="487375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5166360"/>
            <a:ext cx="4959560" cy="86868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MCP Server Tool Execution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Communication via JSON-RPC 2.0 and Transports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W02.L2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5</a:t>
            </a:r>
          </a:p>
        </p:txBody>
      </p:sp>
      <p:sp>
        <p:nvSpPr>
          <p:cNvPr id="6" name="TextBox 5"/>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200">
                <a:solidFill>
                  <a:srgbClr val="1F2937"/>
                </a:solidFill>
                <a:latin typeface="Calibri"/>
              </a:rPr>
              <a:t>MCP exchanges messages using standard JSON-RPC 2.0 requests and responses.</a:t>
            </a:r>
          </a:p>
          <a:p>
            <a:pPr marL="292608" indent="-292608">
              <a:spcAft>
                <a:spcPts val="1000"/>
              </a:spcAft>
              <a:buClr>
                <a:srgbClr val="0F766E"/>
              </a:buClr>
              <a:buFont typeface="Arial"/>
              <a:buChar char="▪"/>
            </a:pPr>
            <a:r>
              <a:rPr sz="2200">
                <a:solidFill>
                  <a:srgbClr val="1F2937"/>
                </a:solidFill>
                <a:latin typeface="Calibri"/>
              </a:rPr>
              <a:t>Local MCP servers communicate over standard input/output (stdio) channels.</a:t>
            </a:r>
          </a:p>
          <a:p>
            <a:pPr marL="292608" indent="-292608">
              <a:spcAft>
                <a:spcPts val="1000"/>
              </a:spcAft>
              <a:buClr>
                <a:srgbClr val="0F766E"/>
              </a:buClr>
              <a:buFont typeface="Arial"/>
              <a:buChar char="▪"/>
            </a:pPr>
            <a:r>
              <a:rPr sz="2200">
                <a:solidFill>
                  <a:srgbClr val="1F2937"/>
                </a:solidFill>
                <a:latin typeface="Calibri"/>
              </a:rPr>
              <a:t>Remote MCP servers use Server-Sent Events (SSE) with HTTP POST messages.</a:t>
            </a:r>
          </a:p>
          <a:p>
            <a:pPr marL="292608" indent="-292608">
              <a:spcAft>
                <a:spcPts val="1000"/>
              </a:spcAft>
              <a:buClr>
                <a:srgbClr val="0F766E"/>
              </a:buClr>
              <a:buFont typeface="Arial"/>
              <a:buChar char="▪"/>
            </a:pPr>
            <a:r>
              <a:rPr sz="2200">
                <a:solidFill>
                  <a:srgbClr val="1F2937"/>
                </a:solidFill>
                <a:latin typeface="Calibri"/>
              </a:rPr>
              <a:t>Tool discovery occurs dynamically via protocol handshakes rather than REST registries.</a:t>
            </a:r>
          </a:p>
        </p:txBody>
      </p:sp>
      <p:sp>
        <p:nvSpPr>
          <p:cNvPr id="7" name="Rounded Rectangle 6"/>
          <p:cNvSpPr/>
          <p:nvPr/>
        </p:nvSpPr>
        <p:spPr>
          <a:xfrm>
            <a:off x="5574054" y="1463040"/>
            <a:ext cx="6069001" cy="470916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56934" y="1600200"/>
            <a:ext cx="5703241" cy="4434840"/>
          </a:xfrm>
          <a:prstGeom prst="rect">
            <a:avLst/>
          </a:prstGeom>
          <a:noFill/>
        </p:spPr>
        <p:txBody>
          <a:bodyPr wrap="none" anchor="t" lIns="45720" rIns="45720">
            <a:spAutoFit/>
          </a:bodyPr>
          <a:lstStyle/>
          <a:p>
            <a:pPr algn="l"/>
            <a:r>
              <a:rPr sz="1100" b="0">
                <a:solidFill>
                  <a:srgbClr val="CCFBF1"/>
                </a:solidFill>
                <a:latin typeface="Consolas"/>
              </a:rPr>
              <a:t>json</a:t>
            </a:r>
          </a:p>
          <a:p>
            <a:pPr algn="l"/>
            <a:r>
              <a:rPr sz="1400" b="0">
                <a:solidFill>
                  <a:srgbClr val="E5E7EB"/>
                </a:solidFill>
                <a:latin typeface="Consolas"/>
              </a:rPr>
              <a:t>{</a:t>
            </a:r>
          </a:p>
          <a:p>
            <a:pPr algn="l"/>
            <a:r>
              <a:rPr sz="1400" b="0">
                <a:solidFill>
                  <a:srgbClr val="E5E7EB"/>
                </a:solidFill>
                <a:latin typeface="Consolas"/>
              </a:rPr>
              <a:t>  "jsonrpc": "2.0",</a:t>
            </a:r>
          </a:p>
          <a:p>
            <a:pPr algn="l"/>
            <a:r>
              <a:rPr sz="1400" b="0">
                <a:solidFill>
                  <a:srgbClr val="E5E7EB"/>
                </a:solidFill>
                <a:latin typeface="Consolas"/>
              </a:rPr>
              <a:t>  "method": "tools/list",</a:t>
            </a:r>
          </a:p>
          <a:p>
            <a:pPr algn="l"/>
            <a:r>
              <a:rPr sz="1400" b="0">
                <a:solidFill>
                  <a:srgbClr val="E5E7EB"/>
                </a:solidFill>
                <a:latin typeface="Consolas"/>
              </a:rPr>
              <a:t>  "params": {}</a:t>
            </a:r>
          </a:p>
          <a:p>
            <a:pPr algn="l"/>
            <a:r>
              <a:rPr sz="1400" b="0">
                <a:solidFill>
                  <a:srgbClr val="E5E7EB"/>
                </a:solidFill>
                <a:latin typeface="Consolas"/>
              </a:rPr>
              <a:t>}</a:t>
            </a:r>
          </a:p>
          <a:p>
            <a:pPr algn="l"/>
            <a:r>
              <a:rPr sz="1400" b="0">
                <a:solidFill>
                  <a:srgbClr val="E5E7EB"/>
                </a:solidFill>
                <a:latin typeface="Consolas"/>
              </a:rPr>
              <a:t>// Response from MCP Server:</a:t>
            </a:r>
          </a:p>
          <a:p>
            <a:pPr algn="l"/>
            <a:r>
              <a:rPr sz="1400" b="0">
                <a:solidFill>
                  <a:srgbClr val="E5E7EB"/>
                </a:solidFill>
                <a:latin typeface="Consolas"/>
              </a:rPr>
              <a:t>{</a:t>
            </a:r>
          </a:p>
          <a:p>
            <a:pPr algn="l"/>
            <a:r>
              <a:rPr sz="1400" b="0">
                <a:solidFill>
                  <a:srgbClr val="E5E7EB"/>
                </a:solidFill>
                <a:latin typeface="Consolas"/>
              </a:rPr>
              <a:t>  "jsonrpc": "2.0",</a:t>
            </a:r>
          </a:p>
          <a:p>
            <a:pPr algn="l"/>
            <a:r>
              <a:rPr sz="1400" b="0">
                <a:solidFill>
                  <a:srgbClr val="E5E7EB"/>
                </a:solidFill>
                <a:latin typeface="Consolas"/>
              </a:rPr>
              <a:t>  "result": {</a:t>
            </a:r>
          </a:p>
          <a:p>
            <a:pPr algn="l"/>
            <a:r>
              <a:rPr sz="1400" b="0">
                <a:solidFill>
                  <a:srgbClr val="E5E7EB"/>
                </a:solidFill>
                <a:latin typeface="Consolas"/>
              </a:rPr>
              <a:t>    "tools": [{</a:t>
            </a:r>
          </a:p>
          <a:p>
            <a:pPr algn="l"/>
            <a:r>
              <a:rPr sz="1400" b="0">
                <a:solidFill>
                  <a:srgbClr val="E5E7EB"/>
                </a:solidFill>
                <a:latin typeface="Consolas"/>
              </a:rPr>
              <a:t>      "name": "run_linter",</a:t>
            </a:r>
          </a:p>
          <a:p>
            <a:pPr algn="l"/>
            <a:r>
              <a:rPr sz="1400" b="0">
                <a:solidFill>
                  <a:srgbClr val="E5E7EB"/>
                </a:solidFill>
                <a:latin typeface="Consolas"/>
              </a:rPr>
              <a:t>      "description": "Executes static code analysis",</a:t>
            </a:r>
          </a:p>
          <a:p>
            <a:pPr algn="l"/>
            <a:r>
              <a:rPr sz="1400" b="0">
                <a:solidFill>
                  <a:srgbClr val="E5E7EB"/>
                </a:solidFill>
                <a:latin typeface="Consolas"/>
              </a:rPr>
              <a:t>      "inputSchema": { "type": "object" }</a:t>
            </a:r>
          </a:p>
          <a:p>
            <a:pPr algn="l"/>
            <a:r>
              <a:rPr sz="1400" b="0">
                <a:solidFill>
                  <a:srgbClr val="E5E7EB"/>
                </a:solidFill>
                <a:latin typeface="Consolas"/>
              </a:rPr>
              <a:t>    }]</a:t>
            </a:r>
          </a:p>
          <a:p>
            <a:pPr algn="l"/>
            <a:r>
              <a:rPr sz="1400" b="0">
                <a:solidFill>
                  <a:srgbClr val="E5E7EB"/>
                </a:solidFill>
                <a:latin typeface="Consolas"/>
              </a:rPr>
              <a:t>  },</a:t>
            </a:r>
          </a:p>
          <a:p>
            <a:pPr algn="l"/>
            <a:r>
              <a:rPr sz="1400" b="0">
                <a:solidFill>
                  <a:srgbClr val="E5E7EB"/>
                </a:solidFill>
                <a:latin typeface="Consolas"/>
              </a:rPr>
              <a:t>  "id": 1</a:t>
            </a:r>
          </a:p>
          <a:p>
            <a:pPr algn="l"/>
            <a:r>
              <a:rPr sz="1400" b="0">
                <a:solidFill>
                  <a:srgbClr val="E5E7EB"/>
                </a:solidFill>
                <a:latin typeface="Consolas"/>
              </a:rP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Context Engineering Strategies for Agents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W02.L2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6</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Dynamic context retrieval limits token overhead while preserving key signals.</a:t>
            </a:r>
          </a:p>
          <a:p>
            <a:pPr marL="292608" indent="-292608">
              <a:spcAft>
                <a:spcPts val="1000"/>
              </a:spcAft>
              <a:buClr>
                <a:srgbClr val="0F766E"/>
              </a:buClr>
              <a:buFont typeface="Arial"/>
              <a:buChar char="▪"/>
            </a:pPr>
            <a:r>
              <a:rPr sz="2400">
                <a:solidFill>
                  <a:srgbClr val="1F2937"/>
                </a:solidFill>
                <a:latin typeface="Calibri"/>
              </a:rPr>
              <a:t>System prompts define agent roles, tool usage constraints, and output formats.</a:t>
            </a:r>
          </a:p>
          <a:p>
            <a:pPr marL="292608" indent="-292608">
              <a:spcAft>
                <a:spcPts val="1000"/>
              </a:spcAft>
              <a:buClr>
                <a:srgbClr val="0F766E"/>
              </a:buClr>
              <a:buFont typeface="Arial"/>
              <a:buChar char="▪"/>
            </a:pPr>
            <a:r>
              <a:rPr sz="2400">
                <a:solidFill>
                  <a:srgbClr val="1F2937"/>
                </a:solidFill>
                <a:latin typeface="Calibri"/>
              </a:rPr>
              <a:t>Tool schema descriptions direct when and how the model invokes tools.</a:t>
            </a:r>
          </a:p>
          <a:p>
            <a:pPr marL="292608" indent="-292608">
              <a:spcAft>
                <a:spcPts val="1000"/>
              </a:spcAft>
              <a:buClr>
                <a:srgbClr val="0F766E"/>
              </a:buClr>
              <a:buFont typeface="Arial"/>
              <a:buChar char="▪"/>
            </a:pPr>
            <a:r>
              <a:rPr sz="2400">
                <a:solidFill>
                  <a:srgbClr val="1F2937"/>
                </a:solidFill>
                <a:latin typeface="Calibri"/>
              </a:rPr>
              <a:t>Context pollution occurs when excessive unformatted tool output fills the prompt.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Configuring a Custom MCP Tool Step-by-Step</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Worked problem</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W02.L2   ·   Sources: [C1]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7</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1800">
                <a:solidFill>
                  <a:srgbClr val="1F2937"/>
                </a:solidFill>
                <a:latin typeface="Calibri"/>
              </a:rPr>
              <a:t>Problem: Expose a local test runner as an MCP tool within an agent workspace.</a:t>
            </a:r>
          </a:p>
          <a:p>
            <a:pPr marL="292608" indent="-292608">
              <a:spcAft>
                <a:spcPts val="1000"/>
              </a:spcAft>
              <a:buClr>
                <a:srgbClr val="0F766E"/>
              </a:buClr>
              <a:buFont typeface="Arial"/>
              <a:buChar char="▪"/>
            </a:pPr>
            <a:r>
              <a:rPr sz="1800">
                <a:solidFill>
                  <a:srgbClr val="1F2937"/>
                </a:solidFill>
                <a:latin typeface="Calibri"/>
              </a:rPr>
              <a:t>Step 1: Define tool metadata and input parameters using JSON Schema.</a:t>
            </a:r>
          </a:p>
          <a:p>
            <a:pPr marL="292608" indent="-292608">
              <a:spcAft>
                <a:spcPts val="1000"/>
              </a:spcAft>
              <a:buClr>
                <a:srgbClr val="0F766E"/>
              </a:buClr>
              <a:buFont typeface="Arial"/>
              <a:buChar char="▪"/>
            </a:pPr>
            <a:r>
              <a:rPr sz="1800">
                <a:solidFill>
                  <a:srgbClr val="1F2937"/>
                </a:solidFill>
                <a:latin typeface="Calibri"/>
              </a:rPr>
              <a:t>Step 2: Implement JSON-RPC handler to execute test commands over stdio.</a:t>
            </a:r>
          </a:p>
          <a:p>
            <a:pPr marL="292608" indent="-292608">
              <a:spcAft>
                <a:spcPts val="1000"/>
              </a:spcAft>
              <a:buClr>
                <a:srgbClr val="0F766E"/>
              </a:buClr>
              <a:buFont typeface="Arial"/>
              <a:buChar char="▪"/>
            </a:pPr>
            <a:r>
              <a:rPr sz="1800">
                <a:solidFill>
                  <a:srgbClr val="1F2937"/>
                </a:solidFill>
                <a:latin typeface="Calibri"/>
              </a:rPr>
              <a:t>Step 3: Register server entry in host workspace configuration file.</a:t>
            </a:r>
          </a:p>
          <a:p>
            <a:pPr marL="292608" indent="-292608">
              <a:spcAft>
                <a:spcPts val="1000"/>
              </a:spcAft>
              <a:buClr>
                <a:srgbClr val="0F766E"/>
              </a:buClr>
              <a:buFont typeface="Arial"/>
              <a:buChar char="▪"/>
            </a:pPr>
            <a:r>
              <a:rPr sz="1800">
                <a:solidFill>
                  <a:srgbClr val="1F2937"/>
                </a:solidFill>
                <a:latin typeface="Calibri"/>
              </a:rPr>
              <a:t>Step 4: Verify tool availability and argument parsing via RPC logs.</a:t>
            </a:r>
          </a:p>
        </p:txBody>
      </p:sp>
      <p:sp>
        <p:nvSpPr>
          <p:cNvPr id="8" name="Rounded Rectangle 7"/>
          <p:cNvSpPr/>
          <p:nvPr/>
        </p:nvSpPr>
        <p:spPr>
          <a:xfrm>
            <a:off x="5574054" y="1463040"/>
            <a:ext cx="6069001" cy="470916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434840"/>
          </a:xfrm>
          <a:prstGeom prst="rect">
            <a:avLst/>
          </a:prstGeom>
          <a:noFill/>
        </p:spPr>
        <p:txBody>
          <a:bodyPr wrap="none" anchor="t" lIns="45720" rIns="45720">
            <a:spAutoFit/>
          </a:bodyPr>
          <a:lstStyle/>
          <a:p>
            <a:pPr algn="l"/>
            <a:r>
              <a:rPr sz="1100" b="0">
                <a:solidFill>
                  <a:srgbClr val="CCFBF1"/>
                </a:solidFill>
                <a:latin typeface="Consolas"/>
              </a:rPr>
              <a:t>json</a:t>
            </a:r>
          </a:p>
          <a:p>
            <a:pPr algn="l"/>
            <a:r>
              <a:rPr sz="1400" b="0">
                <a:solidFill>
                  <a:srgbClr val="E5E7EB"/>
                </a:solidFill>
                <a:latin typeface="Consolas"/>
              </a:rPr>
              <a:t>{</a:t>
            </a:r>
          </a:p>
          <a:p>
            <a:pPr algn="l"/>
            <a:r>
              <a:rPr sz="1400" b="0">
                <a:solidFill>
                  <a:srgbClr val="E5E7EB"/>
                </a:solidFill>
                <a:latin typeface="Consolas"/>
              </a:rPr>
              <a:t>  "mcpServers": {</a:t>
            </a:r>
          </a:p>
          <a:p>
            <a:pPr algn="l"/>
            <a:r>
              <a:rPr sz="1400" b="0">
                <a:solidFill>
                  <a:srgbClr val="E5E7EB"/>
                </a:solidFill>
                <a:latin typeface="Consolas"/>
              </a:rPr>
              <a:t>    "junit-runner": {</a:t>
            </a:r>
          </a:p>
          <a:p>
            <a:pPr algn="l"/>
            <a:r>
              <a:rPr sz="1400" b="0">
                <a:solidFill>
                  <a:srgbClr val="E5E7EB"/>
                </a:solidFill>
                <a:latin typeface="Consolas"/>
              </a:rPr>
              <a:t>      "command": "node",</a:t>
            </a:r>
          </a:p>
          <a:p>
            <a:pPr algn="l"/>
            <a:r>
              <a:rPr sz="1400" b="0">
                <a:solidFill>
                  <a:srgbClr val="E5E7EB"/>
                </a:solidFill>
                <a:latin typeface="Consolas"/>
              </a:rPr>
              <a:t>      "args": ["./mcp-servers/junit-server.js"],</a:t>
            </a:r>
          </a:p>
          <a:p>
            <a:pPr algn="l"/>
            <a:r>
              <a:rPr sz="1400" b="0">
                <a:solidFill>
                  <a:srgbClr val="E5E7EB"/>
                </a:solidFill>
                <a:latin typeface="Consolas"/>
              </a:rPr>
              <a:t>      "env": {</a:t>
            </a:r>
          </a:p>
          <a:p>
            <a:pPr algn="l"/>
            <a:r>
              <a:rPr sz="1400" b="0">
                <a:solidFill>
                  <a:srgbClr val="E5E7EB"/>
                </a:solidFill>
                <a:latin typeface="Consolas"/>
              </a:rPr>
              <a:t>        "TEST_PATH": "./src/test/java"</a:t>
            </a:r>
          </a:p>
          <a:p>
            <a:pPr algn="l"/>
            <a:r>
              <a:rPr sz="1400" b="0">
                <a:solidFill>
                  <a:srgbClr val="E5E7EB"/>
                </a:solidFill>
                <a:latin typeface="Consolas"/>
              </a:rPr>
              <a:t>      }</a:t>
            </a:r>
          </a:p>
          <a:p>
            <a:pPr algn="l"/>
            <a:r>
              <a:rPr sz="1400" b="0">
                <a:solidFill>
                  <a:srgbClr val="E5E7EB"/>
                </a:solidFill>
                <a:latin typeface="Consolas"/>
              </a:rPr>
              <a:t>    }</a:t>
            </a:r>
          </a:p>
          <a:p>
            <a:pPr algn="l"/>
            <a:r>
              <a:rPr sz="1400" b="0">
                <a:solidFill>
                  <a:srgbClr val="E5E7EB"/>
                </a:solidFill>
                <a:latin typeface="Consolas"/>
              </a:rPr>
              <a:t>  }</a:t>
            </a:r>
          </a:p>
          <a:p>
            <a:pPr algn="l"/>
            <a:r>
              <a:rPr sz="1400" b="0">
                <a:solidFill>
                  <a:srgbClr val="E5E7EB"/>
                </a:solidFill>
                <a:latin typeface="Consolas"/>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Integrating Static Analysis and Testing Tools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W02.L2   ·   Sources: [C1]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8</a:t>
            </a:r>
          </a:p>
        </p:txBody>
      </p:sp>
      <p:sp>
        <p:nvSpPr>
          <p:cNvPr id="7" name="TextBox 6"/>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Static analyzers check for code style, security flaws, and type errors.</a:t>
            </a:r>
          </a:p>
          <a:p>
            <a:pPr marL="292608" indent="-292608">
              <a:spcAft>
                <a:spcPts val="1000"/>
              </a:spcAft>
              <a:buClr>
                <a:srgbClr val="0F766E"/>
              </a:buClr>
              <a:buFont typeface="Arial"/>
              <a:buChar char="▪"/>
            </a:pPr>
            <a:r>
              <a:rPr sz="2300">
                <a:solidFill>
                  <a:srgbClr val="1F2937"/>
                </a:solidFill>
                <a:latin typeface="Calibri"/>
              </a:rPr>
              <a:t>Agents receive diagnostics as structured feedback loops directly in context.</a:t>
            </a:r>
          </a:p>
          <a:p>
            <a:pPr marL="292608" indent="-292608">
              <a:spcAft>
                <a:spcPts val="1000"/>
              </a:spcAft>
              <a:buClr>
                <a:srgbClr val="0F766E"/>
              </a:buClr>
              <a:buFont typeface="Arial"/>
              <a:buChar char="▪"/>
            </a:pPr>
            <a:r>
              <a:rPr sz="2300">
                <a:solidFill>
                  <a:srgbClr val="1F2937"/>
                </a:solidFill>
                <a:latin typeface="Calibri"/>
              </a:rPr>
              <a:t>Custom tool wrappers parse raw build output into clean MCP tool results.</a:t>
            </a:r>
          </a:p>
          <a:p>
            <a:pPr marL="292608" indent="-292608">
              <a:spcAft>
                <a:spcPts val="1000"/>
              </a:spcAft>
              <a:buClr>
                <a:srgbClr val="0F766E"/>
              </a:buClr>
              <a:buFont typeface="Arial"/>
              <a:buChar char="▪"/>
            </a:pPr>
            <a:r>
              <a:rPr sz="2300">
                <a:solidFill>
                  <a:srgbClr val="1F2937"/>
                </a:solidFill>
                <a:latin typeface="Calibri"/>
              </a:rPr>
              <a:t>Clean tool outputs allow agents to iteratively fix bugs until all tests pass.</a:t>
            </a:r>
          </a:p>
        </p:txBody>
      </p:sp>
      <p:sp>
        <p:nvSpPr>
          <p:cNvPr id="8" name="Rounded Rectangle 7"/>
          <p:cNvSpPr/>
          <p:nvPr/>
        </p:nvSpPr>
        <p:spPr>
          <a:xfrm>
            <a:off x="6683495" y="1463040"/>
            <a:ext cx="4959560" cy="68580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Agent Generates Code</a:t>
            </a:r>
          </a:p>
        </p:txBody>
      </p:sp>
      <p:sp>
        <p:nvSpPr>
          <p:cNvPr id="9" name="Down Arrow 8"/>
          <p:cNvSpPr/>
          <p:nvPr/>
        </p:nvSpPr>
        <p:spPr>
          <a:xfrm>
            <a:off x="9026115" y="217627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683495" y="2468880"/>
            <a:ext cx="4959560" cy="68580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MCP Invokes Static Analyzer</a:t>
            </a:r>
          </a:p>
        </p:txBody>
      </p:sp>
      <p:sp>
        <p:nvSpPr>
          <p:cNvPr id="11" name="Down Arrow 10"/>
          <p:cNvSpPr/>
          <p:nvPr/>
        </p:nvSpPr>
        <p:spPr>
          <a:xfrm>
            <a:off x="9026115" y="318211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683495" y="3474720"/>
            <a:ext cx="4959560" cy="68580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Analyzer Returns Warnings</a:t>
            </a:r>
          </a:p>
        </p:txBody>
      </p:sp>
      <p:sp>
        <p:nvSpPr>
          <p:cNvPr id="13" name="Down Arrow 12"/>
          <p:cNvSpPr/>
          <p:nvPr/>
        </p:nvSpPr>
        <p:spPr>
          <a:xfrm>
            <a:off x="9026115" y="418795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683495" y="4480560"/>
            <a:ext cx="4959560" cy="68580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Agent Iterates &amp; Fixes Code</a:t>
            </a:r>
          </a:p>
        </p:txBody>
      </p:sp>
      <p:sp>
        <p:nvSpPr>
          <p:cNvPr id="15" name="Down Arrow 14"/>
          <p:cNvSpPr/>
          <p:nvPr/>
        </p:nvSpPr>
        <p:spPr>
          <a:xfrm>
            <a:off x="9026115" y="519379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683495" y="5486400"/>
            <a:ext cx="4959560" cy="68580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All Integration Tests Pass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900" b="1">
                <a:solidFill>
                  <a:srgbClr val="1F2937"/>
                </a:solidFill>
                <a:latin typeface="Calibri"/>
              </a:rPr>
              <a:t>Concept Check: MCP Tool Communication Protocol</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W02.L2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9</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600" b="1">
                <a:solidFill>
                  <a:srgbClr val="1F2937"/>
                </a:solidFill>
                <a:latin typeface="Calibri"/>
              </a:rPr>
              <a:t>How does an agent host discover tools provided by a local Model Context Protocol (MCP) server?</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1900" b="0">
                <a:solidFill>
                  <a:srgbClr val="1F2937"/>
                </a:solidFill>
                <a:latin typeface="Calibri"/>
              </a:rPr>
              <a:t>By making an HTTP POST request to a centralized web API registry.</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1900" b="0">
                <a:solidFill>
                  <a:srgbClr val="1F2937"/>
                </a:solidFill>
                <a:latin typeface="Calibri"/>
              </a:rPr>
              <a:t>By sending a JSON-RPC 2.0 tools/list request over stdio or SSE transport.</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1900" b="0">
                <a:solidFill>
                  <a:srgbClr val="1F2937"/>
                </a:solidFill>
                <a:latin typeface="Calibri"/>
              </a:rPr>
              <a:t>By parsing static Markdown annotations embedded in source code files.</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1900" b="0">
                <a:solidFill>
                  <a:srgbClr val="1F2937"/>
                </a:solidFill>
                <a:latin typeface="Calibri"/>
              </a:rPr>
              <a:t>By scanning remote Docker container registries for published tool images.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Zero-Warning Workspace Integration Guidelines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W02.L2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10</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Environment variables must match local path and compiler setups.</a:t>
            </a:r>
          </a:p>
          <a:p>
            <a:pPr marL="292608" indent="-292608">
              <a:spcAft>
                <a:spcPts val="1000"/>
              </a:spcAft>
              <a:buClr>
                <a:srgbClr val="0F766E"/>
              </a:buClr>
              <a:buFont typeface="Arial"/>
              <a:buChar char="▪"/>
            </a:pPr>
            <a:r>
              <a:rPr sz="2400">
                <a:solidFill>
                  <a:srgbClr val="1F2937"/>
                </a:solidFill>
                <a:latin typeface="Calibri"/>
              </a:rPr>
              <a:t>Schema mismatches between host and server lead to silent execution drops.</a:t>
            </a:r>
          </a:p>
          <a:p>
            <a:pPr marL="292608" indent="-292608">
              <a:spcAft>
                <a:spcPts val="1000"/>
              </a:spcAft>
              <a:buClr>
                <a:srgbClr val="0F766E"/>
              </a:buClr>
              <a:buFont typeface="Arial"/>
              <a:buChar char="▪"/>
            </a:pPr>
            <a:r>
              <a:rPr sz="2400">
                <a:solidFill>
                  <a:srgbClr val="1F2937"/>
                </a:solidFill>
                <a:latin typeface="Calibri"/>
              </a:rPr>
              <a:t>Static analyzer outputs must be formatted to prevent warnings in host logs.</a:t>
            </a:r>
          </a:p>
          <a:p>
            <a:pPr marL="292608" indent="-292608">
              <a:spcAft>
                <a:spcPts val="1000"/>
              </a:spcAft>
              <a:buClr>
                <a:srgbClr val="0F766E"/>
              </a:buClr>
              <a:buFont typeface="Arial"/>
              <a:buChar char="▪"/>
            </a:pPr>
            <a:r>
              <a:rPr sz="2400">
                <a:solidFill>
                  <a:srgbClr val="1F2937"/>
                </a:solidFill>
                <a:latin typeface="Calibri"/>
              </a:rPr>
              <a:t>Pre-flight verification ensures tool availability before agent execution.</a:t>
            </a:r>
          </a:p>
        </p:txBody>
      </p:sp>
      <p:graphicFrame>
        <p:nvGraphicFramePr>
          <p:cNvPr id="7" name="Table 6"/>
          <p:cNvGraphicFramePr>
            <a:graphicFrameLocks noGrp="1"/>
          </p:cNvGraphicFramePr>
          <p:nvPr/>
        </p:nvGraphicFramePr>
        <p:xfrm>
          <a:off x="6683495" y="1463040"/>
          <a:ext cx="4959560" cy="2514600"/>
        </p:xfrm>
        <a:graphic>
          <a:graphicData uri="http://schemas.openxmlformats.org/drawingml/2006/table">
            <a:tbl>
              <a:tblPr firstRow="1" bandRow="1">
                <a:tableStyleId>{5C22544A-7EE6-4342-B048-85BDC9FD1C3A}</a:tableStyleId>
              </a:tblPr>
              <a:tblGrid>
                <a:gridCol w="1653186"/>
                <a:gridCol w="1653186"/>
                <a:gridCol w="1653188"/>
              </a:tblGrid>
              <a:tr h="502920">
                <a:tc>
                  <a:txBody>
                    <a:bodyPr/>
                    <a:lstStyle/>
                    <a:p>
                      <a:r>
                        <a:rPr sz="1400" b="1">
                          <a:solidFill>
                            <a:srgbClr val="CCFBF1"/>
                          </a:solidFill>
                          <a:latin typeface="Calibri"/>
                        </a:rPr>
                        <a:t>Check Item</a:t>
                      </a:r>
                    </a:p>
                  </a:txBody>
                  <a:tcPr>
                    <a:solidFill>
                      <a:srgbClr val="0F766E"/>
                    </a:solidFill>
                  </a:tcPr>
                </a:tc>
                <a:tc>
                  <a:txBody>
                    <a:bodyPr/>
                    <a:lstStyle/>
                    <a:p>
                      <a:r>
                        <a:rPr sz="1400" b="1">
                          <a:solidFill>
                            <a:srgbClr val="CCFBF1"/>
                          </a:solidFill>
                          <a:latin typeface="Calibri"/>
                        </a:rPr>
                        <a:t>Common Cause</a:t>
                      </a:r>
                    </a:p>
                  </a:txBody>
                  <a:tcPr>
                    <a:solidFill>
                      <a:srgbClr val="0F766E"/>
                    </a:solidFill>
                  </a:tcPr>
                </a:tc>
                <a:tc>
                  <a:txBody>
                    <a:bodyPr/>
                    <a:lstStyle/>
                    <a:p>
                      <a:r>
                        <a:rPr sz="1400" b="1">
                          <a:solidFill>
                            <a:srgbClr val="CCFBF1"/>
                          </a:solidFill>
                          <a:latin typeface="Calibri"/>
                        </a:rPr>
                        <a:t>Resolution Strategy</a:t>
                      </a:r>
                    </a:p>
                  </a:txBody>
                  <a:tcPr>
                    <a:solidFill>
                      <a:srgbClr val="0F766E"/>
                    </a:solidFill>
                  </a:tcPr>
                </a:tc>
              </a:tr>
              <a:tr h="502920">
                <a:tc>
                  <a:txBody>
                    <a:bodyPr/>
                    <a:lstStyle/>
                    <a:p>
                      <a:r>
                        <a:rPr sz="1400" b="0">
                          <a:solidFill>
                            <a:srgbClr val="1F2937"/>
                          </a:solidFill>
                          <a:latin typeface="Calibri"/>
                        </a:rPr>
                        <a:t>Unresolved Tool</a:t>
                      </a:r>
                    </a:p>
                  </a:txBody>
                  <a:tcPr>
                    <a:solidFill>
                      <a:srgbClr val="F3F4F6"/>
                    </a:solidFill>
                  </a:tcPr>
                </a:tc>
                <a:tc>
                  <a:txBody>
                    <a:bodyPr/>
                    <a:lstStyle/>
                    <a:p>
                      <a:r>
                        <a:rPr sz="1400" b="0">
                          <a:solidFill>
                            <a:srgbClr val="1F2937"/>
                          </a:solidFill>
                          <a:latin typeface="Calibri"/>
                        </a:rPr>
                        <a:t>Mismatched server name</a:t>
                      </a:r>
                    </a:p>
                  </a:txBody>
                  <a:tcPr>
                    <a:solidFill>
                      <a:srgbClr val="F3F4F6"/>
                    </a:solidFill>
                  </a:tcPr>
                </a:tc>
                <a:tc>
                  <a:txBody>
                    <a:bodyPr/>
                    <a:lstStyle/>
                    <a:p>
                      <a:r>
                        <a:rPr sz="1400" b="0">
                          <a:solidFill>
                            <a:srgbClr val="1F2937"/>
                          </a:solidFill>
                          <a:latin typeface="Calibri"/>
                        </a:rPr>
                        <a:t>Verify key in mcpServers JSON</a:t>
                      </a:r>
                    </a:p>
                  </a:txBody>
                  <a:tcPr>
                    <a:solidFill>
                      <a:srgbClr val="F3F4F6"/>
                    </a:solidFill>
                  </a:tcPr>
                </a:tc>
              </a:tr>
              <a:tr h="502920">
                <a:tc>
                  <a:txBody>
                    <a:bodyPr/>
                    <a:lstStyle/>
                    <a:p>
                      <a:r>
                        <a:rPr sz="1400" b="0">
                          <a:solidFill>
                            <a:srgbClr val="1F2937"/>
                          </a:solidFill>
                          <a:latin typeface="Calibri"/>
                        </a:rPr>
                        <a:t>Schema Error</a:t>
                      </a:r>
                    </a:p>
                  </a:txBody>
                  <a:tcPr>
                    <a:solidFill>
                      <a:srgbClr val="F3F4F6"/>
                    </a:solidFill>
                  </a:tcPr>
                </a:tc>
                <a:tc>
                  <a:txBody>
                    <a:bodyPr/>
                    <a:lstStyle/>
                    <a:p>
                      <a:r>
                        <a:rPr sz="1400" b="0">
                          <a:solidFill>
                            <a:srgbClr val="1F2937"/>
                          </a:solidFill>
                          <a:latin typeface="Calibri"/>
                        </a:rPr>
                        <a:t>Missing required schema field</a:t>
                      </a:r>
                    </a:p>
                  </a:txBody>
                  <a:tcPr>
                    <a:solidFill>
                      <a:srgbClr val="F3F4F6"/>
                    </a:solidFill>
                  </a:tcPr>
                </a:tc>
                <a:tc>
                  <a:txBody>
                    <a:bodyPr/>
                    <a:lstStyle/>
                    <a:p>
                      <a:r>
                        <a:rPr sz="1400" b="0">
                          <a:solidFill>
                            <a:srgbClr val="1F2937"/>
                          </a:solidFill>
                          <a:latin typeface="Calibri"/>
                        </a:rPr>
                        <a:t>Validate against JSON Schema spec</a:t>
                      </a:r>
                    </a:p>
                  </a:txBody>
                  <a:tcPr>
                    <a:solidFill>
                      <a:srgbClr val="F3F4F6"/>
                    </a:solidFill>
                  </a:tcPr>
                </a:tc>
              </a:tr>
              <a:tr h="502920">
                <a:tc>
                  <a:txBody>
                    <a:bodyPr/>
                    <a:lstStyle/>
                    <a:p>
                      <a:r>
                        <a:rPr sz="1400" b="0">
                          <a:solidFill>
                            <a:srgbClr val="1F2937"/>
                          </a:solidFill>
                          <a:latin typeface="Calibri"/>
                        </a:rPr>
                        <a:t>Analyzer Warning</a:t>
                      </a:r>
                    </a:p>
                  </a:txBody>
                  <a:tcPr>
                    <a:solidFill>
                      <a:srgbClr val="F3F4F6"/>
                    </a:solidFill>
                  </a:tcPr>
                </a:tc>
                <a:tc>
                  <a:txBody>
                    <a:bodyPr/>
                    <a:lstStyle/>
                    <a:p>
                      <a:r>
                        <a:rPr sz="1400" b="0">
                          <a:solidFill>
                            <a:srgbClr val="1F2937"/>
                          </a:solidFill>
                          <a:latin typeface="Calibri"/>
                        </a:rPr>
                        <a:t>Deprecated ruleset flag</a:t>
                      </a:r>
                    </a:p>
                  </a:txBody>
                  <a:tcPr>
                    <a:solidFill>
                      <a:srgbClr val="F3F4F6"/>
                    </a:solidFill>
                  </a:tcPr>
                </a:tc>
                <a:tc>
                  <a:txBody>
                    <a:bodyPr/>
                    <a:lstStyle/>
                    <a:p>
                      <a:r>
                        <a:rPr sz="1400" b="0">
                          <a:solidFill>
                            <a:srgbClr val="1F2937"/>
                          </a:solidFill>
                          <a:latin typeface="Calibri"/>
                        </a:rPr>
                        <a:t>Update local tool config flags</a:t>
                      </a:r>
                    </a:p>
                  </a:txBody>
                  <a:tcPr>
                    <a:solidFill>
                      <a:srgbClr val="F3F4F6"/>
                    </a:solidFill>
                  </a:tcPr>
                </a:tc>
              </a:tr>
              <a:tr h="502920">
                <a:tc>
                  <a:txBody>
                    <a:bodyPr/>
                    <a:lstStyle/>
                    <a:p>
                      <a:r>
                        <a:rPr sz="1400" b="0">
                          <a:solidFill>
                            <a:srgbClr val="1F2937"/>
                          </a:solidFill>
                          <a:latin typeface="Calibri"/>
                        </a:rPr>
                        <a:t>Test Timeout</a:t>
                      </a:r>
                    </a:p>
                  </a:txBody>
                  <a:tcPr>
                    <a:solidFill>
                      <a:srgbClr val="F3F4F6"/>
                    </a:solidFill>
                  </a:tcPr>
                </a:tc>
                <a:tc>
                  <a:txBody>
                    <a:bodyPr/>
                    <a:lstStyle/>
                    <a:p>
                      <a:r>
                        <a:rPr sz="1400" b="0">
                          <a:solidFill>
                            <a:srgbClr val="1F2937"/>
                          </a:solidFill>
                          <a:latin typeface="Calibri"/>
                        </a:rPr>
                        <a:t>Interactive prompt in script</a:t>
                      </a:r>
                    </a:p>
                  </a:txBody>
                  <a:tcPr>
                    <a:solidFill>
                      <a:srgbClr val="F3F4F6"/>
                    </a:solidFill>
                  </a:tcPr>
                </a:tc>
                <a:tc>
                  <a:txBody>
                    <a:bodyPr/>
                    <a:lstStyle/>
                    <a:p>
                      <a:r>
                        <a:rPr sz="1400" b="0">
                          <a:solidFill>
                            <a:srgbClr val="1F2937"/>
                          </a:solidFill>
                          <a:latin typeface="Calibri"/>
                        </a:rPr>
                        <a:t>Pass non-interactive batch flags</a:t>
                      </a:r>
                    </a:p>
                  </a:txBody>
                  <a:tcPr>
                    <a:solidFill>
                      <a:srgbClr val="F3F4F6"/>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Workspace Tool Integration Summary</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Summary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W02.L2   ·   Sources: [C1]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11</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Context engineering structures workspace prompts and tool interfaces for agents.</a:t>
            </a:r>
          </a:p>
          <a:p>
            <a:pPr marL="292608" indent="-292608">
              <a:spcAft>
                <a:spcPts val="1000"/>
              </a:spcAft>
              <a:buClr>
                <a:srgbClr val="0F766E"/>
              </a:buClr>
              <a:buFont typeface="Arial"/>
              <a:buChar char="▪"/>
            </a:pPr>
            <a:r>
              <a:rPr sz="2400">
                <a:solidFill>
                  <a:srgbClr val="1F2937"/>
                </a:solidFill>
                <a:latin typeface="Calibri"/>
              </a:rPr>
              <a:t>MCP standardizes tool access via JSON-RPC 2.0 over stdio and SSE transports.</a:t>
            </a:r>
          </a:p>
          <a:p>
            <a:pPr marL="292608" indent="-292608">
              <a:spcAft>
                <a:spcPts val="1000"/>
              </a:spcAft>
              <a:buClr>
                <a:srgbClr val="0F766E"/>
              </a:buClr>
              <a:buFont typeface="Arial"/>
              <a:buChar char="▪"/>
            </a:pPr>
            <a:r>
              <a:rPr sz="2400">
                <a:solidFill>
                  <a:srgbClr val="1F2937"/>
                </a:solidFill>
                <a:latin typeface="Calibri"/>
              </a:rPr>
              <a:t>Local tool servers extend capabilities without centralized service registries.</a:t>
            </a:r>
          </a:p>
          <a:p>
            <a:pPr marL="292608" indent="-292608">
              <a:spcAft>
                <a:spcPts val="1000"/>
              </a:spcAft>
              <a:buClr>
                <a:srgbClr val="0F766E"/>
              </a:buClr>
              <a:buFont typeface="Arial"/>
              <a:buChar char="▪"/>
            </a:pPr>
            <a:r>
              <a:rPr sz="2400">
                <a:solidFill>
                  <a:srgbClr val="1F2937"/>
                </a:solidFill>
                <a:latin typeface="Calibri"/>
              </a:rPr>
              <a:t>Systematic validation ensures clean logs and zero static analyzer warnings.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References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W02.L2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12</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1800">
                <a:solidFill>
                  <a:srgbClr val="1F2937"/>
                </a:solidFill>
                <a:latin typeface="Calibri"/>
              </a:rPr>
              <a:t>[C1] Autonomous Coding Agents for Software Development Testing and Debugging (2026). https://doi.org/10.2139/ssrn.7515638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