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lecture's learning outcomes from the approved course design. Assessed in: Assign3, Midsem, Endsem.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Unstructured human requirements are often ambiguous, incomplete, or open to subjective interpretation. When feeding raw requirements into AI code generation models, the resulting code frequently misses subtle assumptions or violates interface expectations. Executable specifications solve this problem by converting natural language requirements into unambiguous, programmatic test cases and interface contracts before code generation takes place.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executable specification combines formal type signatures, exact input-output expectations, pre-conditions, and post-conditions into run-time assertions. Unlike static documentation, executable specifications can be executed by automated test runners. They act as automated guardrails: if an AI model generates code that fails any specification test, the defect is flagged immediately, providing instant feedback for code repair.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spec-driven development using AI, the developer's primary job shifts from writing raw algorithm code to crafting comprehensive, executable specifications. First, developers analyze product requirements and specify interface signatures and test assertions. Then, the specification and public method contracts are supplied to the AI as context. Finally, generated code is automatically verified against the specs.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code example demonstrates how behavioral requirements translate directly into executable Pytest specifications. By expressing expected behavior as concrete test functions before implementation exist, we establish unambiguous acceptance criteria. The spec defines the public function signature, input parameter types, and expected return value, serving as a clean target for AI generation.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models perform significantly better when given clear, unambiguous specifications rather than vague feature descriptions. When prompting an AI assistant, supplying the public class skeleton alongside executable Pytest assertions constrains the solution space. The AI is tasked with generating code that passes all provided test assertions without modifying public interface signatures.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worked problem step, we construct an executable specification for a bank account module. Notice how we explicitly define the class signature and write pytest assertions for error conditions, such as withdrawing more money than available. The `pytest.raises` assertion guarantees that the implementation must raise a `ValueError` with a matching error message.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AI-generated implementation satisfying the bank account specification defined in the previous step. Notice how every public method strictly adheres to the specified signature and meets all runtime assertions. Both valid balance modifications and invalid edge cases like negative deposits or overdrawing are handled precisely as specified.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Executable specifications provide a deterministic mechanism to verify whether AI-generated code meets requirements. While natural language prompts can lead to subtle logic errors, executable specs run programmatically in test suites. This provides instant, objective verification of every public method contract.</a:t>
            </a:r>
          </a:p>
          <a:p/>
          <a:p>
            <a:r>
              <a:t>Answer: B. Executable specs provide deterministic, programmatic verification of generated code against explicit interface contracts.</a:t>
            </a:r>
          </a:p>
          <a:p>
            <a:r>
              <a:t>Executable specifications serve as concrete, automated test suites that verify whether AI-generated code meets interface contracts and edge cases. Option 0 is wrong because specs ARE written as automated tests. Option 2 is incorrect because specs verify runtime correctness, not prompt syntax.</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code generation models often excel at basic happy paths but struggle with boundary conditions and unstated edge cases. AlphaCode research demonstrates that thorough automated test evaluation is critical for filtering correct candidates from plausible-looking incorrect code. Executable specifications must explicitly test edge conditions, such as zero values, null inputs, and boundary numeric thresholds.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an AI-generated module fails a specification test, the compiler or test framework output serves as rich diagnostic feedback. Instead of manually rewriting code, developers can feed failure tracebacks back into the AI assistant. This creates an automated feedback loop where the AI iteratively refines code until all executable specifications pass.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example shows an implementation refined through test feedback. The initial prompt generated code that omitted validation for zero or negative refund amounts. By running our executable specification, pytest caught the missing exception, enabling us to re-prompt the AI with the exact failure traceback to produce this corrected code.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AI code fails test assertions, supplying failure tracebacks directly back to the model enables precise corrections. Removing tests or altering interface signatures undermines system safety and breaks requirements. Automated iteration leverages executable specs to guide the AI toward contract compliance without manual code rewrites.</a:t>
            </a:r>
          </a:p>
          <a:p/>
          <a:p>
            <a:r>
              <a:t>Answer: B. Feed the failed test assertions and traceback output back into the AI model for targeted refinement.</a:t>
            </a:r>
          </a:p>
          <a:p>
            <a:r>
              <a:t>Passing the specific failing test outputs back to the AI provides explicit context on broken behavioral contracts, allowing targeted correction. Option 2 (removing failing tests) violates requirement integrity, while Option 3 undermines interface consistency.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lab session, you will practice spec-driven development with AI. Start by writing executable Pytest specifications for a public shopping cart module based on given user requirements. Next, use your specs as prompts to generate Python code with an AI assistant. Finally, run Pytest to verify your generated implementation.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Executable specifications bridge unstructured product requirements and automated AI code generation. By writing clear Pytest specs before generating code, you establish rigid interface contracts and behavioral boundaries. Leveraging automated test feedback loops allows AI assistants to iteratively produce reliable, specification-compliant software.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280160"/>
            <a:ext cx="10545775" cy="457200"/>
          </a:xfrm>
          <a:prstGeom prst="rect">
            <a:avLst/>
          </a:prstGeom>
          <a:noFill/>
        </p:spPr>
        <p:txBody>
          <a:bodyPr wrap="square" anchor="t" lIns="45720" rIns="45720">
            <a:spAutoFit/>
          </a:bodyPr>
          <a:lstStyle/>
          <a:p>
            <a:pPr algn="l"/>
            <a:r>
              <a:rPr sz="1800" b="0">
                <a:solidFill>
                  <a:srgbClr val="CCFBF1"/>
                </a:solidFill>
                <a:latin typeface="Calibri"/>
              </a:rPr>
              <a:t>Software Development using AI</a:t>
            </a:r>
          </a:p>
        </p:txBody>
      </p:sp>
      <p:sp>
        <p:nvSpPr>
          <p:cNvPr id="4" name="TextBox 3"/>
          <p:cNvSpPr txBox="1"/>
          <p:nvPr/>
        </p:nvSpPr>
        <p:spPr>
          <a:xfrm>
            <a:off x="822960" y="1828800"/>
            <a:ext cx="10545775" cy="2011680"/>
          </a:xfrm>
          <a:prstGeom prst="rect">
            <a:avLst/>
          </a:prstGeom>
          <a:noFill/>
        </p:spPr>
        <p:txBody>
          <a:bodyPr wrap="square" anchor="ctr" lIns="45720" rIns="45720">
            <a:spAutoFit/>
          </a:bodyPr>
          <a:lstStyle/>
          <a:p>
            <a:pPr algn="l"/>
            <a:r>
              <a:rPr sz="4400" b="1">
                <a:solidFill>
                  <a:srgbClr val="CCFBF1"/>
                </a:solidFill>
                <a:latin typeface="Calibri"/>
              </a:rPr>
              <a:t>Requirements to Executable Specifications and Code Generation</a:t>
            </a:r>
          </a:p>
        </p:txBody>
      </p:sp>
      <p:sp>
        <p:nvSpPr>
          <p:cNvPr id="5" name="TextBox 4"/>
          <p:cNvSpPr txBox="1"/>
          <p:nvPr/>
        </p:nvSpPr>
        <p:spPr>
          <a:xfrm>
            <a:off x="822960" y="4023360"/>
            <a:ext cx="10545775" cy="548640"/>
          </a:xfrm>
          <a:prstGeom prst="rect">
            <a:avLst/>
          </a:prstGeom>
          <a:noFill/>
        </p:spPr>
        <p:txBody>
          <a:bodyPr wrap="square" anchor="t" lIns="45720" rIns="45720">
            <a:spAutoFit/>
          </a:bodyPr>
          <a:lstStyle/>
          <a:p>
            <a:pPr algn="l"/>
            <a:r>
              <a:rPr sz="1800" b="0">
                <a:solidFill>
                  <a:srgbClr val="CCFBF1"/>
                </a:solidFill>
                <a:latin typeface="Calibri"/>
              </a:rPr>
              <a:t>Week 6 · Executable Specifications and Code Generation · 90 min</a:t>
            </a:r>
          </a:p>
        </p:txBody>
      </p:sp>
      <p:sp>
        <p:nvSpPr>
          <p:cNvPr id="6" name="TextBox 5"/>
          <p:cNvSpPr txBox="1"/>
          <p:nvPr/>
        </p:nvSpPr>
        <p:spPr>
          <a:xfrm>
            <a:off x="822960" y="6035040"/>
            <a:ext cx="10545775" cy="365760"/>
          </a:xfrm>
          <a:prstGeom prst="rect">
            <a:avLst/>
          </a:prstGeom>
          <a:noFill/>
        </p:spPr>
        <p:txBody>
          <a:bodyPr wrap="square" anchor="t" lIns="45720" rIns="45720">
            <a:spAutoFit/>
          </a:bodyPr>
          <a:lstStyle/>
          <a:p>
            <a:pPr algn="l"/>
            <a:r>
              <a:rPr sz="1200" b="0">
                <a:solidFill>
                  <a:srgbClr val="CCFBF1"/>
                </a:solidFill>
                <a:latin typeface="Calibri"/>
              </a:rPr>
              <a:t>Draft generated by ProfsAgent from the course design: review and edit before teaching.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By the end of this lecture you can</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W06.S2</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2</a:t>
            </a:r>
          </a:p>
        </p:txBody>
      </p:sp>
      <p:sp>
        <p:nvSpPr>
          <p:cNvPr id="6" name="TextBox 5"/>
          <p:cNvSpPr txBox="1"/>
          <p:nvPr/>
        </p:nvSpPr>
        <p:spPr>
          <a:xfrm>
            <a:off x="548640" y="1463040"/>
            <a:ext cx="11094415" cy="475488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Translate module requirements into executable specifications using spec-driven development frameworks, meeting the stated interface specification for every public method (CO2.LO2)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2500" b="1">
                <a:solidFill>
                  <a:srgbClr val="1F2937"/>
                </a:solidFill>
                <a:latin typeface="Calibri"/>
              </a:rPr>
              <a:t>Transforming Unstructured Requirements into Executable Specifications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W06.S2</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3</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Unstructured natural language requirements contain ambiguities, missing edge cases, and implicit assumptions.</a:t>
            </a:r>
          </a:p>
          <a:p>
            <a:pPr marL="292608" indent="-292608">
              <a:spcAft>
                <a:spcPts val="1000"/>
              </a:spcAft>
              <a:buClr>
                <a:srgbClr val="0F766E"/>
              </a:buClr>
              <a:buFont typeface="Arial"/>
              <a:buChar char="▪"/>
            </a:pPr>
            <a:r>
              <a:rPr sz="2400">
                <a:solidFill>
                  <a:srgbClr val="1F2937"/>
                </a:solidFill>
                <a:latin typeface="Calibri"/>
              </a:rPr>
              <a:t>Executable specifications express requirements as automated, runnable test cases and formal interface contracts.</a:t>
            </a:r>
          </a:p>
          <a:p>
            <a:pPr marL="292608" indent="-292608">
              <a:spcAft>
                <a:spcPts val="1000"/>
              </a:spcAft>
              <a:buClr>
                <a:srgbClr val="0F766E"/>
              </a:buClr>
              <a:buFont typeface="Arial"/>
              <a:buChar char="▪"/>
            </a:pPr>
            <a:r>
              <a:rPr sz="2400">
                <a:solidFill>
                  <a:srgbClr val="1F2937"/>
                </a:solidFill>
                <a:latin typeface="Calibri"/>
              </a:rPr>
              <a:t>Translating requirements to specs before code generation provides precise targets for AI synthesis.</a:t>
            </a:r>
          </a:p>
          <a:p>
            <a:pPr marL="292608" indent="-292608">
              <a:spcAft>
                <a:spcPts val="1000"/>
              </a:spcAft>
              <a:buClr>
                <a:srgbClr val="0F766E"/>
              </a:buClr>
              <a:buFont typeface="Arial"/>
              <a:buChar char="▪"/>
            </a:pPr>
            <a:r>
              <a:rPr sz="2400">
                <a:solidFill>
                  <a:srgbClr val="1F2937"/>
                </a:solidFill>
                <a:latin typeface="Calibri"/>
              </a:rPr>
              <a:t>Guarantees that public methods meet explicit functional and boundary constraints.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Core Anatomy of an Executable Specification</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W06.S2</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4</a:t>
            </a:r>
          </a:p>
        </p:txBody>
      </p:sp>
      <p:sp>
        <p:nvSpPr>
          <p:cNvPr id="6" name="TextBox 5"/>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300">
                <a:solidFill>
                  <a:srgbClr val="1F2937"/>
                </a:solidFill>
                <a:latin typeface="Calibri"/>
              </a:rPr>
              <a:t>Defines explicit function signatures, parameter types, and expected return types.</a:t>
            </a:r>
          </a:p>
          <a:p>
            <a:pPr marL="292608" indent="-292608">
              <a:spcAft>
                <a:spcPts val="1000"/>
              </a:spcAft>
              <a:buClr>
                <a:srgbClr val="0F766E"/>
              </a:buClr>
              <a:buFont typeface="Arial"/>
              <a:buChar char="▪"/>
            </a:pPr>
            <a:r>
              <a:rPr sz="2300">
                <a:solidFill>
                  <a:srgbClr val="1F2937"/>
                </a:solidFill>
                <a:latin typeface="Calibri"/>
              </a:rPr>
              <a:t>Encapsulates behavioral preconditions, postconditions, and invariant assertions.</a:t>
            </a:r>
          </a:p>
          <a:p>
            <a:pPr marL="292608" indent="-292608">
              <a:spcAft>
                <a:spcPts val="1000"/>
              </a:spcAft>
              <a:buClr>
                <a:srgbClr val="0F766E"/>
              </a:buClr>
              <a:buFont typeface="Arial"/>
              <a:buChar char="▪"/>
            </a:pPr>
            <a:r>
              <a:rPr sz="2300">
                <a:solidFill>
                  <a:srgbClr val="1F2937"/>
                </a:solidFill>
                <a:latin typeface="Calibri"/>
              </a:rPr>
              <a:t>Executes automatically inside standard testing frameworks like Pytest or JUnit.</a:t>
            </a:r>
          </a:p>
          <a:p>
            <a:pPr marL="292608" indent="-292608">
              <a:spcAft>
                <a:spcPts val="1000"/>
              </a:spcAft>
              <a:buClr>
                <a:srgbClr val="0F766E"/>
              </a:buClr>
              <a:buFont typeface="Arial"/>
              <a:buChar char="▪"/>
            </a:pPr>
            <a:r>
              <a:rPr sz="2300">
                <a:solidFill>
                  <a:srgbClr val="1F2937"/>
                </a:solidFill>
                <a:latin typeface="Calibri"/>
              </a:rPr>
              <a:t>Serves as automated guardrails to evaluate AI-generated code correctness.</a:t>
            </a:r>
          </a:p>
        </p:txBody>
      </p:sp>
      <p:sp>
        <p:nvSpPr>
          <p:cNvPr id="7" name="Rounded Rectangle 6"/>
          <p:cNvSpPr/>
          <p:nvPr/>
        </p:nvSpPr>
        <p:spPr>
          <a:xfrm>
            <a:off x="6683495" y="146304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Natural Language Req</a:t>
            </a:r>
          </a:p>
        </p:txBody>
      </p:sp>
      <p:sp>
        <p:nvSpPr>
          <p:cNvPr id="8" name="Down Arrow 7"/>
          <p:cNvSpPr/>
          <p:nvPr/>
        </p:nvSpPr>
        <p:spPr>
          <a:xfrm>
            <a:off x="9026115" y="233629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683495" y="262890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Formal Interface Spec</a:t>
            </a:r>
          </a:p>
        </p:txBody>
      </p:sp>
      <p:sp>
        <p:nvSpPr>
          <p:cNvPr id="10" name="Down Arrow 9"/>
          <p:cNvSpPr/>
          <p:nvPr/>
        </p:nvSpPr>
        <p:spPr>
          <a:xfrm>
            <a:off x="9026115" y="350215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683495" y="379476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Executable Test Suite</a:t>
            </a:r>
          </a:p>
        </p:txBody>
      </p:sp>
      <p:sp>
        <p:nvSpPr>
          <p:cNvPr id="12" name="Down Arrow 11"/>
          <p:cNvSpPr/>
          <p:nvPr/>
        </p:nvSpPr>
        <p:spPr>
          <a:xfrm>
            <a:off x="9026115" y="466801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683495" y="496062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Verified Code</a:t>
            </a:r>
          </a:p>
        </p:txBody>
      </p:sp>
      <p:sp>
        <p:nvSpPr>
          <p:cNvPr id="14" name="TextBox 13"/>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Workflow from requirement to verified code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Spec-Driven Development Workflow with AI</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W06.S2</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5</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Developer shifts focus from writing implementation to designing specification suites.</a:t>
            </a:r>
          </a:p>
          <a:p>
            <a:pPr marL="292608" indent="-292608">
              <a:spcAft>
                <a:spcPts val="1000"/>
              </a:spcAft>
              <a:buClr>
                <a:srgbClr val="0F766E"/>
              </a:buClr>
              <a:buFont typeface="Arial"/>
              <a:buChar char="▪"/>
            </a:pPr>
            <a:r>
              <a:rPr sz="2400">
                <a:solidFill>
                  <a:srgbClr val="1F2937"/>
                </a:solidFill>
                <a:latin typeface="Calibri"/>
              </a:rPr>
              <a:t>Interface contracts define all public method signatures before implementation.</a:t>
            </a:r>
          </a:p>
          <a:p>
            <a:pPr marL="292608" indent="-292608">
              <a:spcAft>
                <a:spcPts val="1000"/>
              </a:spcAft>
              <a:buClr>
                <a:srgbClr val="0F766E"/>
              </a:buClr>
              <a:buFont typeface="Arial"/>
              <a:buChar char="▪"/>
            </a:pPr>
            <a:r>
              <a:rPr sz="2400">
                <a:solidFill>
                  <a:srgbClr val="1F2937"/>
                </a:solidFill>
                <a:latin typeface="Calibri"/>
              </a:rPr>
              <a:t>AI prompts incorporate the specification suite as explicit context.</a:t>
            </a:r>
          </a:p>
          <a:p>
            <a:pPr marL="292608" indent="-292608">
              <a:spcAft>
                <a:spcPts val="1000"/>
              </a:spcAft>
              <a:buClr>
                <a:srgbClr val="0F766E"/>
              </a:buClr>
              <a:buFont typeface="Arial"/>
              <a:buChar char="▪"/>
            </a:pPr>
            <a:r>
              <a:rPr sz="2400">
                <a:solidFill>
                  <a:srgbClr val="1F2937"/>
                </a:solidFill>
                <a:latin typeface="Calibri"/>
              </a:rPr>
              <a:t>Generated modules are automatically validated against the test suite.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2600" b="1">
                <a:solidFill>
                  <a:srgbClr val="1F2937"/>
                </a:solidFill>
                <a:latin typeface="Calibri"/>
              </a:rPr>
              <a:t>Structuring Requirements with Pytest Specifications</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Example</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W06.S2</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6</a:t>
            </a:r>
          </a:p>
        </p:txBody>
      </p:sp>
      <p:sp>
        <p:nvSpPr>
          <p:cNvPr id="7" name="TextBox 6"/>
          <p:cNvSpPr txBox="1"/>
          <p:nvPr/>
        </p:nvSpPr>
        <p:spPr>
          <a:xfrm>
            <a:off x="548640" y="1463040"/>
            <a:ext cx="4659654"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Translates business logic into explicit test functions.</a:t>
            </a:r>
          </a:p>
          <a:p>
            <a:pPr marL="292608" indent="-292608">
              <a:spcAft>
                <a:spcPts val="1000"/>
              </a:spcAft>
              <a:buClr>
                <a:srgbClr val="0F766E"/>
              </a:buClr>
              <a:buFont typeface="Arial"/>
              <a:buChar char="▪"/>
            </a:pPr>
            <a:r>
              <a:rPr sz="2400">
                <a:solidFill>
                  <a:srgbClr val="1F2937"/>
                </a:solidFill>
                <a:latin typeface="Calibri"/>
              </a:rPr>
              <a:t>Defines expected inputs, invocation context, and output assertions.</a:t>
            </a:r>
          </a:p>
          <a:p>
            <a:pPr marL="292608" indent="-292608">
              <a:spcAft>
                <a:spcPts val="1000"/>
              </a:spcAft>
              <a:buClr>
                <a:srgbClr val="0F766E"/>
              </a:buClr>
              <a:buFont typeface="Arial"/>
              <a:buChar char="▪"/>
            </a:pPr>
            <a:r>
              <a:rPr sz="2400">
                <a:solidFill>
                  <a:srgbClr val="1F2937"/>
                </a:solidFill>
                <a:latin typeface="Calibri"/>
              </a:rPr>
              <a:t>Establishes contract bounds for AI generation target.</a:t>
            </a:r>
          </a:p>
        </p:txBody>
      </p:sp>
      <p:sp>
        <p:nvSpPr>
          <p:cNvPr id="8" name="Rounded Rectangle 7"/>
          <p:cNvSpPr/>
          <p:nvPr/>
        </p:nvSpPr>
        <p:spPr>
          <a:xfrm>
            <a:off x="5574054" y="1463040"/>
            <a:ext cx="6069001" cy="4343400"/>
          </a:xfrm>
          <a:prstGeom prst="roundRect">
            <a:avLst>
              <a:gd name="adj" fmla="val 4000"/>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56934" y="1600200"/>
            <a:ext cx="5703241" cy="4069080"/>
          </a:xfrm>
          <a:prstGeom prst="rect">
            <a:avLst/>
          </a:prstGeom>
          <a:noFill/>
        </p:spPr>
        <p:txBody>
          <a:bodyPr wrap="none" anchor="t" lIns="45720" rIns="45720">
            <a:spAutoFit/>
          </a:bodyPr>
          <a:lstStyle/>
          <a:p>
            <a:pPr algn="l"/>
            <a:r>
              <a:rPr sz="1100" b="0">
                <a:solidFill>
                  <a:srgbClr val="CCFBF1"/>
                </a:solidFill>
                <a:latin typeface="Consolas"/>
              </a:rPr>
              <a:t>python</a:t>
            </a:r>
          </a:p>
          <a:p>
            <a:pPr algn="l"/>
            <a:r>
              <a:rPr sz="1400" b="0">
                <a:solidFill>
                  <a:srgbClr val="E5E7EB"/>
                </a:solidFill>
                <a:latin typeface="Consolas"/>
              </a:rPr>
              <a:t>import pytest</a:t>
            </a:r>
          </a:p>
          <a:p>
            <a:pPr algn="l"/>
            <a:r>
              <a:rPr sz="1400" b="0">
                <a:solidFill>
                  <a:srgbClr val="E5E7EB"/>
                </a:solidFill>
                <a:latin typeface="Consolas"/>
              </a:rPr>
              <a:t/>
            </a:r>
          </a:p>
          <a:p>
            <a:pPr algn="l"/>
            <a:r>
              <a:rPr sz="1400" b="0">
                <a:solidFill>
                  <a:srgbClr val="E5E7EB"/>
                </a:solidFill>
                <a:latin typeface="Consolas"/>
              </a:rPr>
              <a:t>def test_calculate_discount_valid_user():</a:t>
            </a:r>
          </a:p>
          <a:p>
            <a:pPr algn="l"/>
            <a:r>
              <a:rPr sz="1400" b="0">
                <a:solidFill>
                  <a:srgbClr val="E5E7EB"/>
                </a:solidFill>
                <a:latin typeface="Consolas"/>
              </a:rPr>
              <a:t>    # Given a premium user with a cart total of 100</a:t>
            </a:r>
          </a:p>
          <a:p>
            <a:pPr algn="l"/>
            <a:r>
              <a:rPr sz="1400" b="0">
                <a:solidFill>
                  <a:srgbClr val="E5E7EB"/>
                </a:solidFill>
                <a:latin typeface="Consolas"/>
              </a:rPr>
              <a:t>    user_type = "premium"</a:t>
            </a:r>
          </a:p>
          <a:p>
            <a:pPr algn="l"/>
            <a:r>
              <a:rPr sz="1400" b="0">
                <a:solidFill>
                  <a:srgbClr val="E5E7EB"/>
                </a:solidFill>
                <a:latin typeface="Consolas"/>
              </a:rPr>
              <a:t>    cart_total = 100.0</a:t>
            </a:r>
          </a:p>
          <a:p>
            <a:pPr algn="l"/>
            <a:r>
              <a:rPr sz="1400" b="0">
                <a:solidFill>
                  <a:srgbClr val="E5E7EB"/>
                </a:solidFill>
                <a:latin typeface="Consolas"/>
              </a:rPr>
              <a:t>    </a:t>
            </a:r>
          </a:p>
          <a:p>
            <a:pPr algn="l"/>
            <a:r>
              <a:rPr sz="1400" b="0">
                <a:solidFill>
                  <a:srgbClr val="E5E7EB"/>
                </a:solidFill>
                <a:latin typeface="Consolas"/>
              </a:rPr>
              <a:t>    # When calculating discount</a:t>
            </a:r>
          </a:p>
          <a:p>
            <a:pPr algn="l"/>
            <a:r>
              <a:rPr sz="1400" b="0">
                <a:solidFill>
                  <a:srgbClr val="E5E7EB"/>
                </a:solidFill>
                <a:latin typeface="Consolas"/>
              </a:rPr>
              <a:t>    discount = calculate_discount(user_type, cart_total)</a:t>
            </a:r>
          </a:p>
          <a:p>
            <a:pPr algn="l"/>
            <a:r>
              <a:rPr sz="1400" b="0">
                <a:solidFill>
                  <a:srgbClr val="E5E7EB"/>
                </a:solidFill>
                <a:latin typeface="Consolas"/>
              </a:rPr>
              <a:t>    </a:t>
            </a:r>
          </a:p>
          <a:p>
            <a:pPr algn="l"/>
            <a:r>
              <a:rPr sz="1400" b="0">
                <a:solidFill>
                  <a:srgbClr val="E5E7EB"/>
                </a:solidFill>
                <a:latin typeface="Consolas"/>
              </a:rPr>
              <a:t>    # Then discount should be 20.0</a:t>
            </a:r>
          </a:p>
          <a:p>
            <a:pPr algn="l"/>
            <a:r>
              <a:rPr sz="1400" b="0">
                <a:solidFill>
                  <a:srgbClr val="E5E7EB"/>
                </a:solidFill>
                <a:latin typeface="Consolas"/>
              </a:rPr>
              <a:t>    assert discount == 20.0</a:t>
            </a:r>
          </a:p>
        </p:txBody>
      </p:sp>
      <p:sp>
        <p:nvSpPr>
          <p:cNvPr id="10" name="TextBox 9"/>
          <p:cNvSpPr txBox="1"/>
          <p:nvPr/>
        </p:nvSpPr>
        <p:spPr>
          <a:xfrm>
            <a:off x="5574054" y="5806440"/>
            <a:ext cx="6069001" cy="365760"/>
          </a:xfrm>
          <a:prstGeom prst="rect">
            <a:avLst/>
          </a:prstGeom>
          <a:noFill/>
        </p:spPr>
        <p:txBody>
          <a:bodyPr wrap="square" anchor="t" lIns="45720" rIns="45720">
            <a:spAutoFit/>
          </a:bodyPr>
          <a:lstStyle/>
          <a:p>
            <a:pPr algn="ctr"/>
            <a:r>
              <a:rPr sz="1200" b="0">
                <a:solidFill>
                  <a:srgbClr val="6B7280"/>
                </a:solidFill>
                <a:latin typeface="Calibri"/>
              </a:rPr>
              <a:t>Executable Pytest specification for discount calculation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Prompting AI with Executable Specifications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W06.S2</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7</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Provide interface stubs and Pytest suites inside the AI prompt.</a:t>
            </a:r>
          </a:p>
          <a:p>
            <a:pPr marL="292608" indent="-292608">
              <a:spcAft>
                <a:spcPts val="1000"/>
              </a:spcAft>
              <a:buClr>
                <a:srgbClr val="0F766E"/>
              </a:buClr>
              <a:buFont typeface="Arial"/>
              <a:buChar char="▪"/>
            </a:pPr>
            <a:r>
              <a:rPr sz="2400">
                <a:solidFill>
                  <a:srgbClr val="1F2937"/>
                </a:solidFill>
                <a:latin typeface="Calibri"/>
              </a:rPr>
              <a:t>Instruct the model to implement missing logic without altering public signatures.</a:t>
            </a:r>
          </a:p>
          <a:p>
            <a:pPr marL="292608" indent="-292608">
              <a:spcAft>
                <a:spcPts val="1000"/>
              </a:spcAft>
              <a:buClr>
                <a:srgbClr val="0F766E"/>
              </a:buClr>
              <a:buFont typeface="Arial"/>
              <a:buChar char="▪"/>
            </a:pPr>
            <a:r>
              <a:rPr sz="2400">
                <a:solidFill>
                  <a:srgbClr val="1F2937"/>
                </a:solidFill>
                <a:latin typeface="Calibri"/>
              </a:rPr>
              <a:t>Constrains the model search space to solutions meeting formal type constraints.</a:t>
            </a:r>
          </a:p>
          <a:p>
            <a:pPr marL="292608" indent="-292608">
              <a:spcAft>
                <a:spcPts val="1000"/>
              </a:spcAft>
              <a:buClr>
                <a:srgbClr val="0F766E"/>
              </a:buClr>
              <a:buFont typeface="Arial"/>
              <a:buChar char="▪"/>
            </a:pPr>
            <a:r>
              <a:rPr sz="2400">
                <a:solidFill>
                  <a:srgbClr val="1F2937"/>
                </a:solidFill>
                <a:latin typeface="Calibri"/>
              </a:rPr>
              <a:t>Eliminates interface misalignment between caller and generated module.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2500" b="1">
                <a:solidFill>
                  <a:srgbClr val="1F2937"/>
                </a:solidFill>
                <a:latin typeface="Calibri"/>
              </a:rPr>
              <a:t>Step 1: Writing Executable Specs for a Module Contract</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Worked problem</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W06.S2</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8</a:t>
            </a:r>
          </a:p>
        </p:txBody>
      </p:sp>
      <p:sp>
        <p:nvSpPr>
          <p:cNvPr id="7" name="TextBox 6"/>
          <p:cNvSpPr txBox="1"/>
          <p:nvPr/>
        </p:nvSpPr>
        <p:spPr>
          <a:xfrm>
            <a:off x="548640" y="1463040"/>
            <a:ext cx="4659654"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Define public interface skeletons with explicit type annotations.</a:t>
            </a:r>
          </a:p>
          <a:p>
            <a:pPr marL="292608" indent="-292608">
              <a:spcAft>
                <a:spcPts val="1000"/>
              </a:spcAft>
              <a:buClr>
                <a:srgbClr val="0F766E"/>
              </a:buClr>
              <a:buFont typeface="Arial"/>
              <a:buChar char="▪"/>
            </a:pPr>
            <a:r>
              <a:rPr sz="2400">
                <a:solidFill>
                  <a:srgbClr val="1F2937"/>
                </a:solidFill>
                <a:latin typeface="Calibri"/>
              </a:rPr>
              <a:t>Write assertions covering nominal behavior and expected exceptions.</a:t>
            </a:r>
          </a:p>
          <a:p>
            <a:pPr marL="292608" indent="-292608">
              <a:spcAft>
                <a:spcPts val="1000"/>
              </a:spcAft>
              <a:buClr>
                <a:srgbClr val="0F766E"/>
              </a:buClr>
              <a:buFont typeface="Arial"/>
              <a:buChar char="▪"/>
            </a:pPr>
            <a:r>
              <a:rPr sz="2400">
                <a:solidFill>
                  <a:srgbClr val="1F2937"/>
                </a:solidFill>
                <a:latin typeface="Calibri"/>
              </a:rPr>
              <a:t>Establish boundary conditions for invalid input state.</a:t>
            </a:r>
          </a:p>
        </p:txBody>
      </p:sp>
      <p:sp>
        <p:nvSpPr>
          <p:cNvPr id="8" name="Rounded Rectangle 7"/>
          <p:cNvSpPr/>
          <p:nvPr/>
        </p:nvSpPr>
        <p:spPr>
          <a:xfrm>
            <a:off x="5574054" y="1463040"/>
            <a:ext cx="6069001" cy="4343400"/>
          </a:xfrm>
          <a:prstGeom prst="roundRect">
            <a:avLst>
              <a:gd name="adj" fmla="val 4000"/>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56934" y="1600200"/>
            <a:ext cx="5703241" cy="4069080"/>
          </a:xfrm>
          <a:prstGeom prst="rect">
            <a:avLst/>
          </a:prstGeom>
          <a:noFill/>
        </p:spPr>
        <p:txBody>
          <a:bodyPr wrap="none" anchor="t" lIns="45720" rIns="45720">
            <a:spAutoFit/>
          </a:bodyPr>
          <a:lstStyle/>
          <a:p>
            <a:pPr algn="l"/>
            <a:r>
              <a:rPr sz="1100" b="0">
                <a:solidFill>
                  <a:srgbClr val="CCFBF1"/>
                </a:solidFill>
                <a:latin typeface="Consolas"/>
              </a:rPr>
              <a:t>python</a:t>
            </a:r>
          </a:p>
          <a:p>
            <a:pPr algn="l"/>
            <a:r>
              <a:rPr sz="1200" b="0">
                <a:solidFill>
                  <a:srgbClr val="E5E7EB"/>
                </a:solidFill>
                <a:latin typeface="Consolas"/>
              </a:rPr>
              <a:t>import pytest</a:t>
            </a:r>
          </a:p>
          <a:p>
            <a:pPr algn="l"/>
            <a:r>
              <a:rPr sz="1200" b="0">
                <a:solidFill>
                  <a:srgbClr val="E5E7EB"/>
                </a:solidFill>
                <a:latin typeface="Consolas"/>
              </a:rPr>
              <a:t/>
            </a:r>
          </a:p>
          <a:p>
            <a:pPr algn="l"/>
            <a:r>
              <a:rPr sz="1200" b="0">
                <a:solidFill>
                  <a:srgbClr val="E5E7EB"/>
                </a:solidFill>
                <a:latin typeface="Consolas"/>
              </a:rPr>
              <a:t>class BankAccount:</a:t>
            </a:r>
          </a:p>
          <a:p>
            <a:pPr algn="l"/>
            <a:r>
              <a:rPr sz="1200" b="0">
                <a:solidFill>
                  <a:srgbClr val="E5E7EB"/>
                </a:solidFill>
                <a:latin typeface="Consolas"/>
              </a:rPr>
              <a:t>    def __init__(self, balance: float = 0.0):</a:t>
            </a:r>
          </a:p>
          <a:p>
            <a:pPr algn="l"/>
            <a:r>
              <a:rPr sz="1200" b="0">
                <a:solidFill>
                  <a:srgbClr val="E5E7EB"/>
                </a:solidFill>
                <a:latin typeface="Consolas"/>
              </a:rPr>
              <a:t>        self.balance = balance</a:t>
            </a:r>
          </a:p>
          <a:p>
            <a:pPr algn="l"/>
            <a:r>
              <a:rPr sz="1200" b="0">
                <a:solidFill>
                  <a:srgbClr val="E5E7EB"/>
                </a:solidFill>
                <a:latin typeface="Consolas"/>
              </a:rPr>
              <a:t>    def withdraw(self, amount: float) -&gt; float:</a:t>
            </a:r>
          </a:p>
          <a:p>
            <a:pPr algn="l"/>
            <a:r>
              <a:rPr sz="1200" b="0">
                <a:solidFill>
                  <a:srgbClr val="E5E7EB"/>
                </a:solidFill>
                <a:latin typeface="Consolas"/>
              </a:rPr>
              <a:t>        pass</a:t>
            </a:r>
          </a:p>
          <a:p>
            <a:pPr algn="l"/>
            <a:r>
              <a:rPr sz="1200" b="0">
                <a:solidFill>
                  <a:srgbClr val="E5E7EB"/>
                </a:solidFill>
                <a:latin typeface="Consolas"/>
              </a:rPr>
              <a:t/>
            </a:r>
          </a:p>
          <a:p>
            <a:pPr algn="l"/>
            <a:r>
              <a:rPr sz="1200" b="0">
                <a:solidFill>
                  <a:srgbClr val="E5E7EB"/>
                </a:solidFill>
                <a:latin typeface="Consolas"/>
              </a:rPr>
              <a:t>def test_withdraw_insufficient_funds():</a:t>
            </a:r>
          </a:p>
          <a:p>
            <a:pPr algn="l"/>
            <a:r>
              <a:rPr sz="1200" b="0">
                <a:solidFill>
                  <a:srgbClr val="E5E7EB"/>
                </a:solidFill>
                <a:latin typeface="Consolas"/>
              </a:rPr>
              <a:t>    account = BankAccount(balance=50.0)</a:t>
            </a:r>
          </a:p>
          <a:p>
            <a:pPr algn="l"/>
            <a:r>
              <a:rPr sz="1200" b="0">
                <a:solidFill>
                  <a:srgbClr val="E5E7EB"/>
                </a:solidFill>
                <a:latin typeface="Consolas"/>
              </a:rPr>
              <a:t>    with pytest.raises(ValueError, match="Insufficient funds"):</a:t>
            </a:r>
          </a:p>
          <a:p>
            <a:pPr algn="l"/>
            <a:r>
              <a:rPr sz="1200" b="0">
                <a:solidFill>
                  <a:srgbClr val="E5E7EB"/>
                </a:solidFill>
                <a:latin typeface="Consolas"/>
              </a:rPr>
              <a:t>        account.withdraw(100.0)</a:t>
            </a:r>
          </a:p>
        </p:txBody>
      </p:sp>
      <p:sp>
        <p:nvSpPr>
          <p:cNvPr id="10" name="TextBox 9"/>
          <p:cNvSpPr txBox="1"/>
          <p:nvPr/>
        </p:nvSpPr>
        <p:spPr>
          <a:xfrm>
            <a:off x="5574054" y="5806440"/>
            <a:ext cx="6069001" cy="365760"/>
          </a:xfrm>
          <a:prstGeom prst="rect">
            <a:avLst/>
          </a:prstGeom>
          <a:noFill/>
        </p:spPr>
        <p:txBody>
          <a:bodyPr wrap="square" anchor="t" lIns="45720" rIns="45720">
            <a:spAutoFit/>
          </a:bodyPr>
          <a:lstStyle/>
          <a:p>
            <a:pPr algn="ctr"/>
            <a:r>
              <a:rPr sz="1200" b="0">
                <a:solidFill>
                  <a:srgbClr val="6B7280"/>
                </a:solidFill>
                <a:latin typeface="Calibri"/>
              </a:rPr>
              <a:t>Module stub and Pytest executable spec for BankAccount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2500" b="1">
                <a:solidFill>
                  <a:srgbClr val="1F2937"/>
                </a:solidFill>
                <a:latin typeface="Calibri"/>
              </a:rPr>
              <a:t>Step 2: Generating and Verifying Implementation Against Specs</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Worked problem</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W06.S2</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9</a:t>
            </a:r>
          </a:p>
        </p:txBody>
      </p:sp>
      <p:sp>
        <p:nvSpPr>
          <p:cNvPr id="7" name="TextBox 6"/>
          <p:cNvSpPr txBox="1"/>
          <p:nvPr/>
        </p:nvSpPr>
        <p:spPr>
          <a:xfrm>
            <a:off x="548640" y="1463040"/>
            <a:ext cx="4659654"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Prompt AI with class signature and executable test cases.</a:t>
            </a:r>
          </a:p>
          <a:p>
            <a:pPr marL="292608" indent="-292608">
              <a:spcAft>
                <a:spcPts val="1000"/>
              </a:spcAft>
              <a:buClr>
                <a:srgbClr val="0F766E"/>
              </a:buClr>
              <a:buFont typeface="Arial"/>
              <a:buChar char="▪"/>
            </a:pPr>
            <a:r>
              <a:rPr sz="2400">
                <a:solidFill>
                  <a:srgbClr val="1F2937"/>
                </a:solidFill>
                <a:latin typeface="Calibri"/>
              </a:rPr>
              <a:t>Generate module implementation fulfilling interface requirements.</a:t>
            </a:r>
          </a:p>
          <a:p>
            <a:pPr marL="292608" indent="-292608">
              <a:spcAft>
                <a:spcPts val="1000"/>
              </a:spcAft>
              <a:buClr>
                <a:srgbClr val="0F766E"/>
              </a:buClr>
              <a:buFont typeface="Arial"/>
              <a:buChar char="▪"/>
            </a:pPr>
            <a:r>
              <a:rPr sz="2400">
                <a:solidFill>
                  <a:srgbClr val="1F2937"/>
                </a:solidFill>
                <a:latin typeface="Calibri"/>
              </a:rPr>
              <a:t>Run Pytest to verify exact contract compliance across all cases.</a:t>
            </a:r>
          </a:p>
        </p:txBody>
      </p:sp>
      <p:sp>
        <p:nvSpPr>
          <p:cNvPr id="8" name="Rounded Rectangle 7"/>
          <p:cNvSpPr/>
          <p:nvPr/>
        </p:nvSpPr>
        <p:spPr>
          <a:xfrm>
            <a:off x="5574054" y="1463040"/>
            <a:ext cx="6069001" cy="4343400"/>
          </a:xfrm>
          <a:prstGeom prst="roundRect">
            <a:avLst>
              <a:gd name="adj" fmla="val 4000"/>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56934" y="1600200"/>
            <a:ext cx="5703241" cy="4069080"/>
          </a:xfrm>
          <a:prstGeom prst="rect">
            <a:avLst/>
          </a:prstGeom>
          <a:noFill/>
        </p:spPr>
        <p:txBody>
          <a:bodyPr wrap="none" anchor="t" lIns="45720" rIns="45720">
            <a:spAutoFit/>
          </a:bodyPr>
          <a:lstStyle/>
          <a:p>
            <a:pPr algn="l"/>
            <a:r>
              <a:rPr sz="1100" b="0">
                <a:solidFill>
                  <a:srgbClr val="CCFBF1"/>
                </a:solidFill>
                <a:latin typeface="Consolas"/>
              </a:rPr>
              <a:t>python</a:t>
            </a:r>
          </a:p>
          <a:p>
            <a:pPr algn="l"/>
            <a:r>
              <a:rPr sz="1400" b="0">
                <a:solidFill>
                  <a:srgbClr val="E5E7EB"/>
                </a:solidFill>
                <a:latin typeface="Consolas"/>
              </a:rPr>
              <a:t>class BankAccount:</a:t>
            </a:r>
          </a:p>
          <a:p>
            <a:pPr algn="l"/>
            <a:r>
              <a:rPr sz="1400" b="0">
                <a:solidFill>
                  <a:srgbClr val="E5E7EB"/>
                </a:solidFill>
                <a:latin typeface="Consolas"/>
              </a:rPr>
              <a:t>    def __init__(self, balance: float = 0.0):</a:t>
            </a:r>
          </a:p>
          <a:p>
            <a:pPr algn="l"/>
            <a:r>
              <a:rPr sz="1400" b="0">
                <a:solidFill>
                  <a:srgbClr val="E5E7EB"/>
                </a:solidFill>
                <a:latin typeface="Consolas"/>
              </a:rPr>
              <a:t>        self.balance = balance</a:t>
            </a:r>
          </a:p>
          <a:p>
            <a:pPr algn="l"/>
            <a:r>
              <a:rPr sz="1400" b="0">
                <a:solidFill>
                  <a:srgbClr val="E5E7EB"/>
                </a:solidFill>
                <a:latin typeface="Consolas"/>
              </a:rPr>
              <a:t/>
            </a:r>
          </a:p>
          <a:p>
            <a:pPr algn="l"/>
            <a:r>
              <a:rPr sz="1400" b="0">
                <a:solidFill>
                  <a:srgbClr val="E5E7EB"/>
                </a:solidFill>
                <a:latin typeface="Consolas"/>
              </a:rPr>
              <a:t>    def deposit(self, amount: float) -&gt; float:</a:t>
            </a:r>
          </a:p>
          <a:p>
            <a:pPr algn="l"/>
            <a:r>
              <a:rPr sz="1400" b="0">
                <a:solidFill>
                  <a:srgbClr val="E5E7EB"/>
                </a:solidFill>
                <a:latin typeface="Consolas"/>
              </a:rPr>
              <a:t>        if amount &lt;= 0:</a:t>
            </a:r>
          </a:p>
          <a:p>
            <a:pPr algn="l"/>
            <a:r>
              <a:rPr sz="1400" b="0">
                <a:solidFill>
                  <a:srgbClr val="E5E7EB"/>
                </a:solidFill>
                <a:latin typeface="Consolas"/>
              </a:rPr>
              <a:t>            raise ValueError("Deposit must be positive")</a:t>
            </a:r>
          </a:p>
          <a:p>
            <a:pPr algn="l"/>
            <a:r>
              <a:rPr sz="1400" b="0">
                <a:solidFill>
                  <a:srgbClr val="E5E7EB"/>
                </a:solidFill>
                <a:latin typeface="Consolas"/>
              </a:rPr>
              <a:t>        self.balance += amount</a:t>
            </a:r>
          </a:p>
          <a:p>
            <a:pPr algn="l"/>
            <a:r>
              <a:rPr sz="1400" b="0">
                <a:solidFill>
                  <a:srgbClr val="E5E7EB"/>
                </a:solidFill>
                <a:latin typeface="Consolas"/>
              </a:rPr>
              <a:t>        return self.balance</a:t>
            </a:r>
          </a:p>
          <a:p>
            <a:pPr algn="l"/>
            <a:r>
              <a:rPr sz="1400" b="0">
                <a:solidFill>
                  <a:srgbClr val="E5E7EB"/>
                </a:solidFill>
                <a:latin typeface="Consolas"/>
              </a:rPr>
              <a:t/>
            </a:r>
          </a:p>
          <a:p>
            <a:pPr algn="l"/>
            <a:r>
              <a:rPr sz="1400" b="0">
                <a:solidFill>
                  <a:srgbClr val="E5E7EB"/>
                </a:solidFill>
                <a:latin typeface="Consolas"/>
              </a:rPr>
              <a:t>    def withdraw(self, amount: float) -&gt; float:</a:t>
            </a:r>
          </a:p>
          <a:p>
            <a:pPr algn="l"/>
            <a:r>
              <a:rPr sz="1400" b="0">
                <a:solidFill>
                  <a:srgbClr val="E5E7EB"/>
                </a:solidFill>
                <a:latin typeface="Consolas"/>
              </a:rPr>
              <a:t>        if amount &gt; self.balance:</a:t>
            </a:r>
          </a:p>
          <a:p>
            <a:pPr algn="l"/>
            <a:r>
              <a:rPr sz="1400" b="0">
                <a:solidFill>
                  <a:srgbClr val="E5E7EB"/>
                </a:solidFill>
                <a:latin typeface="Consolas"/>
              </a:rPr>
              <a:t>            raise ValueError("Insufficient funds")</a:t>
            </a:r>
          </a:p>
          <a:p>
            <a:pPr algn="l"/>
            <a:r>
              <a:rPr sz="1400" b="0">
                <a:solidFill>
                  <a:srgbClr val="E5E7EB"/>
                </a:solidFill>
                <a:latin typeface="Consolas"/>
              </a:rPr>
              <a:t>        self.balance -= amount</a:t>
            </a:r>
          </a:p>
          <a:p>
            <a:pPr algn="l"/>
            <a:r>
              <a:rPr sz="1400" b="0">
                <a:solidFill>
                  <a:srgbClr val="E5E7EB"/>
                </a:solidFill>
                <a:latin typeface="Consolas"/>
              </a:rPr>
              <a:t>        return self.balance</a:t>
            </a:r>
          </a:p>
        </p:txBody>
      </p:sp>
      <p:sp>
        <p:nvSpPr>
          <p:cNvPr id="10" name="TextBox 9"/>
          <p:cNvSpPr txBox="1"/>
          <p:nvPr/>
        </p:nvSpPr>
        <p:spPr>
          <a:xfrm>
            <a:off x="5574054" y="5806440"/>
            <a:ext cx="6069001" cy="365760"/>
          </a:xfrm>
          <a:prstGeom prst="rect">
            <a:avLst/>
          </a:prstGeom>
          <a:noFill/>
        </p:spPr>
        <p:txBody>
          <a:bodyPr wrap="square" anchor="t" lIns="45720" rIns="45720">
            <a:spAutoFit/>
          </a:bodyPr>
          <a:lstStyle/>
          <a:p>
            <a:pPr algn="ctr"/>
            <a:r>
              <a:rPr sz="1200" b="0">
                <a:solidFill>
                  <a:srgbClr val="6B7280"/>
                </a:solidFill>
                <a:latin typeface="Calibri"/>
              </a:rPr>
              <a:t>AI-generated implementation passing the executable specification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2600" b="1">
                <a:solidFill>
                  <a:srgbClr val="1F2937"/>
                </a:solidFill>
                <a:latin typeface="Calibri"/>
              </a:rPr>
              <a:t>Concept Check: Executable Specifications vs Prompts</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Check</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W06.S2</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10</a:t>
            </a:r>
          </a:p>
        </p:txBody>
      </p:sp>
      <p:sp>
        <p:nvSpPr>
          <p:cNvPr id="7" name="TextBox 6"/>
          <p:cNvSpPr txBox="1"/>
          <p:nvPr/>
        </p:nvSpPr>
        <p:spPr>
          <a:xfrm>
            <a:off x="1280160" y="1463040"/>
            <a:ext cx="9631375" cy="1188720"/>
          </a:xfrm>
          <a:prstGeom prst="rect">
            <a:avLst/>
          </a:prstGeom>
          <a:noFill/>
        </p:spPr>
        <p:txBody>
          <a:bodyPr wrap="square" anchor="t" lIns="45720" rIns="45720">
            <a:spAutoFit/>
          </a:bodyPr>
          <a:lstStyle/>
          <a:p>
            <a:pPr algn="l"/>
            <a:r>
              <a:rPr sz="2600" b="1">
                <a:solidFill>
                  <a:srgbClr val="1F2937"/>
                </a:solidFill>
                <a:latin typeface="Calibri"/>
              </a:rPr>
              <a:t>Why are executable specifications preferred over natural language prompts when guiding AI code generation?</a:t>
            </a:r>
          </a:p>
        </p:txBody>
      </p:sp>
      <p:sp>
        <p:nvSpPr>
          <p:cNvPr id="8" name="Rounded Rectangle 7"/>
          <p:cNvSpPr/>
          <p:nvPr/>
        </p:nvSpPr>
        <p:spPr>
          <a:xfrm>
            <a:off x="1280160" y="2834640"/>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17320" y="2961513"/>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A</a:t>
            </a:r>
          </a:p>
        </p:txBody>
      </p:sp>
      <p:sp>
        <p:nvSpPr>
          <p:cNvPr id="10" name="TextBox 9"/>
          <p:cNvSpPr txBox="1"/>
          <p:nvPr/>
        </p:nvSpPr>
        <p:spPr>
          <a:xfrm>
            <a:off x="2057400" y="2834640"/>
            <a:ext cx="8625535" cy="710946"/>
          </a:xfrm>
          <a:prstGeom prst="rect">
            <a:avLst/>
          </a:prstGeom>
          <a:noFill/>
        </p:spPr>
        <p:txBody>
          <a:bodyPr wrap="square" anchor="ctr" lIns="45720" rIns="45720">
            <a:spAutoFit/>
          </a:bodyPr>
          <a:lstStyle/>
          <a:p>
            <a:pPr algn="l"/>
            <a:r>
              <a:rPr sz="1900" b="0">
                <a:solidFill>
                  <a:srgbClr val="1F2937"/>
                </a:solidFill>
                <a:latin typeface="Calibri"/>
              </a:rPr>
              <a:t>Executable specs replace the need to write unit tests manually.</a:t>
            </a:r>
          </a:p>
        </p:txBody>
      </p:sp>
      <p:sp>
        <p:nvSpPr>
          <p:cNvPr id="11" name="Rounded Rectangle 10"/>
          <p:cNvSpPr/>
          <p:nvPr/>
        </p:nvSpPr>
        <p:spPr>
          <a:xfrm>
            <a:off x="1280160" y="3710178"/>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417320" y="3837051"/>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B</a:t>
            </a:r>
          </a:p>
        </p:txBody>
      </p:sp>
      <p:sp>
        <p:nvSpPr>
          <p:cNvPr id="13" name="TextBox 12"/>
          <p:cNvSpPr txBox="1"/>
          <p:nvPr/>
        </p:nvSpPr>
        <p:spPr>
          <a:xfrm>
            <a:off x="2057400" y="3710178"/>
            <a:ext cx="8625535" cy="710946"/>
          </a:xfrm>
          <a:prstGeom prst="rect">
            <a:avLst/>
          </a:prstGeom>
          <a:noFill/>
        </p:spPr>
        <p:txBody>
          <a:bodyPr wrap="square" anchor="ctr" lIns="45720" rIns="45720">
            <a:spAutoFit/>
          </a:bodyPr>
          <a:lstStyle/>
          <a:p>
            <a:pPr algn="l"/>
            <a:r>
              <a:rPr sz="1900" b="0">
                <a:solidFill>
                  <a:srgbClr val="1F2937"/>
                </a:solidFill>
                <a:latin typeface="Calibri"/>
              </a:rPr>
              <a:t>Executable specs provide deterministic, programmatic verification of generated code against explicit interface contracts.</a:t>
            </a:r>
          </a:p>
        </p:txBody>
      </p:sp>
      <p:sp>
        <p:nvSpPr>
          <p:cNvPr id="14" name="Rounded Rectangle 13"/>
          <p:cNvSpPr/>
          <p:nvPr/>
        </p:nvSpPr>
        <p:spPr>
          <a:xfrm>
            <a:off x="1280160" y="4585716"/>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417320" y="4712589"/>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C</a:t>
            </a:r>
          </a:p>
        </p:txBody>
      </p:sp>
      <p:sp>
        <p:nvSpPr>
          <p:cNvPr id="16" name="TextBox 15"/>
          <p:cNvSpPr txBox="1"/>
          <p:nvPr/>
        </p:nvSpPr>
        <p:spPr>
          <a:xfrm>
            <a:off x="2057400" y="4585716"/>
            <a:ext cx="8625535" cy="710946"/>
          </a:xfrm>
          <a:prstGeom prst="rect">
            <a:avLst/>
          </a:prstGeom>
          <a:noFill/>
        </p:spPr>
        <p:txBody>
          <a:bodyPr wrap="square" anchor="ctr" lIns="45720" rIns="45720">
            <a:spAutoFit/>
          </a:bodyPr>
          <a:lstStyle/>
          <a:p>
            <a:pPr algn="l"/>
            <a:r>
              <a:rPr sz="1900" b="0">
                <a:solidFill>
                  <a:srgbClr val="1F2937"/>
                </a:solidFill>
                <a:latin typeface="Calibri"/>
              </a:rPr>
              <a:t>Executable specs automatically fix syntax errors inside prompt descriptions.</a:t>
            </a:r>
          </a:p>
        </p:txBody>
      </p:sp>
      <p:sp>
        <p:nvSpPr>
          <p:cNvPr id="17" name="Rounded Rectangle 16"/>
          <p:cNvSpPr/>
          <p:nvPr/>
        </p:nvSpPr>
        <p:spPr>
          <a:xfrm>
            <a:off x="1280160" y="5461254"/>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417320" y="5588127"/>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D</a:t>
            </a:r>
          </a:p>
        </p:txBody>
      </p:sp>
      <p:sp>
        <p:nvSpPr>
          <p:cNvPr id="19" name="TextBox 18"/>
          <p:cNvSpPr txBox="1"/>
          <p:nvPr/>
        </p:nvSpPr>
        <p:spPr>
          <a:xfrm>
            <a:off x="2057400" y="5461254"/>
            <a:ext cx="8625535" cy="710946"/>
          </a:xfrm>
          <a:prstGeom prst="rect">
            <a:avLst/>
          </a:prstGeom>
          <a:noFill/>
        </p:spPr>
        <p:txBody>
          <a:bodyPr wrap="square" anchor="ctr" lIns="45720" rIns="45720">
            <a:spAutoFit/>
          </a:bodyPr>
          <a:lstStyle/>
          <a:p>
            <a:pPr algn="l"/>
            <a:r>
              <a:rPr sz="1900" b="0">
                <a:solidFill>
                  <a:srgbClr val="1F2937"/>
                </a:solidFill>
                <a:latin typeface="Calibri"/>
              </a:rPr>
              <a:t>Executable specs allow AI models to modify public interface signatures dynamically.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Handling Edge Cases and Boundary Verification</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W06.S2   ·   Sources: [C1]</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11</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AI models frequently generate code that succeeds on happy paths but fails on boundaries.</a:t>
            </a:r>
          </a:p>
          <a:p>
            <a:pPr marL="292608" indent="-292608">
              <a:spcAft>
                <a:spcPts val="1000"/>
              </a:spcAft>
              <a:buClr>
                <a:srgbClr val="0F766E"/>
              </a:buClr>
              <a:buFont typeface="Arial"/>
              <a:buChar char="▪"/>
            </a:pPr>
            <a:r>
              <a:rPr sz="2400">
                <a:solidFill>
                  <a:srgbClr val="1F2937"/>
                </a:solidFill>
                <a:latin typeface="Calibri"/>
              </a:rPr>
              <a:t>Large language models require rigorous test evaluation to filter candidate solutions.</a:t>
            </a:r>
          </a:p>
          <a:p>
            <a:pPr marL="292608" indent="-292608">
              <a:spcAft>
                <a:spcPts val="1000"/>
              </a:spcAft>
              <a:buClr>
                <a:srgbClr val="0F766E"/>
              </a:buClr>
              <a:buFont typeface="Arial"/>
              <a:buChar char="▪"/>
            </a:pPr>
            <a:r>
              <a:rPr sz="2400">
                <a:solidFill>
                  <a:srgbClr val="1F2937"/>
                </a:solidFill>
                <a:latin typeface="Calibri"/>
              </a:rPr>
              <a:t>Specifications must explicitly cover edge cases (zero values, negative inputs, nulls).</a:t>
            </a:r>
          </a:p>
          <a:p>
            <a:pPr marL="292608" indent="-292608">
              <a:spcAft>
                <a:spcPts val="1000"/>
              </a:spcAft>
              <a:buClr>
                <a:srgbClr val="0F766E"/>
              </a:buClr>
              <a:buFont typeface="Arial"/>
              <a:buChar char="▪"/>
            </a:pPr>
            <a:r>
              <a:rPr sz="2400">
                <a:solidFill>
                  <a:srgbClr val="1F2937"/>
                </a:solidFill>
                <a:latin typeface="Calibri"/>
              </a:rPr>
              <a:t>Execution against specs prevents silent failures in generated code.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Automated Feedback Loops for Code Refinement</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W06.S2</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12</a:t>
            </a:r>
          </a:p>
        </p:txBody>
      </p:sp>
      <p:sp>
        <p:nvSpPr>
          <p:cNvPr id="6" name="TextBox 5"/>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300">
                <a:solidFill>
                  <a:srgbClr val="1F2937"/>
                </a:solidFill>
                <a:latin typeface="Calibri"/>
              </a:rPr>
              <a:t>Test failure outputs provide precise error tracebacks and assertion context.</a:t>
            </a:r>
          </a:p>
          <a:p>
            <a:pPr marL="292608" indent="-292608">
              <a:spcAft>
                <a:spcPts val="1000"/>
              </a:spcAft>
              <a:buClr>
                <a:srgbClr val="0F766E"/>
              </a:buClr>
              <a:buFont typeface="Arial"/>
              <a:buChar char="▪"/>
            </a:pPr>
            <a:r>
              <a:rPr sz="2300">
                <a:solidFill>
                  <a:srgbClr val="1F2937"/>
                </a:solidFill>
                <a:latin typeface="Calibri"/>
              </a:rPr>
              <a:t>Failure logs can be re-fed directly into the AI prompt for iterative fixing.</a:t>
            </a:r>
          </a:p>
          <a:p>
            <a:pPr marL="292608" indent="-292608">
              <a:spcAft>
                <a:spcPts val="1000"/>
              </a:spcAft>
              <a:buClr>
                <a:srgbClr val="0F766E"/>
              </a:buClr>
              <a:buFont typeface="Arial"/>
              <a:buChar char="▪"/>
            </a:pPr>
            <a:r>
              <a:rPr sz="2300">
                <a:solidFill>
                  <a:srgbClr val="1F2937"/>
                </a:solidFill>
                <a:latin typeface="Calibri"/>
              </a:rPr>
              <a:t>Enables targeted repair of broken interface contracts without manual editing.</a:t>
            </a:r>
          </a:p>
          <a:p>
            <a:pPr marL="292608" indent="-292608">
              <a:spcAft>
                <a:spcPts val="1000"/>
              </a:spcAft>
              <a:buClr>
                <a:srgbClr val="0F766E"/>
              </a:buClr>
              <a:buFont typeface="Arial"/>
              <a:buChar char="▪"/>
            </a:pPr>
            <a:r>
              <a:rPr sz="2300">
                <a:solidFill>
                  <a:srgbClr val="1F2937"/>
                </a:solidFill>
                <a:latin typeface="Calibri"/>
              </a:rPr>
              <a:t>Closes the loop between requirement validation and code generation.</a:t>
            </a:r>
          </a:p>
        </p:txBody>
      </p:sp>
      <p:sp>
        <p:nvSpPr>
          <p:cNvPr id="7" name="Rounded Rectangle 6"/>
          <p:cNvSpPr/>
          <p:nvPr/>
        </p:nvSpPr>
        <p:spPr>
          <a:xfrm>
            <a:off x="6683495" y="146304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Executable Spec</a:t>
            </a:r>
          </a:p>
        </p:txBody>
      </p:sp>
      <p:sp>
        <p:nvSpPr>
          <p:cNvPr id="8" name="Down Arrow 7"/>
          <p:cNvSpPr/>
          <p:nvPr/>
        </p:nvSpPr>
        <p:spPr>
          <a:xfrm>
            <a:off x="9026115" y="233629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683495" y="262890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AI Generation</a:t>
            </a:r>
          </a:p>
        </p:txBody>
      </p:sp>
      <p:sp>
        <p:nvSpPr>
          <p:cNvPr id="10" name="Down Arrow 9"/>
          <p:cNvSpPr/>
          <p:nvPr/>
        </p:nvSpPr>
        <p:spPr>
          <a:xfrm>
            <a:off x="9026115" y="350215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683495" y="379476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Run Spec Suite</a:t>
            </a:r>
          </a:p>
        </p:txBody>
      </p:sp>
      <p:sp>
        <p:nvSpPr>
          <p:cNvPr id="12" name="Down Arrow 11"/>
          <p:cNvSpPr/>
          <p:nvPr/>
        </p:nvSpPr>
        <p:spPr>
          <a:xfrm>
            <a:off x="9026115" y="466801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683495" y="496062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Pass or Feedback Loop</a:t>
            </a:r>
          </a:p>
        </p:txBody>
      </p:sp>
      <p:sp>
        <p:nvSpPr>
          <p:cNvPr id="14" name="TextBox 13"/>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Iterative AI refinement cycle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2700" b="1">
                <a:solidFill>
                  <a:srgbClr val="1F2937"/>
                </a:solidFill>
                <a:latin typeface="Calibri"/>
              </a:rPr>
              <a:t>Iterative Prompting with Pytest Failure Tracebacks</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Example</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W06.S2</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13</a:t>
            </a:r>
          </a:p>
        </p:txBody>
      </p:sp>
      <p:sp>
        <p:nvSpPr>
          <p:cNvPr id="7" name="TextBox 6"/>
          <p:cNvSpPr txBox="1"/>
          <p:nvPr/>
        </p:nvSpPr>
        <p:spPr>
          <a:xfrm>
            <a:off x="548640" y="1463040"/>
            <a:ext cx="4659654"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Identify missing validation logic from Pytest traceback output.</a:t>
            </a:r>
          </a:p>
          <a:p>
            <a:pPr marL="292608" indent="-292608">
              <a:spcAft>
                <a:spcPts val="1000"/>
              </a:spcAft>
              <a:buClr>
                <a:srgbClr val="0F766E"/>
              </a:buClr>
              <a:buFont typeface="Arial"/>
              <a:buChar char="▪"/>
            </a:pPr>
            <a:r>
              <a:rPr sz="2400">
                <a:solidFill>
                  <a:srgbClr val="1F2937"/>
                </a:solidFill>
                <a:latin typeface="Calibri"/>
              </a:rPr>
              <a:t>Re-prompt AI with failing test signature and traceback details.</a:t>
            </a:r>
          </a:p>
          <a:p>
            <a:pPr marL="292608" indent="-292608">
              <a:spcAft>
                <a:spcPts val="1000"/>
              </a:spcAft>
              <a:buClr>
                <a:srgbClr val="0F766E"/>
              </a:buClr>
              <a:buFont typeface="Arial"/>
              <a:buChar char="▪"/>
            </a:pPr>
            <a:r>
              <a:rPr sz="2400">
                <a:solidFill>
                  <a:srgbClr val="1F2937"/>
                </a:solidFill>
                <a:latin typeface="Calibri"/>
              </a:rPr>
              <a:t>Receive corrected module adhering to edge case specification.</a:t>
            </a:r>
          </a:p>
        </p:txBody>
      </p:sp>
      <p:sp>
        <p:nvSpPr>
          <p:cNvPr id="8" name="Rounded Rectangle 7"/>
          <p:cNvSpPr/>
          <p:nvPr/>
        </p:nvSpPr>
        <p:spPr>
          <a:xfrm>
            <a:off x="5574054" y="1463040"/>
            <a:ext cx="6069001" cy="4343400"/>
          </a:xfrm>
          <a:prstGeom prst="roundRect">
            <a:avLst>
              <a:gd name="adj" fmla="val 4000"/>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56934" y="1600200"/>
            <a:ext cx="5703241" cy="4069080"/>
          </a:xfrm>
          <a:prstGeom prst="rect">
            <a:avLst/>
          </a:prstGeom>
          <a:noFill/>
        </p:spPr>
        <p:txBody>
          <a:bodyPr wrap="none" anchor="t" lIns="45720" rIns="45720">
            <a:spAutoFit/>
          </a:bodyPr>
          <a:lstStyle/>
          <a:p>
            <a:pPr algn="l"/>
            <a:r>
              <a:rPr sz="1100" b="0">
                <a:solidFill>
                  <a:srgbClr val="CCFBF1"/>
                </a:solidFill>
                <a:latin typeface="Consolas"/>
              </a:rPr>
              <a:t>python</a:t>
            </a:r>
          </a:p>
          <a:p>
            <a:pPr algn="l"/>
            <a:r>
              <a:rPr sz="1400" b="0">
                <a:solidFill>
                  <a:srgbClr val="E5E7EB"/>
                </a:solidFill>
                <a:latin typeface="Consolas"/>
              </a:rPr>
              <a:t>def process_refund(amount: float, status: str) -&gt; bool:</a:t>
            </a:r>
          </a:p>
          <a:p>
            <a:pPr algn="l"/>
            <a:r>
              <a:rPr sz="1400" b="0">
                <a:solidFill>
                  <a:srgbClr val="E5E7EB"/>
                </a:solidFill>
                <a:latin typeface="Consolas"/>
              </a:rPr>
              <a:t>    if amount &lt;= 0:</a:t>
            </a:r>
          </a:p>
          <a:p>
            <a:pPr algn="l"/>
            <a:r>
              <a:rPr sz="1400" b="0">
                <a:solidFill>
                  <a:srgbClr val="E5E7EB"/>
                </a:solidFill>
                <a:latin typeface="Consolas"/>
              </a:rPr>
              <a:t>        raise ValueError("Invalid amount")</a:t>
            </a:r>
          </a:p>
          <a:p>
            <a:pPr algn="l"/>
            <a:r>
              <a:rPr sz="1400" b="0">
                <a:solidFill>
                  <a:srgbClr val="E5E7EB"/>
                </a:solidFill>
                <a:latin typeface="Consolas"/>
              </a:rPr>
              <a:t>    if status != "COMPLETED":</a:t>
            </a:r>
          </a:p>
          <a:p>
            <a:pPr algn="l"/>
            <a:r>
              <a:rPr sz="1400" b="0">
                <a:solidFill>
                  <a:srgbClr val="E5E7EB"/>
                </a:solidFill>
                <a:latin typeface="Consolas"/>
              </a:rPr>
              <a:t>        return False</a:t>
            </a:r>
          </a:p>
          <a:p>
            <a:pPr algn="l"/>
            <a:r>
              <a:rPr sz="1400" b="0">
                <a:solidFill>
                  <a:srgbClr val="E5E7EB"/>
                </a:solidFill>
                <a:latin typeface="Consolas"/>
              </a:rPr>
              <a:t>    return True</a:t>
            </a:r>
          </a:p>
        </p:txBody>
      </p:sp>
      <p:sp>
        <p:nvSpPr>
          <p:cNvPr id="10" name="TextBox 9"/>
          <p:cNvSpPr txBox="1"/>
          <p:nvPr/>
        </p:nvSpPr>
        <p:spPr>
          <a:xfrm>
            <a:off x="5574054" y="5806440"/>
            <a:ext cx="6069001" cy="365760"/>
          </a:xfrm>
          <a:prstGeom prst="rect">
            <a:avLst/>
          </a:prstGeom>
          <a:noFill/>
        </p:spPr>
        <p:txBody>
          <a:bodyPr wrap="square" anchor="t" lIns="45720" rIns="45720">
            <a:spAutoFit/>
          </a:bodyPr>
          <a:lstStyle/>
          <a:p>
            <a:pPr algn="ctr"/>
            <a:r>
              <a:rPr sz="1200" b="0">
                <a:solidFill>
                  <a:srgbClr val="6B7280"/>
                </a:solidFill>
                <a:latin typeface="Calibri"/>
              </a:rPr>
              <a:t>Refined implementation after handling negative refund amounts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3000" b="1">
                <a:solidFill>
                  <a:srgbClr val="1F2937"/>
                </a:solidFill>
                <a:latin typeface="Calibri"/>
              </a:rPr>
              <a:t>Concept Check: Iterative Code Repair</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Check</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W06.S2</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14</a:t>
            </a:r>
          </a:p>
        </p:txBody>
      </p:sp>
      <p:sp>
        <p:nvSpPr>
          <p:cNvPr id="7" name="TextBox 6"/>
          <p:cNvSpPr txBox="1"/>
          <p:nvPr/>
        </p:nvSpPr>
        <p:spPr>
          <a:xfrm>
            <a:off x="1280160" y="1463040"/>
            <a:ext cx="9631375" cy="1188720"/>
          </a:xfrm>
          <a:prstGeom prst="rect">
            <a:avLst/>
          </a:prstGeom>
          <a:noFill/>
        </p:spPr>
        <p:txBody>
          <a:bodyPr wrap="square" anchor="t" lIns="45720" rIns="45720">
            <a:spAutoFit/>
          </a:bodyPr>
          <a:lstStyle/>
          <a:p>
            <a:pPr algn="l"/>
            <a:r>
              <a:rPr sz="2600" b="1">
                <a:solidFill>
                  <a:srgbClr val="1F2937"/>
                </a:solidFill>
                <a:latin typeface="Calibri"/>
              </a:rPr>
              <a:t>When AI-generated code fails 2 out of 10 executable specification tests, what is the recommended next step?</a:t>
            </a:r>
          </a:p>
        </p:txBody>
      </p:sp>
      <p:sp>
        <p:nvSpPr>
          <p:cNvPr id="8" name="Rounded Rectangle 7"/>
          <p:cNvSpPr/>
          <p:nvPr/>
        </p:nvSpPr>
        <p:spPr>
          <a:xfrm>
            <a:off x="1280160" y="2834640"/>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17320" y="2961513"/>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A</a:t>
            </a:r>
          </a:p>
        </p:txBody>
      </p:sp>
      <p:sp>
        <p:nvSpPr>
          <p:cNvPr id="10" name="TextBox 9"/>
          <p:cNvSpPr txBox="1"/>
          <p:nvPr/>
        </p:nvSpPr>
        <p:spPr>
          <a:xfrm>
            <a:off x="2057400" y="2834640"/>
            <a:ext cx="8625535" cy="710946"/>
          </a:xfrm>
          <a:prstGeom prst="rect">
            <a:avLst/>
          </a:prstGeom>
          <a:noFill/>
        </p:spPr>
        <p:txBody>
          <a:bodyPr wrap="square" anchor="ctr" lIns="45720" rIns="45720">
            <a:spAutoFit/>
          </a:bodyPr>
          <a:lstStyle/>
          <a:p>
            <a:pPr algn="l"/>
            <a:r>
              <a:rPr sz="1900" b="0">
                <a:solidFill>
                  <a:srgbClr val="1F2937"/>
                </a:solidFill>
                <a:latin typeface="Calibri"/>
              </a:rPr>
              <a:t>Manually re-write the entire module implementation from scratch.</a:t>
            </a:r>
          </a:p>
        </p:txBody>
      </p:sp>
      <p:sp>
        <p:nvSpPr>
          <p:cNvPr id="11" name="Rounded Rectangle 10"/>
          <p:cNvSpPr/>
          <p:nvPr/>
        </p:nvSpPr>
        <p:spPr>
          <a:xfrm>
            <a:off x="1280160" y="3710178"/>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417320" y="3837051"/>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B</a:t>
            </a:r>
          </a:p>
        </p:txBody>
      </p:sp>
      <p:sp>
        <p:nvSpPr>
          <p:cNvPr id="13" name="TextBox 12"/>
          <p:cNvSpPr txBox="1"/>
          <p:nvPr/>
        </p:nvSpPr>
        <p:spPr>
          <a:xfrm>
            <a:off x="2057400" y="3710178"/>
            <a:ext cx="8625535" cy="710946"/>
          </a:xfrm>
          <a:prstGeom prst="rect">
            <a:avLst/>
          </a:prstGeom>
          <a:noFill/>
        </p:spPr>
        <p:txBody>
          <a:bodyPr wrap="square" anchor="ctr" lIns="45720" rIns="45720">
            <a:spAutoFit/>
          </a:bodyPr>
          <a:lstStyle/>
          <a:p>
            <a:pPr algn="l"/>
            <a:r>
              <a:rPr sz="1900" b="0">
                <a:solidFill>
                  <a:srgbClr val="1F2937"/>
                </a:solidFill>
                <a:latin typeface="Calibri"/>
              </a:rPr>
              <a:t>Feed the failed test assertions and traceback output back into the AI model for targeted refinement.</a:t>
            </a:r>
          </a:p>
        </p:txBody>
      </p:sp>
      <p:sp>
        <p:nvSpPr>
          <p:cNvPr id="14" name="Rounded Rectangle 13"/>
          <p:cNvSpPr/>
          <p:nvPr/>
        </p:nvSpPr>
        <p:spPr>
          <a:xfrm>
            <a:off x="1280160" y="4585716"/>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417320" y="4712589"/>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C</a:t>
            </a:r>
          </a:p>
        </p:txBody>
      </p:sp>
      <p:sp>
        <p:nvSpPr>
          <p:cNvPr id="16" name="TextBox 15"/>
          <p:cNvSpPr txBox="1"/>
          <p:nvPr/>
        </p:nvSpPr>
        <p:spPr>
          <a:xfrm>
            <a:off x="2057400" y="4585716"/>
            <a:ext cx="8625535" cy="710946"/>
          </a:xfrm>
          <a:prstGeom prst="rect">
            <a:avLst/>
          </a:prstGeom>
          <a:noFill/>
        </p:spPr>
        <p:txBody>
          <a:bodyPr wrap="square" anchor="ctr" lIns="45720" rIns="45720">
            <a:spAutoFit/>
          </a:bodyPr>
          <a:lstStyle/>
          <a:p>
            <a:pPr algn="l"/>
            <a:r>
              <a:rPr sz="1900" b="0">
                <a:solidFill>
                  <a:srgbClr val="1F2937"/>
                </a:solidFill>
                <a:latin typeface="Calibri"/>
              </a:rPr>
              <a:t>Delete the two failing tests from the specification suite to achieve a pass state.</a:t>
            </a:r>
          </a:p>
        </p:txBody>
      </p:sp>
      <p:sp>
        <p:nvSpPr>
          <p:cNvPr id="17" name="Rounded Rectangle 16"/>
          <p:cNvSpPr/>
          <p:nvPr/>
        </p:nvSpPr>
        <p:spPr>
          <a:xfrm>
            <a:off x="1280160" y="5461254"/>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417320" y="5588127"/>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D</a:t>
            </a:r>
          </a:p>
        </p:txBody>
      </p:sp>
      <p:sp>
        <p:nvSpPr>
          <p:cNvPr id="19" name="TextBox 18"/>
          <p:cNvSpPr txBox="1"/>
          <p:nvPr/>
        </p:nvSpPr>
        <p:spPr>
          <a:xfrm>
            <a:off x="2057400" y="5461254"/>
            <a:ext cx="8625535" cy="710946"/>
          </a:xfrm>
          <a:prstGeom prst="rect">
            <a:avLst/>
          </a:prstGeom>
          <a:noFill/>
        </p:spPr>
        <p:txBody>
          <a:bodyPr wrap="square" anchor="ctr" lIns="45720" rIns="45720">
            <a:spAutoFit/>
          </a:bodyPr>
          <a:lstStyle/>
          <a:p>
            <a:pPr algn="l"/>
            <a:r>
              <a:rPr sz="1900" b="0">
                <a:solidFill>
                  <a:srgbClr val="1F2937"/>
                </a:solidFill>
                <a:latin typeface="Calibri"/>
              </a:rPr>
              <a:t>Change the public method signatures to match whatever the AI produced.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2800" b="1">
                <a:solidFill>
                  <a:srgbClr val="1F2937"/>
                </a:solidFill>
                <a:latin typeface="Calibri"/>
              </a:rPr>
              <a:t>Hands-On Lab: Executable Specs and AI Generation</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Activity</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W06.S2</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15</a:t>
            </a:r>
          </a:p>
        </p:txBody>
      </p:sp>
      <p:sp>
        <p:nvSpPr>
          <p:cNvPr id="7" name="TextBox 6"/>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Task 1: Translate a written module requirement into Pytest executable specifications.</a:t>
            </a:r>
          </a:p>
          <a:p>
            <a:pPr marL="292608" indent="-292608">
              <a:spcAft>
                <a:spcPts val="1000"/>
              </a:spcAft>
              <a:buClr>
                <a:srgbClr val="0F766E"/>
              </a:buClr>
              <a:buFont typeface="Arial"/>
              <a:buChar char="▪"/>
            </a:pPr>
            <a:r>
              <a:rPr sz="2400">
                <a:solidFill>
                  <a:srgbClr val="1F2937"/>
                </a:solidFill>
                <a:latin typeface="Calibri"/>
              </a:rPr>
              <a:t>Task 2: Define strict public method signatures for all required endpoints.</a:t>
            </a:r>
          </a:p>
          <a:p>
            <a:pPr marL="292608" indent="-292608">
              <a:spcAft>
                <a:spcPts val="1000"/>
              </a:spcAft>
              <a:buClr>
                <a:srgbClr val="0F766E"/>
              </a:buClr>
              <a:buFont typeface="Arial"/>
              <a:buChar char="▪"/>
            </a:pPr>
            <a:r>
              <a:rPr sz="2400">
                <a:solidFill>
                  <a:srgbClr val="1F2937"/>
                </a:solidFill>
                <a:latin typeface="Calibri"/>
              </a:rPr>
              <a:t>Task 3: Prompt AI to generate the implementation satisfying your spec suite.</a:t>
            </a:r>
          </a:p>
          <a:p>
            <a:pPr marL="292608" indent="-292608">
              <a:spcAft>
                <a:spcPts val="1000"/>
              </a:spcAft>
              <a:buClr>
                <a:srgbClr val="0F766E"/>
              </a:buClr>
              <a:buFont typeface="Arial"/>
              <a:buChar char="▪"/>
            </a:pPr>
            <a:r>
              <a:rPr sz="2400">
                <a:solidFill>
                  <a:srgbClr val="1F2937"/>
                </a:solidFill>
                <a:latin typeface="Calibri"/>
              </a:rPr>
              <a:t>Task 4: Run Pytest and iteratively refine the output using test tracebacks.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3000" b="1">
                <a:solidFill>
                  <a:srgbClr val="1F2937"/>
                </a:solidFill>
                <a:latin typeface="Calibri"/>
              </a:rPr>
              <a:t>Summary: Executable Specs &amp; Code Generation</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Summary</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W06.S2</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16</a:t>
            </a:r>
          </a:p>
        </p:txBody>
      </p:sp>
      <p:sp>
        <p:nvSpPr>
          <p:cNvPr id="7" name="TextBox 6"/>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Unstructured requirements must be formalized into executable specifications before AI code generation.</a:t>
            </a:r>
          </a:p>
          <a:p>
            <a:pPr marL="292608" indent="-292608">
              <a:spcAft>
                <a:spcPts val="1000"/>
              </a:spcAft>
              <a:buClr>
                <a:srgbClr val="0F766E"/>
              </a:buClr>
              <a:buFont typeface="Arial"/>
              <a:buChar char="▪"/>
            </a:pPr>
            <a:r>
              <a:rPr sz="2400">
                <a:solidFill>
                  <a:srgbClr val="1F2937"/>
                </a:solidFill>
                <a:latin typeface="Calibri"/>
              </a:rPr>
              <a:t>Specs establish unambiguous interface signatures and runtime behavioral guardrails.</a:t>
            </a:r>
          </a:p>
          <a:p>
            <a:pPr marL="292608" indent="-292608">
              <a:spcAft>
                <a:spcPts val="1000"/>
              </a:spcAft>
              <a:buClr>
                <a:srgbClr val="0F766E"/>
              </a:buClr>
              <a:buFont typeface="Arial"/>
              <a:buChar char="▪"/>
            </a:pPr>
            <a:r>
              <a:rPr sz="2400">
                <a:solidFill>
                  <a:srgbClr val="1F2937"/>
                </a:solidFill>
                <a:latin typeface="Calibri"/>
              </a:rPr>
              <a:t>AI code generation combined with automated test suites ensures verification of every public method.</a:t>
            </a:r>
          </a:p>
          <a:p>
            <a:pPr marL="292608" indent="-292608">
              <a:spcAft>
                <a:spcPts val="1000"/>
              </a:spcAft>
              <a:buClr>
                <a:srgbClr val="0F766E"/>
              </a:buClr>
              <a:buFont typeface="Arial"/>
              <a:buChar char="▪"/>
            </a:pPr>
            <a:r>
              <a:rPr sz="2400">
                <a:solidFill>
                  <a:srgbClr val="1F2937"/>
                </a:solidFill>
                <a:latin typeface="Calibri"/>
              </a:rPr>
              <a:t>Test tracebacks provide an automated feedback loop for iterative AI code refinement.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References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W06.S2</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17</a:t>
            </a:r>
          </a:p>
        </p:txBody>
      </p:sp>
      <p:sp>
        <p:nvSpPr>
          <p:cNvPr id="6" name="TextBox 5"/>
          <p:cNvSpPr txBox="1"/>
          <p:nvPr/>
        </p:nvSpPr>
        <p:spPr>
          <a:xfrm>
            <a:off x="548640" y="1463040"/>
            <a:ext cx="11094415" cy="4754880"/>
          </a:xfrm>
          <a:prstGeom prst="rect">
            <a:avLst/>
          </a:prstGeom>
          <a:noFill/>
        </p:spPr>
        <p:txBody>
          <a:bodyPr wrap="square">
            <a:spAutoFit/>
          </a:bodyPr>
          <a:lstStyle/>
          <a:p>
            <a:pPr marL="292608" indent="-292608">
              <a:spcAft>
                <a:spcPts val="1000"/>
              </a:spcAft>
              <a:buClr>
                <a:srgbClr val="0F766E"/>
              </a:buClr>
              <a:buFont typeface="Arial"/>
              <a:buChar char="▪"/>
            </a:pPr>
            <a:r>
              <a:rPr sz="1800">
                <a:solidFill>
                  <a:srgbClr val="1F2937"/>
                </a:solidFill>
                <a:latin typeface="Calibri"/>
              </a:rPr>
              <a:t>[C1] Competition-level code generation with AlphaCode (2022). https://doi.org/10.1126/science.abq1158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