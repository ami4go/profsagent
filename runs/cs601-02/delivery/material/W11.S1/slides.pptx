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ProjMilestone,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that Week 10 introduced the need for automated testing in AI-native software factories. Emphasize that AI components introduce stochastic outputs, requiring testing strategies beyond traditional deterministic code. Highlight three layers: data validation, model evaluation, and pipeline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four main testing mechanisms used in AI-native pipelines. Unit tests cover traditional code. Model evaluation tests assess predictive performance on held-out data. Pipeline integration tests verify that data flows correctly through preprocessing, inference, and postprocessing. Contract tests ensure that service APIs meet agreed schemas.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unit tests for AI components focus on deterministic transformations: data cleaning, feature extraction, and wrapper logic. Mocking external model endpoints isolates tests from network latency and model version changes. This keeps unit tests fast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Integration tests exercise the full pipeline from raw input to final output. They check that schema contracts between stages hold, that new model versions can be deployed without breaking downstream stages, and that observability hooks (metrics, logs) fire correctly. Include rollback tests to ensure safe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 common model-level metrics. Classification tasks use accuracy, precision, recall, F1. Regression tasks use RMSE, MAE. Calibration error measures how well predicted probabilities match true frequencies. Serving metrics like latency and throughput are critical for production SLAs.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evaluating only the model is insufficient. Pipeline evaluation captures issues like data drift, schema mismatches, and resource bottlenecks that only appear when components interact. End-to-end metrics such as pipeline success rate and end-to-end latency inform go/no-go release decisions.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mechanisms to evaluate pipelines in production. Canary deployments route a small fraction of traffic to new pipeline versions. Shadow mirroring runs new pipeline alongside current without affecting users. Synthetic probes inject known inputs to detect regressions. Dashboards aggregate metrics for continuous visibility.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pipeline metrics into four categories. Reliability metrics measure how often the pipeline completes without error (success rate, mean time between failures, flakiness). Performance metrics capture speed and resource consumption. Quality metrics track model prediction health and data drift. Operational metrics reflect process health.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a concrete scenario: a nightly retraining pipeline that pulls data, trains a model, validates, and deploys. Show how to select one metric per category: stage success rate for reliability, total runtime for performance, validation AUC drop for quality. Explain thresholds are set based on business SLAs.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a worked comparison. Strategy A (canary) exposes real users to new version, detecting reliability issues quickly but risking user impact. Strategy B (shadow) runs new pipeline silently, zero user risk but requires double compute and may miss issues that only appear under real load. Step through trade-offs and conclude with a recommendation matrix.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students to select the best answer. Discuss why integration tests are the correct choice and why the other options are insufficient for this specific goal.</a:t>
            </a:r>
          </a:p>
          <a:p/>
          <a:p>
            <a:r>
              <a:t>Answer: C. Pipeline integration tests</a:t>
            </a:r>
          </a:p>
          <a:p>
            <a:r>
              <a:t>Pipeline integration tests exercise the full flow from data ingestion through model inference to downstream consumers, making them the right choice for catching breakages across stages. Unit tests and model evaluation tests are too narrow, while contract tests only check interface compliance, not functional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that flakiness rate is the metric designed for intermittent failures. Clarify the distinction between MTBF and flakiness.</a:t>
            </a:r>
          </a:p>
          <a:p/>
          <a:p>
            <a:r>
              <a:t>Answer: C. Flakiness rate</a:t>
            </a:r>
          </a:p>
          <a:p>
            <a:r>
              <a:t>Flakiness rate directly captures the frequency of intermittent failures that succeed on retry. MTBF measures time between any failures, not specifically intermittent ones. Stage success rate aggregates all outcomes, and rollback frequency reflects deployment issues, not stage flakiness.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frequent mistakes: focusing only on model-level metrics while missing system-level failures; not testing schema changes that break downstream stages; not monitoring CPU/GPU/memory under load; and not practicing rollback procedures, leading to prolonged outages.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five best practices. Emphasize a layered testing approach, end-to-end pipeline evaluation, metric categorization, automated evaluation mechanisms, and ongoing threshold calibration. Connect back to the learning outcome: comparing mechanisms and metrics for AI-native architectures.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100" b="1">
                <a:solidFill>
                  <a:srgbClr val="CCFBF1"/>
                </a:solidFill>
                <a:latin typeface="Calibri"/>
              </a:rPr>
              <a:t>Automated testing and evaluation mechanisms · Pipeline evaluation mechanisms and metrics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11 · Automated Testing and Evaluation Metrics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Compare automated testing mechanisms and evaluation metrics for AI-native software architectures (CO4.LO1)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Automated Testing in AI-Native Systems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Previous week covered AI-native architecture testing</a:t>
            </a:r>
          </a:p>
          <a:p>
            <a:pPr marL="292608" indent="-292608">
              <a:spcAft>
                <a:spcPts val="1000"/>
              </a:spcAft>
              <a:buClr>
                <a:srgbClr val="0F766E"/>
              </a:buClr>
              <a:buFont typeface="Arial"/>
              <a:buChar char="▪"/>
            </a:pPr>
            <a:r>
              <a:rPr sz="2400">
                <a:solidFill>
                  <a:srgbClr val="1F2937"/>
                </a:solidFill>
                <a:latin typeface="Calibri"/>
              </a:rPr>
              <a:t>Key challenge: nondeterministic model behavior</a:t>
            </a:r>
          </a:p>
          <a:p>
            <a:pPr marL="292608" indent="-292608">
              <a:spcAft>
                <a:spcPts val="1000"/>
              </a:spcAft>
              <a:buClr>
                <a:srgbClr val="0F766E"/>
              </a:buClr>
              <a:buFont typeface="Arial"/>
              <a:buChar char="▪"/>
            </a:pPr>
            <a:r>
              <a:rPr sz="2400">
                <a:solidFill>
                  <a:srgbClr val="1F2937"/>
                </a:solidFill>
                <a:latin typeface="Calibri"/>
              </a:rPr>
              <a:t>Testing must address data, model, and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Testing Mechanisms Overview</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Unit tests for deterministic code</a:t>
            </a:r>
          </a:p>
          <a:p>
            <a:pPr marL="292608" indent="-292608">
              <a:spcAft>
                <a:spcPts val="1000"/>
              </a:spcAft>
              <a:buClr>
                <a:srgbClr val="0F766E"/>
              </a:buClr>
              <a:buFont typeface="Arial"/>
              <a:buChar char="▪"/>
            </a:pPr>
            <a:r>
              <a:rPr sz="2400">
                <a:solidFill>
                  <a:srgbClr val="1F2937"/>
                </a:solidFill>
                <a:latin typeface="Calibri"/>
              </a:rPr>
              <a:t>Model evaluation tests for accuracy</a:t>
            </a:r>
          </a:p>
          <a:p>
            <a:pPr marL="292608" indent="-292608">
              <a:spcAft>
                <a:spcPts val="1000"/>
              </a:spcAft>
              <a:buClr>
                <a:srgbClr val="0F766E"/>
              </a:buClr>
              <a:buFont typeface="Arial"/>
              <a:buChar char="▪"/>
            </a:pPr>
            <a:r>
              <a:rPr sz="2400">
                <a:solidFill>
                  <a:srgbClr val="1F2937"/>
                </a:solidFill>
                <a:latin typeface="Calibri"/>
              </a:rPr>
              <a:t>Pipeline integration tests for end-to-end flow</a:t>
            </a:r>
          </a:p>
          <a:p>
            <a:pPr marL="292608" indent="-292608">
              <a:spcAft>
                <a:spcPts val="1000"/>
              </a:spcAft>
              <a:buClr>
                <a:srgbClr val="0F766E"/>
              </a:buClr>
              <a:buFont typeface="Arial"/>
              <a:buChar char="▪"/>
            </a:pPr>
            <a:r>
              <a:rPr sz="2400">
                <a:solidFill>
                  <a:srgbClr val="1F2937"/>
                </a:solidFill>
                <a:latin typeface="Calibri"/>
              </a:rPr>
              <a:t>Contract tests for service interfaces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Unit Testing for AI Components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Test data preprocessing functions</a:t>
            </a:r>
          </a:p>
          <a:p>
            <a:pPr marL="292608" indent="-292608">
              <a:spcAft>
                <a:spcPts val="1000"/>
              </a:spcAft>
              <a:buClr>
                <a:srgbClr val="0F766E"/>
              </a:buClr>
              <a:buFont typeface="Arial"/>
              <a:buChar char="▪"/>
            </a:pPr>
            <a:r>
              <a:rPr sz="2400">
                <a:solidFill>
                  <a:srgbClr val="1F2937"/>
                </a:solidFill>
                <a:latin typeface="Calibri"/>
              </a:rPr>
              <a:t>Test feature engineering logic</a:t>
            </a:r>
          </a:p>
          <a:p>
            <a:pPr marL="292608" indent="-292608">
              <a:spcAft>
                <a:spcPts val="1000"/>
              </a:spcAft>
              <a:buClr>
                <a:srgbClr val="0F766E"/>
              </a:buClr>
              <a:buFont typeface="Arial"/>
              <a:buChar char="▪"/>
            </a:pPr>
            <a:r>
              <a:rPr sz="2400">
                <a:solidFill>
                  <a:srgbClr val="1F2937"/>
                </a:solidFill>
                <a:latin typeface="Calibri"/>
              </a:rPr>
              <a:t>Test model wrapper error handling</a:t>
            </a:r>
          </a:p>
          <a:p>
            <a:pPr marL="292608" indent="-292608">
              <a:spcAft>
                <a:spcPts val="1000"/>
              </a:spcAft>
              <a:buClr>
                <a:srgbClr val="0F766E"/>
              </a:buClr>
              <a:buFont typeface="Arial"/>
              <a:buChar char="▪"/>
            </a:pPr>
            <a:r>
              <a:rPr sz="2400">
                <a:solidFill>
                  <a:srgbClr val="1F2937"/>
                </a:solidFill>
                <a:latin typeface="Calibri"/>
              </a:rPr>
              <a:t>Mock external model APIs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Integration Testing for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Validate data schema compatibility</a:t>
            </a:r>
          </a:p>
          <a:p>
            <a:pPr marL="292608" indent="-292608">
              <a:spcAft>
                <a:spcPts val="1000"/>
              </a:spcAft>
              <a:buClr>
                <a:srgbClr val="0F766E"/>
              </a:buClr>
              <a:buFont typeface="Arial"/>
              <a:buChar char="▪"/>
            </a:pPr>
            <a:r>
              <a:rPr sz="2400">
                <a:solidFill>
                  <a:srgbClr val="1F2937"/>
                </a:solidFill>
                <a:latin typeface="Calibri"/>
              </a:rPr>
              <a:t>Check model version rollout</a:t>
            </a:r>
          </a:p>
          <a:p>
            <a:pPr marL="292608" indent="-292608">
              <a:spcAft>
                <a:spcPts val="1000"/>
              </a:spcAft>
              <a:buClr>
                <a:srgbClr val="0F766E"/>
              </a:buClr>
              <a:buFont typeface="Arial"/>
              <a:buChar char="▪"/>
            </a:pPr>
            <a:r>
              <a:rPr sz="2400">
                <a:solidFill>
                  <a:srgbClr val="1F2937"/>
                </a:solidFill>
                <a:latin typeface="Calibri"/>
              </a:rPr>
              <a:t>Verify monitoring hooks</a:t>
            </a:r>
          </a:p>
          <a:p>
            <a:pPr marL="292608" indent="-292608">
              <a:spcAft>
                <a:spcPts val="1000"/>
              </a:spcAft>
              <a:buClr>
                <a:srgbClr val="0F766E"/>
              </a:buClr>
              <a:buFont typeface="Arial"/>
              <a:buChar char="▪"/>
            </a:pPr>
            <a:r>
              <a:rPr sz="2400">
                <a:solidFill>
                  <a:srgbClr val="1F2937"/>
                </a:solidFill>
                <a:latin typeface="Calibri"/>
              </a:rPr>
              <a:t>Test rollback procedures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Evaluation Metrics for AI Models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Accuracy, precision, recall for classification</a:t>
            </a:r>
          </a:p>
          <a:p>
            <a:pPr marL="292608" indent="-292608">
              <a:spcAft>
                <a:spcPts val="1000"/>
              </a:spcAft>
              <a:buClr>
                <a:srgbClr val="0F766E"/>
              </a:buClr>
              <a:buFont typeface="Arial"/>
              <a:buChar char="▪"/>
            </a:pPr>
            <a:r>
              <a:rPr sz="2400">
                <a:solidFill>
                  <a:srgbClr val="1F2937"/>
                </a:solidFill>
                <a:latin typeface="Calibri"/>
              </a:rPr>
              <a:t>RMSE, MAE for regression</a:t>
            </a:r>
          </a:p>
          <a:p>
            <a:pPr marL="292608" indent="-292608">
              <a:spcAft>
                <a:spcPts val="1000"/>
              </a:spcAft>
              <a:buClr>
                <a:srgbClr val="0F766E"/>
              </a:buClr>
              <a:buFont typeface="Arial"/>
              <a:buChar char="▪"/>
            </a:pPr>
            <a:r>
              <a:rPr sz="2400">
                <a:solidFill>
                  <a:srgbClr val="1F2937"/>
                </a:solidFill>
                <a:latin typeface="Calibri"/>
              </a:rPr>
              <a:t>Calibration error for probability outputs</a:t>
            </a:r>
          </a:p>
          <a:p>
            <a:pPr marL="292608" indent="-292608">
              <a:spcAft>
                <a:spcPts val="1000"/>
              </a:spcAft>
              <a:buClr>
                <a:srgbClr val="0F766E"/>
              </a:buClr>
              <a:buFont typeface="Arial"/>
              <a:buChar char="▪"/>
            </a:pPr>
            <a:r>
              <a:rPr sz="2400">
                <a:solidFill>
                  <a:srgbClr val="1F2937"/>
                </a:solidFill>
                <a:latin typeface="Calibri"/>
              </a:rPr>
              <a:t>Latency and throughput for serving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Why Pipeline Evaluation Matters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metrics alone miss system failures</a:t>
            </a:r>
          </a:p>
          <a:p>
            <a:pPr marL="292608" indent="-292608">
              <a:spcAft>
                <a:spcPts val="1000"/>
              </a:spcAft>
              <a:buClr>
                <a:srgbClr val="0F766E"/>
              </a:buClr>
              <a:buFont typeface="Arial"/>
              <a:buChar char="▪"/>
            </a:pPr>
            <a:r>
              <a:rPr sz="2400">
                <a:solidFill>
                  <a:srgbClr val="1F2937"/>
                </a:solidFill>
                <a:latin typeface="Calibri"/>
              </a:rPr>
              <a:t>Data drift can degrade downstream stages</a:t>
            </a:r>
          </a:p>
          <a:p>
            <a:pPr marL="292608" indent="-292608">
              <a:spcAft>
                <a:spcPts val="1000"/>
              </a:spcAft>
              <a:buClr>
                <a:srgbClr val="0F766E"/>
              </a:buClr>
              <a:buFont typeface="Arial"/>
              <a:buChar char="▪"/>
            </a:pPr>
            <a:r>
              <a:rPr sz="2400">
                <a:solidFill>
                  <a:srgbClr val="1F2937"/>
                </a:solidFill>
                <a:latin typeface="Calibri"/>
              </a:rPr>
              <a:t>Resource constraints affect reliability</a:t>
            </a:r>
          </a:p>
          <a:p>
            <a:pPr marL="292608" indent="-292608">
              <a:spcAft>
                <a:spcPts val="1000"/>
              </a:spcAft>
              <a:buClr>
                <a:srgbClr val="0F766E"/>
              </a:buClr>
              <a:buFont typeface="Arial"/>
              <a:buChar char="▪"/>
            </a:pPr>
            <a:r>
              <a:rPr sz="2400">
                <a:solidFill>
                  <a:srgbClr val="1F2937"/>
                </a:solidFill>
                <a:latin typeface="Calibri"/>
              </a:rPr>
              <a:t>End-to-end metrics guide release decisions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Pipeline Evaluation Mechanisms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Automated canary deployments</a:t>
            </a:r>
          </a:p>
          <a:p>
            <a:pPr marL="292608" indent="-292608">
              <a:spcAft>
                <a:spcPts val="1000"/>
              </a:spcAft>
              <a:buClr>
                <a:srgbClr val="0F766E"/>
              </a:buClr>
              <a:buFont typeface="Arial"/>
              <a:buChar char="▪"/>
            </a:pPr>
            <a:r>
              <a:rPr sz="2400">
                <a:solidFill>
                  <a:srgbClr val="1F2937"/>
                </a:solidFill>
                <a:latin typeface="Calibri"/>
              </a:rPr>
              <a:t>Shadow traffic mirroring</a:t>
            </a:r>
          </a:p>
          <a:p>
            <a:pPr marL="292608" indent="-292608">
              <a:spcAft>
                <a:spcPts val="1000"/>
              </a:spcAft>
              <a:buClr>
                <a:srgbClr val="0F766E"/>
              </a:buClr>
              <a:buFont typeface="Arial"/>
              <a:buChar char="▪"/>
            </a:pPr>
            <a:r>
              <a:rPr sz="2400">
                <a:solidFill>
                  <a:srgbClr val="1F2937"/>
                </a:solidFill>
                <a:latin typeface="Calibri"/>
              </a:rPr>
              <a:t>Synthetic data probes</a:t>
            </a:r>
          </a:p>
          <a:p>
            <a:pPr marL="292608" indent="-292608">
              <a:spcAft>
                <a:spcPts val="1000"/>
              </a:spcAft>
              <a:buClr>
                <a:srgbClr val="0F766E"/>
              </a:buClr>
              <a:buFont typeface="Arial"/>
              <a:buChar char="▪"/>
            </a:pPr>
            <a:r>
              <a:rPr sz="2400">
                <a:solidFill>
                  <a:srgbClr val="1F2937"/>
                </a:solidFill>
                <a:latin typeface="Calibri"/>
              </a:rPr>
              <a:t>Continuous evaluation dashboards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Metric Categories: Reliability, Performance, Quality</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Reliability: success rate, MTBF, flakiness</a:t>
            </a:r>
          </a:p>
          <a:p>
            <a:pPr marL="292608" indent="-292608">
              <a:spcAft>
                <a:spcPts val="1000"/>
              </a:spcAft>
              <a:buClr>
                <a:srgbClr val="0F766E"/>
              </a:buClr>
              <a:buFont typeface="Arial"/>
              <a:buChar char="▪"/>
            </a:pPr>
            <a:r>
              <a:rPr sz="2400">
                <a:solidFill>
                  <a:srgbClr val="1F2937"/>
                </a:solidFill>
                <a:latin typeface="Calibri"/>
              </a:rPr>
              <a:t>Performance: latency, throughput, resource use</a:t>
            </a:r>
          </a:p>
          <a:p>
            <a:pPr marL="292608" indent="-292608">
              <a:spcAft>
                <a:spcPts val="1000"/>
              </a:spcAft>
              <a:buClr>
                <a:srgbClr val="0F766E"/>
              </a:buClr>
              <a:buFont typeface="Arial"/>
              <a:buChar char="▪"/>
            </a:pPr>
            <a:r>
              <a:rPr sz="2400">
                <a:solidFill>
                  <a:srgbClr val="1F2937"/>
                </a:solidFill>
                <a:latin typeface="Calibri"/>
              </a:rPr>
              <a:t>Quality: prediction accuracy, drift detection</a:t>
            </a:r>
          </a:p>
          <a:p>
            <a:pPr marL="292608" indent="-292608">
              <a:spcAft>
                <a:spcPts val="1000"/>
              </a:spcAft>
              <a:buClr>
                <a:srgbClr val="0F766E"/>
              </a:buClr>
              <a:buFont typeface="Arial"/>
              <a:buChar char="▪"/>
            </a:pPr>
            <a:r>
              <a:rPr sz="2400">
                <a:solidFill>
                  <a:srgbClr val="1F2937"/>
                </a:solidFill>
                <a:latin typeface="Calibri"/>
              </a:rPr>
              <a:t>Operational: deployment frequency, rollback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Example: Choosing Metrics for a CI/CD Pipeline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Scenario: nightly model retraining pipeline</a:t>
            </a:r>
          </a:p>
          <a:p>
            <a:pPr marL="292608" indent="-292608">
              <a:spcAft>
                <a:spcPts val="1000"/>
              </a:spcAft>
              <a:buClr>
                <a:srgbClr val="0F766E"/>
              </a:buClr>
              <a:buFont typeface="Arial"/>
              <a:buChar char="▪"/>
            </a:pPr>
            <a:r>
              <a:rPr sz="2400">
                <a:solidFill>
                  <a:srgbClr val="1F2937"/>
                </a:solidFill>
                <a:latin typeface="Calibri"/>
              </a:rPr>
              <a:t>Reliability: stage success rate &gt; 99%</a:t>
            </a:r>
          </a:p>
          <a:p>
            <a:pPr marL="292608" indent="-292608">
              <a:spcAft>
                <a:spcPts val="1000"/>
              </a:spcAft>
              <a:buClr>
                <a:srgbClr val="0F766E"/>
              </a:buClr>
              <a:buFont typeface="Arial"/>
              <a:buChar char="▪"/>
            </a:pPr>
            <a:r>
              <a:rPr sz="2400">
                <a:solidFill>
                  <a:srgbClr val="1F2937"/>
                </a:solidFill>
                <a:latin typeface="Calibri"/>
              </a:rPr>
              <a:t>Performance: end-to-end runtime &lt; 30 min</a:t>
            </a:r>
          </a:p>
          <a:p>
            <a:pPr marL="292608" indent="-292608">
              <a:spcAft>
                <a:spcPts val="1000"/>
              </a:spcAft>
              <a:buClr>
                <a:srgbClr val="0F766E"/>
              </a:buClr>
              <a:buFont typeface="Arial"/>
              <a:buChar char="▪"/>
            </a:pPr>
            <a:r>
              <a:rPr sz="2400">
                <a:solidFill>
                  <a:srgbClr val="1F2937"/>
                </a:solidFill>
                <a:latin typeface="Calibri"/>
              </a:rPr>
              <a:t>Quality: validation AUC drop &lt;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600" b="1">
                <a:solidFill>
                  <a:srgbClr val="1F2937"/>
                </a:solidFill>
                <a:latin typeface="Calibri"/>
              </a:rPr>
              <a:t>Worked Problem: Comparing Two Evaluation Strategies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Strategy A: canary with 5% traffic</a:t>
            </a:r>
          </a:p>
          <a:p>
            <a:pPr marL="292608" indent="-292608">
              <a:spcAft>
                <a:spcPts val="1000"/>
              </a:spcAft>
              <a:buClr>
                <a:srgbClr val="0F766E"/>
              </a:buClr>
              <a:buFont typeface="Arial"/>
              <a:buChar char="▪"/>
            </a:pPr>
            <a:r>
              <a:rPr sz="2400">
                <a:solidFill>
                  <a:srgbClr val="1F2937"/>
                </a:solidFill>
                <a:latin typeface="Calibri"/>
              </a:rPr>
              <a:t>Strategy B: shadow mirroring full traffic</a:t>
            </a:r>
          </a:p>
          <a:p>
            <a:pPr marL="292608" indent="-292608">
              <a:spcAft>
                <a:spcPts val="1000"/>
              </a:spcAft>
              <a:buClr>
                <a:srgbClr val="0F766E"/>
              </a:buClr>
              <a:buFont typeface="Arial"/>
              <a:buChar char="▪"/>
            </a:pPr>
            <a:r>
              <a:rPr sz="2400">
                <a:solidFill>
                  <a:srgbClr val="1F2937"/>
                </a:solidFill>
                <a:latin typeface="Calibri"/>
              </a:rPr>
              <a:t>Compare reliability detection speed</a:t>
            </a:r>
          </a:p>
          <a:p>
            <a:pPr marL="292608" indent="-292608">
              <a:spcAft>
                <a:spcPts val="1000"/>
              </a:spcAft>
              <a:buClr>
                <a:srgbClr val="0F766E"/>
              </a:buClr>
              <a:buFont typeface="Arial"/>
              <a:buChar char="▪"/>
            </a:pPr>
            <a:r>
              <a:rPr sz="2400">
                <a:solidFill>
                  <a:srgbClr val="1F2937"/>
                </a:solidFill>
                <a:latin typeface="Calibri"/>
              </a:rPr>
              <a:t>Compare resource overhead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Testing Mechanism Comparison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400" b="1">
                <a:solidFill>
                  <a:srgbClr val="1F2937"/>
                </a:solidFill>
                <a:latin typeface="Calibri"/>
              </a:rPr>
              <a:t>Which testing mechanism is best suited for verifying that a new model version does not break downstream pipeline stages?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Unit tests for model wrapper</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Model evaluation tests on held-out data</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Pipeline integration tests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Contract tests for service interfaces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Reliability Metric Choice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A team wants to measure how often a pipeline stage fails intermittently despite automatic retries. Which reliability metric should they track?</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Mean time between failures (MTBF)</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Stage success rate</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Flakiness rate</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Rollback frequency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Common Pitfalls in Pipeline Evaluation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Relying solely on model accuracy</a:t>
            </a:r>
          </a:p>
          <a:p>
            <a:pPr marL="292608" indent="-292608">
              <a:spcAft>
                <a:spcPts val="1000"/>
              </a:spcAft>
              <a:buClr>
                <a:srgbClr val="0F766E"/>
              </a:buClr>
              <a:buFont typeface="Arial"/>
              <a:buChar char="▪"/>
            </a:pPr>
            <a:r>
              <a:rPr sz="2400">
                <a:solidFill>
                  <a:srgbClr val="1F2937"/>
                </a:solidFill>
                <a:latin typeface="Calibri"/>
              </a:rPr>
              <a:t>Ignoring data schema evolution</a:t>
            </a:r>
          </a:p>
          <a:p>
            <a:pPr marL="292608" indent="-292608">
              <a:spcAft>
                <a:spcPts val="1000"/>
              </a:spcAft>
              <a:buClr>
                <a:srgbClr val="0F766E"/>
              </a:buClr>
              <a:buFont typeface="Arial"/>
              <a:buChar char="▪"/>
            </a:pPr>
            <a:r>
              <a:rPr sz="2400">
                <a:solidFill>
                  <a:srgbClr val="1F2937"/>
                </a:solidFill>
                <a:latin typeface="Calibri"/>
              </a:rPr>
              <a:t>Overlooking resource saturation</a:t>
            </a:r>
          </a:p>
          <a:p>
            <a:pPr marL="292608" indent="-292608">
              <a:spcAft>
                <a:spcPts val="1000"/>
              </a:spcAft>
              <a:buClr>
                <a:srgbClr val="0F766E"/>
              </a:buClr>
              <a:buFont typeface="Arial"/>
              <a:buChar char="▪"/>
            </a:pPr>
            <a:r>
              <a:rPr sz="2400">
                <a:solidFill>
                  <a:srgbClr val="1F2937"/>
                </a:solidFill>
                <a:latin typeface="Calibri"/>
              </a:rPr>
              <a:t>Skipping rollback validation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Best Practices Summary</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W11.S1</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Layer tests: unit, model, integration, contract</a:t>
            </a:r>
          </a:p>
          <a:p>
            <a:pPr marL="292608" indent="-292608">
              <a:spcAft>
                <a:spcPts val="1000"/>
              </a:spcAft>
              <a:buClr>
                <a:srgbClr val="0F766E"/>
              </a:buClr>
              <a:buFont typeface="Arial"/>
              <a:buChar char="▪"/>
            </a:pPr>
            <a:r>
              <a:rPr sz="2400">
                <a:solidFill>
                  <a:srgbClr val="1F2937"/>
                </a:solidFill>
                <a:latin typeface="Calibri"/>
              </a:rPr>
              <a:t>Evaluate pipelines end-to-end, not just models</a:t>
            </a:r>
          </a:p>
          <a:p>
            <a:pPr marL="292608" indent="-292608">
              <a:spcAft>
                <a:spcPts val="1000"/>
              </a:spcAft>
              <a:buClr>
                <a:srgbClr val="0F766E"/>
              </a:buClr>
              <a:buFont typeface="Arial"/>
              <a:buChar char="▪"/>
            </a:pPr>
            <a:r>
              <a:rPr sz="2400">
                <a:solidFill>
                  <a:srgbClr val="1F2937"/>
                </a:solidFill>
                <a:latin typeface="Calibri"/>
              </a:rPr>
              <a:t>Select metrics per reliability, performance, quality</a:t>
            </a:r>
          </a:p>
          <a:p>
            <a:pPr marL="292608" indent="-292608">
              <a:spcAft>
                <a:spcPts val="1000"/>
              </a:spcAft>
              <a:buClr>
                <a:srgbClr val="0F766E"/>
              </a:buClr>
              <a:buFont typeface="Arial"/>
              <a:buChar char="▪"/>
            </a:pPr>
            <a:r>
              <a:rPr sz="2400">
                <a:solidFill>
                  <a:srgbClr val="1F2937"/>
                </a:solidFill>
                <a:latin typeface="Calibri"/>
              </a:rPr>
              <a:t>Automate canary, shadow, and synthetic probes</a:t>
            </a:r>
          </a:p>
          <a:p>
            <a:pPr marL="292608" indent="-292608">
              <a:spcAft>
                <a:spcPts val="1000"/>
              </a:spcAft>
              <a:buClr>
                <a:srgbClr val="0F766E"/>
              </a:buClr>
              <a:buFont typeface="Arial"/>
              <a:buChar char="▪"/>
            </a:pPr>
            <a:r>
              <a:rPr sz="2400">
                <a:solidFill>
                  <a:srgbClr val="1F2937"/>
                </a:solidFill>
                <a:latin typeface="Calibri"/>
              </a:rPr>
              <a:t>Continuously review and adjust thresholds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