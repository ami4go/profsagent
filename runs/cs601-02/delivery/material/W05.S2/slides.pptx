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Assign2, Midsem, Endsem, Assign3.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concept of requirements as the bridge between business needs and technical solutions. Emphasize that clear requirements reduce rework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distinction with examples: a login function (functional) vs response time under 200 ms (non-functional). Mention that non-functional requirements often drive architecture decisions.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phase, noting that iteration is common. Highlight that validation includes reviews, prototypes, and test case derivation.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 simple context diagram. Stress that identifying the boundary early prevents scope creep. Relate to the spec-driven guideline of writing use cases before detailed specs.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how to read a narrative and extract actors and use cases. This directly supports LO1 (outline use cases from unstructured descriptions).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in-class poll. Discuss why performance, security, and usability are non-functional.</a:t>
            </a:r>
          </a:p>
          <a:p/>
          <a:p>
            <a:r>
              <a:t>Answer: B. The system shall process refunds within 2 business days.</a:t>
            </a:r>
          </a:p>
          <a:p>
            <a:r>
              <a:t>Option B describes a performance constraint (time bound), which is a non-functional requirement. Option A, C, and D describe specific system behaviors (functional).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a before/after example: vague vs SMART requirement. Mention IEEE 830 as a standard template for requirement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traceability matrices are built and used during change management. Connect to later spec-driven development where executable specs serve as living traceability artifacts.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recap the first 60 minutes. Ask if any concepts need clarification before moving to spec-driven frameworks.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paradigm shift: specs become first-class artifacts. Cite the 2026 paper on specification-driven development as a structured approach for source code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traditional textual specs. Mention tools like Gherkin, SpecFlow, or Python's pytest-bdd. Highlight that executable specs meet the interface specification for every public method (LO2).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code line by line. Explain that the spec (test) is written first, then the stub makes it pass. In practice, the spec would be more detailed and the implementation generated or written to satisfy it. This demonstrates translating module requirements into executable specifications (LO2).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In-class quiz to reinforce the definition and value of executable specs.</a:t>
            </a:r>
          </a:p>
          <a:p/>
          <a:p>
            <a:r>
              <a:t>Answer: B. They can be automatically executed to validate behavior.</a:t>
            </a:r>
          </a:p>
          <a:p>
            <a:r>
              <a:t>Executable specifications can be run as automated tests, providing continuous validation. Option A is false because they often require technical syntax. Option C is false; they complement but do not replace testing. Option D is unrelated.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workflow: write spec, run generator to produce interface stubs, developers implement bodies. Mention that this aligns with the course's later lab on executable specification and code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the 90-minute session. Highlight the two learning outcomes achieved. Remind students of upcoming lab and assignments.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Software Requirements and Spec-Driven Development Frameworks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5 · Requirements and Specification-Driven Development · Executable Specifications and Code Generation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Outline use cases and system boundaries from unstructured product descriptions using spec-driven development guidelines (CO2.LO1)</a:t>
            </a:r>
          </a:p>
          <a:p>
            <a:pPr marL="292608" indent="-292608">
              <a:spcAft>
                <a:spcPts val="1000"/>
              </a:spcAft>
              <a:buClr>
                <a:srgbClr val="0F766E"/>
              </a:buClr>
              <a:buFont typeface="Arial"/>
              <a:buChar char="▪"/>
            </a:pPr>
            <a:r>
              <a:rPr sz="2400">
                <a:solidFill>
                  <a:srgbClr val="1F2937"/>
                </a:solidFill>
                <a:latin typeface="Calibri"/>
              </a:rPr>
              <a:t>Translate module requirements into executable specifications using spec-driven development frameworks, meeting the stated interface specification for every public method (CO2.LO2)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What Are Software Requirements?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Definition: statements of what the system must do</a:t>
            </a:r>
          </a:p>
          <a:p>
            <a:pPr marL="292608" indent="-292608">
              <a:spcAft>
                <a:spcPts val="1000"/>
              </a:spcAft>
              <a:buClr>
                <a:srgbClr val="0F766E"/>
              </a:buClr>
              <a:buFont typeface="Arial"/>
              <a:buChar char="▪"/>
            </a:pPr>
            <a:r>
              <a:rPr sz="2400">
                <a:solidFill>
                  <a:srgbClr val="1F2937"/>
                </a:solidFill>
                <a:latin typeface="Calibri"/>
              </a:rPr>
              <a:t>Serve as contract between stakeholders and developers</a:t>
            </a:r>
          </a:p>
          <a:p>
            <a:pPr marL="292608" indent="-292608">
              <a:spcAft>
                <a:spcPts val="1000"/>
              </a:spcAft>
              <a:buClr>
                <a:srgbClr val="0F766E"/>
              </a:buClr>
              <a:buFont typeface="Arial"/>
              <a:buChar char="▪"/>
            </a:pPr>
            <a:r>
              <a:rPr sz="2400">
                <a:solidFill>
                  <a:srgbClr val="1F2937"/>
                </a:solidFill>
                <a:latin typeface="Calibri"/>
              </a:rPr>
              <a:t>Foundation for design, testing, and acceptance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Functional vs Non-Functional Requirements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Functional: specific behaviors, inputs, outputs</a:t>
            </a:r>
          </a:p>
          <a:p>
            <a:pPr marL="292608" indent="-292608">
              <a:spcAft>
                <a:spcPts val="1000"/>
              </a:spcAft>
              <a:buClr>
                <a:srgbClr val="0F766E"/>
              </a:buClr>
              <a:buFont typeface="Arial"/>
              <a:buChar char="▪"/>
            </a:pPr>
            <a:r>
              <a:rPr sz="2400">
                <a:solidFill>
                  <a:srgbClr val="1F2937"/>
                </a:solidFill>
                <a:latin typeface="Calibri"/>
              </a:rPr>
              <a:t>Non-functional: performance, security, usability</a:t>
            </a:r>
          </a:p>
          <a:p>
            <a:pPr marL="292608" indent="-292608">
              <a:spcAft>
                <a:spcPts val="1000"/>
              </a:spcAft>
              <a:buClr>
                <a:srgbClr val="0F766E"/>
              </a:buClr>
              <a:buFont typeface="Arial"/>
              <a:buChar char="▪"/>
            </a:pPr>
            <a:r>
              <a:rPr sz="2400">
                <a:solidFill>
                  <a:srgbClr val="1F2937"/>
                </a:solidFill>
                <a:latin typeface="Calibri"/>
              </a:rPr>
              <a:t>Both must be captured for a complete specification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Requirements Engineering Process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Elicitation – gather needs from stakeholders</a:t>
            </a:r>
          </a:p>
          <a:p>
            <a:pPr marL="292608" indent="-292608">
              <a:spcAft>
                <a:spcPts val="1000"/>
              </a:spcAft>
              <a:buClr>
                <a:srgbClr val="0F766E"/>
              </a:buClr>
              <a:buFont typeface="Arial"/>
              <a:buChar char="▪"/>
            </a:pPr>
            <a:r>
              <a:rPr sz="2400">
                <a:solidFill>
                  <a:srgbClr val="1F2937"/>
                </a:solidFill>
                <a:latin typeface="Calibri"/>
              </a:rPr>
              <a:t>Analysis – resolve conflicts, prioritize</a:t>
            </a:r>
          </a:p>
          <a:p>
            <a:pPr marL="292608" indent="-292608">
              <a:spcAft>
                <a:spcPts val="1000"/>
              </a:spcAft>
              <a:buClr>
                <a:srgbClr val="0F766E"/>
              </a:buClr>
              <a:buFont typeface="Arial"/>
              <a:buChar char="▪"/>
            </a:pPr>
            <a:r>
              <a:rPr sz="2400">
                <a:solidFill>
                  <a:srgbClr val="1F2937"/>
                </a:solidFill>
                <a:latin typeface="Calibri"/>
              </a:rPr>
              <a:t>Specification – document in a structured format</a:t>
            </a:r>
          </a:p>
          <a:p>
            <a:pPr marL="292608" indent="-292608">
              <a:spcAft>
                <a:spcPts val="1000"/>
              </a:spcAft>
              <a:buClr>
                <a:srgbClr val="0F766E"/>
              </a:buClr>
              <a:buFont typeface="Arial"/>
              <a:buChar char="▪"/>
            </a:pPr>
            <a:r>
              <a:rPr sz="2400">
                <a:solidFill>
                  <a:srgbClr val="1F2937"/>
                </a:solidFill>
                <a:latin typeface="Calibri"/>
              </a:rPr>
              <a:t>Validation – ensure requirements meet stakeholder intent</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Elicitation</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Analysis</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Specification</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Validation</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Requirements engineering lifecycle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Use Cases and System Boundaries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Use case: a goal-oriented interaction between actor and system</a:t>
            </a:r>
          </a:p>
          <a:p>
            <a:pPr marL="292608" indent="-292608">
              <a:spcAft>
                <a:spcPts val="1000"/>
              </a:spcAft>
              <a:buClr>
                <a:srgbClr val="0F766E"/>
              </a:buClr>
              <a:buFont typeface="Arial"/>
              <a:buChar char="▪"/>
            </a:pPr>
            <a:r>
              <a:rPr sz="2400">
                <a:solidFill>
                  <a:srgbClr val="1F2937"/>
                </a:solidFill>
                <a:latin typeface="Calibri"/>
              </a:rPr>
              <a:t>System boundary defines what is inside vs outside the system</a:t>
            </a:r>
          </a:p>
          <a:p>
            <a:pPr marL="292608" indent="-292608">
              <a:spcAft>
                <a:spcPts val="1000"/>
              </a:spcAft>
              <a:buClr>
                <a:srgbClr val="0F766E"/>
              </a:buClr>
              <a:buFont typeface="Arial"/>
              <a:buChar char="▪"/>
            </a:pPr>
            <a:r>
              <a:rPr sz="2400">
                <a:solidFill>
                  <a:srgbClr val="1F2937"/>
                </a:solidFill>
                <a:latin typeface="Calibri"/>
              </a:rPr>
              <a:t>Actors can be humans, other systems, or devices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Deriving Use Cases from a Product Description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Product: online refund request portal</a:t>
            </a:r>
          </a:p>
          <a:p>
            <a:pPr marL="292608" indent="-292608">
              <a:spcAft>
                <a:spcPts val="1000"/>
              </a:spcAft>
              <a:buClr>
                <a:srgbClr val="0F766E"/>
              </a:buClr>
              <a:buFont typeface="Arial"/>
              <a:buChar char="▪"/>
            </a:pPr>
            <a:r>
              <a:rPr sz="2400">
                <a:solidFill>
                  <a:srgbClr val="1F2937"/>
                </a:solidFill>
                <a:latin typeface="Calibri"/>
              </a:rPr>
              <a:t>Actors: Customer, Support Agent, Payment Gateway</a:t>
            </a:r>
          </a:p>
          <a:p>
            <a:pPr marL="292608" indent="-292608">
              <a:spcAft>
                <a:spcPts val="1000"/>
              </a:spcAft>
              <a:buClr>
                <a:srgbClr val="0F766E"/>
              </a:buClr>
              <a:buFont typeface="Arial"/>
              <a:buChar char="▪"/>
            </a:pPr>
            <a:r>
              <a:rPr sz="2400">
                <a:solidFill>
                  <a:srgbClr val="1F2937"/>
                </a:solidFill>
                <a:latin typeface="Calibri"/>
              </a:rPr>
              <a:t>Use cases: Submit Request, Review Request, Process Refund, Notify Customer</a:t>
            </a:r>
          </a:p>
        </p:txBody>
      </p:sp>
      <p:graphicFrame>
        <p:nvGraphicFramePr>
          <p:cNvPr id="8" name="Table 7"/>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2479780"/>
                <a:gridCol w="2479780"/>
              </a:tblGrid>
              <a:tr h="502920">
                <a:tc>
                  <a:txBody>
                    <a:bodyPr/>
                    <a:lstStyle/>
                    <a:p>
                      <a:r>
                        <a:rPr sz="1400" b="1">
                          <a:solidFill>
                            <a:srgbClr val="CCFBF1"/>
                          </a:solidFill>
                          <a:latin typeface="Calibri"/>
                        </a:rPr>
                        <a:t>Actor</a:t>
                      </a:r>
                    </a:p>
                  </a:txBody>
                  <a:tcPr>
                    <a:solidFill>
                      <a:srgbClr val="0F766E"/>
                    </a:solidFill>
                  </a:tcPr>
                </a:tc>
                <a:tc>
                  <a:txBody>
                    <a:bodyPr/>
                    <a:lstStyle/>
                    <a:p>
                      <a:r>
                        <a:rPr sz="1400" b="1">
                          <a:solidFill>
                            <a:srgbClr val="CCFBF1"/>
                          </a:solidFill>
                          <a:latin typeface="Calibri"/>
                        </a:rPr>
                        <a:t>Use Cases</a:t>
                      </a:r>
                    </a:p>
                  </a:txBody>
                  <a:tcPr>
                    <a:solidFill>
                      <a:srgbClr val="0F766E"/>
                    </a:solidFill>
                  </a:tcPr>
                </a:tc>
              </a:tr>
              <a:tr h="502920">
                <a:tc>
                  <a:txBody>
                    <a:bodyPr/>
                    <a:lstStyle/>
                    <a:p>
                      <a:r>
                        <a:rPr sz="1400" b="0">
                          <a:solidFill>
                            <a:srgbClr val="1F2937"/>
                          </a:solidFill>
                          <a:latin typeface="Calibri"/>
                        </a:rPr>
                        <a:t>Customer</a:t>
                      </a:r>
                    </a:p>
                  </a:txBody>
                  <a:tcPr>
                    <a:solidFill>
                      <a:srgbClr val="F3F4F6"/>
                    </a:solidFill>
                  </a:tcPr>
                </a:tc>
                <a:tc>
                  <a:txBody>
                    <a:bodyPr/>
                    <a:lstStyle/>
                    <a:p>
                      <a:r>
                        <a:rPr sz="1400" b="0">
                          <a:solidFill>
                            <a:srgbClr val="1F2937"/>
                          </a:solidFill>
                          <a:latin typeface="Calibri"/>
                        </a:rPr>
                        <a:t>Submit Request, View Status</a:t>
                      </a:r>
                    </a:p>
                  </a:txBody>
                  <a:tcPr>
                    <a:solidFill>
                      <a:srgbClr val="F3F4F6"/>
                    </a:solidFill>
                  </a:tcPr>
                </a:tc>
              </a:tr>
              <a:tr h="502920">
                <a:tc>
                  <a:txBody>
                    <a:bodyPr/>
                    <a:lstStyle/>
                    <a:p>
                      <a:r>
                        <a:rPr sz="1400" b="0">
                          <a:solidFill>
                            <a:srgbClr val="1F2937"/>
                          </a:solidFill>
                          <a:latin typeface="Calibri"/>
                        </a:rPr>
                        <a:t>Support Agent</a:t>
                      </a:r>
                    </a:p>
                  </a:txBody>
                  <a:tcPr>
                    <a:solidFill>
                      <a:srgbClr val="F3F4F6"/>
                    </a:solidFill>
                  </a:tcPr>
                </a:tc>
                <a:tc>
                  <a:txBody>
                    <a:bodyPr/>
                    <a:lstStyle/>
                    <a:p>
                      <a:r>
                        <a:rPr sz="1400" b="0">
                          <a:solidFill>
                            <a:srgbClr val="1F2937"/>
                          </a:solidFill>
                          <a:latin typeface="Calibri"/>
                        </a:rPr>
                        <a:t>Review Request, Approve/Reject</a:t>
                      </a:r>
                    </a:p>
                  </a:txBody>
                  <a:tcPr>
                    <a:solidFill>
                      <a:srgbClr val="F3F4F6"/>
                    </a:solidFill>
                  </a:tcPr>
                </a:tc>
              </a:tr>
              <a:tr h="502920">
                <a:tc>
                  <a:txBody>
                    <a:bodyPr/>
                    <a:lstStyle/>
                    <a:p>
                      <a:r>
                        <a:rPr sz="1400" b="0">
                          <a:solidFill>
                            <a:srgbClr val="1F2937"/>
                          </a:solidFill>
                          <a:latin typeface="Calibri"/>
                        </a:rPr>
                        <a:t>Payment Gateway</a:t>
                      </a:r>
                    </a:p>
                  </a:txBody>
                  <a:tcPr>
                    <a:solidFill>
                      <a:srgbClr val="F3F4F6"/>
                    </a:solidFill>
                  </a:tcPr>
                </a:tc>
                <a:tc>
                  <a:txBody>
                    <a:bodyPr/>
                    <a:lstStyle/>
                    <a:p>
                      <a:r>
                        <a:rPr sz="1400" b="0">
                          <a:solidFill>
                            <a:srgbClr val="1F2937"/>
                          </a:solidFill>
                          <a:latin typeface="Calibri"/>
                        </a:rPr>
                        <a:t>Process Refund</a:t>
                      </a:r>
                    </a:p>
                  </a:txBody>
                  <a:tcPr>
                    <a:solidFill>
                      <a:srgbClr val="F3F4F6"/>
                    </a:solidFill>
                  </a:tcPr>
                </a:tc>
              </a:tr>
            </a:tbl>
          </a:graphicData>
        </a:graphic>
      </p:graphicFrame>
      <p:sp>
        <p:nvSpPr>
          <p:cNvPr id="9" name="TextBox 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Actors and Use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Classifying Requirements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of the following is a non-functional requirement for the refund portal?</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The system shall allow a customer to submit a refund request.</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The system shall process refunds within 2 business days.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The system shall send an email notification after refund approval.</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The system shall integrate with the existing payment gateway.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Writing Good Requirements (SMART &amp; IEEE 830)</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Specific, Measurable, Achievable, Relevant, Time-bound</a:t>
            </a:r>
          </a:p>
          <a:p>
            <a:pPr marL="292608" indent="-292608">
              <a:spcAft>
                <a:spcPts val="1000"/>
              </a:spcAft>
              <a:buClr>
                <a:srgbClr val="0F766E"/>
              </a:buClr>
              <a:buFont typeface="Arial"/>
              <a:buChar char="▪"/>
            </a:pPr>
            <a:r>
              <a:rPr sz="2400">
                <a:solidFill>
                  <a:srgbClr val="1F2937"/>
                </a:solidFill>
                <a:latin typeface="Calibri"/>
              </a:rPr>
              <a:t>Unambiguous, testable, traceable</a:t>
            </a:r>
          </a:p>
          <a:p>
            <a:pPr marL="292608" indent="-292608">
              <a:spcAft>
                <a:spcPts val="1000"/>
              </a:spcAft>
              <a:buClr>
                <a:srgbClr val="0F766E"/>
              </a:buClr>
              <a:buFont typeface="Arial"/>
              <a:buChar char="▪"/>
            </a:pPr>
            <a:r>
              <a:rPr sz="2400">
                <a:solidFill>
                  <a:srgbClr val="1F2937"/>
                </a:solidFill>
                <a:latin typeface="Calibri"/>
              </a:rPr>
              <a:t>Use consistent terminology and structure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Traceability and Validation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Trace each requirement to design, code, and test artifacts</a:t>
            </a:r>
          </a:p>
          <a:p>
            <a:pPr marL="292608" indent="-292608">
              <a:spcAft>
                <a:spcPts val="1000"/>
              </a:spcAft>
              <a:buClr>
                <a:srgbClr val="0F766E"/>
              </a:buClr>
              <a:buFont typeface="Arial"/>
              <a:buChar char="▪"/>
            </a:pPr>
            <a:r>
              <a:rPr sz="2400">
                <a:solidFill>
                  <a:srgbClr val="1F2937"/>
                </a:solidFill>
                <a:latin typeface="Calibri"/>
              </a:rPr>
              <a:t>Bidirectional traceability supports impact analysis</a:t>
            </a:r>
          </a:p>
          <a:p>
            <a:pPr marL="292608" indent="-292608">
              <a:spcAft>
                <a:spcPts val="1000"/>
              </a:spcAft>
              <a:buClr>
                <a:srgbClr val="0F766E"/>
              </a:buClr>
              <a:buFont typeface="Arial"/>
              <a:buChar char="▪"/>
            </a:pPr>
            <a:r>
              <a:rPr sz="2400">
                <a:solidFill>
                  <a:srgbClr val="1F2937"/>
                </a:solidFill>
                <a:latin typeface="Calibri"/>
              </a:rPr>
              <a:t>Validation techniques: reviews, prototypes, acceptance tests</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Requirement</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Design</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Implementation</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Traceability links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Part 1 Recap: Requirements Engineering Essentials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Requirements define what the system must do</a:t>
            </a:r>
          </a:p>
          <a:p>
            <a:pPr marL="292608" indent="-292608">
              <a:spcAft>
                <a:spcPts val="1000"/>
              </a:spcAft>
              <a:buClr>
                <a:srgbClr val="0F766E"/>
              </a:buClr>
              <a:buFont typeface="Arial"/>
              <a:buChar char="▪"/>
            </a:pPr>
            <a:r>
              <a:rPr sz="2400">
                <a:solidFill>
                  <a:srgbClr val="1F2937"/>
                </a:solidFill>
                <a:latin typeface="Calibri"/>
              </a:rPr>
              <a:t>Functional and non-functional types</a:t>
            </a:r>
          </a:p>
          <a:p>
            <a:pPr marL="292608" indent="-292608">
              <a:spcAft>
                <a:spcPts val="1000"/>
              </a:spcAft>
              <a:buClr>
                <a:srgbClr val="0F766E"/>
              </a:buClr>
              <a:buFont typeface="Arial"/>
              <a:buChar char="▪"/>
            </a:pPr>
            <a:r>
              <a:rPr sz="2400">
                <a:solidFill>
                  <a:srgbClr val="1F2937"/>
                </a:solidFill>
                <a:latin typeface="Calibri"/>
              </a:rPr>
              <a:t>Process: elicitation → analysis → specification → validation</a:t>
            </a:r>
          </a:p>
          <a:p>
            <a:pPr marL="292608" indent="-292608">
              <a:spcAft>
                <a:spcPts val="1000"/>
              </a:spcAft>
              <a:buClr>
                <a:srgbClr val="0F766E"/>
              </a:buClr>
              <a:buFont typeface="Arial"/>
              <a:buChar char="▪"/>
            </a:pPr>
            <a:r>
              <a:rPr sz="2400">
                <a:solidFill>
                  <a:srgbClr val="1F2937"/>
                </a:solidFill>
                <a:latin typeface="Calibri"/>
              </a:rPr>
              <a:t>Use cases capture actor–system interactions</a:t>
            </a:r>
          </a:p>
          <a:p>
            <a:pPr marL="292608" indent="-292608">
              <a:spcAft>
                <a:spcPts val="1000"/>
              </a:spcAft>
              <a:buClr>
                <a:srgbClr val="0F766E"/>
              </a:buClr>
              <a:buFont typeface="Arial"/>
              <a:buChar char="▪"/>
            </a:pPr>
            <a:r>
              <a:rPr sz="2400">
                <a:solidFill>
                  <a:srgbClr val="1F2937"/>
                </a:solidFill>
                <a:latin typeface="Calibri"/>
              </a:rPr>
              <a:t>Good requirements are SMART and traceable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Spec-Driven Development Overview</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Specifications written in executable form drive implementation</a:t>
            </a:r>
          </a:p>
          <a:p>
            <a:pPr marL="292608" indent="-292608">
              <a:spcAft>
                <a:spcPts val="1000"/>
              </a:spcAft>
              <a:buClr>
                <a:srgbClr val="0F766E"/>
              </a:buClr>
              <a:buFont typeface="Arial"/>
              <a:buChar char="▪"/>
            </a:pPr>
            <a:r>
              <a:rPr sz="2400">
                <a:solidFill>
                  <a:srgbClr val="1F2937"/>
                </a:solidFill>
                <a:latin typeface="Calibri"/>
              </a:rPr>
              <a:t>Reduces gap between requirements and code</a:t>
            </a:r>
          </a:p>
          <a:p>
            <a:pPr marL="292608" indent="-292608">
              <a:spcAft>
                <a:spcPts val="1000"/>
              </a:spcAft>
              <a:buClr>
                <a:srgbClr val="0F766E"/>
              </a:buClr>
              <a:buFont typeface="Arial"/>
              <a:buChar char="▪"/>
            </a:pPr>
            <a:r>
              <a:rPr sz="2400">
                <a:solidFill>
                  <a:srgbClr val="1F2937"/>
                </a:solidFill>
                <a:latin typeface="Calibri"/>
              </a:rPr>
              <a:t>Enables automated test generation and verification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Executable Specifications: Definition and Benefits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Executable spec = formal, machine-readable description of behavior</a:t>
            </a:r>
          </a:p>
          <a:p>
            <a:pPr marL="292608" indent="-292608">
              <a:spcAft>
                <a:spcPts val="1000"/>
              </a:spcAft>
              <a:buClr>
                <a:srgbClr val="0F766E"/>
              </a:buClr>
              <a:buFont typeface="Arial"/>
              <a:buChar char="▪"/>
            </a:pPr>
            <a:r>
              <a:rPr sz="2400">
                <a:solidFill>
                  <a:srgbClr val="1F2937"/>
                </a:solidFill>
                <a:latin typeface="Calibri"/>
              </a:rPr>
              <a:t>Can be run as tests before any implementation exists</a:t>
            </a:r>
          </a:p>
          <a:p>
            <a:pPr marL="292608" indent="-292608">
              <a:spcAft>
                <a:spcPts val="1000"/>
              </a:spcAft>
              <a:buClr>
                <a:srgbClr val="0F766E"/>
              </a:buClr>
              <a:buFont typeface="Arial"/>
              <a:buChar char="▪"/>
            </a:pPr>
            <a:r>
              <a:rPr sz="2400">
                <a:solidFill>
                  <a:srgbClr val="1F2937"/>
                </a:solidFill>
                <a:latin typeface="Calibri"/>
              </a:rPr>
              <a:t>Supports continuous validation and living documentation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Worked Example: Executable Spec for Refund Processing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 the public interface: process_refund(request_id, amount)</a:t>
            </a:r>
          </a:p>
          <a:p>
            <a:pPr marL="292608" indent="-292608">
              <a:spcAft>
                <a:spcPts val="1000"/>
              </a:spcAft>
              <a:buClr>
                <a:srgbClr val="0F766E"/>
              </a:buClr>
              <a:buFont typeface="Arial"/>
              <a:buChar char="▪"/>
            </a:pPr>
            <a:r>
              <a:rPr sz="2400">
                <a:solidFill>
                  <a:srgbClr val="1F2937"/>
                </a:solidFill>
                <a:latin typeface="Calibri"/>
              </a:rPr>
              <a:t>Write a spec that asserts expected outcomes</a:t>
            </a:r>
          </a:p>
          <a:p>
            <a:pPr marL="292608" indent="-292608">
              <a:spcAft>
                <a:spcPts val="1000"/>
              </a:spcAft>
              <a:buClr>
                <a:srgbClr val="0F766E"/>
              </a:buClr>
              <a:buFont typeface="Arial"/>
              <a:buChar char="▪"/>
            </a:pPr>
            <a:r>
              <a:rPr sz="2400">
                <a:solidFill>
                  <a:srgbClr val="1F2937"/>
                </a:solidFill>
                <a:latin typeface="Calibri"/>
              </a:rPr>
              <a:t>Provide a minimal implementation to make the spec pass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000" b="0">
                <a:solidFill>
                  <a:srgbClr val="E5E7EB"/>
                </a:solidFill>
                <a:latin typeface="Consolas"/>
              </a:rPr>
              <a:t>def process_refund(request_id: str, amount: float) -&gt; dict:</a:t>
            </a:r>
          </a:p>
          <a:p>
            <a:pPr algn="l"/>
            <a:r>
              <a:rPr sz="1000" b="0">
                <a:solidFill>
                  <a:srgbClr val="E5E7EB"/>
                </a:solidFill>
                <a:latin typeface="Consolas"/>
              </a:rPr>
              <a:t>    """Stub implementation for demonstration."""</a:t>
            </a:r>
          </a:p>
          <a:p>
            <a:pPr algn="l"/>
            <a:r>
              <a:rPr sz="1000" b="0">
                <a:solidFill>
                  <a:srgbClr val="E5E7EB"/>
                </a:solidFill>
                <a:latin typeface="Consolas"/>
              </a:rPr>
              <a:t>    return {"request_id": request_id, "status": "approved", "amount": amount}</a:t>
            </a:r>
          </a:p>
          <a:p>
            <a:pPr algn="l"/>
            <a:r>
              <a:rPr sz="1000" b="0">
                <a:solidFill>
                  <a:srgbClr val="E5E7EB"/>
                </a:solidFill>
                <a:latin typeface="Consolas"/>
              </a:rPr>
              <a:t/>
            </a:r>
          </a:p>
          <a:p>
            <a:pPr algn="l"/>
            <a:r>
              <a:rPr sz="1000" b="0">
                <a:solidFill>
                  <a:srgbClr val="E5E7EB"/>
                </a:solidFill>
                <a:latin typeface="Consolas"/>
              </a:rPr>
              <a:t># Executable specification (runnable as a test)</a:t>
            </a:r>
          </a:p>
          <a:p>
            <a:pPr algn="l"/>
            <a:r>
              <a:rPr sz="1000" b="0">
                <a:solidFill>
                  <a:srgbClr val="E5E7EB"/>
                </a:solidFill>
                <a:latin typeface="Consolas"/>
              </a:rPr>
              <a:t>def test_process_refund_approval():</a:t>
            </a:r>
          </a:p>
          <a:p>
            <a:pPr algn="l"/>
            <a:r>
              <a:rPr sz="1000" b="0">
                <a:solidFill>
                  <a:srgbClr val="E5E7EB"/>
                </a:solidFill>
                <a:latin typeface="Consolas"/>
              </a:rPr>
              <a:t>    result = process_refund("REQ-123", 99.50)</a:t>
            </a:r>
          </a:p>
          <a:p>
            <a:pPr algn="l"/>
            <a:r>
              <a:rPr sz="1000" b="0">
                <a:solidFill>
                  <a:srgbClr val="E5E7EB"/>
                </a:solidFill>
                <a:latin typeface="Consolas"/>
              </a:rPr>
              <a:t>    assert result["request_id"] == "REQ-123"</a:t>
            </a:r>
          </a:p>
          <a:p>
            <a:pPr algn="l"/>
            <a:r>
              <a:rPr sz="1000" b="0">
                <a:solidFill>
                  <a:srgbClr val="E5E7EB"/>
                </a:solidFill>
                <a:latin typeface="Consolas"/>
              </a:rPr>
              <a:t>    assert result["status"] == "approved"</a:t>
            </a:r>
          </a:p>
          <a:p>
            <a:pPr algn="l"/>
            <a:r>
              <a:rPr sz="1000" b="0">
                <a:solidFill>
                  <a:srgbClr val="E5E7EB"/>
                </a:solidFill>
                <a:latin typeface="Consolas"/>
              </a:rPr>
              <a:t>    assert result["amount"] == 99.50</a:t>
            </a:r>
          </a:p>
          <a:p>
            <a:pPr algn="l"/>
            <a:r>
              <a:rPr sz="1000" b="0">
                <a:solidFill>
                  <a:srgbClr val="E5E7EB"/>
                </a:solidFill>
                <a:latin typeface="Consolas"/>
              </a:rPr>
              <a:t/>
            </a:r>
          </a:p>
          <a:p>
            <a:pPr algn="l"/>
            <a:r>
              <a:rPr sz="1000" b="0">
                <a:solidFill>
                  <a:srgbClr val="E5E7EB"/>
                </a:solidFill>
                <a:latin typeface="Consolas"/>
              </a:rPr>
              <a:t>if __name__ == "__main__":</a:t>
            </a:r>
          </a:p>
          <a:p>
            <a:pPr algn="l"/>
            <a:r>
              <a:rPr sz="1000" b="0">
                <a:solidFill>
                  <a:srgbClr val="E5E7EB"/>
                </a:solidFill>
                <a:latin typeface="Consolas"/>
              </a:rPr>
              <a:t>    test_process_refund_approval()</a:t>
            </a:r>
          </a:p>
          <a:p>
            <a:pPr algn="l"/>
            <a:r>
              <a:rPr sz="1000" b="0">
                <a:solidFill>
                  <a:srgbClr val="E5E7EB"/>
                </a:solidFill>
                <a:latin typeface="Consolas"/>
              </a:rPr>
              <a:t>    print("Spec passed")</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Executable specification and stub implementation in Python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Check: Characteristics of Executable Specifications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What is a key benefit of executable specifications over traditional textual specs?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They are easier to write for non-technical stakeholders.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They can be automatically executed to validate behavior.</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They eliminate the need for any testing.</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They replace the need for version control.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From Executable Specs to Code Generation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Specs define contracts for each public method</a:t>
            </a:r>
          </a:p>
          <a:p>
            <a:pPr marL="292608" indent="-292608">
              <a:spcAft>
                <a:spcPts val="1000"/>
              </a:spcAft>
              <a:buClr>
                <a:srgbClr val="0F766E"/>
              </a:buClr>
              <a:buFont typeface="Arial"/>
              <a:buChar char="▪"/>
            </a:pPr>
            <a:r>
              <a:rPr sz="2400">
                <a:solidFill>
                  <a:srgbClr val="1F2937"/>
                </a:solidFill>
                <a:latin typeface="Calibri"/>
              </a:rPr>
              <a:t>Code generators can scaffold implementations from specs</a:t>
            </a:r>
          </a:p>
          <a:p>
            <a:pPr marL="292608" indent="-292608">
              <a:spcAft>
                <a:spcPts val="1000"/>
              </a:spcAft>
              <a:buClr>
                <a:srgbClr val="0F766E"/>
              </a:buClr>
              <a:buFont typeface="Arial"/>
              <a:buChar char="▪"/>
            </a:pPr>
            <a:r>
              <a:rPr sz="2400">
                <a:solidFill>
                  <a:srgbClr val="1F2937"/>
                </a:solidFill>
                <a:latin typeface="Calibri"/>
              </a:rPr>
              <a:t>Human developers fill in business logic, preserving spec compliance</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Executable Spec</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Code Generator</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Scaffolded Code</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Developer Logic</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Spec → Generator → Scaffold → Developer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Lecture Summary: Requirements to Executable Specs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Requirements engineering provides the foundation</a:t>
            </a:r>
          </a:p>
          <a:p>
            <a:pPr marL="292608" indent="-292608">
              <a:spcAft>
                <a:spcPts val="1000"/>
              </a:spcAft>
              <a:buClr>
                <a:srgbClr val="0F766E"/>
              </a:buClr>
              <a:buFont typeface="Arial"/>
              <a:buChar char="▪"/>
            </a:pPr>
            <a:r>
              <a:rPr sz="2400">
                <a:solidFill>
                  <a:srgbClr val="1F2937"/>
                </a:solidFill>
                <a:latin typeface="Calibri"/>
              </a:rPr>
              <a:t>Use cases capture system boundaries and actor goals</a:t>
            </a:r>
          </a:p>
          <a:p>
            <a:pPr marL="292608" indent="-292608">
              <a:spcAft>
                <a:spcPts val="1000"/>
              </a:spcAft>
              <a:buClr>
                <a:srgbClr val="0F766E"/>
              </a:buClr>
              <a:buFont typeface="Arial"/>
              <a:buChar char="▪"/>
            </a:pPr>
            <a:r>
              <a:rPr sz="2400">
                <a:solidFill>
                  <a:srgbClr val="1F2937"/>
                </a:solidFill>
                <a:latin typeface="Calibri"/>
              </a:rPr>
              <a:t>Spec-driven development turns requirements into executable specifications</a:t>
            </a:r>
          </a:p>
          <a:p>
            <a:pPr marL="292608" indent="-292608">
              <a:spcAft>
                <a:spcPts val="1000"/>
              </a:spcAft>
              <a:buClr>
                <a:srgbClr val="0F766E"/>
              </a:buClr>
              <a:buFont typeface="Arial"/>
              <a:buChar char="▪"/>
            </a:pPr>
            <a:r>
              <a:rPr sz="2400">
                <a:solidFill>
                  <a:srgbClr val="1F2937"/>
                </a:solidFill>
                <a:latin typeface="Calibri"/>
              </a:rPr>
              <a:t>Executable specs serve as living documentation and automated tests</a:t>
            </a:r>
          </a:p>
          <a:p>
            <a:pPr marL="292608" indent="-292608">
              <a:spcAft>
                <a:spcPts val="1000"/>
              </a:spcAft>
              <a:buClr>
                <a:srgbClr val="0F766E"/>
              </a:buClr>
              <a:buFont typeface="Arial"/>
              <a:buChar char="▪"/>
            </a:pPr>
            <a:r>
              <a:rPr sz="2400">
                <a:solidFill>
                  <a:srgbClr val="1F2937"/>
                </a:solidFill>
                <a:latin typeface="Calibri"/>
              </a:rPr>
              <a:t>Next steps: lab on writing and running executable specs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W05.S2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SPECIFICATION-DRIVEN DEVELOPMENT AS STRUCTURED APPROACH FOR SOURCE CODE GENERATION (2026). https://doi.org/10.52058/2786-6025-2026-4(58)-2631-2644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