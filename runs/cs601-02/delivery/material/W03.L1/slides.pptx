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Quiz1, Assign1,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Coding agents act as autonomous collaborators within modern integrated development environments. Unlike basic text completion models, agents can read project files, run test suites, and analyze compilation outputs. However, their performance depends heavily on the quality and structure of context supplied from the workspace. Context engineering provides the necessary boundary definitions, standardizing how context and tool interfaces are supplied to the LLM backend.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engineering goes beyond basic prompt engineering. It encompasses the structured aggregation of environment variables, active file paths, dependency trees, and executable tool schemas. Because language models operate within finite context windows, agents must dynamically select relevant context while filtering out noise. Standardizing context layouts prevents configuration warnings and enables predictable multi-turn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Context Protocol (MCP) establishes a standardized architecture for connecting language models to external tools and data sources. The three fundamental primitives defined by MCP are Resources, Prompts, and Tools. Resources allow the agent to read static or dynamic data such as repository files. Prompts provide structured templates. Tools define executable endpoints that produce side effects, such as running a test suite or invoking a static analyzer.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agent needs to execute an external command, such as invoking a linter or running unit tests, it generates a structured tool call. The host application intercepts this request, validates the arguments against the tool's JSON Schema definition, and forwards it to the tool server. The tool server executes the underlying script and returns JSON-formatted text back to the agent context. This pipeline keeps execution decoupled and safe.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integrate custom tools, developers configure a JSON manifest or workspace configuration file that specifies how the agent host connects to tool servers. These configurations define executable paths, environment parameters, and tool capability declarations. If non-standard properties are included or schemas are malformed, static analyzers generate workspace warnings and public integration tests will fail during automated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you through setting up an MCP tool server in your agent workspace. First, we add the server entry to our workspace configuration under mcpServers. We specify the binary command and argument paths. Next, within the server implementation, we declare tools with valid JSON Schemas. Finally, we run static analyzer checks to verify that the workspace configuration contains no unknown attributes or invalid JSON paths.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standard MCP tool specification for a custom linter tool. Notice that the top-level object contains exactly the standardized MCP fields: name, description, and inputSchema. It does not include non-standard keys like outputSchema or analysisHook which cause schema validation warnings. Sticking to standard MCP definitions ensures smooth tool discovery and error-free configuration in your development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your understanding of MCP primitives. Remember that MCP standardizes interactions around Resources, Prompts, and Tools. When registering tools, using non-standard properties like outputSchema will result in configuration warnings from static analyzers.</a:t>
            </a:r>
          </a:p>
          <a:p/>
          <a:p>
            <a:r>
              <a:t>Answer: B. Resources, Prompts, and Tools</a:t>
            </a:r>
          </a:p>
          <a:p>
            <a:r>
              <a:t>Option 1 (Resources, Prompts, and Tools) is correct because these are the three core primitives of the Model Context Protocol. Option 0 incorrectly lists generic concepts ('manifest, schema, runtime'). Option 2 includes non-standard keys ('outputSchema', 'analysisHook') that trigger static analysis warnings in MCP.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Configuring custom tools requires double verification: static validation and dynamic testing. Static analyzers check that workspace configuration files and JSON Schemas conform strictly to the MCP specification without unknown properties. Integration test suites then invoke the server's tools with public test cases, ensuring that error handling, tool response payloads, and execution codes function correctly without throwing unhandled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lecture: context engineering is critical for enabling coding agents to reason about complex projects. The Model Context Protocol standardizes this via Resources, Prompts, and Tools. When constructing custom tools, adhere strictly to the MCP tool specification—avoiding non-standard attributes—so your workspace configurations validate cleanly and pass all automated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Coding agents and context engineering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3 · Agent Workspaces and Tool Integrations · 1 h</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Configure custom tool integrations within agent workspaces using model context protocols, with all public tests passing and no warnings from the configured static analyser (CO1.LO2)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Role of Coding Agents in Software Workspaces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Coding agents automate tasks like refactoring, test execution, and bug fixing.</a:t>
            </a:r>
          </a:p>
          <a:p>
            <a:pPr marL="292608" indent="-292608">
              <a:spcAft>
                <a:spcPts val="1000"/>
              </a:spcAft>
              <a:buClr>
                <a:srgbClr val="0F766E"/>
              </a:buClr>
              <a:buFont typeface="Arial"/>
              <a:buChar char="▪"/>
            </a:pPr>
            <a:r>
              <a:rPr sz="2400">
                <a:solidFill>
                  <a:srgbClr val="1F2937"/>
                </a:solidFill>
                <a:latin typeface="Calibri"/>
              </a:rPr>
              <a:t>Agents require controlled access to workspace files and executable development tools.</a:t>
            </a:r>
          </a:p>
          <a:p>
            <a:pPr marL="292608" indent="-292608">
              <a:spcAft>
                <a:spcPts val="1000"/>
              </a:spcAft>
              <a:buClr>
                <a:srgbClr val="0F766E"/>
              </a:buClr>
              <a:buFont typeface="Arial"/>
              <a:buChar char="▪"/>
            </a:pPr>
            <a:r>
              <a:rPr sz="2400">
                <a:solidFill>
                  <a:srgbClr val="1F2937"/>
                </a:solidFill>
                <a:latin typeface="Calibri"/>
              </a:rPr>
              <a:t>Context engineering ensures the agent receives precise, structured workspace context.</a:t>
            </a:r>
          </a:p>
          <a:p>
            <a:pPr marL="292608" indent="-292608">
              <a:spcAft>
                <a:spcPts val="1000"/>
              </a:spcAft>
              <a:buClr>
                <a:srgbClr val="0F766E"/>
              </a:buClr>
              <a:buFont typeface="Arial"/>
              <a:buChar char="▪"/>
            </a:pPr>
            <a:r>
              <a:rPr sz="2400">
                <a:solidFill>
                  <a:srgbClr val="1F2937"/>
                </a:solidFill>
                <a:latin typeface="Calibri"/>
              </a:rPr>
              <a:t>Integrating tool interfaces extends agent capabilities beyond text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Fundamentals of Context Engineering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Context engineering curates prompt instructions, repository state, and dynamic tools.</a:t>
            </a:r>
          </a:p>
          <a:p>
            <a:pPr marL="292608" indent="-292608">
              <a:spcAft>
                <a:spcPts val="1000"/>
              </a:spcAft>
              <a:buClr>
                <a:srgbClr val="0F766E"/>
              </a:buClr>
              <a:buFont typeface="Arial"/>
              <a:buChar char="▪"/>
            </a:pPr>
            <a:r>
              <a:rPr sz="2400">
                <a:solidFill>
                  <a:srgbClr val="1F2937"/>
                </a:solidFill>
                <a:latin typeface="Calibri"/>
              </a:rPr>
              <a:t>Token budget limitations demand selective context inclusion over raw repository dumping.</a:t>
            </a:r>
          </a:p>
          <a:p>
            <a:pPr marL="292608" indent="-292608">
              <a:spcAft>
                <a:spcPts val="1000"/>
              </a:spcAft>
              <a:buClr>
                <a:srgbClr val="0F766E"/>
              </a:buClr>
              <a:buFont typeface="Arial"/>
              <a:buChar char="▪"/>
            </a:pPr>
            <a:r>
              <a:rPr sz="2400">
                <a:solidFill>
                  <a:srgbClr val="1F2937"/>
                </a:solidFill>
                <a:latin typeface="Calibri"/>
              </a:rPr>
              <a:t>Structured formats like JSON and Markdown help agents parse workspace metadata accurately.</a:t>
            </a:r>
          </a:p>
          <a:p>
            <a:pPr marL="292608" indent="-292608">
              <a:spcAft>
                <a:spcPts val="1000"/>
              </a:spcAft>
              <a:buClr>
                <a:srgbClr val="0F766E"/>
              </a:buClr>
              <a:buFont typeface="Arial"/>
              <a:buChar char="▪"/>
            </a:pPr>
            <a:r>
              <a:rPr sz="2400">
                <a:solidFill>
                  <a:srgbClr val="1F2937"/>
                </a:solidFill>
                <a:latin typeface="Calibri"/>
              </a:rPr>
              <a:t>Properly engineered context prevents model hallucination and static analysis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Model Context Protocol Core Primitives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MCP standardizes communication between agent clients and tool or context servers.</a:t>
            </a:r>
          </a:p>
          <a:p>
            <a:pPr marL="292608" indent="-292608">
              <a:spcAft>
                <a:spcPts val="1000"/>
              </a:spcAft>
              <a:buClr>
                <a:srgbClr val="0F766E"/>
              </a:buClr>
              <a:buFont typeface="Arial"/>
              <a:buChar char="▪"/>
            </a:pPr>
            <a:r>
              <a:rPr sz="2300">
                <a:solidFill>
                  <a:srgbClr val="1F2937"/>
                </a:solidFill>
                <a:latin typeface="Calibri"/>
              </a:rPr>
              <a:t>Resources provide readable data sources like source files, logs, and schemas.</a:t>
            </a:r>
          </a:p>
          <a:p>
            <a:pPr marL="292608" indent="-292608">
              <a:spcAft>
                <a:spcPts val="1000"/>
              </a:spcAft>
              <a:buClr>
                <a:srgbClr val="0F766E"/>
              </a:buClr>
              <a:buFont typeface="Arial"/>
              <a:buChar char="▪"/>
            </a:pPr>
            <a:r>
              <a:rPr sz="2300">
                <a:solidFill>
                  <a:srgbClr val="1F2937"/>
                </a:solidFill>
                <a:latin typeface="Calibri"/>
              </a:rPr>
              <a:t>Prompts offer predefined prompt templates for standardized workspace interactions.</a:t>
            </a:r>
          </a:p>
          <a:p>
            <a:pPr marL="292608" indent="-292608">
              <a:spcAft>
                <a:spcPts val="1000"/>
              </a:spcAft>
              <a:buClr>
                <a:srgbClr val="0F766E"/>
              </a:buClr>
              <a:buFont typeface="Arial"/>
              <a:buChar char="▪"/>
            </a:pPr>
            <a:r>
              <a:rPr sz="2300">
                <a:solidFill>
                  <a:srgbClr val="1F2937"/>
                </a:solidFill>
                <a:latin typeface="Calibri"/>
              </a:rPr>
              <a:t>Tools empower agents to run executable functions with specific input parameters.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Primitive</a:t>
                      </a:r>
                    </a:p>
                  </a:txBody>
                  <a:tcPr>
                    <a:solidFill>
                      <a:srgbClr val="0F766E"/>
                    </a:solidFill>
                  </a:tcPr>
                </a:tc>
                <a:tc>
                  <a:txBody>
                    <a:bodyPr/>
                    <a:lstStyle/>
                    <a:p>
                      <a:r>
                        <a:rPr sz="1400" b="1">
                          <a:solidFill>
                            <a:srgbClr val="CCFBF1"/>
                          </a:solidFill>
                          <a:latin typeface="Calibri"/>
                        </a:rPr>
                        <a:t>Purpose</a:t>
                      </a:r>
                    </a:p>
                  </a:txBody>
                  <a:tcPr>
                    <a:solidFill>
                      <a:srgbClr val="0F766E"/>
                    </a:solidFill>
                  </a:tcPr>
                </a:tc>
                <a:tc>
                  <a:txBody>
                    <a:bodyPr/>
                    <a:lstStyle/>
                    <a:p>
                      <a:r>
                        <a:rPr sz="1400" b="1">
                          <a:solidFill>
                            <a:srgbClr val="CCFBF1"/>
                          </a:solidFill>
                          <a:latin typeface="Calibri"/>
                        </a:rPr>
                        <a:t>Execution Type</a:t>
                      </a:r>
                    </a:p>
                  </a:txBody>
                  <a:tcPr>
                    <a:solidFill>
                      <a:srgbClr val="0F766E"/>
                    </a:solidFill>
                  </a:tcPr>
                </a:tc>
              </a:tr>
              <a:tr h="502920">
                <a:tc>
                  <a:txBody>
                    <a:bodyPr/>
                    <a:lstStyle/>
                    <a:p>
                      <a:r>
                        <a:rPr sz="1400" b="0">
                          <a:solidFill>
                            <a:srgbClr val="1F2937"/>
                          </a:solidFill>
                          <a:latin typeface="Calibri"/>
                        </a:rPr>
                        <a:t>Resources</a:t>
                      </a:r>
                    </a:p>
                  </a:txBody>
                  <a:tcPr>
                    <a:solidFill>
                      <a:srgbClr val="F3F4F6"/>
                    </a:solidFill>
                  </a:tcPr>
                </a:tc>
                <a:tc>
                  <a:txBody>
                    <a:bodyPr/>
                    <a:lstStyle/>
                    <a:p>
                      <a:r>
                        <a:rPr sz="1400" b="0">
                          <a:solidFill>
                            <a:srgbClr val="1F2937"/>
                          </a:solidFill>
                          <a:latin typeface="Calibri"/>
                        </a:rPr>
                        <a:t>Provide contextual read access</a:t>
                      </a:r>
                    </a:p>
                  </a:txBody>
                  <a:tcPr>
                    <a:solidFill>
                      <a:srgbClr val="F3F4F6"/>
                    </a:solidFill>
                  </a:tcPr>
                </a:tc>
                <a:tc>
                  <a:txBody>
                    <a:bodyPr/>
                    <a:lstStyle/>
                    <a:p>
                      <a:r>
                        <a:rPr sz="1400" b="0">
                          <a:solidFill>
                            <a:srgbClr val="1F2937"/>
                          </a:solidFill>
                          <a:latin typeface="Calibri"/>
                        </a:rPr>
                        <a:t>Passive data read</a:t>
                      </a:r>
                    </a:p>
                  </a:txBody>
                  <a:tcPr>
                    <a:solidFill>
                      <a:srgbClr val="F3F4F6"/>
                    </a:solidFill>
                  </a:tcPr>
                </a:tc>
              </a:tr>
              <a:tr h="502920">
                <a:tc>
                  <a:txBody>
                    <a:bodyPr/>
                    <a:lstStyle/>
                    <a:p>
                      <a:r>
                        <a:rPr sz="1400" b="0">
                          <a:solidFill>
                            <a:srgbClr val="1F2937"/>
                          </a:solidFill>
                          <a:latin typeface="Calibri"/>
                        </a:rPr>
                        <a:t>Prompts</a:t>
                      </a:r>
                    </a:p>
                  </a:txBody>
                  <a:tcPr>
                    <a:solidFill>
                      <a:srgbClr val="F3F4F6"/>
                    </a:solidFill>
                  </a:tcPr>
                </a:tc>
                <a:tc>
                  <a:txBody>
                    <a:bodyPr/>
                    <a:lstStyle/>
                    <a:p>
                      <a:r>
                        <a:rPr sz="1400" b="0">
                          <a:solidFill>
                            <a:srgbClr val="1F2937"/>
                          </a:solidFill>
                          <a:latin typeface="Calibri"/>
                        </a:rPr>
                        <a:t>Provide prompt templates</a:t>
                      </a:r>
                    </a:p>
                  </a:txBody>
                  <a:tcPr>
                    <a:solidFill>
                      <a:srgbClr val="F3F4F6"/>
                    </a:solidFill>
                  </a:tcPr>
                </a:tc>
                <a:tc>
                  <a:txBody>
                    <a:bodyPr/>
                    <a:lstStyle/>
                    <a:p>
                      <a:r>
                        <a:rPr sz="1400" b="0">
                          <a:solidFill>
                            <a:srgbClr val="1F2937"/>
                          </a:solidFill>
                          <a:latin typeface="Calibri"/>
                        </a:rPr>
                        <a:t>User/Agent parameterization</a:t>
                      </a:r>
                    </a:p>
                  </a:txBody>
                  <a:tcPr>
                    <a:solidFill>
                      <a:srgbClr val="F3F4F6"/>
                    </a:solidFill>
                  </a:tcPr>
                </a:tc>
              </a:tr>
              <a:tr h="502920">
                <a:tc>
                  <a:txBody>
                    <a:bodyPr/>
                    <a:lstStyle/>
                    <a:p>
                      <a:r>
                        <a:rPr sz="1400" b="0">
                          <a:solidFill>
                            <a:srgbClr val="1F2937"/>
                          </a:solidFill>
                          <a:latin typeface="Calibri"/>
                        </a:rPr>
                        <a:t>Tools</a:t>
                      </a:r>
                    </a:p>
                  </a:txBody>
                  <a:tcPr>
                    <a:solidFill>
                      <a:srgbClr val="F3F4F6"/>
                    </a:solidFill>
                  </a:tcPr>
                </a:tc>
                <a:tc>
                  <a:txBody>
                    <a:bodyPr/>
                    <a:lstStyle/>
                    <a:p>
                      <a:r>
                        <a:rPr sz="1400" b="0">
                          <a:solidFill>
                            <a:srgbClr val="1F2937"/>
                          </a:solidFill>
                          <a:latin typeface="Calibri"/>
                        </a:rPr>
                        <a:t>Perform workspace actions</a:t>
                      </a:r>
                    </a:p>
                  </a:txBody>
                  <a:tcPr>
                    <a:solidFill>
                      <a:srgbClr val="F3F4F6"/>
                    </a:solidFill>
                  </a:tcPr>
                </a:tc>
                <a:tc>
                  <a:txBody>
                    <a:bodyPr/>
                    <a:lstStyle/>
                    <a:p>
                      <a:r>
                        <a:rPr sz="1400" b="0">
                          <a:solidFill>
                            <a:srgbClr val="1F2937"/>
                          </a:solidFill>
                          <a:latin typeface="Calibri"/>
                        </a:rPr>
                        <a:t>Active function invocation</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Core Primitives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Architecting Custom Tool Integrations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Tool integration exposes local dev utilities like linters and test runners to agents.</a:t>
            </a:r>
          </a:p>
          <a:p>
            <a:pPr marL="292608" indent="-292608">
              <a:spcAft>
                <a:spcPts val="1000"/>
              </a:spcAft>
              <a:buClr>
                <a:srgbClr val="0F766E"/>
              </a:buClr>
              <a:buFont typeface="Arial"/>
              <a:buChar char="▪"/>
            </a:pPr>
            <a:r>
              <a:rPr sz="2300">
                <a:solidFill>
                  <a:srgbClr val="1F2937"/>
                </a:solidFill>
                <a:latin typeface="Calibri"/>
              </a:rPr>
              <a:t>Agents invoke tools via JSON-RPC messages adhering to defined schema contracts.</a:t>
            </a:r>
          </a:p>
          <a:p>
            <a:pPr marL="292608" indent="-292608">
              <a:spcAft>
                <a:spcPts val="1000"/>
              </a:spcAft>
              <a:buClr>
                <a:srgbClr val="0F766E"/>
              </a:buClr>
              <a:buFont typeface="Arial"/>
              <a:buChar char="▪"/>
            </a:pPr>
            <a:r>
              <a:rPr sz="2300">
                <a:solidFill>
                  <a:srgbClr val="1F2937"/>
                </a:solidFill>
                <a:latin typeface="Calibri"/>
              </a:rPr>
              <a:t>Input schemas strictly define valid argument types to guarantee execution safety.</a:t>
            </a:r>
          </a:p>
          <a:p>
            <a:pPr marL="292608" indent="-292608">
              <a:spcAft>
                <a:spcPts val="1000"/>
              </a:spcAft>
              <a:buClr>
                <a:srgbClr val="0F766E"/>
              </a:buClr>
              <a:buFont typeface="Arial"/>
              <a:buChar char="▪"/>
            </a:pPr>
            <a:r>
              <a:rPr sz="2300">
                <a:solidFill>
                  <a:srgbClr val="1F2937"/>
                </a:solidFill>
                <a:latin typeface="Calibri"/>
              </a:rPr>
              <a:t>Server responses return formatted text or content blocks back to the agent context.</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generates tool call</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Host validates JSON-RPC</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Tool Server executes command</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Result returned to context</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Tool Execution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Configuring Agent Workspace Tool Specs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Workspace configuration files map MCP tool servers to agent environments.</a:t>
            </a:r>
          </a:p>
          <a:p>
            <a:pPr marL="292608" indent="-292608">
              <a:spcAft>
                <a:spcPts val="1000"/>
              </a:spcAft>
              <a:buClr>
                <a:srgbClr val="0F766E"/>
              </a:buClr>
              <a:buFont typeface="Arial"/>
              <a:buChar char="▪"/>
            </a:pPr>
            <a:r>
              <a:rPr sz="2400">
                <a:solidFill>
                  <a:srgbClr val="1F2937"/>
                </a:solidFill>
                <a:latin typeface="Calibri"/>
              </a:rPr>
              <a:t>Configurations define server entry points, command arguments, and environment variables.</a:t>
            </a:r>
          </a:p>
          <a:p>
            <a:pPr marL="292608" indent="-292608">
              <a:spcAft>
                <a:spcPts val="1000"/>
              </a:spcAft>
              <a:buClr>
                <a:srgbClr val="0F766E"/>
              </a:buClr>
              <a:buFont typeface="Arial"/>
              <a:buChar char="▪"/>
            </a:pPr>
            <a:r>
              <a:rPr sz="2400">
                <a:solidFill>
                  <a:srgbClr val="1F2937"/>
                </a:solidFill>
                <a:latin typeface="Calibri"/>
              </a:rPr>
              <a:t>Syntax errors or schema mismatches cause initialization warnings in static analyzers.</a:t>
            </a:r>
          </a:p>
          <a:p>
            <a:pPr marL="292608" indent="-292608">
              <a:spcAft>
                <a:spcPts val="1000"/>
              </a:spcAft>
              <a:buClr>
                <a:srgbClr val="0F766E"/>
              </a:buClr>
              <a:buFont typeface="Arial"/>
              <a:buChar char="▪"/>
            </a:pPr>
            <a:r>
              <a:rPr sz="2400">
                <a:solidFill>
                  <a:srgbClr val="1F2937"/>
                </a:solidFill>
                <a:latin typeface="Calibri"/>
              </a:rPr>
              <a:t>Passing public verification tests requires valid tool signatures and error handling.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Configuring an MCP Tool Server Step by Step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Step 1: Define the server executable and environment in workspace settings.</a:t>
            </a:r>
          </a:p>
          <a:p>
            <a:pPr marL="292608" indent="-292608">
              <a:spcAft>
                <a:spcPts val="1000"/>
              </a:spcAft>
              <a:buClr>
                <a:srgbClr val="0F766E"/>
              </a:buClr>
              <a:buFont typeface="Arial"/>
              <a:buChar char="▪"/>
            </a:pPr>
            <a:r>
              <a:rPr sz="2300">
                <a:solidFill>
                  <a:srgbClr val="1F2937"/>
                </a:solidFill>
                <a:latin typeface="Calibri"/>
              </a:rPr>
              <a:t>Step 2: Register valid tool definitions using name, description, and inputSchema.</a:t>
            </a:r>
          </a:p>
          <a:p>
            <a:pPr marL="292608" indent="-292608">
              <a:spcAft>
                <a:spcPts val="1000"/>
              </a:spcAft>
              <a:buClr>
                <a:srgbClr val="0F766E"/>
              </a:buClr>
              <a:buFont typeface="Arial"/>
              <a:buChar char="▪"/>
            </a:pPr>
            <a:r>
              <a:rPr sz="2300">
                <a:solidFill>
                  <a:srgbClr val="1F2937"/>
                </a:solidFill>
                <a:latin typeface="Calibri"/>
              </a:rPr>
              <a:t>Step 3: Handle tool execution requests and format structured responses.</a:t>
            </a:r>
          </a:p>
          <a:p>
            <a:pPr marL="292608" indent="-292608">
              <a:spcAft>
                <a:spcPts val="1000"/>
              </a:spcAft>
              <a:buClr>
                <a:srgbClr val="0F766E"/>
              </a:buClr>
              <a:buFont typeface="Arial"/>
              <a:buChar char="▪"/>
            </a:pPr>
            <a:r>
              <a:rPr sz="2300">
                <a:solidFill>
                  <a:srgbClr val="1F2937"/>
                </a:solidFill>
                <a:latin typeface="Calibri"/>
              </a:rPr>
              <a:t>Step 4: Run workspace static analysis to confirm zero configuration warnings.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"mcpServers": {</a:t>
            </a:r>
          </a:p>
          <a:p>
            <a:pPr algn="l"/>
            <a:r>
              <a:rPr sz="1400" b="0">
                <a:solidFill>
                  <a:srgbClr val="E5E7EB"/>
                </a:solidFill>
                <a:latin typeface="Consolas"/>
              </a:rPr>
              <a:t>    "workspace-linter": {</a:t>
            </a:r>
          </a:p>
          <a:p>
            <a:pPr algn="l"/>
            <a:r>
              <a:rPr sz="1400" b="0">
                <a:solidFill>
                  <a:srgbClr val="E5E7EB"/>
                </a:solidFill>
                <a:latin typeface="Consolas"/>
              </a:rPr>
              <a:t>      "command": "node",</a:t>
            </a:r>
          </a:p>
          <a:p>
            <a:pPr algn="l"/>
            <a:r>
              <a:rPr sz="1400" b="0">
                <a:solidFill>
                  <a:srgbClr val="E5E7EB"/>
                </a:solidFill>
                <a:latin typeface="Consolas"/>
              </a:rPr>
              <a:t>      "args": ["./dist/linter-server.js"],</a:t>
            </a:r>
          </a:p>
          <a:p>
            <a:pPr algn="l"/>
            <a:r>
              <a:rPr sz="1400" b="0">
                <a:solidFill>
                  <a:srgbClr val="E5E7EB"/>
                </a:solidFill>
                <a:latin typeface="Consolas"/>
              </a:rPr>
              <a:t>      "env": {</a:t>
            </a:r>
          </a:p>
          <a:p>
            <a:pPr algn="l"/>
            <a:r>
              <a:rPr sz="1400" b="0">
                <a:solidFill>
                  <a:srgbClr val="E5E7EB"/>
                </a:solidFill>
                <a:latin typeface="Consolas"/>
              </a:rPr>
              <a:t>        "LOG_LEVEL": "info"</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Workspace Configuration for MCP Server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Example: Defining a Standard MCP Linter Tool</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200">
                <a:solidFill>
                  <a:srgbClr val="1F2937"/>
                </a:solidFill>
                <a:latin typeface="Calibri"/>
              </a:rPr>
              <a:t>MCP tools require `name`, `description`, and `inputSchema` properties.</a:t>
            </a:r>
          </a:p>
          <a:p>
            <a:pPr marL="292608" indent="-292608">
              <a:spcAft>
                <a:spcPts val="1000"/>
              </a:spcAft>
              <a:buClr>
                <a:srgbClr val="0F766E"/>
              </a:buClr>
              <a:buFont typeface="Arial"/>
              <a:buChar char="▪"/>
            </a:pPr>
            <a:r>
              <a:rPr sz="2200">
                <a:solidFill>
                  <a:srgbClr val="1F2937"/>
                </a:solidFill>
                <a:latin typeface="Calibri"/>
              </a:rPr>
              <a:t>JSON Schema inside `inputSchema` specifies argument names, types, and required fields.</a:t>
            </a:r>
          </a:p>
          <a:p>
            <a:pPr marL="292608" indent="-292608">
              <a:spcAft>
                <a:spcPts val="1000"/>
              </a:spcAft>
              <a:buClr>
                <a:srgbClr val="0F766E"/>
              </a:buClr>
              <a:buFont typeface="Arial"/>
              <a:buChar char="▪"/>
            </a:pPr>
            <a:r>
              <a:rPr sz="2200">
                <a:solidFill>
                  <a:srgbClr val="1F2937"/>
                </a:solidFill>
                <a:latin typeface="Calibri"/>
              </a:rPr>
              <a:t>Custom non-standard fields must be omitted to avoid schema validation errors.</a:t>
            </a:r>
          </a:p>
          <a:p>
            <a:pPr marL="292608" indent="-292608">
              <a:spcAft>
                <a:spcPts val="1000"/>
              </a:spcAft>
              <a:buClr>
                <a:srgbClr val="0F766E"/>
              </a:buClr>
              <a:buFont typeface="Arial"/>
              <a:buChar char="▪"/>
            </a:pPr>
            <a:r>
              <a:rPr sz="2200">
                <a:solidFill>
                  <a:srgbClr val="1F2937"/>
                </a:solidFill>
                <a:latin typeface="Calibri"/>
              </a:rPr>
              <a:t>Clean tool definitions ensure static analyzers report zero integration warnings.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200" b="0">
                <a:solidFill>
                  <a:srgbClr val="E5E7EB"/>
                </a:solidFill>
                <a:latin typeface="Consolas"/>
              </a:rPr>
              <a:t>{</a:t>
            </a:r>
          </a:p>
          <a:p>
            <a:pPr algn="l"/>
            <a:r>
              <a:rPr sz="1200" b="0">
                <a:solidFill>
                  <a:srgbClr val="E5E7EB"/>
                </a:solidFill>
                <a:latin typeface="Consolas"/>
              </a:rPr>
              <a:t>  "name": "run_linter",</a:t>
            </a:r>
          </a:p>
          <a:p>
            <a:pPr algn="l"/>
            <a:r>
              <a:rPr sz="1200" b="0">
                <a:solidFill>
                  <a:srgbClr val="E5E7EB"/>
                </a:solidFill>
                <a:latin typeface="Consolas"/>
              </a:rPr>
              <a:t>  "description": "Runs static analysis on a target source file",</a:t>
            </a:r>
          </a:p>
          <a:p>
            <a:pPr algn="l"/>
            <a:r>
              <a:rPr sz="1200" b="0">
                <a:solidFill>
                  <a:srgbClr val="E5E7EB"/>
                </a:solidFill>
                <a:latin typeface="Consolas"/>
              </a:rPr>
              <a:t>  "inputSchema": {</a:t>
            </a:r>
          </a:p>
          <a:p>
            <a:pPr algn="l"/>
            <a:r>
              <a:rPr sz="1200" b="0">
                <a:solidFill>
                  <a:srgbClr val="E5E7EB"/>
                </a:solidFill>
                <a:latin typeface="Consolas"/>
              </a:rPr>
              <a:t>    "type": "object",</a:t>
            </a:r>
          </a:p>
          <a:p>
            <a:pPr algn="l"/>
            <a:r>
              <a:rPr sz="1200" b="0">
                <a:solidFill>
                  <a:srgbClr val="E5E7EB"/>
                </a:solidFill>
                <a:latin typeface="Consolas"/>
              </a:rPr>
              <a:t>    "properties": {</a:t>
            </a:r>
          </a:p>
          <a:p>
            <a:pPr algn="l"/>
            <a:r>
              <a:rPr sz="1200" b="0">
                <a:solidFill>
                  <a:srgbClr val="E5E7EB"/>
                </a:solidFill>
                <a:latin typeface="Consolas"/>
              </a:rPr>
              <a:t>      "filePath": {</a:t>
            </a:r>
          </a:p>
          <a:p>
            <a:pPr algn="l"/>
            <a:r>
              <a:rPr sz="1200" b="0">
                <a:solidFill>
                  <a:srgbClr val="E5E7EB"/>
                </a:solidFill>
                <a:latin typeface="Consolas"/>
              </a:rPr>
              <a:t>        "type": "string",</a:t>
            </a:r>
          </a:p>
          <a:p>
            <a:pPr algn="l"/>
            <a:r>
              <a:rPr sz="1200" b="0">
                <a:solidFill>
                  <a:srgbClr val="E5E7EB"/>
                </a:solidFill>
                <a:latin typeface="Consolas"/>
              </a:rPr>
              <a:t>        "description": "Path to source file"</a:t>
            </a:r>
          </a:p>
          <a:p>
            <a:pPr algn="l"/>
            <a:r>
              <a:rPr sz="1200" b="0">
                <a:solidFill>
                  <a:srgbClr val="E5E7EB"/>
                </a:solidFill>
                <a:latin typeface="Consolas"/>
              </a:rPr>
              <a:t>      }</a:t>
            </a:r>
          </a:p>
          <a:p>
            <a:pPr algn="l"/>
            <a:r>
              <a:rPr sz="1200" b="0">
                <a:solidFill>
                  <a:srgbClr val="E5E7EB"/>
                </a:solidFill>
                <a:latin typeface="Consolas"/>
              </a:rPr>
              <a:t>    },</a:t>
            </a:r>
          </a:p>
          <a:p>
            <a:pPr algn="l"/>
            <a:r>
              <a:rPr sz="1200" b="0">
                <a:solidFill>
                  <a:srgbClr val="E5E7EB"/>
                </a:solidFill>
                <a:latin typeface="Consolas"/>
              </a:rPr>
              <a:t>    "required": ["filePath"]</a:t>
            </a:r>
          </a:p>
          <a:p>
            <a:pPr algn="l"/>
            <a:r>
              <a:rPr sz="1200" b="0">
                <a:solidFill>
                  <a:srgbClr val="E5E7EB"/>
                </a:solidFill>
                <a:latin typeface="Consolas"/>
              </a:rPr>
              <a:t>  }</a:t>
            </a:r>
          </a:p>
          <a:p>
            <a:pPr algn="l"/>
            <a:r>
              <a:rPr sz="12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Valid MCP Tool Definition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Concept Check: MCP Primitives and Configuration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Which set of items represents the standard core primitives defined by the Model Context Protocol (MCP) specification for integration?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manifest, schema, and runtime</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Resources, Prompts, and Tools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outputSchema, analysisHook, and inputSchema</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commands, endpoints, and triggers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Validating Integrations and Resolving Warnings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Run public automated integration test suites to verify server handler logic.</a:t>
            </a:r>
          </a:p>
          <a:p>
            <a:pPr marL="292608" indent="-292608">
              <a:spcAft>
                <a:spcPts val="1000"/>
              </a:spcAft>
              <a:buClr>
                <a:srgbClr val="0F766E"/>
              </a:buClr>
              <a:buFont typeface="Arial"/>
              <a:buChar char="▪"/>
            </a:pPr>
            <a:r>
              <a:rPr sz="2400">
                <a:solidFill>
                  <a:srgbClr val="1F2937"/>
                </a:solidFill>
                <a:latin typeface="Calibri"/>
              </a:rPr>
              <a:t>Check static analyzer outputs to eliminate JSON configuration warnings.</a:t>
            </a:r>
          </a:p>
          <a:p>
            <a:pPr marL="292608" indent="-292608">
              <a:spcAft>
                <a:spcPts val="1000"/>
              </a:spcAft>
              <a:buClr>
                <a:srgbClr val="0F766E"/>
              </a:buClr>
              <a:buFont typeface="Arial"/>
              <a:buChar char="▪"/>
            </a:pPr>
            <a:r>
              <a:rPr sz="2400">
                <a:solidFill>
                  <a:srgbClr val="1F2937"/>
                </a:solidFill>
                <a:latin typeface="Calibri"/>
              </a:rPr>
              <a:t>Ensure tool response formats match standard MCP text and image content structures.</a:t>
            </a:r>
          </a:p>
          <a:p>
            <a:pPr marL="292608" indent="-292608">
              <a:spcAft>
                <a:spcPts val="1000"/>
              </a:spcAft>
              <a:buClr>
                <a:srgbClr val="0F766E"/>
              </a:buClr>
              <a:buFont typeface="Arial"/>
              <a:buChar char="▪"/>
            </a:pPr>
            <a:r>
              <a:rPr sz="2400">
                <a:solidFill>
                  <a:srgbClr val="1F2937"/>
                </a:solidFill>
                <a:latin typeface="Calibri"/>
              </a:rPr>
              <a:t>Verify test suite execution with JUnit or automated test harnesses.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Summary of Agent Workspaces and Tool Integrations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Context engineering delivers precise workspace information to coding agents.</a:t>
            </a:r>
          </a:p>
          <a:p>
            <a:pPr marL="292608" indent="-292608">
              <a:spcAft>
                <a:spcPts val="1000"/>
              </a:spcAft>
              <a:buClr>
                <a:srgbClr val="0F766E"/>
              </a:buClr>
              <a:buFont typeface="Arial"/>
              <a:buChar char="▪"/>
            </a:pPr>
            <a:r>
              <a:rPr sz="2400">
                <a:solidFill>
                  <a:srgbClr val="1F2937"/>
                </a:solidFill>
                <a:latin typeface="Calibri"/>
              </a:rPr>
              <a:t>MCP defines three core primitives: Resources, Prompts, and Tools.</a:t>
            </a:r>
          </a:p>
          <a:p>
            <a:pPr marL="292608" indent="-292608">
              <a:spcAft>
                <a:spcPts val="1000"/>
              </a:spcAft>
              <a:buClr>
                <a:srgbClr val="0F766E"/>
              </a:buClr>
              <a:buFont typeface="Arial"/>
              <a:buChar char="▪"/>
            </a:pPr>
            <a:r>
              <a:rPr sz="2400">
                <a:solidFill>
                  <a:srgbClr val="1F2937"/>
                </a:solidFill>
                <a:latin typeface="Calibri"/>
              </a:rPr>
              <a:t>Tool definitions must use standard fields: `name`, `description`, and `inputSchema`.</a:t>
            </a:r>
          </a:p>
          <a:p>
            <a:pPr marL="292608" indent="-292608">
              <a:spcAft>
                <a:spcPts val="1000"/>
              </a:spcAft>
              <a:buClr>
                <a:srgbClr val="0F766E"/>
              </a:buClr>
              <a:buFont typeface="Arial"/>
              <a:buChar char="▪"/>
            </a:pPr>
            <a:r>
              <a:rPr sz="2400">
                <a:solidFill>
                  <a:srgbClr val="1F2937"/>
                </a:solidFill>
                <a:latin typeface="Calibri"/>
              </a:rPr>
              <a:t>Valid configurations pass static analysis without warnings and satisfy all public tests.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W03.L1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