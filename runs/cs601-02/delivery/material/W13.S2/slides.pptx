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remind students of the architectural patterns from Week 11: circuit breakers, bulkheads, canary deployments, and the need for explicit reliability contracts. Emphasize that AI-native pipelines introduce stochastic behavior, making metric-based evaluation essential. Connect to today's goal: evaluating whether deployed systems meet those contracts.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AI-native pipelines combine deterministic code with probabilistic models. Deployment metrics must capture model-specific signals (e.g., token latency, hallucination rate, embedding drift) alongside classic infrastructure metrics. These metrics feed into reliability evaluation and automated remediation. Cite C4 for the changing landscape of software deployment with generative 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metric, emphasizing that targets are context-dependent. Show how to instrument a multi-component system (API gateway, model server, vector DB, feature store) to collect these. Mention that AI components add token-level latency and cost metrics. Use the table to compare scope and collection methods. Source C4 discusses metric shifts in generative AI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each term and show how they form a hierarchy: SLIs are measured, SLOs are set, error budgets are consumed. MTBF/MTTR are operational outcomes. For AI-native systems, SLIs must include model quality signals (e.g., correctness rate). Cite C3 on complexity backpressure: as AI agent complexity grows, MTTR increases without proper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evaluation workflow: instrument each component (model server, retriever, orchestrator), propagate trace context, compute composite SLIs (e.g., end-to-end latency = sum of component latencies + queueing). Explain how error budgets propagate: if the model server consumes 80% of the latency budget, the retriever must stay within 20%. Mention C6 on autonomous agents needing cross-component observability for debugging.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 concrete evaluation. Start with the SLO violation. Show how to query distributed traces (e.g., Jaeger, Zipkin) to get per-component latency distributions. Identify the vector DB as the bottleneck. Explain that error budget exhaustion triggers a release freeze per SRE practice. Propose mitigations and how to verify they restore SLO compliance. This demonstrates the evaluation skill required for CO4.LO3.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scenario focuses on reliability metrics (MTTR, flakiness) in an AI coding agent pipeline. Show how to analyze test history to quantify flakiness and categorize failures. Highlight that non-deterministic LLM outputs cause sporadic test failures. Demonstrate how to compute MTTR from incident timestamps and identify manual triage as the main contributor. Propose automation (classification, retries) to reduce MTTR. Relates to C6 on autonomous coding agents and C3 on complexity backpressure.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hands-on activity. Students work in pairs. The repository includes a pre-instrumented AI-native application (e.g., a document QA system with retriever, reranker, LLM). They deploy it, generate load with a provided script, and use Prometheus/Grafana to evaluate metrics against SLOs. They must produce a short evaluation report. Instructor circulates to guide. This directly practices CO4.LO3.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check to ensure students distinguish user-facing latency metrics from infrastructure and model metrics. The most tempting wrong answer is average CPU utilization because it's commonly monitored but doesn't reflect tail latency.</a:t>
            </a:r>
          </a:p>
          <a:p/>
          <a:p>
            <a:r>
              <a:t>Answer: B. p99 end-to-end latency including token generation</a:t>
            </a:r>
          </a:p>
          <a:p>
            <a:r>
              <a:t>p99 end-to-end latency directly measures the worst-case user experience, including token streaming delays. CPU utilization and GPU count are infrastructure metrics, not user-facing. Training loss is a model development metric, not a deployment metric.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 understanding of error budget calculation. Common mistake: confusing percentage with decimal (0.1% vs 0.1). Also confusing days to minutes conversion.</a:t>
            </a:r>
          </a:p>
          <a:p/>
          <a:p>
            <a:r>
              <a:t>Answer: A. 43.2 minutes</a:t>
            </a:r>
          </a:p>
          <a:p>
            <a:r>
              <a:t>30 days = 43,200 minutes. 0.1% of 43,200 = 43.2 minutes. The error budget is the allowed downtime. 4.32 minutes would be for 99.99% (four nines). 432 minutes is 1% (two nines). 0.432 minutes is 0.001% (five nines).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operational practices: burn-rate alerting (fast vs slow burn), adding model-specific SLIs, synthetic monitoring to detect silent failures, deployment correlation for rapid rollback, and periodic SLO recalibration. Reference C4 on the need for new evaluation frameworks in generative AI.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frequent mistakes: percentile math errors, cold starts in AI model servers (GPU initialization), multi-tenancy requiring per-customer SLOs, arbitrary SLOs leading to constant paging, and noisy alerts. Emphasize that AI-native systems amplify these due to variable token generation times and model loading.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key takeaways. Remind students that the end-semester assessment (Endsem) will require them to perform live evaluation of a supplied project with two evaluator-chosen scenarios, exactly as practiced today. Encourage them to review the lab materials from Weeks 12 and 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Deployment and reliability metric evaluation</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13 · Reliable AI-Native Pipelines and Deployment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Evaluate deployment and reliability metrics for a supplied multi-component software project, demonstrating live, with 2 scenario walkthroughs chosen by the evaluator (CO4.LO3)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Trustworthy AI-Native Architectures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Week 11 covered safety and reliability patterns</a:t>
            </a:r>
          </a:p>
          <a:p>
            <a:pPr marL="292608" indent="-292608">
              <a:spcAft>
                <a:spcPts val="1000"/>
              </a:spcAft>
              <a:buClr>
                <a:srgbClr val="0F766E"/>
              </a:buClr>
              <a:buFont typeface="Arial"/>
              <a:buChar char="▪"/>
            </a:pPr>
            <a:r>
              <a:rPr sz="2400">
                <a:solidFill>
                  <a:srgbClr val="1F2937"/>
                </a:solidFill>
                <a:latin typeface="Calibri"/>
              </a:rPr>
              <a:t>Key principles: isolation, observability, graceful degradation</a:t>
            </a:r>
          </a:p>
          <a:p>
            <a:pPr marL="292608" indent="-292608">
              <a:spcAft>
                <a:spcPts val="1000"/>
              </a:spcAft>
              <a:buClr>
                <a:srgbClr val="0F766E"/>
              </a:buClr>
              <a:buFont typeface="Arial"/>
              <a:buChar char="▪"/>
            </a:pPr>
            <a:r>
              <a:rPr sz="2400">
                <a:solidFill>
                  <a:srgbClr val="1F2937"/>
                </a:solidFill>
                <a:latin typeface="Calibri"/>
              </a:rPr>
              <a:t>Architectures must support measurable SLIs/SLOs</a:t>
            </a:r>
          </a:p>
          <a:p>
            <a:pPr marL="292608" indent="-292608">
              <a:spcAft>
                <a:spcPts val="1000"/>
              </a:spcAft>
              <a:buClr>
                <a:srgbClr val="0F766E"/>
              </a:buClr>
              <a:buFont typeface="Arial"/>
              <a:buChar char="▪"/>
            </a:pPr>
            <a:r>
              <a:rPr sz="2400">
                <a:solidFill>
                  <a:srgbClr val="1F2937"/>
                </a:solidFill>
                <a:latin typeface="Calibri"/>
              </a:rPr>
              <a:t>AI components add non-determinism and complexity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Why Deployment Metrics Matter for AI-Native Systems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AI models drift, latency spikes, token costs vary</a:t>
            </a:r>
          </a:p>
          <a:p>
            <a:pPr marL="292608" indent="-292608">
              <a:spcAft>
                <a:spcPts val="1000"/>
              </a:spcAft>
              <a:buClr>
                <a:srgbClr val="0F766E"/>
              </a:buClr>
              <a:buFont typeface="Arial"/>
              <a:buChar char="▪"/>
            </a:pPr>
            <a:r>
              <a:rPr sz="2400">
                <a:solidFill>
                  <a:srgbClr val="1F2937"/>
                </a:solidFill>
                <a:latin typeface="Calibri"/>
              </a:rPr>
              <a:t>Traditional metrics insufficient for generative components</a:t>
            </a:r>
          </a:p>
          <a:p>
            <a:pPr marL="292608" indent="-292608">
              <a:spcAft>
                <a:spcPts val="1000"/>
              </a:spcAft>
              <a:buClr>
                <a:srgbClr val="0F766E"/>
              </a:buClr>
              <a:buFont typeface="Arial"/>
              <a:buChar char="▪"/>
            </a:pPr>
            <a:r>
              <a:rPr sz="2400">
                <a:solidFill>
                  <a:srgbClr val="1F2937"/>
                </a:solidFill>
                <a:latin typeface="Calibri"/>
              </a:rPr>
              <a:t>Need end-to-end visibility across model, data, code</a:t>
            </a:r>
          </a:p>
          <a:p>
            <a:pPr marL="292608" indent="-292608">
              <a:spcAft>
                <a:spcPts val="1000"/>
              </a:spcAft>
              <a:buClr>
                <a:srgbClr val="0F766E"/>
              </a:buClr>
              <a:buFont typeface="Arial"/>
              <a:buChar char="▪"/>
            </a:pPr>
            <a:r>
              <a:rPr sz="2400">
                <a:solidFill>
                  <a:srgbClr val="1F2937"/>
                </a:solidFill>
                <a:latin typeface="Calibri"/>
              </a:rPr>
              <a:t>Metrics drive automated rollback and scaling decisions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Core Deployment Metrics: Definitions and Targets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Latency: p50, p95, p99 per component and end-to-end</a:t>
            </a:r>
          </a:p>
          <a:p>
            <a:pPr marL="292608" indent="-292608">
              <a:spcAft>
                <a:spcPts val="1000"/>
              </a:spcAft>
              <a:buClr>
                <a:srgbClr val="0F766E"/>
              </a:buClr>
              <a:buFont typeface="Arial"/>
              <a:buChar char="▪"/>
            </a:pPr>
            <a:r>
              <a:rPr sz="2400">
                <a:solidFill>
                  <a:srgbClr val="1F2937"/>
                </a:solidFill>
                <a:latin typeface="Calibri"/>
              </a:rPr>
              <a:t>Throughput: requests/sec, tokens/sec, batch size</a:t>
            </a:r>
          </a:p>
          <a:p>
            <a:pPr marL="292608" indent="-292608">
              <a:spcAft>
                <a:spcPts val="1000"/>
              </a:spcAft>
              <a:buClr>
                <a:srgbClr val="0F766E"/>
              </a:buClr>
              <a:buFont typeface="Arial"/>
              <a:buChar char="▪"/>
            </a:pPr>
            <a:r>
              <a:rPr sz="2400">
                <a:solidFill>
                  <a:srgbClr val="1F2937"/>
                </a:solidFill>
                <a:latin typeface="Calibri"/>
              </a:rPr>
              <a:t>Error rate: HTTP 5xx, model exceptions, validation failures</a:t>
            </a:r>
          </a:p>
          <a:p>
            <a:pPr marL="292608" indent="-292608">
              <a:spcAft>
                <a:spcPts val="1000"/>
              </a:spcAft>
              <a:buClr>
                <a:srgbClr val="0F766E"/>
              </a:buClr>
              <a:buFont typeface="Arial"/>
              <a:buChar char="▪"/>
            </a:pPr>
            <a:r>
              <a:rPr sz="2400">
                <a:solidFill>
                  <a:srgbClr val="1F2937"/>
                </a:solidFill>
                <a:latin typeface="Calibri"/>
              </a:rPr>
              <a:t>Availability: uptime %, SLA adherence, degradation minutes</a:t>
            </a:r>
          </a:p>
          <a:p>
            <a:pPr marL="292608" indent="-292608">
              <a:spcAft>
                <a:spcPts val="1000"/>
              </a:spcAft>
              <a:buClr>
                <a:srgbClr val="0F766E"/>
              </a:buClr>
              <a:buFont typeface="Arial"/>
              <a:buChar char="▪"/>
            </a:pPr>
            <a:r>
              <a:rPr sz="2400">
                <a:solidFill>
                  <a:srgbClr val="1F2937"/>
                </a:solidFill>
                <a:latin typeface="Calibri"/>
              </a:rPr>
              <a:t>Resource utilization: GPU/CPU, memory, network, cost per request</a:t>
            </a:r>
          </a:p>
        </p:txBody>
      </p:sp>
      <p:graphicFrame>
        <p:nvGraphicFramePr>
          <p:cNvPr id="7" name="Table 6"/>
          <p:cNvGraphicFramePr>
            <a:graphicFrameLocks noGrp="1"/>
          </p:cNvGraphicFramePr>
          <p:nvPr/>
        </p:nvGraphicFramePr>
        <p:xfrm>
          <a:off x="6683495" y="1463040"/>
          <a:ext cx="4959560" cy="3017520"/>
        </p:xfrm>
        <a:graphic>
          <a:graphicData uri="http://schemas.openxmlformats.org/drawingml/2006/table">
            <a:tbl>
              <a:tblPr firstRow="1" bandRow="1">
                <a:tableStyleId>{5C22544A-7EE6-4342-B048-85BDC9FD1C3A}</a:tableStyleId>
              </a:tblPr>
              <a:tblGrid>
                <a:gridCol w="1239890"/>
                <a:gridCol w="1239890"/>
                <a:gridCol w="1239890"/>
                <a:gridCol w="1239890"/>
              </a:tblGrid>
              <a:tr h="502920">
                <a:tc>
                  <a:txBody>
                    <a:bodyPr/>
                    <a:lstStyle/>
                    <a:p>
                      <a:r>
                        <a:rPr sz="1400" b="1">
                          <a:solidFill>
                            <a:srgbClr val="CCFBF1"/>
                          </a:solidFill>
                          <a:latin typeface="Calibri"/>
                        </a:rPr>
                        <a:t>Metric</a:t>
                      </a:r>
                    </a:p>
                  </a:txBody>
                  <a:tcPr>
                    <a:solidFill>
                      <a:srgbClr val="0F766E"/>
                    </a:solidFill>
                  </a:tcPr>
                </a:tc>
                <a:tc>
                  <a:txBody>
                    <a:bodyPr/>
                    <a:lstStyle/>
                    <a:p>
                      <a:r>
                        <a:rPr sz="1400" b="1">
                          <a:solidFill>
                            <a:srgbClr val="CCFBF1"/>
                          </a:solidFill>
                          <a:latin typeface="Calibri"/>
                        </a:rPr>
                        <a:t>Scope</a:t>
                      </a:r>
                    </a:p>
                  </a:txBody>
                  <a:tcPr>
                    <a:solidFill>
                      <a:srgbClr val="0F766E"/>
                    </a:solidFill>
                  </a:tcPr>
                </a:tc>
                <a:tc>
                  <a:txBody>
                    <a:bodyPr/>
                    <a:lstStyle/>
                    <a:p>
                      <a:r>
                        <a:rPr sz="1400" b="1">
                          <a:solidFill>
                            <a:srgbClr val="CCFBF1"/>
                          </a:solidFill>
                          <a:latin typeface="Calibri"/>
                        </a:rPr>
                        <a:t>Typical Target</a:t>
                      </a:r>
                    </a:p>
                  </a:txBody>
                  <a:tcPr>
                    <a:solidFill>
                      <a:srgbClr val="0F766E"/>
                    </a:solidFill>
                  </a:tcPr>
                </a:tc>
                <a:tc>
                  <a:txBody>
                    <a:bodyPr/>
                    <a:lstStyle/>
                    <a:p>
                      <a:r>
                        <a:rPr sz="1400" b="1">
                          <a:solidFill>
                            <a:srgbClr val="CCFBF1"/>
                          </a:solidFill>
                          <a:latin typeface="Calibri"/>
                        </a:rPr>
                        <a:t>Collection Method</a:t>
                      </a:r>
                    </a:p>
                  </a:txBody>
                  <a:tcPr>
                    <a:solidFill>
                      <a:srgbClr val="0F766E"/>
                    </a:solidFill>
                  </a:tcPr>
                </a:tc>
              </a:tr>
              <a:tr h="502920">
                <a:tc>
                  <a:txBody>
                    <a:bodyPr/>
                    <a:lstStyle/>
                    <a:p>
                      <a:r>
                        <a:rPr sz="1400" b="0">
                          <a:solidFill>
                            <a:srgbClr val="1F2937"/>
                          </a:solidFill>
                          <a:latin typeface="Calibri"/>
                        </a:rPr>
                        <a:t>Latency (p99)</a:t>
                      </a:r>
                    </a:p>
                  </a:txBody>
                  <a:tcPr>
                    <a:solidFill>
                      <a:srgbClr val="F3F4F6"/>
                    </a:solidFill>
                  </a:tcPr>
                </a:tc>
                <a:tc>
                  <a:txBody>
                    <a:bodyPr/>
                    <a:lstStyle/>
                    <a:p>
                      <a:r>
                        <a:rPr sz="1400" b="0">
                          <a:solidFill>
                            <a:srgbClr val="1F2937"/>
                          </a:solidFill>
                          <a:latin typeface="Calibri"/>
                        </a:rPr>
                        <a:t>End-to-end</a:t>
                      </a:r>
                    </a:p>
                  </a:txBody>
                  <a:tcPr>
                    <a:solidFill>
                      <a:srgbClr val="F3F4F6"/>
                    </a:solidFill>
                  </a:tcPr>
                </a:tc>
                <a:tc>
                  <a:txBody>
                    <a:bodyPr/>
                    <a:lstStyle/>
                    <a:p>
                      <a:r>
                        <a:rPr sz="1400" b="0">
                          <a:solidFill>
                            <a:srgbClr val="1F2937"/>
                          </a:solidFill>
                          <a:latin typeface="Calibri"/>
                        </a:rPr>
                        <a:t>&lt; 2s</a:t>
                      </a:r>
                    </a:p>
                  </a:txBody>
                  <a:tcPr>
                    <a:solidFill>
                      <a:srgbClr val="F3F4F6"/>
                    </a:solidFill>
                  </a:tcPr>
                </a:tc>
                <a:tc>
                  <a:txBody>
                    <a:bodyPr/>
                    <a:lstStyle/>
                    <a:p>
                      <a:r>
                        <a:rPr sz="1400" b="0">
                          <a:solidFill>
                            <a:srgbClr val="1F2937"/>
                          </a:solidFill>
                          <a:latin typeface="Calibri"/>
                        </a:rPr>
                        <a:t>Distributed tracing</a:t>
                      </a:r>
                    </a:p>
                  </a:txBody>
                  <a:tcPr>
                    <a:solidFill>
                      <a:srgbClr val="F3F4F6"/>
                    </a:solidFill>
                  </a:tcPr>
                </a:tc>
              </a:tr>
              <a:tr h="502920">
                <a:tc>
                  <a:txBody>
                    <a:bodyPr/>
                    <a:lstStyle/>
                    <a:p>
                      <a:r>
                        <a:rPr sz="1400" b="0">
                          <a:solidFill>
                            <a:srgbClr val="1F2937"/>
                          </a:solidFill>
                          <a:latin typeface="Calibri"/>
                        </a:rPr>
                        <a:t>Throughput</a:t>
                      </a:r>
                    </a:p>
                  </a:txBody>
                  <a:tcPr>
                    <a:solidFill>
                      <a:srgbClr val="F3F4F6"/>
                    </a:solidFill>
                  </a:tcPr>
                </a:tc>
                <a:tc>
                  <a:txBody>
                    <a:bodyPr/>
                    <a:lstStyle/>
                    <a:p>
                      <a:r>
                        <a:rPr sz="1400" b="0">
                          <a:solidFill>
                            <a:srgbClr val="1F2937"/>
                          </a:solidFill>
                          <a:latin typeface="Calibri"/>
                        </a:rPr>
                        <a:t>Per replica</a:t>
                      </a:r>
                    </a:p>
                  </a:txBody>
                  <a:tcPr>
                    <a:solidFill>
                      <a:srgbClr val="F3F4F6"/>
                    </a:solidFill>
                  </a:tcPr>
                </a:tc>
                <a:tc>
                  <a:txBody>
                    <a:bodyPr/>
                    <a:lstStyle/>
                    <a:p>
                      <a:r>
                        <a:rPr sz="1400" b="0">
                          <a:solidFill>
                            <a:srgbClr val="1F2937"/>
                          </a:solidFill>
                          <a:latin typeface="Calibri"/>
                        </a:rPr>
                        <a:t>&gt; 100 req/s</a:t>
                      </a:r>
                    </a:p>
                  </a:txBody>
                  <a:tcPr>
                    <a:solidFill>
                      <a:srgbClr val="F3F4F6"/>
                    </a:solidFill>
                  </a:tcPr>
                </a:tc>
                <a:tc>
                  <a:txBody>
                    <a:bodyPr/>
                    <a:lstStyle/>
                    <a:p>
                      <a:r>
                        <a:rPr sz="1400" b="0">
                          <a:solidFill>
                            <a:srgbClr val="1F2937"/>
                          </a:solidFill>
                          <a:latin typeface="Calibri"/>
                        </a:rPr>
                        <a:t>Prometheus counters</a:t>
                      </a:r>
                    </a:p>
                  </a:txBody>
                  <a:tcPr>
                    <a:solidFill>
                      <a:srgbClr val="F3F4F6"/>
                    </a:solidFill>
                  </a:tcPr>
                </a:tc>
              </a:tr>
              <a:tr h="502920">
                <a:tc>
                  <a:txBody>
                    <a:bodyPr/>
                    <a:lstStyle/>
                    <a:p>
                      <a:r>
                        <a:rPr sz="1400" b="0">
                          <a:solidFill>
                            <a:srgbClr val="1F2937"/>
                          </a:solidFill>
                          <a:latin typeface="Calibri"/>
                        </a:rPr>
                        <a:t>Error rate</a:t>
                      </a:r>
                    </a:p>
                  </a:txBody>
                  <a:tcPr>
                    <a:solidFill>
                      <a:srgbClr val="F3F4F6"/>
                    </a:solidFill>
                  </a:tcPr>
                </a:tc>
                <a:tc>
                  <a:txBody>
                    <a:bodyPr/>
                    <a:lstStyle/>
                    <a:p>
                      <a:r>
                        <a:rPr sz="1400" b="0">
                          <a:solidFill>
                            <a:srgbClr val="1F2937"/>
                          </a:solidFill>
                          <a:latin typeface="Calibri"/>
                        </a:rPr>
                        <a:t>Service</a:t>
                      </a:r>
                    </a:p>
                  </a:txBody>
                  <a:tcPr>
                    <a:solidFill>
                      <a:srgbClr val="F3F4F6"/>
                    </a:solidFill>
                  </a:tcPr>
                </a:tc>
                <a:tc>
                  <a:txBody>
                    <a:bodyPr/>
                    <a:lstStyle/>
                    <a:p>
                      <a:r>
                        <a:rPr sz="1400" b="0">
                          <a:solidFill>
                            <a:srgbClr val="1F2937"/>
                          </a:solidFill>
                          <a:latin typeface="Calibri"/>
                        </a:rPr>
                        <a:t>&lt; 0.1%</a:t>
                      </a:r>
                    </a:p>
                  </a:txBody>
                  <a:tcPr>
                    <a:solidFill>
                      <a:srgbClr val="F3F4F6"/>
                    </a:solidFill>
                  </a:tcPr>
                </a:tc>
                <a:tc>
                  <a:txBody>
                    <a:bodyPr/>
                    <a:lstStyle/>
                    <a:p>
                      <a:r>
                        <a:rPr sz="1400" b="0">
                          <a:solidFill>
                            <a:srgbClr val="1F2937"/>
                          </a:solidFill>
                          <a:latin typeface="Calibri"/>
                        </a:rPr>
                        <a:t>Structured logging</a:t>
                      </a:r>
                    </a:p>
                  </a:txBody>
                  <a:tcPr>
                    <a:solidFill>
                      <a:srgbClr val="F3F4F6"/>
                    </a:solidFill>
                  </a:tcPr>
                </a:tc>
              </a:tr>
              <a:tr h="502920">
                <a:tc>
                  <a:txBody>
                    <a:bodyPr/>
                    <a:lstStyle/>
                    <a:p>
                      <a:r>
                        <a:rPr sz="1400" b="0">
                          <a:solidFill>
                            <a:srgbClr val="1F2937"/>
                          </a:solidFill>
                          <a:latin typeface="Calibri"/>
                        </a:rPr>
                        <a:t>Availability</a:t>
                      </a:r>
                    </a:p>
                  </a:txBody>
                  <a:tcPr>
                    <a:solidFill>
                      <a:srgbClr val="F3F4F6"/>
                    </a:solidFill>
                  </a:tcPr>
                </a:tc>
                <a:tc>
                  <a:txBody>
                    <a:bodyPr/>
                    <a:lstStyle/>
                    <a:p>
                      <a:r>
                        <a:rPr sz="1400" b="0">
                          <a:solidFill>
                            <a:srgbClr val="1F2937"/>
                          </a:solidFill>
                          <a:latin typeface="Calibri"/>
                        </a:rPr>
                        <a:t>System</a:t>
                      </a:r>
                    </a:p>
                  </a:txBody>
                  <a:tcPr>
                    <a:solidFill>
                      <a:srgbClr val="F3F4F6"/>
                    </a:solidFill>
                  </a:tcPr>
                </a:tc>
                <a:tc>
                  <a:txBody>
                    <a:bodyPr/>
                    <a:lstStyle/>
                    <a:p>
                      <a:r>
                        <a:rPr sz="1400" b="0">
                          <a:solidFill>
                            <a:srgbClr val="1F2937"/>
                          </a:solidFill>
                          <a:latin typeface="Calibri"/>
                        </a:rPr>
                        <a:t>99.9%</a:t>
                      </a:r>
                    </a:p>
                  </a:txBody>
                  <a:tcPr>
                    <a:solidFill>
                      <a:srgbClr val="F3F4F6"/>
                    </a:solidFill>
                  </a:tcPr>
                </a:tc>
                <a:tc>
                  <a:txBody>
                    <a:bodyPr/>
                    <a:lstStyle/>
                    <a:p>
                      <a:r>
                        <a:rPr sz="1400" b="0">
                          <a:solidFill>
                            <a:srgbClr val="1F2937"/>
                          </a:solidFill>
                          <a:latin typeface="Calibri"/>
                        </a:rPr>
                        <a:t>Health checks</a:t>
                      </a:r>
                    </a:p>
                  </a:txBody>
                  <a:tcPr>
                    <a:solidFill>
                      <a:srgbClr val="F3F4F6"/>
                    </a:solidFill>
                  </a:tcPr>
                </a:tc>
              </a:tr>
              <a:tr h="502920">
                <a:tc>
                  <a:txBody>
                    <a:bodyPr/>
                    <a:lstStyle/>
                    <a:p>
                      <a:r>
                        <a:rPr sz="1400" b="0">
                          <a:solidFill>
                            <a:srgbClr val="1F2937"/>
                          </a:solidFill>
                          <a:latin typeface="Calibri"/>
                        </a:rPr>
                        <a:t>Cost per 1k tokens</a:t>
                      </a:r>
                    </a:p>
                  </a:txBody>
                  <a:tcPr>
                    <a:solidFill>
                      <a:srgbClr val="F3F4F6"/>
                    </a:solidFill>
                  </a:tcPr>
                </a:tc>
                <a:tc>
                  <a:txBody>
                    <a:bodyPr/>
                    <a:lstStyle/>
                    <a:p>
                      <a:r>
                        <a:rPr sz="1400" b="0">
                          <a:solidFill>
                            <a:srgbClr val="1F2937"/>
                          </a:solidFill>
                          <a:latin typeface="Calibri"/>
                        </a:rPr>
                        <a:t>Model</a:t>
                      </a:r>
                    </a:p>
                  </a:txBody>
                  <a:tcPr>
                    <a:solidFill>
                      <a:srgbClr val="F3F4F6"/>
                    </a:solidFill>
                  </a:tcPr>
                </a:tc>
                <a:tc>
                  <a:txBody>
                    <a:bodyPr/>
                    <a:lstStyle/>
                    <a:p>
                      <a:r>
                        <a:rPr sz="1400" b="0">
                          <a:solidFill>
                            <a:srgbClr val="1F2937"/>
                          </a:solidFill>
                          <a:latin typeface="Calibri"/>
                        </a:rPr>
                        <a:t>&lt; $0.002</a:t>
                      </a:r>
                    </a:p>
                  </a:txBody>
                  <a:tcPr>
                    <a:solidFill>
                      <a:srgbClr val="F3F4F6"/>
                    </a:solidFill>
                  </a:tcPr>
                </a:tc>
                <a:tc>
                  <a:txBody>
                    <a:bodyPr/>
                    <a:lstStyle/>
                    <a:p>
                      <a:r>
                        <a:rPr sz="1400" b="0">
                          <a:solidFill>
                            <a:srgbClr val="1F2937"/>
                          </a:solidFill>
                          <a:latin typeface="Calibri"/>
                        </a:rPr>
                        <a:t>Billing API</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Key deployment metrics with typical measurement points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Reliability Metrics: From MTBF to SLOs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   ·   Sources: [C3]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MTBF: mean time between failures (system-level)</a:t>
            </a:r>
          </a:p>
          <a:p>
            <a:pPr marL="292608" indent="-292608">
              <a:spcAft>
                <a:spcPts val="1000"/>
              </a:spcAft>
              <a:buClr>
                <a:srgbClr val="0F766E"/>
              </a:buClr>
              <a:buFont typeface="Arial"/>
              <a:buChar char="▪"/>
            </a:pPr>
            <a:r>
              <a:rPr sz="2400">
                <a:solidFill>
                  <a:srgbClr val="1F2937"/>
                </a:solidFill>
                <a:latin typeface="Calibri"/>
              </a:rPr>
              <a:t>MTTR: mean time to recover (incident response)</a:t>
            </a:r>
          </a:p>
          <a:p>
            <a:pPr marL="292608" indent="-292608">
              <a:spcAft>
                <a:spcPts val="1000"/>
              </a:spcAft>
              <a:buClr>
                <a:srgbClr val="0F766E"/>
              </a:buClr>
              <a:buFont typeface="Arial"/>
              <a:buChar char="▪"/>
            </a:pPr>
            <a:r>
              <a:rPr sz="2400">
                <a:solidFill>
                  <a:srgbClr val="1F2937"/>
                </a:solidFill>
                <a:latin typeface="Calibri"/>
              </a:rPr>
              <a:t>SLI: service level indicator (quantifiable measure)</a:t>
            </a:r>
          </a:p>
          <a:p>
            <a:pPr marL="292608" indent="-292608">
              <a:spcAft>
                <a:spcPts val="1000"/>
              </a:spcAft>
              <a:buClr>
                <a:srgbClr val="0F766E"/>
              </a:buClr>
              <a:buFont typeface="Arial"/>
              <a:buChar char="▪"/>
            </a:pPr>
            <a:r>
              <a:rPr sz="2400">
                <a:solidFill>
                  <a:srgbClr val="1F2937"/>
                </a:solidFill>
                <a:latin typeface="Calibri"/>
              </a:rPr>
              <a:t>SLO: service level objective (target for SLI)</a:t>
            </a:r>
          </a:p>
          <a:p>
            <a:pPr marL="292608" indent="-292608">
              <a:spcAft>
                <a:spcPts val="1000"/>
              </a:spcAft>
              <a:buClr>
                <a:srgbClr val="0F766E"/>
              </a:buClr>
              <a:buFont typeface="Arial"/>
              <a:buChar char="▪"/>
            </a:pPr>
            <a:r>
              <a:rPr sz="2400">
                <a:solidFill>
                  <a:srgbClr val="1F2937"/>
                </a:solidFill>
                <a:latin typeface="Calibri"/>
              </a:rPr>
              <a:t>Error budget: inverse of SLO, guides release velocity</a:t>
            </a:r>
          </a:p>
        </p:txBody>
      </p:sp>
      <p:graphicFrame>
        <p:nvGraphicFramePr>
          <p:cNvPr id="7" name="Table 6"/>
          <p:cNvGraphicFramePr>
            <a:graphicFrameLocks noGrp="1"/>
          </p:cNvGraphicFramePr>
          <p:nvPr/>
        </p:nvGraphicFramePr>
        <p:xfrm>
          <a:off x="6683495" y="1463040"/>
          <a:ext cx="4959560" cy="3017520"/>
        </p:xfrm>
        <a:graphic>
          <a:graphicData uri="http://schemas.openxmlformats.org/drawingml/2006/table">
            <a:tbl>
              <a:tblPr firstRow="1" bandRow="1">
                <a:tableStyleId>{5C22544A-7EE6-4342-B048-85BDC9FD1C3A}</a:tableStyleId>
              </a:tblPr>
              <a:tblGrid>
                <a:gridCol w="1239890"/>
                <a:gridCol w="1239890"/>
                <a:gridCol w="1239890"/>
                <a:gridCol w="1239890"/>
              </a:tblGrid>
              <a:tr h="502920">
                <a:tc>
                  <a:txBody>
                    <a:bodyPr/>
                    <a:lstStyle/>
                    <a:p>
                      <a:r>
                        <a:rPr sz="1400" b="1">
                          <a:solidFill>
                            <a:srgbClr val="CCFBF1"/>
                          </a:solidFill>
                          <a:latin typeface="Calibri"/>
                        </a:rPr>
                        <a:t>Metric</a:t>
                      </a:r>
                    </a:p>
                  </a:txBody>
                  <a:tcPr>
                    <a:solidFill>
                      <a:srgbClr val="0F766E"/>
                    </a:solidFill>
                  </a:tcPr>
                </a:tc>
                <a:tc>
                  <a:txBody>
                    <a:bodyPr/>
                    <a:lstStyle/>
                    <a:p>
                      <a:r>
                        <a:rPr sz="1400" b="1">
                          <a:solidFill>
                            <a:srgbClr val="CCFBF1"/>
                          </a:solidFill>
                          <a:latin typeface="Calibri"/>
                        </a:rPr>
                        <a:t>Definition</a:t>
                      </a:r>
                    </a:p>
                  </a:txBody>
                  <a:tcPr>
                    <a:solidFill>
                      <a:srgbClr val="0F766E"/>
                    </a:solidFill>
                  </a:tcPr>
                </a:tc>
                <a:tc>
                  <a:txBody>
                    <a:bodyPr/>
                    <a:lstStyle/>
                    <a:p>
                      <a:r>
                        <a:rPr sz="1400" b="1">
                          <a:solidFill>
                            <a:srgbClr val="CCFBF1"/>
                          </a:solidFill>
                          <a:latin typeface="Calibri"/>
                        </a:rPr>
                        <a:t>Example</a:t>
                      </a:r>
                    </a:p>
                  </a:txBody>
                  <a:tcPr>
                    <a:solidFill>
                      <a:srgbClr val="0F766E"/>
                    </a:solidFill>
                  </a:tcPr>
                </a:tc>
                <a:tc>
                  <a:txBody>
                    <a:bodyPr/>
                    <a:lstStyle/>
                    <a:p>
                      <a:r>
                        <a:rPr sz="1400" b="1">
                          <a:solidFill>
                            <a:srgbClr val="CCFBF1"/>
                          </a:solidFill>
                          <a:latin typeface="Calibri"/>
                        </a:rPr>
                        <a:t>Used For</a:t>
                      </a:r>
                    </a:p>
                  </a:txBody>
                  <a:tcPr>
                    <a:solidFill>
                      <a:srgbClr val="0F766E"/>
                    </a:solidFill>
                  </a:tcPr>
                </a:tc>
              </a:tr>
              <a:tr h="502920">
                <a:tc>
                  <a:txBody>
                    <a:bodyPr/>
                    <a:lstStyle/>
                    <a:p>
                      <a:r>
                        <a:rPr sz="1400" b="0">
                          <a:solidFill>
                            <a:srgbClr val="1F2937"/>
                          </a:solidFill>
                          <a:latin typeface="Calibri"/>
                        </a:rPr>
                        <a:t>MTBF</a:t>
                      </a:r>
                    </a:p>
                  </a:txBody>
                  <a:tcPr>
                    <a:solidFill>
                      <a:srgbClr val="F3F4F6"/>
                    </a:solidFill>
                  </a:tcPr>
                </a:tc>
                <a:tc>
                  <a:txBody>
                    <a:bodyPr/>
                    <a:lstStyle/>
                    <a:p>
                      <a:r>
                        <a:rPr sz="1400" b="0">
                          <a:solidFill>
                            <a:srgbClr val="1F2937"/>
                          </a:solidFill>
                          <a:latin typeface="Calibri"/>
                        </a:rPr>
                        <a:t>Average uptime between failures</a:t>
                      </a:r>
                    </a:p>
                  </a:txBody>
                  <a:tcPr>
                    <a:solidFill>
                      <a:srgbClr val="F3F4F6"/>
                    </a:solidFill>
                  </a:tcPr>
                </a:tc>
                <a:tc>
                  <a:txBody>
                    <a:bodyPr/>
                    <a:lstStyle/>
                    <a:p>
                      <a:r>
                        <a:rPr sz="1400" b="0">
                          <a:solidFill>
                            <a:srgbClr val="1F2937"/>
                          </a:solidFill>
                          <a:latin typeface="Calibri"/>
                        </a:rPr>
                        <a:t>720 hours</a:t>
                      </a:r>
                    </a:p>
                  </a:txBody>
                  <a:tcPr>
                    <a:solidFill>
                      <a:srgbClr val="F3F4F6"/>
                    </a:solidFill>
                  </a:tcPr>
                </a:tc>
                <a:tc>
                  <a:txBody>
                    <a:bodyPr/>
                    <a:lstStyle/>
                    <a:p>
                      <a:r>
                        <a:rPr sz="1400" b="0">
                          <a:solidFill>
                            <a:srgbClr val="1F2937"/>
                          </a:solidFill>
                          <a:latin typeface="Calibri"/>
                        </a:rPr>
                        <a:t>Capacity planning</a:t>
                      </a:r>
                    </a:p>
                  </a:txBody>
                  <a:tcPr>
                    <a:solidFill>
                      <a:srgbClr val="F3F4F6"/>
                    </a:solidFill>
                  </a:tcPr>
                </a:tc>
              </a:tr>
              <a:tr h="502920">
                <a:tc>
                  <a:txBody>
                    <a:bodyPr/>
                    <a:lstStyle/>
                    <a:p>
                      <a:r>
                        <a:rPr sz="1400" b="0">
                          <a:solidFill>
                            <a:srgbClr val="1F2937"/>
                          </a:solidFill>
                          <a:latin typeface="Calibri"/>
                        </a:rPr>
                        <a:t>MTTR</a:t>
                      </a:r>
                    </a:p>
                  </a:txBody>
                  <a:tcPr>
                    <a:solidFill>
                      <a:srgbClr val="F3F4F6"/>
                    </a:solidFill>
                  </a:tcPr>
                </a:tc>
                <a:tc>
                  <a:txBody>
                    <a:bodyPr/>
                    <a:lstStyle/>
                    <a:p>
                      <a:r>
                        <a:rPr sz="1400" b="0">
                          <a:solidFill>
                            <a:srgbClr val="1F2937"/>
                          </a:solidFill>
                          <a:latin typeface="Calibri"/>
                        </a:rPr>
                        <a:t>Average repair time</a:t>
                      </a:r>
                    </a:p>
                  </a:txBody>
                  <a:tcPr>
                    <a:solidFill>
                      <a:srgbClr val="F3F4F6"/>
                    </a:solidFill>
                  </a:tcPr>
                </a:tc>
                <a:tc>
                  <a:txBody>
                    <a:bodyPr/>
                    <a:lstStyle/>
                    <a:p>
                      <a:r>
                        <a:rPr sz="1400" b="0">
                          <a:solidFill>
                            <a:srgbClr val="1F2937"/>
                          </a:solidFill>
                          <a:latin typeface="Calibri"/>
                        </a:rPr>
                        <a:t>15 minutes</a:t>
                      </a:r>
                    </a:p>
                  </a:txBody>
                  <a:tcPr>
                    <a:solidFill>
                      <a:srgbClr val="F3F4F6"/>
                    </a:solidFill>
                  </a:tcPr>
                </a:tc>
                <a:tc>
                  <a:txBody>
                    <a:bodyPr/>
                    <a:lstStyle/>
                    <a:p>
                      <a:r>
                        <a:rPr sz="1400" b="0">
                          <a:solidFill>
                            <a:srgbClr val="1F2937"/>
                          </a:solidFill>
                          <a:latin typeface="Calibri"/>
                        </a:rPr>
                        <a:t>On-call readiness</a:t>
                      </a:r>
                    </a:p>
                  </a:txBody>
                  <a:tcPr>
                    <a:solidFill>
                      <a:srgbClr val="F3F4F6"/>
                    </a:solidFill>
                  </a:tcPr>
                </a:tc>
              </a:tr>
              <a:tr h="502920">
                <a:tc>
                  <a:txBody>
                    <a:bodyPr/>
                    <a:lstStyle/>
                    <a:p>
                      <a:r>
                        <a:rPr sz="1400" b="0">
                          <a:solidFill>
                            <a:srgbClr val="1F2937"/>
                          </a:solidFill>
                          <a:latin typeface="Calibri"/>
                        </a:rPr>
                        <a:t>SLI</a:t>
                      </a:r>
                    </a:p>
                  </a:txBody>
                  <a:tcPr>
                    <a:solidFill>
                      <a:srgbClr val="F3F4F6"/>
                    </a:solidFill>
                  </a:tcPr>
                </a:tc>
                <a:tc>
                  <a:txBody>
                    <a:bodyPr/>
                    <a:lstStyle/>
                    <a:p>
                      <a:r>
                        <a:rPr sz="1400" b="0">
                          <a:solidFill>
                            <a:srgbClr val="1F2937"/>
                          </a:solidFill>
                          <a:latin typeface="Calibri"/>
                        </a:rPr>
                        <a:t>Measurable behavior</a:t>
                      </a:r>
                    </a:p>
                  </a:txBody>
                  <a:tcPr>
                    <a:solidFill>
                      <a:srgbClr val="F3F4F6"/>
                    </a:solidFill>
                  </a:tcPr>
                </a:tc>
                <a:tc>
                  <a:txBody>
                    <a:bodyPr/>
                    <a:lstStyle/>
                    <a:p>
                      <a:r>
                        <a:rPr sz="1400" b="0">
                          <a:solidFill>
                            <a:srgbClr val="1F2937"/>
                          </a:solidFill>
                          <a:latin typeface="Calibri"/>
                        </a:rPr>
                        <a:t>Request latency &lt; 500ms</a:t>
                      </a:r>
                    </a:p>
                  </a:txBody>
                  <a:tcPr>
                    <a:solidFill>
                      <a:srgbClr val="F3F4F6"/>
                    </a:solidFill>
                  </a:tcPr>
                </a:tc>
                <a:tc>
                  <a:txBody>
                    <a:bodyPr/>
                    <a:lstStyle/>
                    <a:p>
                      <a:r>
                        <a:rPr sz="1400" b="0">
                          <a:solidFill>
                            <a:srgbClr val="1F2937"/>
                          </a:solidFill>
                          <a:latin typeface="Calibri"/>
                        </a:rPr>
                        <a:t>Monitoring</a:t>
                      </a:r>
                    </a:p>
                  </a:txBody>
                  <a:tcPr>
                    <a:solidFill>
                      <a:srgbClr val="F3F4F6"/>
                    </a:solidFill>
                  </a:tcPr>
                </a:tc>
              </a:tr>
              <a:tr h="502920">
                <a:tc>
                  <a:txBody>
                    <a:bodyPr/>
                    <a:lstStyle/>
                    <a:p>
                      <a:r>
                        <a:rPr sz="1400" b="0">
                          <a:solidFill>
                            <a:srgbClr val="1F2937"/>
                          </a:solidFill>
                          <a:latin typeface="Calibri"/>
                        </a:rPr>
                        <a:t>SLO</a:t>
                      </a:r>
                    </a:p>
                  </a:txBody>
                  <a:tcPr>
                    <a:solidFill>
                      <a:srgbClr val="F3F4F6"/>
                    </a:solidFill>
                  </a:tcPr>
                </a:tc>
                <a:tc>
                  <a:txBody>
                    <a:bodyPr/>
                    <a:lstStyle/>
                    <a:p>
                      <a:r>
                        <a:rPr sz="1400" b="0">
                          <a:solidFill>
                            <a:srgbClr val="1F2937"/>
                          </a:solidFill>
                          <a:latin typeface="Calibri"/>
                        </a:rPr>
                        <a:t>Target for SLI</a:t>
                      </a:r>
                    </a:p>
                  </a:txBody>
                  <a:tcPr>
                    <a:solidFill>
                      <a:srgbClr val="F3F4F6"/>
                    </a:solidFill>
                  </a:tcPr>
                </a:tc>
                <a:tc>
                  <a:txBody>
                    <a:bodyPr/>
                    <a:lstStyle/>
                    <a:p>
                      <a:r>
                        <a:rPr sz="1400" b="0">
                          <a:solidFill>
                            <a:srgbClr val="1F2937"/>
                          </a:solidFill>
                          <a:latin typeface="Calibri"/>
                        </a:rPr>
                        <a:t>99% of requests &lt; 500ms</a:t>
                      </a:r>
                    </a:p>
                  </a:txBody>
                  <a:tcPr>
                    <a:solidFill>
                      <a:srgbClr val="F3F4F6"/>
                    </a:solidFill>
                  </a:tcPr>
                </a:tc>
                <a:tc>
                  <a:txBody>
                    <a:bodyPr/>
                    <a:lstStyle/>
                    <a:p>
                      <a:r>
                        <a:rPr sz="1400" b="0">
                          <a:solidFill>
                            <a:srgbClr val="1F2937"/>
                          </a:solidFill>
                          <a:latin typeface="Calibri"/>
                        </a:rPr>
                        <a:t>Alerting</a:t>
                      </a:r>
                    </a:p>
                  </a:txBody>
                  <a:tcPr>
                    <a:solidFill>
                      <a:srgbClr val="F3F4F6"/>
                    </a:solidFill>
                  </a:tcPr>
                </a:tc>
              </a:tr>
              <a:tr h="502920">
                <a:tc>
                  <a:txBody>
                    <a:bodyPr/>
                    <a:lstStyle/>
                    <a:p>
                      <a:r>
                        <a:rPr sz="1400" b="0">
                          <a:solidFill>
                            <a:srgbClr val="1F2937"/>
                          </a:solidFill>
                          <a:latin typeface="Calibri"/>
                        </a:rPr>
                        <a:t>Error budget</a:t>
                      </a:r>
                    </a:p>
                  </a:txBody>
                  <a:tcPr>
                    <a:solidFill>
                      <a:srgbClr val="F3F4F6"/>
                    </a:solidFill>
                  </a:tcPr>
                </a:tc>
                <a:tc>
                  <a:txBody>
                    <a:bodyPr/>
                    <a:lstStyle/>
                    <a:p>
                      <a:r>
                        <a:rPr sz="1400" b="0">
                          <a:solidFill>
                            <a:srgbClr val="1F2937"/>
                          </a:solidFill>
                          <a:latin typeface="Calibri"/>
                        </a:rPr>
                        <a:t>1 - SLO</a:t>
                      </a:r>
                    </a:p>
                  </a:txBody>
                  <a:tcPr>
                    <a:solidFill>
                      <a:srgbClr val="F3F4F6"/>
                    </a:solidFill>
                  </a:tcPr>
                </a:tc>
                <a:tc>
                  <a:txBody>
                    <a:bodyPr/>
                    <a:lstStyle/>
                    <a:p>
                      <a:r>
                        <a:rPr sz="1400" b="0">
                          <a:solidFill>
                            <a:srgbClr val="1F2937"/>
                          </a:solidFill>
                          <a:latin typeface="Calibri"/>
                        </a:rPr>
                        <a:t>1% error allowance</a:t>
                      </a:r>
                    </a:p>
                  </a:txBody>
                  <a:tcPr>
                    <a:solidFill>
                      <a:srgbClr val="F3F4F6"/>
                    </a:solidFill>
                  </a:tcPr>
                </a:tc>
                <a:tc>
                  <a:txBody>
                    <a:bodyPr/>
                    <a:lstStyle/>
                    <a:p>
                      <a:r>
                        <a:rPr sz="1400" b="0">
                          <a:solidFill>
                            <a:srgbClr val="1F2937"/>
                          </a:solidFill>
                          <a:latin typeface="Calibri"/>
                        </a:rPr>
                        <a:t>Release gating</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Reliability metrics hierarchy and relationships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Evaluating Metrics in Multi-Component AI Pipelines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Correlate metrics across service boundaries</a:t>
            </a:r>
          </a:p>
          <a:p>
            <a:pPr marL="292608" indent="-292608">
              <a:spcAft>
                <a:spcPts val="1000"/>
              </a:spcAft>
              <a:buClr>
                <a:srgbClr val="0F766E"/>
              </a:buClr>
              <a:buFont typeface="Arial"/>
              <a:buChar char="▪"/>
            </a:pPr>
            <a:r>
              <a:rPr sz="2400">
                <a:solidFill>
                  <a:srgbClr val="1F2937"/>
                </a:solidFill>
                <a:latin typeface="Calibri"/>
              </a:rPr>
              <a:t>Identify bottleneck components via latency breakdown</a:t>
            </a:r>
          </a:p>
          <a:p>
            <a:pPr marL="292608" indent="-292608">
              <a:spcAft>
                <a:spcPts val="1000"/>
              </a:spcAft>
              <a:buClr>
                <a:srgbClr val="0F766E"/>
              </a:buClr>
              <a:buFont typeface="Arial"/>
              <a:buChar char="▪"/>
            </a:pPr>
            <a:r>
              <a:rPr sz="2400">
                <a:solidFill>
                  <a:srgbClr val="1F2937"/>
                </a:solidFill>
                <a:latin typeface="Calibri"/>
              </a:rPr>
              <a:t>Aggregate error budgets across dependent services</a:t>
            </a:r>
          </a:p>
          <a:p>
            <a:pPr marL="292608" indent="-292608">
              <a:spcAft>
                <a:spcPts val="1000"/>
              </a:spcAft>
              <a:buClr>
                <a:srgbClr val="0F766E"/>
              </a:buClr>
              <a:buFont typeface="Arial"/>
              <a:buChar char="▪"/>
            </a:pPr>
            <a:r>
              <a:rPr sz="2400">
                <a:solidFill>
                  <a:srgbClr val="1F2937"/>
                </a:solidFill>
                <a:latin typeface="Calibri"/>
              </a:rPr>
              <a:t>Detect cascading failures from model drift</a:t>
            </a:r>
          </a:p>
          <a:p>
            <a:pPr marL="292608" indent="-292608">
              <a:spcAft>
                <a:spcPts val="1000"/>
              </a:spcAft>
              <a:buClr>
                <a:srgbClr val="0F766E"/>
              </a:buClr>
              <a:buFont typeface="Arial"/>
              <a:buChar char="▪"/>
            </a:pPr>
            <a:r>
              <a:rPr sz="2400">
                <a:solidFill>
                  <a:srgbClr val="1F2937"/>
                </a:solidFill>
                <a:latin typeface="Calibri"/>
              </a:rPr>
              <a:t>Use distributed tracing and unified dashboards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Collect per-component metrics</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Correlate via trace IDs</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Compute end-to-end SLIs</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Compare against SLOs</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Trigger alerts or rollback</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Metric evaluation pipeline for multi-component system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Scenario 1: Evaluating a RAG Chatbot Deployment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   ·   Sources: [C4]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000">
                <a:solidFill>
                  <a:srgbClr val="1F2937"/>
                </a:solidFill>
                <a:latin typeface="Calibri"/>
              </a:rPr>
              <a:t>System: API gateway → embedding service → vector DB → LLM</a:t>
            </a:r>
          </a:p>
          <a:p>
            <a:pPr marL="292608" indent="-292608">
              <a:spcAft>
                <a:spcPts val="1000"/>
              </a:spcAft>
              <a:buClr>
                <a:srgbClr val="0F766E"/>
              </a:buClr>
              <a:buFont typeface="Arial"/>
              <a:buChar char="▪"/>
            </a:pPr>
            <a:r>
              <a:rPr sz="2000">
                <a:solidFill>
                  <a:srgbClr val="1F2937"/>
                </a:solidFill>
                <a:latin typeface="Calibri"/>
              </a:rPr>
              <a:t>Given: p99 latency 3.2s (SLO 2s), error rate 0.5% (SLO 0.1%)</a:t>
            </a:r>
          </a:p>
          <a:p>
            <a:pPr marL="292608" indent="-292608">
              <a:spcAft>
                <a:spcPts val="1000"/>
              </a:spcAft>
              <a:buClr>
                <a:srgbClr val="0F766E"/>
              </a:buClr>
              <a:buFont typeface="Arial"/>
              <a:buChar char="▪"/>
            </a:pPr>
            <a:r>
              <a:rPr sz="2000">
                <a:solidFill>
                  <a:srgbClr val="1F2937"/>
                </a:solidFill>
                <a:latin typeface="Calibri"/>
              </a:rPr>
              <a:t>Step 1: Break down latency per component via traces</a:t>
            </a:r>
          </a:p>
          <a:p>
            <a:pPr marL="292608" indent="-292608">
              <a:spcAft>
                <a:spcPts val="1000"/>
              </a:spcAft>
              <a:buClr>
                <a:srgbClr val="0F766E"/>
              </a:buClr>
              <a:buFont typeface="Arial"/>
              <a:buChar char="▪"/>
            </a:pPr>
            <a:r>
              <a:rPr sz="2000">
                <a:solidFill>
                  <a:srgbClr val="1F2937"/>
                </a:solidFill>
                <a:latin typeface="Calibri"/>
              </a:rPr>
              <a:t>Step 2: Identify vector DB p99 = 1.8s (bottleneck)</a:t>
            </a:r>
          </a:p>
          <a:p>
            <a:pPr marL="292608" indent="-292608">
              <a:spcAft>
                <a:spcPts val="1000"/>
              </a:spcAft>
              <a:buClr>
                <a:srgbClr val="0F766E"/>
              </a:buClr>
              <a:buFont typeface="Arial"/>
              <a:buChar char="▪"/>
            </a:pPr>
            <a:r>
              <a:rPr sz="2000">
                <a:solidFill>
                  <a:srgbClr val="1F2937"/>
                </a:solidFill>
                <a:latin typeface="Calibri"/>
              </a:rPr>
              <a:t>Step 3: Check error budget: 0.5% &gt; 0.1% → freeze releases</a:t>
            </a:r>
          </a:p>
          <a:p>
            <a:pPr marL="292608" indent="-292608">
              <a:spcAft>
                <a:spcPts val="1000"/>
              </a:spcAft>
              <a:buClr>
                <a:srgbClr val="0F766E"/>
              </a:buClr>
              <a:buFont typeface="Arial"/>
              <a:buChar char="▪"/>
            </a:pPr>
            <a:r>
              <a:rPr sz="2000">
                <a:solidFill>
                  <a:srgbClr val="1F2937"/>
                </a:solidFill>
                <a:latin typeface="Calibri"/>
              </a:rPr>
              <a:t>Step 4: Propose fix: add read replicas, cache frequent queries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100" b="0">
                <a:solidFill>
                  <a:srgbClr val="E5E7EB"/>
                </a:solidFill>
                <a:latin typeface="Consolas"/>
              </a:rPr>
              <a:t>traces = fetch_traces(service='rag', window='1h')</a:t>
            </a:r>
          </a:p>
          <a:p>
            <a:pPr algn="l"/>
            <a:r>
              <a:rPr sz="1100" b="0">
                <a:solidFill>
                  <a:srgbClr val="E5E7EB"/>
                </a:solidFill>
                <a:latin typeface="Consolas"/>
              </a:rPr>
              <a:t>latencies = {}</a:t>
            </a:r>
          </a:p>
          <a:p>
            <a:pPr algn="l"/>
            <a:r>
              <a:rPr sz="1100" b="0">
                <a:solidFill>
                  <a:srgbClr val="E5E7EB"/>
                </a:solidFill>
                <a:latin typeface="Consolas"/>
              </a:rPr>
              <a:t>for trace in traces:</a:t>
            </a:r>
          </a:p>
          <a:p>
            <a:pPr algn="l"/>
            <a:r>
              <a:rPr sz="1100" b="0">
                <a:solidFill>
                  <a:srgbClr val="E5E7EB"/>
                </a:solidFill>
                <a:latin typeface="Consolas"/>
              </a:rPr>
              <a:t>    for span in trace.spans:</a:t>
            </a:r>
          </a:p>
          <a:p>
            <a:pPr algn="l"/>
            <a:r>
              <a:rPr sz="1100" b="0">
                <a:solidFill>
                  <a:srgbClr val="E5E7EB"/>
                </a:solidFill>
                <a:latin typeface="Consolas"/>
              </a:rPr>
              <a:t>        latencies.setdefault(span.service, []).append(span.duration)</a:t>
            </a:r>
          </a:p>
          <a:p>
            <a:pPr algn="l"/>
            <a:r>
              <a:rPr sz="1100" b="0">
                <a:solidFill>
                  <a:srgbClr val="E5E7EB"/>
                </a:solidFill>
                <a:latin typeface="Consolas"/>
              </a:rPr>
              <a:t>for svc, vals in latencies.items():</a:t>
            </a:r>
          </a:p>
          <a:p>
            <a:pPr algn="l"/>
            <a:r>
              <a:rPr sz="1100" b="0">
                <a:solidFill>
                  <a:srgbClr val="E5E7EB"/>
                </a:solidFill>
                <a:latin typeface="Consolas"/>
              </a:rPr>
              <a:t>    print(f'{svc}: p99={np.percentile(vals,99):.2f}s')</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Pseudo-code for latency breakdown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Scenario 2: Evaluating a Code Generation Pipeline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   ·   Sources: [C3]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000">
                <a:solidFill>
                  <a:srgbClr val="1F2937"/>
                </a:solidFill>
                <a:latin typeface="Calibri"/>
              </a:rPr>
              <a:t>System: spec parser → planner → code generator → test runner</a:t>
            </a:r>
          </a:p>
          <a:p>
            <a:pPr marL="292608" indent="-292608">
              <a:spcAft>
                <a:spcPts val="1000"/>
              </a:spcAft>
              <a:buClr>
                <a:srgbClr val="0F766E"/>
              </a:buClr>
              <a:buFont typeface="Arial"/>
              <a:buChar char="▪"/>
            </a:pPr>
            <a:r>
              <a:rPr sz="2000">
                <a:solidFill>
                  <a:srgbClr val="1F2937"/>
                </a:solidFill>
                <a:latin typeface="Calibri"/>
              </a:rPr>
              <a:t>Given: MTTR 45 min (target 15 min), test flakiness 12%</a:t>
            </a:r>
          </a:p>
          <a:p>
            <a:pPr marL="292608" indent="-292608">
              <a:spcAft>
                <a:spcPts val="1000"/>
              </a:spcAft>
              <a:buClr>
                <a:srgbClr val="0F766E"/>
              </a:buClr>
              <a:buFont typeface="Arial"/>
              <a:buChar char="▪"/>
            </a:pPr>
            <a:r>
              <a:rPr sz="2000">
                <a:solidFill>
                  <a:srgbClr val="1F2937"/>
                </a:solidFill>
                <a:latin typeface="Calibri"/>
              </a:rPr>
              <a:t>Step 1: Analyze incident logs for root cause categories</a:t>
            </a:r>
          </a:p>
          <a:p>
            <a:pPr marL="292608" indent="-292608">
              <a:spcAft>
                <a:spcPts val="1000"/>
              </a:spcAft>
              <a:buClr>
                <a:srgbClr val="0F766E"/>
              </a:buClr>
              <a:buFont typeface="Arial"/>
              <a:buChar char="▪"/>
            </a:pPr>
            <a:r>
              <a:rPr sz="2000">
                <a:solidFill>
                  <a:srgbClr val="1F2937"/>
                </a:solidFill>
                <a:latin typeface="Calibri"/>
              </a:rPr>
              <a:t>Step 2: Find 60% of MTTR spent in manual triage</a:t>
            </a:r>
          </a:p>
          <a:p>
            <a:pPr marL="292608" indent="-292608">
              <a:spcAft>
                <a:spcPts val="1000"/>
              </a:spcAft>
              <a:buClr>
                <a:srgbClr val="0F766E"/>
              </a:buClr>
              <a:buFont typeface="Arial"/>
              <a:buChar char="▪"/>
            </a:pPr>
            <a:r>
              <a:rPr sz="2000">
                <a:solidFill>
                  <a:srgbClr val="1F2937"/>
                </a:solidFill>
                <a:latin typeface="Calibri"/>
              </a:rPr>
              <a:t>Step 3: Flakiness correlates with LLM non-determinism</a:t>
            </a:r>
          </a:p>
          <a:p>
            <a:pPr marL="292608" indent="-292608">
              <a:spcAft>
                <a:spcPts val="1000"/>
              </a:spcAft>
              <a:buClr>
                <a:srgbClr val="0F766E"/>
              </a:buClr>
              <a:buFont typeface="Arial"/>
              <a:buChar char="▪"/>
            </a:pPr>
            <a:r>
              <a:rPr sz="2000">
                <a:solidFill>
                  <a:srgbClr val="1F2937"/>
                </a:solidFill>
                <a:latin typeface="Calibri"/>
              </a:rPr>
              <a:t>Step 4: Propose: automated classification, seeded generation, retries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100" b="0">
                <a:solidFill>
                  <a:srgbClr val="E5E7EB"/>
                </a:solidFill>
                <a:latin typeface="Consolas"/>
              </a:rPr>
              <a:t>results = load_test_runs(pipeline='codegen', days=7)</a:t>
            </a:r>
          </a:p>
          <a:p>
            <a:pPr algn="l"/>
            <a:r>
              <a:rPr sz="1100" b="0">
                <a:solidFill>
                  <a:srgbClr val="E5E7EB"/>
                </a:solidFill>
                <a:latin typeface="Consolas"/>
              </a:rPr>
              <a:t>flaky = []</a:t>
            </a:r>
          </a:p>
          <a:p>
            <a:pPr algn="l"/>
            <a:r>
              <a:rPr sz="1100" b="0">
                <a:solidFill>
                  <a:srgbClr val="E5E7EB"/>
                </a:solidFill>
                <a:latin typeface="Consolas"/>
              </a:rPr>
              <a:t>for test, runs in results.groupby('test_id'):</a:t>
            </a:r>
          </a:p>
          <a:p>
            <a:pPr algn="l"/>
            <a:r>
              <a:rPr sz="1100" b="0">
                <a:solidFill>
                  <a:srgbClr val="E5E7EB"/>
                </a:solidFill>
                <a:latin typeface="Consolas"/>
              </a:rPr>
              <a:t>    outcomes = runs['status'].unique()</a:t>
            </a:r>
          </a:p>
          <a:p>
            <a:pPr algn="l"/>
            <a:r>
              <a:rPr sz="1100" b="0">
                <a:solidFill>
                  <a:srgbClr val="E5E7EB"/>
                </a:solidFill>
                <a:latin typeface="Consolas"/>
              </a:rPr>
              <a:t>    if len(outcomes) &gt; 1:</a:t>
            </a:r>
          </a:p>
          <a:p>
            <a:pPr algn="l"/>
            <a:r>
              <a:rPr sz="1100" b="0">
                <a:solidFill>
                  <a:srgbClr val="E5E7EB"/>
                </a:solidFill>
                <a:latin typeface="Consolas"/>
              </a:rPr>
              <a:t>        flaky.append(test)</a:t>
            </a:r>
          </a:p>
          <a:p>
            <a:pPr algn="l"/>
            <a:r>
              <a:rPr sz="1100" b="0">
                <a:solidFill>
                  <a:srgbClr val="E5E7EB"/>
                </a:solidFill>
                <a:latin typeface="Consolas"/>
              </a:rPr>
              <a:t>print(f'Flaky tests: {len(flaky)} ({len(flaky)/len(results):.1%})')</a:t>
            </a:r>
          </a:p>
          <a:p>
            <a:pPr algn="l"/>
            <a:r>
              <a:rPr sz="1100" b="0">
                <a:solidFill>
                  <a:srgbClr val="E5E7EB"/>
                </a:solidFill>
                <a:latin typeface="Consolas"/>
              </a:rPr>
              <a:t># Classify failure reasons</a:t>
            </a:r>
          </a:p>
          <a:p>
            <a:pPr algn="l"/>
            <a:r>
              <a:rPr sz="1100" b="0">
                <a:solidFill>
                  <a:srgbClr val="E5E7EB"/>
                </a:solidFill>
                <a:latin typeface="Consolas"/>
              </a:rPr>
              <a:t>for test in flaky:</a:t>
            </a:r>
          </a:p>
          <a:p>
            <a:pPr algn="l"/>
            <a:r>
              <a:rPr sz="1100" b="0">
                <a:solidFill>
                  <a:srgbClr val="E5E7EB"/>
                </a:solidFill>
                <a:latin typeface="Consolas"/>
              </a:rPr>
              <a:t>    failures = runs[runs['status']=='fail']</a:t>
            </a:r>
          </a:p>
          <a:p>
            <a:pPr algn="l"/>
            <a:r>
              <a:rPr sz="1100" b="0">
                <a:solidFill>
                  <a:srgbClr val="E5E7EB"/>
                </a:solidFill>
                <a:latin typeface="Consolas"/>
              </a:rPr>
              <a:t>    print(test, failures['error_type'].value_counts())</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Flakiness detection and classification snippet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Hands-On: Evaluate a Supplied Multi-Component Project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Clone the provided repository (microservices + model server)</a:t>
            </a:r>
          </a:p>
          <a:p>
            <a:pPr marL="292608" indent="-292608">
              <a:spcAft>
                <a:spcPts val="1000"/>
              </a:spcAft>
              <a:buClr>
                <a:srgbClr val="0F766E"/>
              </a:buClr>
              <a:buFont typeface="Arial"/>
              <a:buChar char="▪"/>
            </a:pPr>
            <a:r>
              <a:rPr sz="2400">
                <a:solidFill>
                  <a:srgbClr val="1F2937"/>
                </a:solidFill>
                <a:latin typeface="Calibri"/>
              </a:rPr>
              <a:t>Run the deployment in a local Kubernetes cluster (kind/k3d)</a:t>
            </a:r>
          </a:p>
          <a:p>
            <a:pPr marL="292608" indent="-292608">
              <a:spcAft>
                <a:spcPts val="1000"/>
              </a:spcAft>
              <a:buClr>
                <a:srgbClr val="0F766E"/>
              </a:buClr>
              <a:buFont typeface="Arial"/>
              <a:buChar char="▪"/>
            </a:pPr>
            <a:r>
              <a:rPr sz="2400">
                <a:solidFill>
                  <a:srgbClr val="1F2937"/>
                </a:solidFill>
                <a:latin typeface="Calibri"/>
              </a:rPr>
              <a:t>Collect metrics: latency, error rate, throughput for 10 min</a:t>
            </a:r>
          </a:p>
          <a:p>
            <a:pPr marL="292608" indent="-292608">
              <a:spcAft>
                <a:spcPts val="1000"/>
              </a:spcAft>
              <a:buClr>
                <a:srgbClr val="0F766E"/>
              </a:buClr>
              <a:buFont typeface="Arial"/>
              <a:buChar char="▪"/>
            </a:pPr>
            <a:r>
              <a:rPr sz="2400">
                <a:solidFill>
                  <a:srgbClr val="1F2937"/>
                </a:solidFill>
                <a:latin typeface="Calibri"/>
              </a:rPr>
              <a:t>Compute SLIs and compare to given SLOs</a:t>
            </a:r>
          </a:p>
          <a:p>
            <a:pPr marL="292608" indent="-292608">
              <a:spcAft>
                <a:spcPts val="1000"/>
              </a:spcAft>
              <a:buClr>
                <a:srgbClr val="0F766E"/>
              </a:buClr>
              <a:buFont typeface="Arial"/>
              <a:buChar char="▪"/>
            </a:pPr>
            <a:r>
              <a:rPr sz="2400">
                <a:solidFill>
                  <a:srgbClr val="1F2937"/>
                </a:solidFill>
                <a:latin typeface="Calibri"/>
              </a:rPr>
              <a:t>Identify top two violations and propose remediation</a:t>
            </a:r>
          </a:p>
          <a:p>
            <a:pPr marL="292608" indent="-292608">
              <a:spcAft>
                <a:spcPts val="1000"/>
              </a:spcAft>
              <a:buClr>
                <a:srgbClr val="0F766E"/>
              </a:buClr>
              <a:buFont typeface="Arial"/>
              <a:buChar char="▪"/>
            </a:pPr>
            <a:r>
              <a:rPr sz="2400">
                <a:solidFill>
                  <a:srgbClr val="1F2937"/>
                </a:solidFill>
                <a:latin typeface="Calibri"/>
              </a:rPr>
              <a:t>Present findings in 3-minute lightning talks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Deployment Metric Selection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500" b="1">
                <a:solidFill>
                  <a:srgbClr val="1F2937"/>
                </a:solidFill>
                <a:latin typeface="Calibri"/>
              </a:rPr>
              <a:t>Which metric is MOST appropriate for capturing the user-perceived responsiveness of an LLM-based chat endpoint?</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Average CPU utilization of the model server</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p99 end-to-end latency including token generation</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Number of GPU instances running</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Training loss of the underlying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Reliability Metric Relationships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If a service has an SLO of 99.9% availability over 30 days, what is its error budget in minutes?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43.2 minutes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4.32 minutes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432 minutes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0.432 minutes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Best Practices for Continuous Metric Evaluation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Automate SLO dashboards and alerting on error budget burn rate</a:t>
            </a:r>
          </a:p>
          <a:p>
            <a:pPr marL="292608" indent="-292608">
              <a:spcAft>
                <a:spcPts val="1000"/>
              </a:spcAft>
              <a:buClr>
                <a:srgbClr val="0F766E"/>
              </a:buClr>
              <a:buFont typeface="Arial"/>
              <a:buChar char="▪"/>
            </a:pPr>
            <a:r>
              <a:rPr sz="2400">
                <a:solidFill>
                  <a:srgbClr val="1F2937"/>
                </a:solidFill>
                <a:latin typeface="Calibri"/>
              </a:rPr>
              <a:t>Include model quality SLIs (correctness, hallucination rate)</a:t>
            </a:r>
          </a:p>
          <a:p>
            <a:pPr marL="292608" indent="-292608">
              <a:spcAft>
                <a:spcPts val="1000"/>
              </a:spcAft>
              <a:buClr>
                <a:srgbClr val="0F766E"/>
              </a:buClr>
              <a:buFont typeface="Arial"/>
              <a:buChar char="▪"/>
            </a:pPr>
            <a:r>
              <a:rPr sz="2400">
                <a:solidFill>
                  <a:srgbClr val="1F2937"/>
                </a:solidFill>
                <a:latin typeface="Calibri"/>
              </a:rPr>
              <a:t>Run synthetic canary requests every minute</a:t>
            </a:r>
          </a:p>
          <a:p>
            <a:pPr marL="292608" indent="-292608">
              <a:spcAft>
                <a:spcPts val="1000"/>
              </a:spcAft>
              <a:buClr>
                <a:srgbClr val="0F766E"/>
              </a:buClr>
              <a:buFont typeface="Arial"/>
              <a:buChar char="▪"/>
            </a:pPr>
            <a:r>
              <a:rPr sz="2400">
                <a:solidFill>
                  <a:srgbClr val="1F2937"/>
                </a:solidFill>
                <a:latin typeface="Calibri"/>
              </a:rPr>
              <a:t>Correlate deployments with metric shifts using change events</a:t>
            </a:r>
          </a:p>
          <a:p>
            <a:pPr marL="292608" indent="-292608">
              <a:spcAft>
                <a:spcPts val="1000"/>
              </a:spcAft>
              <a:buClr>
                <a:srgbClr val="0F766E"/>
              </a:buClr>
              <a:buFont typeface="Arial"/>
              <a:buChar char="▪"/>
            </a:pPr>
            <a:r>
              <a:rPr sz="2400">
                <a:solidFill>
                  <a:srgbClr val="1F2937"/>
                </a:solidFill>
                <a:latin typeface="Calibri"/>
              </a:rPr>
              <a:t>Review and adjust SLOs quarterly with stakeholders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Common Pitfalls in Metric Evaluation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   ·   Sources: [C3]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Averaging percentiles (p99 of averages != average of p99)</a:t>
            </a:r>
          </a:p>
          <a:p>
            <a:pPr marL="292608" indent="-292608">
              <a:spcAft>
                <a:spcPts val="1000"/>
              </a:spcAft>
              <a:buClr>
                <a:srgbClr val="0F766E"/>
              </a:buClr>
              <a:buFont typeface="Arial"/>
              <a:buChar char="▪"/>
            </a:pPr>
            <a:r>
              <a:rPr sz="2400">
                <a:solidFill>
                  <a:srgbClr val="1F2937"/>
                </a:solidFill>
                <a:latin typeface="Calibri"/>
              </a:rPr>
              <a:t>Ignoring cold-start latency in serverless model endpoints</a:t>
            </a:r>
          </a:p>
          <a:p>
            <a:pPr marL="292608" indent="-292608">
              <a:spcAft>
                <a:spcPts val="1000"/>
              </a:spcAft>
              <a:buClr>
                <a:srgbClr val="0F766E"/>
              </a:buClr>
              <a:buFont typeface="Arial"/>
              <a:buChar char="▪"/>
            </a:pPr>
            <a:r>
              <a:rPr sz="2400">
                <a:solidFill>
                  <a:srgbClr val="1F2937"/>
                </a:solidFill>
                <a:latin typeface="Calibri"/>
              </a:rPr>
              <a:t>Using only aggregate metrics, missing per-tenant SLOs</a:t>
            </a:r>
          </a:p>
          <a:p>
            <a:pPr marL="292608" indent="-292608">
              <a:spcAft>
                <a:spcPts val="1000"/>
              </a:spcAft>
              <a:buClr>
                <a:srgbClr val="0F766E"/>
              </a:buClr>
              <a:buFont typeface="Arial"/>
              <a:buChar char="▪"/>
            </a:pPr>
            <a:r>
              <a:rPr sz="2400">
                <a:solidFill>
                  <a:srgbClr val="1F2937"/>
                </a:solidFill>
                <a:latin typeface="Calibri"/>
              </a:rPr>
              <a:t>Setting SLOs without historical baseline data</a:t>
            </a:r>
          </a:p>
          <a:p>
            <a:pPr marL="292608" indent="-292608">
              <a:spcAft>
                <a:spcPts val="1000"/>
              </a:spcAft>
              <a:buClr>
                <a:srgbClr val="0F766E"/>
              </a:buClr>
              <a:buFont typeface="Arial"/>
              <a:buChar char="▪"/>
            </a:pPr>
            <a:r>
              <a:rPr sz="2400">
                <a:solidFill>
                  <a:srgbClr val="1F2937"/>
                </a:solidFill>
                <a:latin typeface="Calibri"/>
              </a:rPr>
              <a:t>Alerting on raw metrics instead of error budget burn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Summary: Evaluating Deployment and Reliability</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Deployment metrics: latency, throughput, errors, availability, cost</a:t>
            </a:r>
          </a:p>
          <a:p>
            <a:pPr marL="292608" indent="-292608">
              <a:spcAft>
                <a:spcPts val="1000"/>
              </a:spcAft>
              <a:buClr>
                <a:srgbClr val="0F766E"/>
              </a:buClr>
              <a:buFont typeface="Arial"/>
              <a:buChar char="▪"/>
            </a:pPr>
            <a:r>
              <a:rPr sz="2400">
                <a:solidFill>
                  <a:srgbClr val="1F2937"/>
                </a:solidFill>
                <a:latin typeface="Calibri"/>
              </a:rPr>
              <a:t>Reliability metrics: MTBF, MTTR, SLI, SLO, error budget</a:t>
            </a:r>
          </a:p>
          <a:p>
            <a:pPr marL="292608" indent="-292608">
              <a:spcAft>
                <a:spcPts val="1000"/>
              </a:spcAft>
              <a:buClr>
                <a:srgbClr val="0F766E"/>
              </a:buClr>
              <a:buFont typeface="Arial"/>
              <a:buChar char="▪"/>
            </a:pPr>
            <a:r>
              <a:rPr sz="2400">
                <a:solidFill>
                  <a:srgbClr val="1F2937"/>
                </a:solidFill>
                <a:latin typeface="Calibri"/>
              </a:rPr>
              <a:t>Multi-component evaluation requires correlated traces and composite SLIs</a:t>
            </a:r>
          </a:p>
          <a:p>
            <a:pPr marL="292608" indent="-292608">
              <a:spcAft>
                <a:spcPts val="1000"/>
              </a:spcAft>
              <a:buClr>
                <a:srgbClr val="0F766E"/>
              </a:buClr>
              <a:buFont typeface="Arial"/>
              <a:buChar char="▪"/>
            </a:pPr>
            <a:r>
              <a:rPr sz="2400">
                <a:solidFill>
                  <a:srgbClr val="1F2937"/>
                </a:solidFill>
                <a:latin typeface="Calibri"/>
              </a:rPr>
              <a:t>Scenario walkthroughs: identify bottlenecks, quantify error budget burn</a:t>
            </a:r>
          </a:p>
          <a:p>
            <a:pPr marL="292608" indent="-292608">
              <a:spcAft>
                <a:spcPts val="1000"/>
              </a:spcAft>
              <a:buClr>
                <a:srgbClr val="0F766E"/>
              </a:buClr>
              <a:buFont typeface="Arial"/>
              <a:buChar char="▪"/>
            </a:pPr>
            <a:r>
              <a:rPr sz="2400">
                <a:solidFill>
                  <a:srgbClr val="1F2937"/>
                </a:solidFill>
                <a:latin typeface="Calibri"/>
              </a:rPr>
              <a:t>Hands-on: instrument, collect, evaluate, propose fixes</a:t>
            </a:r>
          </a:p>
          <a:p>
            <a:pPr marL="292608" indent="-292608">
              <a:spcAft>
                <a:spcPts val="1000"/>
              </a:spcAft>
              <a:buClr>
                <a:srgbClr val="0F766E"/>
              </a:buClr>
              <a:buFont typeface="Arial"/>
              <a:buChar char="▪"/>
            </a:pPr>
            <a:r>
              <a:rPr sz="2400">
                <a:solidFill>
                  <a:srgbClr val="1F2937"/>
                </a:solidFill>
                <a:latin typeface="Calibri"/>
              </a:rPr>
              <a:t>Continuous evaluation: automation, model-quality SLIs, burn-rate alerts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W13.S2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