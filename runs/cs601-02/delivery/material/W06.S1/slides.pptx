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Assign2, Assign3, Midsem, Endsem.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Briefly remind students of the requirements engineering lifecycle: elicitation, analysis, specification, and validation. Emphasize that clear, unambiguous requirements are the prerequisite for any executable specification. This recap connects Week 4 material to today's focus on turning those requirements into machine‑readable contracts.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Spec‑driven development (SDD) treats the specification as the authoritative artifact. Instead of writing code first and documenting later, the spec defines the contract; implementation is then generated or continuously validated against it. This approach reduces documentation drift because the spec drives both client and server code, and any change must be reflected in the spec before code is updated. The key idea is a closed loop: spec → generate/validate → deploy.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pillars of SDD are: (1) design the contract before any implementation, (2) express the contract in a machine‑readable format (OpenAPI, GraphQL SDL, Protobuf), (3) use tooling to generate stubs, clients, or run conformance tests, and (4) store the spec in version control so it can be reviewed like code. These principles ensure that every public method matches the agreed interface.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dominant frameworks cover the main API styles: OpenAPI for RESTful HTTP services, GraphQL SDL for flexible query‑based APIs, and Protocol Buffers for high‑performance RPC (often with gRPC). Each provides a language‑agnostic schema, tooling for code generation, and validation libraries. The choice depends on team expertise, performance needs, and ecosystem.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OpenAPI document starts with metadata (info, servers). The paths object maps HTTP endpoints to operations. Reusable data models live under components/schemas, enabling DRY definitions. Security schemes describe authentication (API keys, OAuth2). Vendor extensions allow tool‑specific metadata without breaking the standard.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GraphQL SDL defines a strong type system. The schema must declare root query, mutation, and optional subscription types. The only built‑in directive is @deprecated; however, developers frequently define custom directives (e.g., @auth, @cacheControl) to attach application‑level metadata. These directives are not part of the GraphQL spec but are widely used by tooling.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Protobuf uses a compact binary wire format. A .proto file declares messages (data structures) with numbered fields and services (RPC interfaces). The protoc compiler reads the .proto file and generates client/server stubs in languages such as Go, Java, Python, and TypeScript. Field numbers must remain stable for backward compatibility.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spec line by line: the info block, the /login path with a POST operation, a requestBody that references a schema requiring username and password. Note the password field uses writeOnly: true and minLength instead of a non‑standard format. The 200 response returns a token. Show how a tool like openapi-generator can produce a server skeleton that enforces this contract.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SDL: a Query type with a login field that takes username and password and returns AuthPayload. AuthPayload contains a token and a User object. The custom @auth directive illustrates how teams attach authorization hints (e.g., required roles) without extending the GraphQL spec. Tools like Apollo Server can read these directives for middleware.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.proto file: package declaration, service with a single RPC, request/response messages, and a nested User message. Emphasize that field numbers (1,2,…) are part of the wire format and must not be reused. Running protoc with the gRPC plugin produces client and server interfaces in the target language, guaranteeing that the generated code matches the spec exactly.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translation process starts with the requirements document. For each use case, define the external interface (REST endpoint, GraphQL mutation, gRPC method). Select the appropriate spec language. Author the spec collaboratively, run linting (e.g., spectral for OpenAPI), and store it in version control. The spec then becomes the baseline for code generation and contract testing.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Runtime conformance is achieved by (1) generating client SDKs from the spec so callers cannot send invalid payloads, (2) validating incoming requests against JSON Schema using libraries such as ajv, (3) using protoc to compile .proto files into type‑safe stubs that reject mismatched messages, and (4) embedding these checks in CI/CD so any drift fails the build. This closes the loop between spec and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quick poll checks that students grasp the fundamental shift from code‑first to spec‑first. Discuss why the other options are common misconceptions.</a:t>
            </a:r>
          </a:p>
          <a:p/>
          <a:p>
            <a:r>
              <a:t>Answer: B. Treat the specification as the authoritative contract and generate or validate code against it.</a:t>
            </a:r>
          </a:p>
          <a:p>
            <a:r>
              <a:t>Option B captures the contract‑first mindset: the spec is the single source of truth and drives code generation or validation. Option A is the traditional code‑first approach, which leads to drift. Option C relies on informal comments, not machine‑readable specs. Option D describes a manual process that spec‑driven development aims to eliminate.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the distinction between schema validation (ajv) and protobuf compilation (protoc). This mirrors the correction needed for the earlier slide.</a:t>
            </a:r>
          </a:p>
          <a:p/>
          <a:p>
            <a:r>
              <a:t>Answer: A. ajv validates JSON Schema; protoc compiles .proto files.</a:t>
            </a:r>
          </a:p>
          <a:p>
            <a:r>
              <a:t>ajv is a popular JSON Schema validator for JavaScript/TypeScript. protoc is the Protocol Buffers compiler that generates code from .proto definitions; it does not validate JSON Schema. The other options confuse the roles of the two tools.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four key takeaways: (1) the spec‑first mindset, (2) the three major frameworks and their sweet spots, (3) concrete translation of a login use case into each spec language, and (4) the toolchain that keeps implementation honest. Remind students that Assignment 2 will require them to produce an executable spec for a given requirements document.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400" b="1">
                <a:solidFill>
                  <a:srgbClr val="CCFBF1"/>
                </a:solidFill>
                <a:latin typeface="Calibri"/>
              </a:rPr>
              <a:t>Spec-Driven Development Frameworks</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6 · Executable Specifications and Code Generation · 90 min</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Translate module requirements into executable specifications using spec-driven development frameworks, meeting the stated interface specification for every public method (CO2.LO2)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Recap: Requirements Engineering Foundations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Requirements capture what the system must do</a:t>
            </a:r>
          </a:p>
          <a:p>
            <a:pPr marL="292608" indent="-292608">
              <a:spcAft>
                <a:spcPts val="1000"/>
              </a:spcAft>
              <a:buClr>
                <a:srgbClr val="0F766E"/>
              </a:buClr>
              <a:buFont typeface="Arial"/>
              <a:buChar char="▪"/>
            </a:pPr>
            <a:r>
              <a:rPr sz="2400">
                <a:solidFill>
                  <a:srgbClr val="1F2937"/>
                </a:solidFill>
                <a:latin typeface="Calibri"/>
              </a:rPr>
              <a:t>Good requirements are testable and traceable</a:t>
            </a:r>
          </a:p>
          <a:p>
            <a:pPr marL="292608" indent="-292608">
              <a:spcAft>
                <a:spcPts val="1000"/>
              </a:spcAft>
              <a:buClr>
                <a:srgbClr val="0F766E"/>
              </a:buClr>
              <a:buFont typeface="Arial"/>
              <a:buChar char="▪"/>
            </a:pPr>
            <a:r>
              <a:rPr sz="2400">
                <a:solidFill>
                  <a:srgbClr val="1F2937"/>
                </a:solidFill>
                <a:latin typeface="Calibri"/>
              </a:rPr>
              <a:t>Week 4 covered elicitation, analysis, and specification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What Is Spec-Driven Development?</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Specification is the single source of truth</a:t>
            </a:r>
          </a:p>
          <a:p>
            <a:pPr marL="292608" indent="-292608">
              <a:spcAft>
                <a:spcPts val="1000"/>
              </a:spcAft>
              <a:buClr>
                <a:srgbClr val="0F766E"/>
              </a:buClr>
              <a:buFont typeface="Arial"/>
              <a:buChar char="▪"/>
            </a:pPr>
            <a:r>
              <a:rPr sz="2400">
                <a:solidFill>
                  <a:srgbClr val="1F2937"/>
                </a:solidFill>
                <a:latin typeface="Calibri"/>
              </a:rPr>
              <a:t>Code is generated or validated against the spec</a:t>
            </a:r>
          </a:p>
          <a:p>
            <a:pPr marL="292608" indent="-292608">
              <a:spcAft>
                <a:spcPts val="1000"/>
              </a:spcAft>
              <a:buClr>
                <a:srgbClr val="0F766E"/>
              </a:buClr>
              <a:buFont typeface="Arial"/>
              <a:buChar char="▪"/>
            </a:pPr>
            <a:r>
              <a:rPr sz="2400">
                <a:solidFill>
                  <a:srgbClr val="1F2937"/>
                </a:solidFill>
                <a:latin typeface="Calibri"/>
              </a:rPr>
              <a:t>Reduces documentation drift by making the spec authoritative</a:t>
            </a:r>
          </a:p>
          <a:p>
            <a:pPr marL="292608" indent="-292608">
              <a:spcAft>
                <a:spcPts val="1000"/>
              </a:spcAft>
              <a:buClr>
                <a:srgbClr val="0F766E"/>
              </a:buClr>
              <a:buFont typeface="Arial"/>
              <a:buChar char="▪"/>
            </a:pPr>
            <a:r>
              <a:rPr sz="2400">
                <a:solidFill>
                  <a:srgbClr val="1F2937"/>
                </a:solidFill>
                <a:latin typeface="Calibri"/>
              </a:rPr>
              <a:t>Enables contract‑first development across teams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Core Principles of Spec-Driven Development</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Contract‑first design</a:t>
            </a:r>
          </a:p>
          <a:p>
            <a:pPr marL="292608" indent="-292608">
              <a:spcAft>
                <a:spcPts val="1000"/>
              </a:spcAft>
              <a:buClr>
                <a:srgbClr val="0F766E"/>
              </a:buClr>
              <a:buFont typeface="Arial"/>
              <a:buChar char="▪"/>
            </a:pPr>
            <a:r>
              <a:rPr sz="2400">
                <a:solidFill>
                  <a:srgbClr val="1F2937"/>
                </a:solidFill>
                <a:latin typeface="Calibri"/>
              </a:rPr>
              <a:t>Machine‑readable specifications</a:t>
            </a:r>
          </a:p>
          <a:p>
            <a:pPr marL="292608" indent="-292608">
              <a:spcAft>
                <a:spcPts val="1000"/>
              </a:spcAft>
              <a:buClr>
                <a:srgbClr val="0F766E"/>
              </a:buClr>
              <a:buFont typeface="Arial"/>
              <a:buChar char="▪"/>
            </a:pPr>
            <a:r>
              <a:rPr sz="2400">
                <a:solidFill>
                  <a:srgbClr val="1F2937"/>
                </a:solidFill>
                <a:latin typeface="Calibri"/>
              </a:rPr>
              <a:t>Automated code generation or validation</a:t>
            </a:r>
          </a:p>
          <a:p>
            <a:pPr marL="292608" indent="-292608">
              <a:spcAft>
                <a:spcPts val="1000"/>
              </a:spcAft>
              <a:buClr>
                <a:srgbClr val="0F766E"/>
              </a:buClr>
              <a:buFont typeface="Arial"/>
              <a:buChar char="▪"/>
            </a:pPr>
            <a:r>
              <a:rPr sz="2400">
                <a:solidFill>
                  <a:srgbClr val="1F2937"/>
                </a:solidFill>
                <a:latin typeface="Calibri"/>
              </a:rPr>
              <a:t>Versioned, reviewable spec artifacts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Major Spec-Driven Frameworks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OpenAPI (REST/HTTP)</a:t>
            </a:r>
          </a:p>
          <a:p>
            <a:pPr marL="292608" indent="-292608">
              <a:spcAft>
                <a:spcPts val="1000"/>
              </a:spcAft>
              <a:buClr>
                <a:srgbClr val="0F766E"/>
              </a:buClr>
              <a:buFont typeface="Arial"/>
              <a:buChar char="▪"/>
            </a:pPr>
            <a:r>
              <a:rPr sz="2400">
                <a:solidFill>
                  <a:srgbClr val="1F2937"/>
                </a:solidFill>
                <a:latin typeface="Calibri"/>
              </a:rPr>
              <a:t>GraphQL Schema Definition Language</a:t>
            </a:r>
          </a:p>
          <a:p>
            <a:pPr marL="292608" indent="-292608">
              <a:spcAft>
                <a:spcPts val="1000"/>
              </a:spcAft>
              <a:buClr>
                <a:srgbClr val="0F766E"/>
              </a:buClr>
              <a:buFont typeface="Arial"/>
              <a:buChar char="▪"/>
            </a:pPr>
            <a:r>
              <a:rPr sz="2400">
                <a:solidFill>
                  <a:srgbClr val="1F2937"/>
                </a:solidFill>
                <a:latin typeface="Calibri"/>
              </a:rPr>
              <a:t>Protocol Buffers (gRPC)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OpenAPI 3.1 Structure</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info, servers, paths, components</a:t>
            </a:r>
          </a:p>
          <a:p>
            <a:pPr marL="292608" indent="-292608">
              <a:spcAft>
                <a:spcPts val="1000"/>
              </a:spcAft>
              <a:buClr>
                <a:srgbClr val="0F766E"/>
              </a:buClr>
              <a:buFont typeface="Arial"/>
              <a:buChar char="▪"/>
            </a:pPr>
            <a:r>
              <a:rPr sz="2400">
                <a:solidFill>
                  <a:srgbClr val="1F2937"/>
                </a:solidFill>
                <a:latin typeface="Calibri"/>
              </a:rPr>
              <a:t>Reusable schemas in components/schemas</a:t>
            </a:r>
          </a:p>
          <a:p>
            <a:pPr marL="292608" indent="-292608">
              <a:spcAft>
                <a:spcPts val="1000"/>
              </a:spcAft>
              <a:buClr>
                <a:srgbClr val="0F766E"/>
              </a:buClr>
              <a:buFont typeface="Arial"/>
              <a:buChar char="▪"/>
            </a:pPr>
            <a:r>
              <a:rPr sz="2400">
                <a:solidFill>
                  <a:srgbClr val="1F2937"/>
                </a:solidFill>
                <a:latin typeface="Calibri"/>
              </a:rPr>
              <a:t>Security schemes and callbacks</a:t>
            </a:r>
          </a:p>
          <a:p>
            <a:pPr marL="292608" indent="-292608">
              <a:spcAft>
                <a:spcPts val="1000"/>
              </a:spcAft>
              <a:buClr>
                <a:srgbClr val="0F766E"/>
              </a:buClr>
              <a:buFont typeface="Arial"/>
              <a:buChar char="▪"/>
            </a:pPr>
            <a:r>
              <a:rPr sz="2400">
                <a:solidFill>
                  <a:srgbClr val="1F2937"/>
                </a:solidFill>
                <a:latin typeface="Calibri"/>
              </a:rPr>
              <a:t>Extensible with vendor extensions (x‑*)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GraphQL Schema Definition Language</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Type system: scalar, object, interface, union, enum</a:t>
            </a:r>
          </a:p>
          <a:p>
            <a:pPr marL="292608" indent="-292608">
              <a:spcAft>
                <a:spcPts val="1000"/>
              </a:spcAft>
              <a:buClr>
                <a:srgbClr val="0F766E"/>
              </a:buClr>
              <a:buFont typeface="Arial"/>
              <a:buChar char="▪"/>
            </a:pPr>
            <a:r>
              <a:rPr sz="2400">
                <a:solidFill>
                  <a:srgbClr val="1F2937"/>
                </a:solidFill>
                <a:latin typeface="Calibri"/>
              </a:rPr>
              <a:t>Root operation types: query, mutation, subscription</a:t>
            </a:r>
          </a:p>
          <a:p>
            <a:pPr marL="292608" indent="-292608">
              <a:spcAft>
                <a:spcPts val="1000"/>
              </a:spcAft>
              <a:buClr>
                <a:srgbClr val="0F766E"/>
              </a:buClr>
              <a:buFont typeface="Arial"/>
              <a:buChar char="▪"/>
            </a:pPr>
            <a:r>
              <a:rPr sz="2400">
                <a:solidFill>
                  <a:srgbClr val="1F2937"/>
                </a:solidFill>
                <a:latin typeface="Calibri"/>
              </a:rPr>
              <a:t>Built‑in directive @deprecated</a:t>
            </a:r>
          </a:p>
          <a:p>
            <a:pPr marL="292608" indent="-292608">
              <a:spcAft>
                <a:spcPts val="1000"/>
              </a:spcAft>
              <a:buClr>
                <a:srgbClr val="0F766E"/>
              </a:buClr>
              <a:buFont typeface="Arial"/>
              <a:buChar char="▪"/>
            </a:pPr>
            <a:r>
              <a:rPr sz="2400">
                <a:solidFill>
                  <a:srgbClr val="1F2937"/>
                </a:solidFill>
                <a:latin typeface="Calibri"/>
              </a:rPr>
              <a:t>Custom directives can carry metadata such as authorization hints or caching policy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Protocol Buffers (proto3) Basics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Message definitions with field numbers</a:t>
            </a:r>
          </a:p>
          <a:p>
            <a:pPr marL="292608" indent="-292608">
              <a:spcAft>
                <a:spcPts val="1000"/>
              </a:spcAft>
              <a:buClr>
                <a:srgbClr val="0F766E"/>
              </a:buClr>
              <a:buFont typeface="Arial"/>
              <a:buChar char="▪"/>
            </a:pPr>
            <a:r>
              <a:rPr sz="2400">
                <a:solidFill>
                  <a:srgbClr val="1F2937"/>
                </a:solidFill>
                <a:latin typeface="Calibri"/>
              </a:rPr>
              <a:t>Service definitions for RPC</a:t>
            </a:r>
          </a:p>
          <a:p>
            <a:pPr marL="292608" indent="-292608">
              <a:spcAft>
                <a:spcPts val="1000"/>
              </a:spcAft>
              <a:buClr>
                <a:srgbClr val="0F766E"/>
              </a:buClr>
              <a:buFont typeface="Arial"/>
              <a:buChar char="▪"/>
            </a:pPr>
            <a:r>
              <a:rPr sz="2400">
                <a:solidFill>
                  <a:srgbClr val="1F2937"/>
                </a:solidFill>
                <a:latin typeface="Calibri"/>
              </a:rPr>
              <a:t>Scalar types: string, int32, bool, bytes, etc.</a:t>
            </a:r>
          </a:p>
          <a:p>
            <a:pPr marL="292608" indent="-292608">
              <a:spcAft>
                <a:spcPts val="1000"/>
              </a:spcAft>
              <a:buClr>
                <a:srgbClr val="0F766E"/>
              </a:buClr>
              <a:buFont typeface="Arial"/>
              <a:buChar char="▪"/>
            </a:pPr>
            <a:r>
              <a:rPr sz="2400">
                <a:solidFill>
                  <a:srgbClr val="1F2937"/>
                </a:solidFill>
                <a:latin typeface="Calibri"/>
              </a:rPr>
              <a:t>Generated code for multiple languages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Worked Example: User Login API – OpenAPI</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W06.S1   ·   Sources: [C1]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Define request/response schemas</a:t>
            </a:r>
          </a:p>
          <a:p>
            <a:pPr marL="292608" indent="-292608">
              <a:spcAft>
                <a:spcPts val="1000"/>
              </a:spcAft>
              <a:buClr>
                <a:srgbClr val="0F766E"/>
              </a:buClr>
              <a:buFont typeface="Arial"/>
              <a:buChar char="▪"/>
            </a:pPr>
            <a:r>
              <a:rPr sz="2400">
                <a:solidFill>
                  <a:srgbClr val="1F2937"/>
                </a:solidFill>
                <a:latin typeface="Calibri"/>
              </a:rPr>
              <a:t>Mark password as writeOnly</a:t>
            </a:r>
          </a:p>
          <a:p>
            <a:pPr marL="292608" indent="-292608">
              <a:spcAft>
                <a:spcPts val="1000"/>
              </a:spcAft>
              <a:buClr>
                <a:srgbClr val="0F766E"/>
              </a:buClr>
              <a:buFont typeface="Arial"/>
              <a:buChar char="▪"/>
            </a:pPr>
            <a:r>
              <a:rPr sz="2400">
                <a:solidFill>
                  <a:srgbClr val="1F2937"/>
                </a:solidFill>
                <a:latin typeface="Calibri"/>
              </a:rPr>
              <a:t>Add minLength constraints</a:t>
            </a:r>
          </a:p>
          <a:p>
            <a:pPr marL="292608" indent="-292608">
              <a:spcAft>
                <a:spcPts val="1000"/>
              </a:spcAft>
              <a:buClr>
                <a:srgbClr val="0F766E"/>
              </a:buClr>
              <a:buFont typeface="Arial"/>
              <a:buChar char="▪"/>
            </a:pPr>
            <a:r>
              <a:rPr sz="2400">
                <a:solidFill>
                  <a:srgbClr val="1F2937"/>
                </a:solidFill>
                <a:latin typeface="Calibri"/>
              </a:rPr>
              <a:t>Generate server stub from spec</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yaml</a:t>
            </a:r>
          </a:p>
          <a:p>
            <a:pPr algn="l"/>
            <a:r>
              <a:rPr sz="900" b="0">
                <a:solidFill>
                  <a:srgbClr val="E5E7EB"/>
                </a:solidFill>
                <a:latin typeface="Consolas"/>
              </a:rPr>
              <a:t>openapi: 3.1.0</a:t>
            </a:r>
          </a:p>
          <a:p>
            <a:pPr algn="l"/>
            <a:r>
              <a:rPr sz="900" b="0">
                <a:solidFill>
                  <a:srgbClr val="E5E7EB"/>
                </a:solidFill>
                <a:latin typeface="Consolas"/>
              </a:rPr>
              <a:t>info:</a:t>
            </a:r>
          </a:p>
          <a:p>
            <a:pPr algn="l"/>
            <a:r>
              <a:rPr sz="900" b="0">
                <a:solidFill>
                  <a:srgbClr val="E5E7EB"/>
                </a:solidFill>
                <a:latin typeface="Consolas"/>
              </a:rPr>
              <a:t>  title: Auth API</a:t>
            </a:r>
          </a:p>
          <a:p>
            <a:pPr algn="l"/>
            <a:r>
              <a:rPr sz="900" b="0">
                <a:solidFill>
                  <a:srgbClr val="E5E7EB"/>
                </a:solidFill>
                <a:latin typeface="Consolas"/>
              </a:rPr>
              <a:t>  version: 1.0.0</a:t>
            </a:r>
          </a:p>
          <a:p>
            <a:pPr algn="l"/>
            <a:r>
              <a:rPr sz="900" b="0">
                <a:solidFill>
                  <a:srgbClr val="E5E7EB"/>
                </a:solidFill>
                <a:latin typeface="Consolas"/>
              </a:rPr>
              <a:t>paths:</a:t>
            </a:r>
          </a:p>
          <a:p>
            <a:pPr algn="l"/>
            <a:r>
              <a:rPr sz="900" b="0">
                <a:solidFill>
                  <a:srgbClr val="E5E7EB"/>
                </a:solidFill>
                <a:latin typeface="Consolas"/>
              </a:rPr>
              <a:t>  /login:</a:t>
            </a:r>
          </a:p>
          <a:p>
            <a:pPr algn="l"/>
            <a:r>
              <a:rPr sz="900" b="0">
                <a:solidFill>
                  <a:srgbClr val="E5E7EB"/>
                </a:solidFill>
                <a:latin typeface="Consolas"/>
              </a:rPr>
              <a:t>    post:</a:t>
            </a:r>
          </a:p>
          <a:p>
            <a:pPr algn="l"/>
            <a:r>
              <a:rPr sz="900" b="0">
                <a:solidFill>
                  <a:srgbClr val="E5E7EB"/>
                </a:solidFill>
                <a:latin typeface="Consolas"/>
              </a:rPr>
              <a:t>      summary: User login</a:t>
            </a:r>
          </a:p>
          <a:p>
            <a:pPr algn="l"/>
            <a:r>
              <a:rPr sz="900" b="0">
                <a:solidFill>
                  <a:srgbClr val="E5E7EB"/>
                </a:solidFill>
                <a:latin typeface="Consolas"/>
              </a:rPr>
              <a:t>      requestBody:</a:t>
            </a:r>
          </a:p>
          <a:p>
            <a:pPr algn="l"/>
            <a:r>
              <a:rPr sz="900" b="0">
                <a:solidFill>
                  <a:srgbClr val="E5E7EB"/>
                </a:solidFill>
                <a:latin typeface="Consolas"/>
              </a:rPr>
              <a:t>        required: true</a:t>
            </a:r>
          </a:p>
          <a:p>
            <a:pPr algn="l"/>
            <a:r>
              <a:rPr sz="900" b="0">
                <a:solidFill>
                  <a:srgbClr val="E5E7EB"/>
                </a:solidFill>
                <a:latin typeface="Consolas"/>
              </a:rPr>
              <a:t>        content:</a:t>
            </a:r>
          </a:p>
          <a:p>
            <a:pPr algn="l"/>
            <a:r>
              <a:rPr sz="900" b="0">
                <a:solidFill>
                  <a:srgbClr val="E5E7EB"/>
                </a:solidFill>
                <a:latin typeface="Consolas"/>
              </a:rPr>
              <a:t>          application/json:</a:t>
            </a:r>
          </a:p>
          <a:p>
            <a:pPr algn="l"/>
            <a:r>
              <a:rPr sz="900" b="0">
                <a:solidFill>
                  <a:srgbClr val="E5E7EB"/>
                </a:solidFill>
                <a:latin typeface="Consolas"/>
              </a:rPr>
              <a:t>            schema:</a:t>
            </a:r>
          </a:p>
          <a:p>
            <a:pPr algn="l"/>
            <a:r>
              <a:rPr sz="900" b="0">
                <a:solidFill>
                  <a:srgbClr val="E5E7EB"/>
                </a:solidFill>
                <a:latin typeface="Consolas"/>
              </a:rPr>
              <a:t>              type: object</a:t>
            </a:r>
          </a:p>
          <a:p>
            <a:pPr algn="l"/>
            <a:r>
              <a:rPr sz="900" b="0">
                <a:solidFill>
                  <a:srgbClr val="E5E7EB"/>
                </a:solidFill>
                <a:latin typeface="Consolas"/>
              </a:rPr>
              <a:t>              required: [username, password]</a:t>
            </a:r>
          </a:p>
          <a:p>
            <a:pPr algn="l"/>
            <a:r>
              <a:rPr sz="900" b="0">
                <a:solidFill>
                  <a:srgbClr val="E5E7EB"/>
                </a:solidFill>
                <a:latin typeface="Consolas"/>
              </a:rPr>
              <a:t>              properties:</a:t>
            </a:r>
          </a:p>
          <a:p>
            <a:pPr algn="l"/>
            <a:r>
              <a:rPr sz="900" b="0">
                <a:solidFill>
                  <a:srgbClr val="E5E7EB"/>
                </a:solidFill>
                <a:latin typeface="Consolas"/>
              </a:rPr>
              <a:t>                username:</a:t>
            </a:r>
          </a:p>
          <a:p>
            <a:pPr algn="l"/>
            <a:r>
              <a:rPr sz="900" b="0">
                <a:solidFill>
                  <a:srgbClr val="E5E7EB"/>
                </a:solidFill>
                <a:latin typeface="Consolas"/>
              </a:rPr>
              <a:t>                  type: string</a:t>
            </a:r>
          </a:p>
          <a:p>
            <a:pPr algn="l"/>
            <a:r>
              <a:rPr sz="900" b="0">
                <a:solidFill>
                  <a:srgbClr val="E5E7EB"/>
                </a:solidFill>
                <a:latin typeface="Consolas"/>
              </a:rPr>
              <a:t>                  minLength: 3</a:t>
            </a:r>
          </a:p>
          <a:p>
            <a:pPr algn="l"/>
            <a:r>
              <a:rPr sz="900" b="0">
                <a:solidFill>
                  <a:srgbClr val="E5E7EB"/>
                </a:solidFill>
                <a:latin typeface="Consolas"/>
              </a:rPr>
              <a:t>                password:</a:t>
            </a:r>
          </a:p>
          <a:p>
            <a:pPr algn="l"/>
            <a:r>
              <a:rPr sz="900" b="0">
                <a:solidFill>
                  <a:srgbClr val="E5E7EB"/>
                </a:solidFill>
                <a:latin typeface="Consolas"/>
              </a:rPr>
              <a:t>                  type: string</a:t>
            </a:r>
          </a:p>
          <a:p>
            <a:pPr algn="l"/>
            <a:r>
              <a:rPr sz="900" b="0">
                <a:solidFill>
                  <a:srgbClr val="E5E7EB"/>
                </a:solidFill>
                <a:latin typeface="Consolas"/>
              </a:rPr>
              <a:t>                  writeOnly: true</a:t>
            </a:r>
          </a:p>
          <a:p>
            <a:pPr algn="l"/>
            <a:r>
              <a:rPr sz="900" b="0">
                <a:solidFill>
                  <a:srgbClr val="E5E7EB"/>
                </a:solidFill>
                <a:latin typeface="Consolas"/>
              </a:rPr>
              <a:t>                  minLength: 8</a:t>
            </a:r>
          </a:p>
          <a:p>
            <a:pPr algn="l"/>
            <a:r>
              <a:rPr sz="900" b="0">
                <a:solidFill>
                  <a:srgbClr val="E5E7EB"/>
                </a:solidFill>
                <a:latin typeface="Consolas"/>
              </a:rPr>
              <a:t>      responses:</a:t>
            </a:r>
          </a:p>
          <a:p>
            <a:pPr algn="l"/>
            <a:r>
              <a:rPr sz="900" b="0">
                <a:solidFill>
                  <a:srgbClr val="E5E7EB"/>
                </a:solidFill>
                <a:latin typeface="Consolas"/>
              </a:rPr>
              <a:t>        '200':</a:t>
            </a:r>
          </a:p>
          <a:p>
            <a:pPr algn="l"/>
            <a:r>
              <a:rPr sz="900" b="0">
                <a:solidFill>
                  <a:srgbClr val="E5E7EB"/>
                </a:solidFill>
                <a:latin typeface="Consolas"/>
              </a:rPr>
              <a:t>          description: Successful login</a:t>
            </a:r>
          </a:p>
          <a:p>
            <a:pPr algn="l"/>
            <a:r>
              <a:rPr sz="900" b="0">
                <a:solidFill>
                  <a:srgbClr val="E5E7EB"/>
                </a:solidFill>
                <a:latin typeface="Consolas"/>
              </a:rPr>
              <a:t>          content:</a:t>
            </a:r>
          </a:p>
          <a:p>
            <a:pPr algn="l"/>
            <a:r>
              <a:rPr sz="900" b="0">
                <a:solidFill>
                  <a:srgbClr val="E5E7EB"/>
                </a:solidFill>
                <a:latin typeface="Consolas"/>
              </a:rPr>
              <a:t>            application/json:</a:t>
            </a:r>
          </a:p>
          <a:p>
            <a:pPr algn="l"/>
            <a:r>
              <a:rPr sz="900" b="0">
                <a:solidFill>
                  <a:srgbClr val="E5E7EB"/>
                </a:solidFill>
                <a:latin typeface="Consolas"/>
              </a:rPr>
              <a:t>              schema:</a:t>
            </a:r>
          </a:p>
          <a:p>
            <a:pPr algn="l"/>
            <a:r>
              <a:rPr sz="900" b="0">
                <a:solidFill>
                  <a:srgbClr val="E5E7EB"/>
                </a:solidFill>
                <a:latin typeface="Consolas"/>
              </a:rPr>
              <a:t>                type: object</a:t>
            </a:r>
          </a:p>
          <a:p>
            <a:pPr algn="l"/>
            <a:r>
              <a:rPr sz="900" b="0">
                <a:solidFill>
                  <a:srgbClr val="E5E7EB"/>
                </a:solidFill>
                <a:latin typeface="Consolas"/>
              </a:rPr>
              <a:t>                properties:</a:t>
            </a:r>
          </a:p>
          <a:p>
            <a:pPr algn="l"/>
            <a:r>
              <a:rPr sz="900" b="0">
                <a:solidFill>
                  <a:srgbClr val="E5E7EB"/>
                </a:solidFill>
                <a:latin typeface="Consolas"/>
              </a:rPr>
              <a:t>                  token:</a:t>
            </a:r>
          </a:p>
          <a:p>
            <a:pPr algn="l"/>
            <a:r>
              <a:rPr sz="900" b="0">
                <a:solidFill>
                  <a:srgbClr val="E5E7EB"/>
                </a:solidFill>
                <a:latin typeface="Consolas"/>
              </a:rPr>
              <a:t>                    type: string</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OpenAPI 3.1 snippet for a login endpoint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Worked Example: User Login API – GraphQL SDL</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W06.S1   ·   Sources: [C1]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Define Login mutation input and payload</a:t>
            </a:r>
          </a:p>
          <a:p>
            <a:pPr marL="292608" indent="-292608">
              <a:spcAft>
                <a:spcPts val="1000"/>
              </a:spcAft>
              <a:buClr>
                <a:srgbClr val="0F766E"/>
              </a:buClr>
              <a:buFont typeface="Arial"/>
              <a:buChar char="▪"/>
            </a:pPr>
            <a:r>
              <a:rPr sz="2400">
                <a:solidFill>
                  <a:srgbClr val="1F2937"/>
                </a:solidFill>
                <a:latin typeface="Calibri"/>
              </a:rPr>
              <a:t>Use custom @auth directive for metadata</a:t>
            </a:r>
          </a:p>
          <a:p>
            <a:pPr marL="292608" indent="-292608">
              <a:spcAft>
                <a:spcPts val="1000"/>
              </a:spcAft>
              <a:buClr>
                <a:srgbClr val="0F766E"/>
              </a:buClr>
              <a:buFont typeface="Arial"/>
              <a:buChar char="▪"/>
            </a:pPr>
            <a:r>
              <a:rPr sz="2400">
                <a:solidFill>
                  <a:srgbClr val="1F2937"/>
                </a:solidFill>
                <a:latin typeface="Calibri"/>
              </a:rPr>
              <a:t>Return token and user object</a:t>
            </a:r>
          </a:p>
          <a:p>
            <a:pPr marL="292608" indent="-292608">
              <a:spcAft>
                <a:spcPts val="1000"/>
              </a:spcAft>
              <a:buClr>
                <a:srgbClr val="0F766E"/>
              </a:buClr>
              <a:buFont typeface="Arial"/>
              <a:buChar char="▪"/>
            </a:pPr>
            <a:r>
              <a:rPr sz="2400">
                <a:solidFill>
                  <a:srgbClr val="1F2937"/>
                </a:solidFill>
                <a:latin typeface="Calibri"/>
              </a:rPr>
              <a:t>Schema is executable with GraphQL servers</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graphql</a:t>
            </a:r>
          </a:p>
          <a:p>
            <a:pPr algn="l"/>
            <a:r>
              <a:rPr sz="1300" b="0">
                <a:solidFill>
                  <a:srgbClr val="E5E7EB"/>
                </a:solidFill>
                <a:latin typeface="Consolas"/>
              </a:rPr>
              <a:t>type Query {</a:t>
            </a:r>
          </a:p>
          <a:p>
            <a:pPr algn="l"/>
            <a:r>
              <a:rPr sz="1300" b="0">
                <a:solidFill>
                  <a:srgbClr val="E5E7EB"/>
                </a:solidFill>
                <a:latin typeface="Consolas"/>
              </a:rPr>
              <a:t>  login(username: String!, password: String!): AuthPayload</a:t>
            </a:r>
          </a:p>
          <a:p>
            <a:pPr algn="l"/>
            <a:r>
              <a:rPr sz="1300" b="0">
                <a:solidFill>
                  <a:srgbClr val="E5E7EB"/>
                </a:solidFill>
                <a:latin typeface="Consolas"/>
              </a:rPr>
              <a:t>}</a:t>
            </a:r>
          </a:p>
          <a:p>
            <a:pPr algn="l"/>
            <a:r>
              <a:rPr sz="1300" b="0">
                <a:solidFill>
                  <a:srgbClr val="E5E7EB"/>
                </a:solidFill>
                <a:latin typeface="Consolas"/>
              </a:rPr>
              <a:t/>
            </a:r>
          </a:p>
          <a:p>
            <a:pPr algn="l"/>
            <a:r>
              <a:rPr sz="1300" b="0">
                <a:solidFill>
                  <a:srgbClr val="E5E7EB"/>
                </a:solidFill>
                <a:latin typeface="Consolas"/>
              </a:rPr>
              <a:t>type AuthPayload {</a:t>
            </a:r>
          </a:p>
          <a:p>
            <a:pPr algn="l"/>
            <a:r>
              <a:rPr sz="1300" b="0">
                <a:solidFill>
                  <a:srgbClr val="E5E7EB"/>
                </a:solidFill>
                <a:latin typeface="Consolas"/>
              </a:rPr>
              <a:t>  token: String!</a:t>
            </a:r>
          </a:p>
          <a:p>
            <a:pPr algn="l"/>
            <a:r>
              <a:rPr sz="1300" b="0">
                <a:solidFill>
                  <a:srgbClr val="E5E7EB"/>
                </a:solidFill>
                <a:latin typeface="Consolas"/>
              </a:rPr>
              <a:t>  user: User!</a:t>
            </a:r>
          </a:p>
          <a:p>
            <a:pPr algn="l"/>
            <a:r>
              <a:rPr sz="1300" b="0">
                <a:solidFill>
                  <a:srgbClr val="E5E7EB"/>
                </a:solidFill>
                <a:latin typeface="Consolas"/>
              </a:rPr>
              <a:t>}</a:t>
            </a:r>
          </a:p>
          <a:p>
            <a:pPr algn="l"/>
            <a:r>
              <a:rPr sz="1300" b="0">
                <a:solidFill>
                  <a:srgbClr val="E5E7EB"/>
                </a:solidFill>
                <a:latin typeface="Consolas"/>
              </a:rPr>
              <a:t/>
            </a:r>
          </a:p>
          <a:p>
            <a:pPr algn="l"/>
            <a:r>
              <a:rPr sz="1300" b="0">
                <a:solidFill>
                  <a:srgbClr val="E5E7EB"/>
                </a:solidFill>
                <a:latin typeface="Consolas"/>
              </a:rPr>
              <a:t>type User {</a:t>
            </a:r>
          </a:p>
          <a:p>
            <a:pPr algn="l"/>
            <a:r>
              <a:rPr sz="1300" b="0">
                <a:solidFill>
                  <a:srgbClr val="E5E7EB"/>
                </a:solidFill>
                <a:latin typeface="Consolas"/>
              </a:rPr>
              <a:t>  id: ID!</a:t>
            </a:r>
          </a:p>
          <a:p>
            <a:pPr algn="l"/>
            <a:r>
              <a:rPr sz="1300" b="0">
                <a:solidFill>
                  <a:srgbClr val="E5E7EB"/>
                </a:solidFill>
                <a:latin typeface="Consolas"/>
              </a:rPr>
              <a:t>  username: String!</a:t>
            </a:r>
          </a:p>
          <a:p>
            <a:pPr algn="l"/>
            <a:r>
              <a:rPr sz="1300" b="0">
                <a:solidFill>
                  <a:srgbClr val="E5E7EB"/>
                </a:solidFill>
                <a:latin typeface="Consolas"/>
              </a:rPr>
              <a:t>  email: String!</a:t>
            </a:r>
          </a:p>
          <a:p>
            <a:pPr algn="l"/>
            <a:r>
              <a:rPr sz="1300" b="0">
                <a:solidFill>
                  <a:srgbClr val="E5E7EB"/>
                </a:solidFill>
                <a:latin typeface="Consolas"/>
              </a:rPr>
              <a:t>}</a:t>
            </a:r>
          </a:p>
          <a:p>
            <a:pPr algn="l"/>
            <a:r>
              <a:rPr sz="1300" b="0">
                <a:solidFill>
                  <a:srgbClr val="E5E7EB"/>
                </a:solidFill>
                <a:latin typeface="Consolas"/>
              </a:rPr>
              <a:t/>
            </a:r>
          </a:p>
          <a:p>
            <a:pPr algn="l"/>
            <a:r>
              <a:rPr sz="1300" b="0">
                <a:solidFill>
                  <a:srgbClr val="E5E7EB"/>
                </a:solidFill>
                <a:latin typeface="Consolas"/>
              </a:rPr>
              <a:t># Custom directive for auth metadata</a:t>
            </a:r>
          </a:p>
          <a:p>
            <a:pPr algn="l"/>
            <a:r>
              <a:rPr sz="1300" b="0">
                <a:solidFill>
                  <a:srgbClr val="E5E7EB"/>
                </a:solidFill>
                <a:latin typeface="Consolas"/>
              </a:rPr>
              <a:t>directive @auth(requires: String) on FIELD_DEFINITION</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GraphQL SDL for login mutation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Worked Example: User Login API – Protobuf</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W06.S1   ·   Sources: [C1]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Define LoginRequest and LoginResponse messages</a:t>
            </a:r>
          </a:p>
          <a:p>
            <a:pPr marL="292608" indent="-292608">
              <a:spcAft>
                <a:spcPts val="1000"/>
              </a:spcAft>
              <a:buClr>
                <a:srgbClr val="0F766E"/>
              </a:buClr>
              <a:buFont typeface="Arial"/>
              <a:buChar char="▪"/>
            </a:pPr>
            <a:r>
              <a:rPr sz="2400">
                <a:solidFill>
                  <a:srgbClr val="1F2937"/>
                </a:solidFill>
                <a:latin typeface="Calibri"/>
              </a:rPr>
              <a:t>Service AuthService with Login RPC</a:t>
            </a:r>
          </a:p>
          <a:p>
            <a:pPr marL="292608" indent="-292608">
              <a:spcAft>
                <a:spcPts val="1000"/>
              </a:spcAft>
              <a:buClr>
                <a:srgbClr val="0F766E"/>
              </a:buClr>
              <a:buFont typeface="Arial"/>
              <a:buChar char="▪"/>
            </a:pPr>
            <a:r>
              <a:rPr sz="2400">
                <a:solidFill>
                  <a:srgbClr val="1F2937"/>
                </a:solidFill>
                <a:latin typeface="Calibri"/>
              </a:rPr>
              <a:t>Use protoc to generate gRPC stubs</a:t>
            </a:r>
          </a:p>
          <a:p>
            <a:pPr marL="292608" indent="-292608">
              <a:spcAft>
                <a:spcPts val="1000"/>
              </a:spcAft>
              <a:buClr>
                <a:srgbClr val="0F766E"/>
              </a:buClr>
              <a:buFont typeface="Arial"/>
              <a:buChar char="▪"/>
            </a:pPr>
            <a:r>
              <a:rPr sz="2400">
                <a:solidFill>
                  <a:srgbClr val="1F2937"/>
                </a:solidFill>
                <a:latin typeface="Calibri"/>
              </a:rPr>
              <a:t>Field numbers ensure wire compatibility</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protobuf</a:t>
            </a:r>
          </a:p>
          <a:p>
            <a:pPr algn="l"/>
            <a:r>
              <a:rPr sz="1000" b="0">
                <a:solidFill>
                  <a:srgbClr val="E5E7EB"/>
                </a:solidFill>
                <a:latin typeface="Consolas"/>
              </a:rPr>
              <a:t>syntax = "proto3";</a:t>
            </a:r>
          </a:p>
          <a:p>
            <a:pPr algn="l"/>
            <a:r>
              <a:rPr sz="1000" b="0">
                <a:solidFill>
                  <a:srgbClr val="E5E7EB"/>
                </a:solidFill>
                <a:latin typeface="Consolas"/>
              </a:rPr>
              <a:t/>
            </a:r>
          </a:p>
          <a:p>
            <a:pPr algn="l"/>
            <a:r>
              <a:rPr sz="1000" b="0">
                <a:solidFill>
                  <a:srgbClr val="E5E7EB"/>
                </a:solidFill>
                <a:latin typeface="Consolas"/>
              </a:rPr>
              <a:t>package auth;</a:t>
            </a:r>
          </a:p>
          <a:p>
            <a:pPr algn="l"/>
            <a:r>
              <a:rPr sz="1000" b="0">
                <a:solidFill>
                  <a:srgbClr val="E5E7EB"/>
                </a:solidFill>
                <a:latin typeface="Consolas"/>
              </a:rPr>
              <a:t/>
            </a:r>
          </a:p>
          <a:p>
            <a:pPr algn="l"/>
            <a:r>
              <a:rPr sz="1000" b="0">
                <a:solidFill>
                  <a:srgbClr val="E5E7EB"/>
                </a:solidFill>
                <a:latin typeface="Consolas"/>
              </a:rPr>
              <a:t>service AuthService {</a:t>
            </a:r>
          </a:p>
          <a:p>
            <a:pPr algn="l"/>
            <a:r>
              <a:rPr sz="1000" b="0">
                <a:solidFill>
                  <a:srgbClr val="E5E7EB"/>
                </a:solidFill>
                <a:latin typeface="Consolas"/>
              </a:rPr>
              <a:t>  rpc Login(LoginRequest) returns (LoginResponse);</a:t>
            </a:r>
          </a:p>
          <a:p>
            <a:pPr algn="l"/>
            <a:r>
              <a:rPr sz="1000" b="0">
                <a:solidFill>
                  <a:srgbClr val="E5E7EB"/>
                </a:solidFill>
                <a:latin typeface="Consolas"/>
              </a:rPr>
              <a:t>}</a:t>
            </a:r>
          </a:p>
          <a:p>
            <a:pPr algn="l"/>
            <a:r>
              <a:rPr sz="1000" b="0">
                <a:solidFill>
                  <a:srgbClr val="E5E7EB"/>
                </a:solidFill>
                <a:latin typeface="Consolas"/>
              </a:rPr>
              <a:t/>
            </a:r>
          </a:p>
          <a:p>
            <a:pPr algn="l"/>
            <a:r>
              <a:rPr sz="1000" b="0">
                <a:solidFill>
                  <a:srgbClr val="E5E7EB"/>
                </a:solidFill>
                <a:latin typeface="Consolas"/>
              </a:rPr>
              <a:t>message LoginRequest {</a:t>
            </a:r>
          </a:p>
          <a:p>
            <a:pPr algn="l"/>
            <a:r>
              <a:rPr sz="1000" b="0">
                <a:solidFill>
                  <a:srgbClr val="E5E7EB"/>
                </a:solidFill>
                <a:latin typeface="Consolas"/>
              </a:rPr>
              <a:t>  string username = 1;</a:t>
            </a:r>
          </a:p>
          <a:p>
            <a:pPr algn="l"/>
            <a:r>
              <a:rPr sz="1000" b="0">
                <a:solidFill>
                  <a:srgbClr val="E5E7EB"/>
                </a:solidFill>
                <a:latin typeface="Consolas"/>
              </a:rPr>
              <a:t>  string password = 2;</a:t>
            </a:r>
          </a:p>
          <a:p>
            <a:pPr algn="l"/>
            <a:r>
              <a:rPr sz="1000" b="0">
                <a:solidFill>
                  <a:srgbClr val="E5E7EB"/>
                </a:solidFill>
                <a:latin typeface="Consolas"/>
              </a:rPr>
              <a:t>}</a:t>
            </a:r>
          </a:p>
          <a:p>
            <a:pPr algn="l"/>
            <a:r>
              <a:rPr sz="1000" b="0">
                <a:solidFill>
                  <a:srgbClr val="E5E7EB"/>
                </a:solidFill>
                <a:latin typeface="Consolas"/>
              </a:rPr>
              <a:t/>
            </a:r>
          </a:p>
          <a:p>
            <a:pPr algn="l"/>
            <a:r>
              <a:rPr sz="1000" b="0">
                <a:solidFill>
                  <a:srgbClr val="E5E7EB"/>
                </a:solidFill>
                <a:latin typeface="Consolas"/>
              </a:rPr>
              <a:t>message LoginResponse {</a:t>
            </a:r>
          </a:p>
          <a:p>
            <a:pPr algn="l"/>
            <a:r>
              <a:rPr sz="1000" b="0">
                <a:solidFill>
                  <a:srgbClr val="E5E7EB"/>
                </a:solidFill>
                <a:latin typeface="Consolas"/>
              </a:rPr>
              <a:t>  string token = 1;</a:t>
            </a:r>
          </a:p>
          <a:p>
            <a:pPr algn="l"/>
            <a:r>
              <a:rPr sz="1000" b="0">
                <a:solidFill>
                  <a:srgbClr val="E5E7EB"/>
                </a:solidFill>
                <a:latin typeface="Consolas"/>
              </a:rPr>
              <a:t>  User user = 2;</a:t>
            </a:r>
          </a:p>
          <a:p>
            <a:pPr algn="l"/>
            <a:r>
              <a:rPr sz="1000" b="0">
                <a:solidFill>
                  <a:srgbClr val="E5E7EB"/>
                </a:solidFill>
                <a:latin typeface="Consolas"/>
              </a:rPr>
              <a:t>}</a:t>
            </a:r>
          </a:p>
          <a:p>
            <a:pPr algn="l"/>
            <a:r>
              <a:rPr sz="1000" b="0">
                <a:solidFill>
                  <a:srgbClr val="E5E7EB"/>
                </a:solidFill>
                <a:latin typeface="Consolas"/>
              </a:rPr>
              <a:t/>
            </a:r>
          </a:p>
          <a:p>
            <a:pPr algn="l"/>
            <a:r>
              <a:rPr sz="1000" b="0">
                <a:solidFill>
                  <a:srgbClr val="E5E7EB"/>
                </a:solidFill>
                <a:latin typeface="Consolas"/>
              </a:rPr>
              <a:t>message User {</a:t>
            </a:r>
          </a:p>
          <a:p>
            <a:pPr algn="l"/>
            <a:r>
              <a:rPr sz="1000" b="0">
                <a:solidFill>
                  <a:srgbClr val="E5E7EB"/>
                </a:solidFill>
                <a:latin typeface="Consolas"/>
              </a:rPr>
              <a:t>  string id = 1;</a:t>
            </a:r>
          </a:p>
          <a:p>
            <a:pPr algn="l"/>
            <a:r>
              <a:rPr sz="1000" b="0">
                <a:solidFill>
                  <a:srgbClr val="E5E7EB"/>
                </a:solidFill>
                <a:latin typeface="Consolas"/>
              </a:rPr>
              <a:t>  string username = 2;</a:t>
            </a:r>
          </a:p>
          <a:p>
            <a:pPr algn="l"/>
            <a:r>
              <a:rPr sz="1000" b="0">
                <a:solidFill>
                  <a:srgbClr val="E5E7EB"/>
                </a:solidFill>
                <a:latin typeface="Consolas"/>
              </a:rPr>
              <a:t>  string email = 3;</a:t>
            </a:r>
          </a:p>
          <a:p>
            <a:pPr algn="l"/>
            <a:r>
              <a:rPr sz="1000" b="0">
                <a:solidFill>
                  <a:srgbClr val="E5E7EB"/>
                </a:solidFill>
                <a:latin typeface="Consolas"/>
              </a:rPr>
              <a:t>}</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Protobuf definition for login service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From Requirements to Executable Specs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Identify use cases and actors</a:t>
            </a:r>
          </a:p>
          <a:p>
            <a:pPr marL="292608" indent="-292608">
              <a:spcAft>
                <a:spcPts val="1000"/>
              </a:spcAft>
              <a:buClr>
                <a:srgbClr val="0F766E"/>
              </a:buClr>
              <a:buFont typeface="Arial"/>
              <a:buChar char="▪"/>
            </a:pPr>
            <a:r>
              <a:rPr sz="2400">
                <a:solidFill>
                  <a:srgbClr val="1F2937"/>
                </a:solidFill>
                <a:latin typeface="Calibri"/>
              </a:rPr>
              <a:t>Map each use case to an API operation</a:t>
            </a:r>
          </a:p>
          <a:p>
            <a:pPr marL="292608" indent="-292608">
              <a:spcAft>
                <a:spcPts val="1000"/>
              </a:spcAft>
              <a:buClr>
                <a:srgbClr val="0F766E"/>
              </a:buClr>
              <a:buFont typeface="Arial"/>
              <a:buChar char="▪"/>
            </a:pPr>
            <a:r>
              <a:rPr sz="2400">
                <a:solidFill>
                  <a:srgbClr val="1F2937"/>
                </a:solidFill>
                <a:latin typeface="Calibri"/>
              </a:rPr>
              <a:t>Choose spec framework per service style</a:t>
            </a:r>
          </a:p>
          <a:p>
            <a:pPr marL="292608" indent="-292608">
              <a:spcAft>
                <a:spcPts val="1000"/>
              </a:spcAft>
              <a:buClr>
                <a:srgbClr val="0F766E"/>
              </a:buClr>
              <a:buFont typeface="Arial"/>
              <a:buChar char="▪"/>
            </a:pPr>
            <a:r>
              <a:rPr sz="2400">
                <a:solidFill>
                  <a:srgbClr val="1F2937"/>
                </a:solidFill>
                <a:latin typeface="Calibri"/>
              </a:rPr>
              <a:t>Write spec, review, version, and baseline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Ensuring Interface Conformance at Runtime</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14</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Contract testing with generated clients</a:t>
            </a:r>
          </a:p>
          <a:p>
            <a:pPr marL="292608" indent="-292608">
              <a:spcAft>
                <a:spcPts val="1000"/>
              </a:spcAft>
              <a:buClr>
                <a:srgbClr val="0F766E"/>
              </a:buClr>
              <a:buFont typeface="Arial"/>
              <a:buChar char="▪"/>
            </a:pPr>
            <a:r>
              <a:rPr sz="2400">
                <a:solidFill>
                  <a:srgbClr val="1F2937"/>
                </a:solidFill>
                <a:latin typeface="Calibri"/>
              </a:rPr>
              <a:t>JSON Schema validation libraries (ajv)</a:t>
            </a:r>
          </a:p>
          <a:p>
            <a:pPr marL="292608" indent="-292608">
              <a:spcAft>
                <a:spcPts val="1000"/>
              </a:spcAft>
              <a:buClr>
                <a:srgbClr val="0F766E"/>
              </a:buClr>
              <a:buFont typeface="Arial"/>
              <a:buChar char="▪"/>
            </a:pPr>
            <a:r>
              <a:rPr sz="2400">
                <a:solidFill>
                  <a:srgbClr val="1F2937"/>
                </a:solidFill>
                <a:latin typeface="Calibri"/>
              </a:rPr>
              <a:t>Protocol Buffers compiler (protoc) for code generation</a:t>
            </a:r>
          </a:p>
          <a:p>
            <a:pPr marL="292608" indent="-292608">
              <a:spcAft>
                <a:spcPts val="1000"/>
              </a:spcAft>
              <a:buClr>
                <a:srgbClr val="0F766E"/>
              </a:buClr>
              <a:buFont typeface="Arial"/>
              <a:buChar char="▪"/>
            </a:pPr>
            <a:r>
              <a:rPr sz="2400">
                <a:solidFill>
                  <a:srgbClr val="1F2937"/>
                </a:solidFill>
                <a:latin typeface="Calibri"/>
              </a:rPr>
              <a:t>CI pipelines enforce spec compliance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Spec-Driven Development Principle</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15</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600" b="1">
                <a:solidFill>
                  <a:srgbClr val="1F2937"/>
                </a:solidFill>
                <a:latin typeface="Calibri"/>
              </a:rPr>
              <a:t>Which statement best describes the core principle of spec‑driven development?</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1900" b="0">
                <a:solidFill>
                  <a:srgbClr val="1F2937"/>
                </a:solidFill>
                <a:latin typeface="Calibri"/>
              </a:rPr>
              <a:t>Write code first, then generate documentation from the implementation.</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1900" b="0">
                <a:solidFill>
                  <a:srgbClr val="1F2937"/>
                </a:solidFill>
                <a:latin typeface="Calibri"/>
              </a:rPr>
              <a:t>Treat the specification as the authoritative contract and generate or validate code against it.</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1900" b="0">
                <a:solidFill>
                  <a:srgbClr val="1F2937"/>
                </a:solidFill>
                <a:latin typeface="Calibri"/>
              </a:rPr>
              <a:t>Use informal comments in code as the primary source of API contracts.</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1900" b="0">
                <a:solidFill>
                  <a:srgbClr val="1F2937"/>
                </a:solidFill>
                <a:latin typeface="Calibri"/>
              </a:rPr>
              <a:t>Maintain separate documentation and code repositories with manual sync.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Runtime Conformance Tools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16</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600" b="1">
                <a:solidFill>
                  <a:srgbClr val="1F2937"/>
                </a:solidFill>
                <a:latin typeface="Calibri"/>
              </a:rPr>
              <a:t>Which tool is a JSON Schema validator, and which is the Protocol Buffers compiler?</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ajv validates JSON Schema; protoc compiles .proto files.</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protoc validates JSON Schema; ajv compiles .proto files.</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Both ajv and protoc validate JSON Schema.</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Both ajv and protoc compile .proto files.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Summary: Spec-Driven Development Frameworks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W06.S1   ·   Sources: [C1]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17</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Spec is the authoritative contract; code follows</a:t>
            </a:r>
          </a:p>
          <a:p>
            <a:pPr marL="292608" indent="-292608">
              <a:spcAft>
                <a:spcPts val="1000"/>
              </a:spcAft>
              <a:buClr>
                <a:srgbClr val="0F766E"/>
              </a:buClr>
              <a:buFont typeface="Arial"/>
              <a:buChar char="▪"/>
            </a:pPr>
            <a:r>
              <a:rPr sz="2400">
                <a:solidFill>
                  <a:srgbClr val="1F2937"/>
                </a:solidFill>
                <a:latin typeface="Calibri"/>
              </a:rPr>
              <a:t>OpenAPI, GraphQL SDL, and Protobuf cover REST, GraphQL, gRPC</a:t>
            </a:r>
          </a:p>
          <a:p>
            <a:pPr marL="292608" indent="-292608">
              <a:spcAft>
                <a:spcPts val="1000"/>
              </a:spcAft>
              <a:buClr>
                <a:srgbClr val="0F766E"/>
              </a:buClr>
              <a:buFont typeface="Arial"/>
              <a:buChar char="▪"/>
            </a:pPr>
            <a:r>
              <a:rPr sz="2400">
                <a:solidFill>
                  <a:srgbClr val="1F2937"/>
                </a:solidFill>
                <a:latin typeface="Calibri"/>
              </a:rPr>
              <a:t>Worked examples showed login API in all three formats</a:t>
            </a:r>
          </a:p>
          <a:p>
            <a:pPr marL="292608" indent="-292608">
              <a:spcAft>
                <a:spcPts val="1000"/>
              </a:spcAft>
              <a:buClr>
                <a:srgbClr val="0F766E"/>
              </a:buClr>
              <a:buFont typeface="Arial"/>
              <a:buChar char="▪"/>
            </a:pPr>
            <a:r>
              <a:rPr sz="2400">
                <a:solidFill>
                  <a:srgbClr val="1F2937"/>
                </a:solidFill>
                <a:latin typeface="Calibri"/>
              </a:rPr>
              <a:t>Runtime conformance via generated clients, ajv, protoc, and CI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W06.S1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18</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[C1] SPECIFICATION-DRIVEN DEVELOPMENT AS STRUCTURED APPROACH FOR SOURCE CODE GENERATION (2026). https://doi.org/10.52058/2786-6025-2026-4(58)-2631-2644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