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Assign2,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everyone. Last week, we examined international standards and specification guidelines for traditional use cases. Today, we step into Week 5 by connecting those specification principles directly to AI-driven software engineering. When using generative AI models or coding agents, weak requirements lead directly to incorrect implementations. We need rigorous specification standards to turn unstructured user requests into clean, machine-actionable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stakeholders give us product ideas, they usually arrive as loose prose, informal emails, or incomplete user stories. If you feed unstructured text directly into an LLM coding agent, the agent fills in missing gaps with random assumptions. This introduces subtle bugs and architectural drift. Requirements engineering in the AI era is about transforming ambiguous language into unambiguous system constraints that anchor the AI's generation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Specification-Driven Development, or SDD, flips the traditional prompt-and-fix workflow. Instead of writing code directly or asking an AI to write code from a short prompt, SDD requires us to construct a rigorous specification document first. This document acts as a formal contract. Both human developers and automated coding agents treat this contract as the immutable specification baseline.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translate raw product text into specifications, we must systematically deconstruct narrative language. Look for passive phrasing like 'data is processed' and ask who or what processes it. Break down dense paragraphs into explicit actors, trigger events, strict preconditions, and verifiable postconditions. This structured decomposition removes ambiguity before any code generation tools are invoked.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step in requirements engineering is defining system boundaries. If an AI agent does not know where your software ends and an external API begins, it might generate redundant code or mock out infrastructure that already exists. This table illustrates how we explicitly separate internal system responsibilities from external integrations, providing clear targets for downstream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an example. Suppose a client writes: 'Users should be able to upload invoices and get instant validation errors if formatting is wrong.' We extract the actor ('User'), the trigger ('Uploads invoice'), the boundary ('System validates format locally; does not process payments'), and the output ('Instant formatting error response'). Following this pipeline turns unstructured prose into precise use cases.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often forget to define what a system should NOT do. When working with AI generators, unstated non-goals lead to bloat. If you specify an authentication service, explicitly state that user registration and password resets are out of scope if handled elsewhere. Out-of-scope boundaries keep generated code lean, modular, and strictly aligned with specified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moment to answer this question. Think about how LLM coding agents behave when given ambiguous prompts with missing boundary constraints.</a:t>
            </a:r>
          </a:p>
          <a:p/>
          <a:p>
            <a:r>
              <a:t>Answer: B. To prevent AI agents from generating code for external or out-of-scope services.</a:t>
            </a:r>
          </a:p>
          <a:p>
            <a:r>
              <a:t>Defining clear system boundaries explicitly tells AI models what falls inside the module's scope and what relies on external dependencies. Option 1 is incorrect because boundaries reduce unnecessary context; Option 2 is correct; Option 3 is incorrect because tests are still needed; Option 4 is incorrect because boundaries define scope rather than direct UI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we extract use cases and system boundaries, we must format them into structured specifications. Informal text leads to varied interpretations. By standardizing our specs into formats like Gherkin syntax or structured YAML schemas, we create machine-readable contracts. These contracts can be validated for completeness before any code generation takes place.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shows that AI coding performance drops significantly as task complexity and prompt size increase—a phenomenon known as complexity backpressure. If you feed an entire 50-page requirements document to an agent, accuracy plummets. Instead, engineering guidelines dictate decomposing requirements into small, self-contained sub-specifications focused on specific use cases.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example of a specification artifact written in YAML. Notice how clear and concise this is compared to a raw client paragraph. It explicitly lists the actor, the in-scope responsibilities, the out-of-scope boundaries, and a Gherkin-style test scenario. An AI agent reading this spec receives exact instructions without ambiguity.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how context window constraints and model attention mechanisms operate when answering this question.</a:t>
            </a:r>
          </a:p>
          <a:p/>
          <a:p>
            <a:r>
              <a:t>Answer: B. It reduces cognitive load and prevents context window degradation in AI models.</a:t>
            </a:r>
          </a:p>
          <a:p>
            <a:r>
              <a:t>Decomposing complex requirements into smaller, modular specs reduces the context volume and task complexity presented to an AI model at any single step. This prevents context window degradation and model confusion. Option 1 is wrong because line count isn't the goal; Option 2 is correct; Options 3 and 4 make false technical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structured specifications are not just for generating implementation code; they also drive autonomous testing and verification. Agents use specs via context protocols (like MCP) to write test suites and verify their own output. When your specification clear defines boundaries and scenarios, autonomous agents can independently evaluate whether generated code meets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today's lecture: requirements engineering for AI software development requires transforming informal prose into structured, bounded specification artifacts. By defining clear system boundaries, explicitly listing out-of-scope items, and partitioning specs to avoid complexity backpressure, we set up AI agents for success. Next class, we will examine spec-driven development frameworks that turn these specs into executable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Software Requirements and Requirements Engineering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5 · Requirements and Specification-Driven Development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Outline use cases and system boundaries from unstructured product descriptions using spec-driven development guidelines (CO2.LO1)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Recapping Specification Standards and Use Case Modeling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Builds on standards for use case modeling covered in Week 4.</a:t>
            </a:r>
          </a:p>
          <a:p>
            <a:pPr marL="292608" indent="-292608">
              <a:spcAft>
                <a:spcPts val="1000"/>
              </a:spcAft>
              <a:buClr>
                <a:srgbClr val="0F766E"/>
              </a:buClr>
              <a:buFont typeface="Arial"/>
              <a:buChar char="▪"/>
            </a:pPr>
            <a:r>
              <a:rPr sz="2400">
                <a:solidFill>
                  <a:srgbClr val="1F2937"/>
                </a:solidFill>
                <a:latin typeface="Calibri"/>
              </a:rPr>
              <a:t>Formal specification standards prevent functional drift during automated code generation.</a:t>
            </a:r>
          </a:p>
          <a:p>
            <a:pPr marL="292608" indent="-292608">
              <a:spcAft>
                <a:spcPts val="1000"/>
              </a:spcAft>
              <a:buClr>
                <a:srgbClr val="0F766E"/>
              </a:buClr>
              <a:buFont typeface="Arial"/>
              <a:buChar char="▪"/>
            </a:pPr>
            <a:r>
              <a:rPr sz="2400">
                <a:solidFill>
                  <a:srgbClr val="1F2937"/>
                </a:solidFill>
                <a:latin typeface="Calibri"/>
              </a:rPr>
              <a:t>Establishes structured requirement engineering as the foundation for AI-assisted development.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The Requirements Engineering Challenge in AI Coding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Unstructured product descriptions cause AI model hallucinations and scope creep.</a:t>
            </a:r>
          </a:p>
          <a:p>
            <a:pPr marL="292608" indent="-292608">
              <a:spcAft>
                <a:spcPts val="1000"/>
              </a:spcAft>
              <a:buClr>
                <a:srgbClr val="0F766E"/>
              </a:buClr>
              <a:buFont typeface="Arial"/>
              <a:buChar char="▪"/>
            </a:pPr>
            <a:r>
              <a:rPr sz="2400">
                <a:solidFill>
                  <a:srgbClr val="1F2937"/>
                </a:solidFill>
                <a:latin typeface="Calibri"/>
              </a:rPr>
              <a:t>Generative models require explicit boundaries to avoid generating unrequested assumptions.</a:t>
            </a:r>
          </a:p>
          <a:p>
            <a:pPr marL="292608" indent="-292608">
              <a:spcAft>
                <a:spcPts val="1000"/>
              </a:spcAft>
              <a:buClr>
                <a:srgbClr val="0F766E"/>
              </a:buClr>
              <a:buFont typeface="Arial"/>
              <a:buChar char="▪"/>
            </a:pPr>
            <a:r>
              <a:rPr sz="2400">
                <a:solidFill>
                  <a:srgbClr val="1F2937"/>
                </a:solidFill>
                <a:latin typeface="Calibri"/>
              </a:rPr>
              <a:t>Structured specifications serve as deterministic prompt anchors and validation criteria.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Fundamentals of Specification-Driven Development</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Specification-Driven Development formalizes specifications before writing source code.</a:t>
            </a:r>
          </a:p>
          <a:p>
            <a:pPr marL="292608" indent="-292608">
              <a:spcAft>
                <a:spcPts val="1000"/>
              </a:spcAft>
              <a:buClr>
                <a:srgbClr val="0F766E"/>
              </a:buClr>
              <a:buFont typeface="Arial"/>
              <a:buChar char="▪"/>
            </a:pPr>
            <a:r>
              <a:rPr sz="2400">
                <a:solidFill>
                  <a:srgbClr val="1F2937"/>
                </a:solidFill>
                <a:latin typeface="Calibri"/>
              </a:rPr>
              <a:t>Specifications serve as the single source of truth for humans and AI agents.</a:t>
            </a:r>
          </a:p>
          <a:p>
            <a:pPr marL="292608" indent="-292608">
              <a:spcAft>
                <a:spcPts val="1000"/>
              </a:spcAft>
              <a:buClr>
                <a:srgbClr val="0F766E"/>
              </a:buClr>
              <a:buFont typeface="Arial"/>
              <a:buChar char="▪"/>
            </a:pPr>
            <a:r>
              <a:rPr sz="2400">
                <a:solidFill>
                  <a:srgbClr val="1F2937"/>
                </a:solidFill>
                <a:latin typeface="Calibri"/>
              </a:rPr>
              <a:t>Reduces downstream debugging by catching architectural ambiguity upfront.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Deconstructing Unstructured Product Descriptions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hidden domain assumptions, passive verbs, and implicit requirements.</a:t>
            </a:r>
          </a:p>
          <a:p>
            <a:pPr marL="292608" indent="-292608">
              <a:spcAft>
                <a:spcPts val="1000"/>
              </a:spcAft>
              <a:buClr>
                <a:srgbClr val="0F766E"/>
              </a:buClr>
              <a:buFont typeface="Arial"/>
              <a:buChar char="▪"/>
            </a:pPr>
            <a:r>
              <a:rPr sz="2400">
                <a:solidFill>
                  <a:srgbClr val="1F2937"/>
                </a:solidFill>
                <a:latin typeface="Calibri"/>
              </a:rPr>
              <a:t>Extract core user intentions, system actors, and operational constraints systematically.</a:t>
            </a:r>
          </a:p>
          <a:p>
            <a:pPr marL="292608" indent="-292608">
              <a:spcAft>
                <a:spcPts val="1000"/>
              </a:spcAft>
              <a:buClr>
                <a:srgbClr val="0F766E"/>
              </a:buClr>
              <a:buFont typeface="Arial"/>
              <a:buChar char="▪"/>
            </a:pPr>
            <a:r>
              <a:rPr sz="2400">
                <a:solidFill>
                  <a:srgbClr val="1F2937"/>
                </a:solidFill>
                <a:latin typeface="Calibri"/>
              </a:rPr>
              <a:t>Categorize unstructured text into actors, triggers, preconditions, and postconditions.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Establishing Clear System Boundaries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System boundaries define what the application handles versus external environments.</a:t>
            </a:r>
          </a:p>
          <a:p>
            <a:pPr marL="292608" indent="-292608">
              <a:spcAft>
                <a:spcPts val="1000"/>
              </a:spcAft>
              <a:buClr>
                <a:srgbClr val="0F766E"/>
              </a:buClr>
              <a:buFont typeface="Arial"/>
              <a:buChar char="▪"/>
            </a:pPr>
            <a:r>
              <a:rPr sz="2400">
                <a:solidFill>
                  <a:srgbClr val="1F2937"/>
                </a:solidFill>
                <a:latin typeface="Calibri"/>
              </a:rPr>
              <a:t>Explicit boundaries prevent AI agents from hallucinating external service implementations.</a:t>
            </a:r>
          </a:p>
          <a:p>
            <a:pPr marL="292608" indent="-292608">
              <a:spcAft>
                <a:spcPts val="1000"/>
              </a:spcAft>
              <a:buClr>
                <a:srgbClr val="0F766E"/>
              </a:buClr>
              <a:buFont typeface="Arial"/>
              <a:buChar char="▪"/>
            </a:pPr>
            <a:r>
              <a:rPr sz="2400">
                <a:solidFill>
                  <a:srgbClr val="1F2937"/>
                </a:solidFill>
                <a:latin typeface="Calibri"/>
              </a:rPr>
              <a:t>Categorize components as internal logic, external APIs, or explicit user touchpoints.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Category</a:t>
                      </a:r>
                    </a:p>
                  </a:txBody>
                  <a:tcPr>
                    <a:solidFill>
                      <a:srgbClr val="0F766E"/>
                    </a:solidFill>
                  </a:tcPr>
                </a:tc>
                <a:tc>
                  <a:txBody>
                    <a:bodyPr/>
                    <a:lstStyle/>
                    <a:p>
                      <a:r>
                        <a:rPr sz="1400" b="1">
                          <a:solidFill>
                            <a:srgbClr val="CCFBF1"/>
                          </a:solidFill>
                          <a:latin typeface="Calibri"/>
                        </a:rPr>
                        <a:t>Inside Boundary</a:t>
                      </a:r>
                    </a:p>
                  </a:txBody>
                  <a:tcPr>
                    <a:solidFill>
                      <a:srgbClr val="0F766E"/>
                    </a:solidFill>
                  </a:tcPr>
                </a:tc>
                <a:tc>
                  <a:txBody>
                    <a:bodyPr/>
                    <a:lstStyle/>
                    <a:p>
                      <a:r>
                        <a:rPr sz="1400" b="1">
                          <a:solidFill>
                            <a:srgbClr val="CCFBF1"/>
                          </a:solidFill>
                          <a:latin typeface="Calibri"/>
                        </a:rPr>
                        <a:t>Outside Boundary</a:t>
                      </a:r>
                    </a:p>
                  </a:txBody>
                  <a:tcPr>
                    <a:solidFill>
                      <a:srgbClr val="0F766E"/>
                    </a:solidFill>
                  </a:tcPr>
                </a:tc>
              </a:tr>
              <a:tr h="502920">
                <a:tc>
                  <a:txBody>
                    <a:bodyPr/>
                    <a:lstStyle/>
                    <a:p>
                      <a:r>
                        <a:rPr sz="1400" b="0">
                          <a:solidFill>
                            <a:srgbClr val="1F2937"/>
                          </a:solidFill>
                          <a:latin typeface="Calibri"/>
                        </a:rPr>
                        <a:t>Authentication</a:t>
                      </a:r>
                    </a:p>
                  </a:txBody>
                  <a:tcPr>
                    <a:solidFill>
                      <a:srgbClr val="F3F4F6"/>
                    </a:solidFill>
                  </a:tcPr>
                </a:tc>
                <a:tc>
                  <a:txBody>
                    <a:bodyPr/>
                    <a:lstStyle/>
                    <a:p>
                      <a:r>
                        <a:rPr sz="1400" b="0">
                          <a:solidFill>
                            <a:srgbClr val="1F2937"/>
                          </a:solidFill>
                          <a:latin typeface="Calibri"/>
                        </a:rPr>
                        <a:t>Token validation logic</a:t>
                      </a:r>
                    </a:p>
                  </a:txBody>
                  <a:tcPr>
                    <a:solidFill>
                      <a:srgbClr val="F3F4F6"/>
                    </a:solidFill>
                  </a:tcPr>
                </a:tc>
                <a:tc>
                  <a:txBody>
                    <a:bodyPr/>
                    <a:lstStyle/>
                    <a:p>
                      <a:r>
                        <a:rPr sz="1400" b="0">
                          <a:solidFill>
                            <a:srgbClr val="1F2937"/>
                          </a:solidFill>
                          <a:latin typeface="Calibri"/>
                        </a:rPr>
                        <a:t>Third-party OAuth provider</a:t>
                      </a:r>
                    </a:p>
                  </a:txBody>
                  <a:tcPr>
                    <a:solidFill>
                      <a:srgbClr val="F3F4F6"/>
                    </a:solidFill>
                  </a:tcPr>
                </a:tc>
              </a:tr>
              <a:tr h="502920">
                <a:tc>
                  <a:txBody>
                    <a:bodyPr/>
                    <a:lstStyle/>
                    <a:p>
                      <a:r>
                        <a:rPr sz="1400" b="0">
                          <a:solidFill>
                            <a:srgbClr val="1F2937"/>
                          </a:solidFill>
                          <a:latin typeface="Calibri"/>
                        </a:rPr>
                        <a:t>Storage</a:t>
                      </a:r>
                    </a:p>
                  </a:txBody>
                  <a:tcPr>
                    <a:solidFill>
                      <a:srgbClr val="F3F4F6"/>
                    </a:solidFill>
                  </a:tcPr>
                </a:tc>
                <a:tc>
                  <a:txBody>
                    <a:bodyPr/>
                    <a:lstStyle/>
                    <a:p>
                      <a:r>
                        <a:rPr sz="1400" b="0">
                          <a:solidFill>
                            <a:srgbClr val="1F2937"/>
                          </a:solidFill>
                          <a:latin typeface="Calibri"/>
                        </a:rPr>
                        <a:t>Local domain schema</a:t>
                      </a:r>
                    </a:p>
                  </a:txBody>
                  <a:tcPr>
                    <a:solidFill>
                      <a:srgbClr val="F3F4F6"/>
                    </a:solidFill>
                  </a:tcPr>
                </a:tc>
                <a:tc>
                  <a:txBody>
                    <a:bodyPr/>
                    <a:lstStyle/>
                    <a:p>
                      <a:r>
                        <a:rPr sz="1400" b="0">
                          <a:solidFill>
                            <a:srgbClr val="1F2937"/>
                          </a:solidFill>
                          <a:latin typeface="Calibri"/>
                        </a:rPr>
                        <a:t>External cloud object store</a:t>
                      </a:r>
                    </a:p>
                  </a:txBody>
                  <a:tcPr>
                    <a:solidFill>
                      <a:srgbClr val="F3F4F6"/>
                    </a:solidFill>
                  </a:tcPr>
                </a:tc>
              </a:tr>
              <a:tr h="502920">
                <a:tc>
                  <a:txBody>
                    <a:bodyPr/>
                    <a:lstStyle/>
                    <a:p>
                      <a:r>
                        <a:rPr sz="1400" b="0">
                          <a:solidFill>
                            <a:srgbClr val="1F2937"/>
                          </a:solidFill>
                          <a:latin typeface="Calibri"/>
                        </a:rPr>
                        <a:t>Notification</a:t>
                      </a:r>
                    </a:p>
                  </a:txBody>
                  <a:tcPr>
                    <a:solidFill>
                      <a:srgbClr val="F3F4F6"/>
                    </a:solidFill>
                  </a:tcPr>
                </a:tc>
                <a:tc>
                  <a:txBody>
                    <a:bodyPr/>
                    <a:lstStyle/>
                    <a:p>
                      <a:r>
                        <a:rPr sz="1400" b="0">
                          <a:solidFill>
                            <a:srgbClr val="1F2937"/>
                          </a:solidFill>
                          <a:latin typeface="Calibri"/>
                        </a:rPr>
                        <a:t>Event payload builder</a:t>
                      </a:r>
                    </a:p>
                  </a:txBody>
                  <a:tcPr>
                    <a:solidFill>
                      <a:srgbClr val="F3F4F6"/>
                    </a:solidFill>
                  </a:tcPr>
                </a:tc>
                <a:tc>
                  <a:txBody>
                    <a:bodyPr/>
                    <a:lstStyle/>
                    <a:p>
                      <a:r>
                        <a:rPr sz="1400" b="0">
                          <a:solidFill>
                            <a:srgbClr val="1F2937"/>
                          </a:solidFill>
                          <a:latin typeface="Calibri"/>
                        </a:rPr>
                        <a:t>External SMTP dispatch service</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Defining System Scope Boundaries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Extracting Use Cases from Narrative Descriptions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Demonstrates converting a client feature request into formal use cases.</a:t>
            </a:r>
          </a:p>
          <a:p>
            <a:pPr marL="292608" indent="-292608">
              <a:spcAft>
                <a:spcPts val="1000"/>
              </a:spcAft>
              <a:buClr>
                <a:srgbClr val="0F766E"/>
              </a:buClr>
              <a:buFont typeface="Arial"/>
              <a:buChar char="▪"/>
            </a:pPr>
            <a:r>
              <a:rPr sz="2400">
                <a:solidFill>
                  <a:srgbClr val="1F2937"/>
                </a:solidFill>
                <a:latin typeface="Calibri"/>
              </a:rPr>
              <a:t>Identifies primary actors, functional goals, and clear system responses.</a:t>
            </a:r>
          </a:p>
          <a:p>
            <a:pPr marL="292608" indent="-292608">
              <a:spcAft>
                <a:spcPts val="1000"/>
              </a:spcAft>
              <a:buClr>
                <a:srgbClr val="0F766E"/>
              </a:buClr>
              <a:buFont typeface="Arial"/>
              <a:buChar char="▪"/>
            </a:pPr>
            <a:r>
              <a:rPr sz="2400">
                <a:solidFill>
                  <a:srgbClr val="1F2937"/>
                </a:solidFill>
                <a:latin typeface="Calibri"/>
              </a:rPr>
              <a:t>Transforms vague phrases like 'fast response' into quantifiable system boundaries.</a:t>
            </a:r>
          </a:p>
        </p:txBody>
      </p:sp>
      <p:sp>
        <p:nvSpPr>
          <p:cNvPr id="8" name="Rounded Rectangle 7"/>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Raw Text Input</a:t>
            </a:r>
          </a:p>
        </p:txBody>
      </p:sp>
      <p:sp>
        <p:nvSpPr>
          <p:cNvPr id="9" name="Down Arrow 8"/>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Extract Actors &amp; Triggers</a:t>
            </a:r>
          </a:p>
        </p:txBody>
      </p:sp>
      <p:sp>
        <p:nvSpPr>
          <p:cNvPr id="11" name="Down Arrow 10"/>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Isolate System Scope</a:t>
            </a:r>
          </a:p>
        </p:txBody>
      </p:sp>
      <p:sp>
        <p:nvSpPr>
          <p:cNvPr id="13" name="Down Arrow 12"/>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Structured Use Case</a:t>
            </a:r>
          </a:p>
        </p:txBody>
      </p:sp>
      <p:sp>
        <p:nvSpPr>
          <p:cNvPr id="15" name="TextBox 14"/>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Use Case Extraction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Formulating Out-of-Scope Constraints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Explicitly listing out-of-scope items prevents feature creep and agent over-generation.</a:t>
            </a:r>
          </a:p>
          <a:p>
            <a:pPr marL="292608" indent="-292608">
              <a:spcAft>
                <a:spcPts val="1000"/>
              </a:spcAft>
              <a:buClr>
                <a:srgbClr val="0F766E"/>
              </a:buClr>
              <a:buFont typeface="Arial"/>
              <a:buChar char="▪"/>
            </a:pPr>
            <a:r>
              <a:rPr sz="2400">
                <a:solidFill>
                  <a:srgbClr val="1F2937"/>
                </a:solidFill>
                <a:latin typeface="Calibri"/>
              </a:rPr>
              <a:t>Defines system interfaces by specifying what the module will deliberately omit.</a:t>
            </a:r>
          </a:p>
          <a:p>
            <a:pPr marL="292608" indent="-292608">
              <a:spcAft>
                <a:spcPts val="1000"/>
              </a:spcAft>
              <a:buClr>
                <a:srgbClr val="0F766E"/>
              </a:buClr>
              <a:buFont typeface="Arial"/>
              <a:buChar char="▪"/>
            </a:pPr>
            <a:r>
              <a:rPr sz="2400">
                <a:solidFill>
                  <a:srgbClr val="1F2937"/>
                </a:solidFill>
                <a:latin typeface="Calibri"/>
              </a:rPr>
              <a:t>Establishes rigid architectural boundaries for generated software components.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Concept Check: System Boundaries and Use Cases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When analyzing an unstructured client requirement for an AI-driven development pipeline, what is the primary purpose of defining explicit system boundaries?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To increase the context length needed by LLMs during generation.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To prevent AI agents from generating code for external or out-of-scope services.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To eliminate the need for writing unit tests after code is generated.</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To automatically translate user interface designs into backend database schemas.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Structuring Ambiguous Text into Formal Contracts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Convert prose into structured schemas like Gherkin, YAML, or JSON-spec.</a:t>
            </a:r>
          </a:p>
          <a:p>
            <a:pPr marL="292608" indent="-292608">
              <a:spcAft>
                <a:spcPts val="1000"/>
              </a:spcAft>
              <a:buClr>
                <a:srgbClr val="0F766E"/>
              </a:buClr>
              <a:buFont typeface="Arial"/>
              <a:buChar char="▪"/>
            </a:pPr>
            <a:r>
              <a:rPr sz="2400">
                <a:solidFill>
                  <a:srgbClr val="1F2937"/>
                </a:solidFill>
                <a:latin typeface="Calibri"/>
              </a:rPr>
              <a:t>Standardized schemas enforce consistent parsing by automated tools and agents.</a:t>
            </a:r>
          </a:p>
          <a:p>
            <a:pPr marL="292608" indent="-292608">
              <a:spcAft>
                <a:spcPts val="1000"/>
              </a:spcAft>
              <a:buClr>
                <a:srgbClr val="0F766E"/>
              </a:buClr>
              <a:buFont typeface="Arial"/>
              <a:buChar char="▪"/>
            </a:pPr>
            <a:r>
              <a:rPr sz="2400">
                <a:solidFill>
                  <a:srgbClr val="1F2937"/>
                </a:solidFill>
                <a:latin typeface="Calibri"/>
              </a:rPr>
              <a:t>Structured contracts support automated specification validation and test generation.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Managing Complexity Backpressure in Requirement Specs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Monolithic requirement documents cause performance decay in AI coding agents.</a:t>
            </a:r>
          </a:p>
          <a:p>
            <a:pPr marL="292608" indent="-292608">
              <a:spcAft>
                <a:spcPts val="1000"/>
              </a:spcAft>
              <a:buClr>
                <a:srgbClr val="0F766E"/>
              </a:buClr>
              <a:buFont typeface="Arial"/>
              <a:buChar char="▪"/>
            </a:pPr>
            <a:r>
              <a:rPr sz="2400">
                <a:solidFill>
                  <a:srgbClr val="1F2937"/>
                </a:solidFill>
                <a:latin typeface="Calibri"/>
              </a:rPr>
              <a:t>Partition specs into modular, hierarchically organized domain specifications.</a:t>
            </a:r>
          </a:p>
          <a:p>
            <a:pPr marL="292608" indent="-292608">
              <a:spcAft>
                <a:spcPts val="1000"/>
              </a:spcAft>
              <a:buClr>
                <a:srgbClr val="0F766E"/>
              </a:buClr>
              <a:buFont typeface="Arial"/>
              <a:buChar char="▪"/>
            </a:pPr>
            <a:r>
              <a:rPr sz="2400">
                <a:solidFill>
                  <a:srgbClr val="1F2937"/>
                </a:solidFill>
                <a:latin typeface="Calibri"/>
              </a:rPr>
              <a:t>Mitigates complexity backpressure across multi-step autonomous software tasks.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YAML Specification Artifact Walkthrough</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Examines a structured YAML specification derived from unstructured product descriptions.</a:t>
            </a:r>
          </a:p>
          <a:p>
            <a:pPr marL="292608" indent="-292608">
              <a:spcAft>
                <a:spcPts val="1000"/>
              </a:spcAft>
              <a:buClr>
                <a:srgbClr val="0F766E"/>
              </a:buClr>
              <a:buFont typeface="Arial"/>
              <a:buChar char="▪"/>
            </a:pPr>
            <a:r>
              <a:rPr sz="2400">
                <a:solidFill>
                  <a:srgbClr val="1F2937"/>
                </a:solidFill>
                <a:latin typeface="Calibri"/>
              </a:rPr>
              <a:t>Demonstrates clear allocation of use cases, boundary inputs, and expected outcomes.</a:t>
            </a:r>
          </a:p>
          <a:p>
            <a:pPr marL="292608" indent="-292608">
              <a:spcAft>
                <a:spcPts val="1000"/>
              </a:spcAft>
              <a:buClr>
                <a:srgbClr val="0F766E"/>
              </a:buClr>
              <a:buFont typeface="Arial"/>
              <a:buChar char="▪"/>
            </a:pPr>
            <a:r>
              <a:rPr sz="2400">
                <a:solidFill>
                  <a:srgbClr val="1F2937"/>
                </a:solidFill>
                <a:latin typeface="Calibri"/>
              </a:rPr>
              <a:t>Serves as an input schema for spec-driven code generation frameworks.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yaml</a:t>
            </a:r>
          </a:p>
          <a:p>
            <a:pPr algn="l"/>
            <a:r>
              <a:rPr sz="1400" b="0">
                <a:solidFill>
                  <a:srgbClr val="E5E7EB"/>
                </a:solidFill>
                <a:latin typeface="Consolas"/>
              </a:rPr>
              <a:t>use_case:</a:t>
            </a:r>
          </a:p>
          <a:p>
            <a:pPr algn="l"/>
            <a:r>
              <a:rPr sz="1400" b="0">
                <a:solidFill>
                  <a:srgbClr val="E5E7EB"/>
                </a:solidFill>
                <a:latin typeface="Consolas"/>
              </a:rPr>
              <a:t>  id: UC-01</a:t>
            </a:r>
          </a:p>
          <a:p>
            <a:pPr algn="l"/>
            <a:r>
              <a:rPr sz="1400" b="0">
                <a:solidFill>
                  <a:srgbClr val="E5E7EB"/>
                </a:solidFill>
                <a:latin typeface="Consolas"/>
              </a:rPr>
              <a:t>  title: Process Invoice Upload</a:t>
            </a:r>
          </a:p>
          <a:p>
            <a:pPr algn="l"/>
            <a:r>
              <a:rPr sz="1400" b="0">
                <a:solidFill>
                  <a:srgbClr val="E5E7EB"/>
                </a:solidFill>
                <a:latin typeface="Consolas"/>
              </a:rPr>
              <a:t>  actor: User</a:t>
            </a:r>
          </a:p>
          <a:p>
            <a:pPr algn="l"/>
            <a:r>
              <a:rPr sz="1400" b="0">
                <a:solidFill>
                  <a:srgbClr val="E5E7EB"/>
                </a:solidFill>
                <a:latin typeface="Consolas"/>
              </a:rPr>
              <a:t>  boundary:</a:t>
            </a:r>
          </a:p>
          <a:p>
            <a:pPr algn="l"/>
            <a:r>
              <a:rPr sz="1400" b="0">
                <a:solidFill>
                  <a:srgbClr val="E5E7EB"/>
                </a:solidFill>
                <a:latin typeface="Consolas"/>
              </a:rPr>
              <a:t>    in_scope: [Format Validation, Error Response]</a:t>
            </a:r>
          </a:p>
          <a:p>
            <a:pPr algn="l"/>
            <a:r>
              <a:rPr sz="1400" b="0">
                <a:solidFill>
                  <a:srgbClr val="E5E7EB"/>
                </a:solidFill>
                <a:latin typeface="Consolas"/>
              </a:rPr>
              <a:t>    out_of_scope: [Payment Execution, Cloud Storage]</a:t>
            </a:r>
          </a:p>
          <a:p>
            <a:pPr algn="l"/>
            <a:r>
              <a:rPr sz="1400" b="0">
                <a:solidFill>
                  <a:srgbClr val="E5E7EB"/>
                </a:solidFill>
                <a:latin typeface="Consolas"/>
              </a:rPr>
              <a:t>  preconditions:</a:t>
            </a:r>
          </a:p>
          <a:p>
            <a:pPr algn="l"/>
            <a:r>
              <a:rPr sz="1400" b="0">
                <a:solidFill>
                  <a:srgbClr val="E5E7EB"/>
                </a:solidFill>
                <a:latin typeface="Consolas"/>
              </a:rPr>
              <a:t>    - User is authenticated</a:t>
            </a:r>
          </a:p>
          <a:p>
            <a:pPr algn="l"/>
            <a:r>
              <a:rPr sz="1400" b="0">
                <a:solidFill>
                  <a:srgbClr val="E5E7EB"/>
                </a:solidFill>
                <a:latin typeface="Consolas"/>
              </a:rPr>
              <a:t>  scenario:</a:t>
            </a:r>
          </a:p>
          <a:p>
            <a:pPr algn="l"/>
            <a:r>
              <a:rPr sz="1400" b="0">
                <a:solidFill>
                  <a:srgbClr val="E5E7EB"/>
                </a:solidFill>
                <a:latin typeface="Consolas"/>
              </a:rPr>
              <a:t>    given: A PDF file uploaded by the user</a:t>
            </a:r>
          </a:p>
          <a:p>
            <a:pPr algn="l"/>
            <a:r>
              <a:rPr sz="1400" b="0">
                <a:solidFill>
                  <a:srgbClr val="E5E7EB"/>
                </a:solidFill>
                <a:latin typeface="Consolas"/>
              </a:rPr>
              <a:t>    when: File size is under 10MB</a:t>
            </a:r>
          </a:p>
          <a:p>
            <a:pPr algn="l"/>
            <a:r>
              <a:rPr sz="1400" b="0">
                <a:solidFill>
                  <a:srgbClr val="E5E7EB"/>
                </a:solidFill>
                <a:latin typeface="Consolas"/>
              </a:rPr>
              <a:t>    then: Validate schema and return status code 200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Structured Specification Example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Concept Check: Specification-Driven Requirements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[C3]</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How does decomposing a large requirements document into modular specification artifacts mitigate 'complexity backpressure' in AI agents?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It increases the total number of lines of code generated per prompt.</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It reduces cognitive load and prevents context window degradation in AI models.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It allows AI agents to bypass syntax checking during execution.</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It guarantees that the generated code will run with zero latency.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Preparing Specifications for Autonomous AI Agents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[C5]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High-quality specifications enable autonomous agents to self-correct during generation.</a:t>
            </a:r>
          </a:p>
          <a:p>
            <a:pPr marL="292608" indent="-292608">
              <a:spcAft>
                <a:spcPts val="1000"/>
              </a:spcAft>
              <a:buClr>
                <a:srgbClr val="0F766E"/>
              </a:buClr>
              <a:buFont typeface="Arial"/>
              <a:buChar char="▪"/>
            </a:pPr>
            <a:r>
              <a:rPr sz="2400">
                <a:solidFill>
                  <a:srgbClr val="1F2937"/>
                </a:solidFill>
                <a:latin typeface="Calibri"/>
              </a:rPr>
              <a:t>Specifications feed directly into context protocols and test-generation pipelines.</a:t>
            </a:r>
          </a:p>
          <a:p>
            <a:pPr marL="292608" indent="-292608">
              <a:spcAft>
                <a:spcPts val="1000"/>
              </a:spcAft>
              <a:buClr>
                <a:srgbClr val="0F766E"/>
              </a:buClr>
              <a:buFont typeface="Arial"/>
              <a:buChar char="▪"/>
            </a:pPr>
            <a:r>
              <a:rPr sz="2400">
                <a:solidFill>
                  <a:srgbClr val="1F2937"/>
                </a:solidFill>
                <a:latin typeface="Calibri"/>
              </a:rPr>
              <a:t>Prepares specs for next class on executable specification frameworks.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Summary: Requirements Engineering for AI Systems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   ·   Sources: [C2] [C3]</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Unstructured descriptions must be systematically analyzed for actors and boundaries.</a:t>
            </a:r>
          </a:p>
          <a:p>
            <a:pPr marL="292608" indent="-292608">
              <a:spcAft>
                <a:spcPts val="1000"/>
              </a:spcAft>
              <a:buClr>
                <a:srgbClr val="0F766E"/>
              </a:buClr>
              <a:buFont typeface="Arial"/>
              <a:buChar char="▪"/>
            </a:pPr>
            <a:r>
              <a:rPr sz="2400">
                <a:solidFill>
                  <a:srgbClr val="1F2937"/>
                </a:solidFill>
                <a:latin typeface="Calibri"/>
              </a:rPr>
              <a:t>Specification-Driven Development treats formal specs as immutable contracts.</a:t>
            </a:r>
          </a:p>
          <a:p>
            <a:pPr marL="292608" indent="-292608">
              <a:spcAft>
                <a:spcPts val="1000"/>
              </a:spcAft>
              <a:buClr>
                <a:srgbClr val="0F766E"/>
              </a:buClr>
              <a:buFont typeface="Arial"/>
              <a:buChar char="▪"/>
            </a:pPr>
            <a:r>
              <a:rPr sz="2400">
                <a:solidFill>
                  <a:srgbClr val="1F2937"/>
                </a:solidFill>
                <a:latin typeface="Calibri"/>
              </a:rPr>
              <a:t>Modularizing specs mitigates complexity backpressure and prevents AI hallucination.</a:t>
            </a:r>
          </a:p>
          <a:p>
            <a:pPr marL="292608" indent="-292608">
              <a:spcAft>
                <a:spcPts val="1000"/>
              </a:spcAft>
              <a:buClr>
                <a:srgbClr val="0F766E"/>
              </a:buClr>
              <a:buFont typeface="Arial"/>
              <a:buChar char="▪"/>
            </a:pPr>
            <a:r>
              <a:rPr sz="2400">
                <a:solidFill>
                  <a:srgbClr val="1F2937"/>
                </a:solidFill>
                <a:latin typeface="Calibri"/>
              </a:rPr>
              <a:t>Next session: Connecting specification artifacts to spec-driven development frameworks.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