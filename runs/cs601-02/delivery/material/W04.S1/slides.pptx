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Assign1, Midsem, Endsem, Assign2.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Today we cover custom tool integrations using the Model Context Protocol (MCP) and requirements specification. MCP provides an open standard for connecting AI agent workspaces to local or remote tools safely and deterministically. Rather than writing ad-hoc wrappers for every tool, MCP standardizes how tools expose their capabilities, arguments, and return types.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relies on a client-server structure. The client is typically the workspace IDE or agent runtime. The tool server executes functions locally or remotely. Defining strict JSON schemas for inputs ensures that LLM agent function calls can be validated prior to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worked example of defining an MCP server using FastMCP in Python. Notice how parameter types and docstrings serve as the specification for the AI agent. The function signature and docstring tell the LLM what inputs are required and what the tool accomplishes.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MCP server is written, we register it inside the workspace configuration file. To achieve a zero-warning build with static analysis, ensure path definitions, environment variables, and schema types pass validation. A clean configuration ensures agents invoke tools reliably without runtime failures.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our understanding of MCP tool handling. Take a moment to select the correct answer on how parameters are validated.</a:t>
            </a:r>
          </a:p>
          <a:p/>
          <a:p>
            <a:r>
              <a:t>Answer: A. The client runtime or model context protocol layer before function invocation</a:t>
            </a:r>
          </a:p>
          <a:p>
            <a:r>
              <a:t>Option 0 is correct because the MCP client layer uses the schema defined by the server to validate generated arguments. Option 1 is wrong because raw model weights generate text but do not enforce structured runtime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transition to the second part of our lecture: standards and specification guidelines for use cases. Development projects often start with unstructured text from product owners. Our task is to establish clear system boundaries and extract well-defined use cases.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rule in system modeling: actors are external entities that interact with your system. Humans like 'Customer' or external systems like 'Payment Gateway' or operational actors like 'System Administrator' are actors. The system under design is inside the boundary, so it can never be an actor.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a standardized specification format keeps requirements unambiguous. Every short use case should capture the goal, external actors, preconditions, step-by-step interaction flow, and postconditions.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we break down a product statement for a logistics platform. Notice how human roles like 'Admins' map to System Administrator, third-party services like couriers map to 'Carrier', and actions become defined use cases.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step-by-step worked problem showing a fully structured use case. Pay close attention to the actors: 'System Administrator' is the primary actor initiating the action, and 'Carrier' is the secondary actor responding with tracking details. Neither the software platform nor the internal system is listed as an actor because actors must be external entities.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reinforce the system boundary concept. Remember that actors interact with the system from the outside.</a:t>
            </a:r>
          </a:p>
          <a:p/>
          <a:p>
            <a:r>
              <a:t>Answer: A. The Order Fulfillment Application itself</a:t>
            </a:r>
          </a:p>
          <a:p>
            <a:r>
              <a:t>Option 0 is correct because the system under design lies inside the system boundary and cannot be an actor. Options 1, 2, and 3 are all valid external entities (human or third-party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converting requirements into executable specs, watch out for vague claims. AI coding assistants fail or hallucinate when specifications contain ambiguous terms. Clarifying boundaries and metrics ensures both human developers and AI agents produce correct code.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time for an in-class hands-on exercise. Take 10 minutes to work through the provided warehouse management product blurb. Identify the external actors—remembering never to list the system itself as an actor—and write down a structured YAML use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MCP gives us a clean, standard protocol for extending agent capabilities with custom tools. Meanwhile, standard use case guidelines help us translate unstructured requirements into clear system boundaries with external actors like carriers and system administrators. In the upcoming lab, you will build and test custom MCP tools hands-on!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100" b="1">
                <a:solidFill>
                  <a:srgbClr val="CCFBF1"/>
                </a:solidFill>
                <a:latin typeface="Calibri"/>
              </a:rPr>
              <a:t>Custom Tool Integrations using Model Context Protocols &amp; Use Case Standards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4 · Agent Workspaces and Tool Integrations · Requirements and Specification-Driven Development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Configure custom tool integrations within agent workspaces using model context protocols, with all public tests passing and no warnings from the configured static analyser (CO1.LO2)</a:t>
            </a:r>
          </a:p>
          <a:p>
            <a:pPr marL="292608" indent="-292608">
              <a:spcAft>
                <a:spcPts val="1000"/>
              </a:spcAft>
              <a:buClr>
                <a:srgbClr val="0F766E"/>
              </a:buClr>
              <a:buFont typeface="Arial"/>
              <a:buChar char="▪"/>
            </a:pPr>
            <a:r>
              <a:rPr sz="2400">
                <a:solidFill>
                  <a:srgbClr val="1F2937"/>
                </a:solidFill>
                <a:latin typeface="Calibri"/>
              </a:rPr>
              <a:t>Outline use cases and system boundaries from unstructured product descriptions using standards and specification guidelines for most short items (CO2.LO3)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Model Context Protocol for Agent Tool Integrations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Protocol (MCP) standardizes how AI agents communicate with external development tools and servers.</a:t>
            </a:r>
          </a:p>
          <a:p>
            <a:pPr marL="292608" indent="-292608">
              <a:spcAft>
                <a:spcPts val="1000"/>
              </a:spcAft>
              <a:buClr>
                <a:srgbClr val="0F766E"/>
              </a:buClr>
              <a:buFont typeface="Arial"/>
              <a:buChar char="▪"/>
            </a:pPr>
            <a:r>
              <a:rPr sz="2400">
                <a:solidFill>
                  <a:srgbClr val="1F2937"/>
                </a:solidFill>
                <a:latin typeface="Calibri"/>
              </a:rPr>
              <a:t>Context servers expose tools, resources, and prompt templates through a standardized JSON-RPC schema.</a:t>
            </a:r>
          </a:p>
          <a:p>
            <a:pPr marL="292608" indent="-292608">
              <a:spcAft>
                <a:spcPts val="1000"/>
              </a:spcAft>
              <a:buClr>
                <a:srgbClr val="0F766E"/>
              </a:buClr>
              <a:buFont typeface="Arial"/>
              <a:buChar char="▪"/>
            </a:pPr>
            <a:r>
              <a:rPr sz="2400">
                <a:solidFill>
                  <a:srgbClr val="1F2937"/>
                </a:solidFill>
                <a:latin typeface="Calibri"/>
              </a:rPr>
              <a:t>Standardized interfaces decouple model capabilities from specific workspace implementations.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AI Agent Workspace</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Protocol Interface</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Tool Server</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External API/DB</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Architecture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Architecture of MCP Tool Servers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architecture separates the host client from isolated server tools.</a:t>
            </a:r>
          </a:p>
          <a:p>
            <a:pPr marL="292608" indent="-292608">
              <a:spcAft>
                <a:spcPts val="1000"/>
              </a:spcAft>
              <a:buClr>
                <a:srgbClr val="0F766E"/>
              </a:buClr>
              <a:buFont typeface="Arial"/>
              <a:buChar char="▪"/>
            </a:pPr>
            <a:r>
              <a:rPr sz="2400">
                <a:solidFill>
                  <a:srgbClr val="1F2937"/>
                </a:solidFill>
                <a:latin typeface="Calibri"/>
              </a:rPr>
              <a:t>Tools are registered with strict JSON Schema parameter definitions for model validation.</a:t>
            </a:r>
          </a:p>
          <a:p>
            <a:pPr marL="292608" indent="-292608">
              <a:spcAft>
                <a:spcPts val="1000"/>
              </a:spcAft>
              <a:buClr>
                <a:srgbClr val="0F766E"/>
              </a:buClr>
              <a:buFont typeface="Arial"/>
              <a:buChar char="▪"/>
            </a:pPr>
            <a:r>
              <a:rPr sz="2400">
                <a:solidFill>
                  <a:srgbClr val="1F2937"/>
                </a:solidFill>
                <a:latin typeface="Calibri"/>
              </a:rPr>
              <a:t>Transport options include stdio for local tools and Server-Sent Events (SSE) for remote services.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MCP Client</a:t>
                      </a:r>
                    </a:p>
                  </a:txBody>
                  <a:tcPr>
                    <a:solidFill>
                      <a:srgbClr val="0F766E"/>
                    </a:solidFill>
                  </a:tcPr>
                </a:tc>
                <a:tc>
                  <a:txBody>
                    <a:bodyPr/>
                    <a:lstStyle/>
                    <a:p>
                      <a:r>
                        <a:rPr sz="1400" b="1">
                          <a:solidFill>
                            <a:srgbClr val="CCFBF1"/>
                          </a:solidFill>
                          <a:latin typeface="Calibri"/>
                        </a:rPr>
                        <a:t>Workspace host requesting actions</a:t>
                      </a:r>
                    </a:p>
                  </a:txBody>
                  <a:tcPr>
                    <a:solidFill>
                      <a:srgbClr val="0F766E"/>
                    </a:solidFill>
                  </a:tcPr>
                </a:tc>
                <a:tc>
                  <a:txBody>
                    <a:bodyPr/>
                    <a:lstStyle/>
                    <a:p>
                      <a:r>
                        <a:rPr sz="1400" b="1">
                          <a:solidFill>
                            <a:srgbClr val="CCFBF1"/>
                          </a:solidFill>
                          <a:latin typeface="Calibri"/>
                        </a:rPr>
                        <a:t>VS Code Agent Extension</a:t>
                      </a:r>
                    </a:p>
                  </a:txBody>
                  <a:tcPr>
                    <a:solidFill>
                      <a:srgbClr val="0F766E"/>
                    </a:solidFill>
                  </a:tcPr>
                </a:tc>
              </a:tr>
              <a:tr h="502920">
                <a:tc>
                  <a:txBody>
                    <a:bodyPr/>
                    <a:lstStyle/>
                    <a:p>
                      <a:r>
                        <a:rPr sz="1400" b="0">
                          <a:solidFill>
                            <a:srgbClr val="1F2937"/>
                          </a:solidFill>
                          <a:latin typeface="Calibri"/>
                        </a:rPr>
                        <a:t>MCP Server</a:t>
                      </a:r>
                    </a:p>
                  </a:txBody>
                  <a:tcPr>
                    <a:solidFill>
                      <a:srgbClr val="F3F4F6"/>
                    </a:solidFill>
                  </a:tcPr>
                </a:tc>
                <a:tc>
                  <a:txBody>
                    <a:bodyPr/>
                    <a:lstStyle/>
                    <a:p>
                      <a:r>
                        <a:rPr sz="1400" b="0">
                          <a:solidFill>
                            <a:srgbClr val="1F2937"/>
                          </a:solidFill>
                          <a:latin typeface="Calibri"/>
                        </a:rPr>
                        <a:t>Exposes executable tools &amp; data</a:t>
                      </a:r>
                    </a:p>
                  </a:txBody>
                  <a:tcPr>
                    <a:solidFill>
                      <a:srgbClr val="F3F4F6"/>
                    </a:solidFill>
                  </a:tcPr>
                </a:tc>
                <a:tc>
                  <a:txBody>
                    <a:bodyPr/>
                    <a:lstStyle/>
                    <a:p>
                      <a:r>
                        <a:rPr sz="1400" b="0">
                          <a:solidFill>
                            <a:srgbClr val="1F2937"/>
                          </a:solidFill>
                          <a:latin typeface="Calibri"/>
                        </a:rPr>
                        <a:t>Custom Git/Database Server</a:t>
                      </a:r>
                    </a:p>
                  </a:txBody>
                  <a:tcPr>
                    <a:solidFill>
                      <a:srgbClr val="F3F4F6"/>
                    </a:solidFill>
                  </a:tcPr>
                </a:tc>
              </a:tr>
              <a:tr h="502920">
                <a:tc>
                  <a:txBody>
                    <a:bodyPr/>
                    <a:lstStyle/>
                    <a:p>
                      <a:r>
                        <a:rPr sz="1400" b="0">
                          <a:solidFill>
                            <a:srgbClr val="1F2937"/>
                          </a:solidFill>
                          <a:latin typeface="Calibri"/>
                        </a:rPr>
                        <a:t>Tool Definition</a:t>
                      </a:r>
                    </a:p>
                  </a:txBody>
                  <a:tcPr>
                    <a:solidFill>
                      <a:srgbClr val="F3F4F6"/>
                    </a:solidFill>
                  </a:tcPr>
                </a:tc>
                <a:tc>
                  <a:txBody>
                    <a:bodyPr/>
                    <a:lstStyle/>
                    <a:p>
                      <a:r>
                        <a:rPr sz="1400" b="0">
                          <a:solidFill>
                            <a:srgbClr val="1F2937"/>
                          </a:solidFill>
                          <a:latin typeface="Calibri"/>
                        </a:rPr>
                        <a:t>JSON schema defining input parameters</a:t>
                      </a:r>
                    </a:p>
                  </a:txBody>
                  <a:tcPr>
                    <a:solidFill>
                      <a:srgbClr val="F3F4F6"/>
                    </a:solidFill>
                  </a:tcPr>
                </a:tc>
                <a:tc>
                  <a:txBody>
                    <a:bodyPr/>
                    <a:lstStyle/>
                    <a:p>
                      <a:r>
                        <a:rPr sz="1400" b="0">
                          <a:solidFill>
                            <a:srgbClr val="1F2937"/>
                          </a:solidFill>
                          <a:latin typeface="Calibri"/>
                        </a:rPr>
                        <a:t>run_linter(path, rules)</a:t>
                      </a:r>
                    </a:p>
                  </a:txBody>
                  <a:tcPr>
                    <a:solidFill>
                      <a:srgbClr val="F3F4F6"/>
                    </a:solidFill>
                  </a:tcPr>
                </a:tc>
              </a:tr>
              <a:tr h="502920">
                <a:tc>
                  <a:txBody>
                    <a:bodyPr/>
                    <a:lstStyle/>
                    <a:p>
                      <a:r>
                        <a:rPr sz="1400" b="0">
                          <a:solidFill>
                            <a:srgbClr val="1F2937"/>
                          </a:solidFill>
                          <a:latin typeface="Calibri"/>
                        </a:rPr>
                        <a:t>Transport Layer</a:t>
                      </a:r>
                    </a:p>
                  </a:txBody>
                  <a:tcPr>
                    <a:solidFill>
                      <a:srgbClr val="F3F4F6"/>
                    </a:solidFill>
                  </a:tcPr>
                </a:tc>
                <a:tc>
                  <a:txBody>
                    <a:bodyPr/>
                    <a:lstStyle/>
                    <a:p>
                      <a:r>
                        <a:rPr sz="1400" b="0">
                          <a:solidFill>
                            <a:srgbClr val="1F2937"/>
                          </a:solidFill>
                          <a:latin typeface="Calibri"/>
                        </a:rPr>
                        <a:t>Communication channel</a:t>
                      </a:r>
                    </a:p>
                  </a:txBody>
                  <a:tcPr>
                    <a:solidFill>
                      <a:srgbClr val="F3F4F6"/>
                    </a:solidFill>
                  </a:tcPr>
                </a:tc>
                <a:tc>
                  <a:txBody>
                    <a:bodyPr/>
                    <a:lstStyle/>
                    <a:p>
                      <a:r>
                        <a:rPr sz="1400" b="0">
                          <a:solidFill>
                            <a:srgbClr val="1F2937"/>
                          </a:solidFill>
                          <a:latin typeface="Calibri"/>
                        </a:rPr>
                        <a:t>stdio / HTTP-SSE</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 System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Implementing an MCP Tool Server</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explicit input/output schemas using typed function signatures.</a:t>
            </a:r>
          </a:p>
          <a:p>
            <a:pPr marL="292608" indent="-292608">
              <a:spcAft>
                <a:spcPts val="1000"/>
              </a:spcAft>
              <a:buClr>
                <a:srgbClr val="0F766E"/>
              </a:buClr>
              <a:buFont typeface="Arial"/>
              <a:buChar char="▪"/>
            </a:pPr>
            <a:r>
              <a:rPr sz="2400">
                <a:solidFill>
                  <a:srgbClr val="1F2937"/>
                </a:solidFill>
                <a:latin typeface="Calibri"/>
              </a:rPr>
              <a:t>Implement error handling directly in the tool handler to avoid runtime crashes.</a:t>
            </a:r>
          </a:p>
          <a:p>
            <a:pPr marL="292608" indent="-292608">
              <a:spcAft>
                <a:spcPts val="1000"/>
              </a:spcAft>
              <a:buClr>
                <a:srgbClr val="0F766E"/>
              </a:buClr>
              <a:buFont typeface="Arial"/>
              <a:buChar char="▪"/>
            </a:pPr>
            <a:r>
              <a:rPr sz="2400">
                <a:solidFill>
                  <a:srgbClr val="1F2937"/>
                </a:solidFill>
                <a:latin typeface="Calibri"/>
              </a:rPr>
              <a:t>Return formatted strings or JSON structures that agents can interpret directly.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300" b="0">
                <a:solidFill>
                  <a:srgbClr val="E5E7EB"/>
                </a:solidFill>
                <a:latin typeface="Consolas"/>
              </a:rPr>
              <a:t>from mcp.server.fastmcp import FastMCP</a:t>
            </a:r>
          </a:p>
          <a:p>
            <a:pPr algn="l"/>
            <a:r>
              <a:rPr sz="1300" b="0">
                <a:solidFill>
                  <a:srgbClr val="E5E7EB"/>
                </a:solidFill>
                <a:latin typeface="Consolas"/>
              </a:rPr>
              <a:t/>
            </a:r>
          </a:p>
          <a:p>
            <a:pPr algn="l"/>
            <a:r>
              <a:rPr sz="1300" b="0">
                <a:solidFill>
                  <a:srgbClr val="E5E7EB"/>
                </a:solidFill>
                <a:latin typeface="Consolas"/>
              </a:rPr>
              <a:t>mcp = FastMCP("code-analysis-server")</a:t>
            </a:r>
          </a:p>
          <a:p>
            <a:pPr algn="l"/>
            <a:r>
              <a:rPr sz="1300" b="0">
                <a:solidFill>
                  <a:srgbClr val="E5E7EB"/>
                </a:solidFill>
                <a:latin typeface="Consolas"/>
              </a:rPr>
              <a:t/>
            </a:r>
          </a:p>
          <a:p>
            <a:pPr algn="l"/>
            <a:r>
              <a:rPr sz="1300" b="0">
                <a:solidFill>
                  <a:srgbClr val="E5E7EB"/>
                </a:solidFill>
                <a:latin typeface="Consolas"/>
              </a:rPr>
              <a:t>@mcp.tool()</a:t>
            </a:r>
          </a:p>
          <a:p>
            <a:pPr algn="l"/>
            <a:r>
              <a:rPr sz="1300" b="0">
                <a:solidFill>
                  <a:srgbClr val="E5E7EB"/>
                </a:solidFill>
                <a:latin typeface="Consolas"/>
              </a:rPr>
              <a:t>def run_static_analysis(file_path: str) -&gt; str:</a:t>
            </a:r>
          </a:p>
          <a:p>
            <a:pPr algn="l"/>
            <a:r>
              <a:rPr sz="1300" b="0">
                <a:solidFill>
                  <a:srgbClr val="E5E7EB"/>
                </a:solidFill>
                <a:latin typeface="Consolas"/>
              </a:rPr>
              <a:t>    """Run static analysis on a file and return report."""</a:t>
            </a:r>
          </a:p>
          <a:p>
            <a:pPr algn="l"/>
            <a:r>
              <a:rPr sz="1300" b="0">
                <a:solidFill>
                  <a:srgbClr val="E5E7EB"/>
                </a:solidFill>
                <a:latin typeface="Consolas"/>
              </a:rPr>
              <a:t>    if not file_path.endswith(".py"):</a:t>
            </a:r>
          </a:p>
          <a:p>
            <a:pPr algn="l"/>
            <a:r>
              <a:rPr sz="1300" b="0">
                <a:solidFill>
                  <a:srgbClr val="E5E7EB"/>
                </a:solidFill>
                <a:latin typeface="Consolas"/>
              </a:rPr>
              <a:t>        return "Error: Only Python files supported"</a:t>
            </a:r>
          </a:p>
          <a:p>
            <a:pPr algn="l"/>
            <a:r>
              <a:rPr sz="1300" b="0">
                <a:solidFill>
                  <a:srgbClr val="E5E7EB"/>
                </a:solidFill>
                <a:latin typeface="Consolas"/>
              </a:rPr>
              <a:t>    # Execute linter and return clean result</a:t>
            </a:r>
          </a:p>
          <a:p>
            <a:pPr algn="l"/>
            <a:r>
              <a:rPr sz="1300" b="0">
                <a:solidFill>
                  <a:srgbClr val="E5E7EB"/>
                </a:solidFill>
                <a:latin typeface="Consolas"/>
              </a:rPr>
              <a:t>    return "0 errors, 0 warnings"</a:t>
            </a:r>
          </a:p>
          <a:p>
            <a:pPr algn="l"/>
            <a:r>
              <a:rPr sz="1300" b="0">
                <a:solidFill>
                  <a:srgbClr val="E5E7EB"/>
                </a:solidFill>
                <a:latin typeface="Consolas"/>
              </a:rPr>
              <a:t/>
            </a:r>
          </a:p>
          <a:p>
            <a:pPr algn="l"/>
            <a:r>
              <a:rPr sz="1300" b="0">
                <a:solidFill>
                  <a:srgbClr val="E5E7EB"/>
                </a:solidFill>
                <a:latin typeface="Consolas"/>
              </a:rPr>
              <a:t>if __name__ == "__main__":</a:t>
            </a:r>
          </a:p>
          <a:p>
            <a:pPr algn="l"/>
            <a:r>
              <a:rPr sz="1300" b="0">
                <a:solidFill>
                  <a:srgbClr val="E5E7EB"/>
                </a:solidFill>
                <a:latin typeface="Consolas"/>
              </a:rPr>
              <a:t>    mcp.run()</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Python FastMCP Tool Implementation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Configuring Tool Workspaces without Warnings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Configuration files map local tool commands into the agent's active workspace.</a:t>
            </a:r>
          </a:p>
          <a:p>
            <a:pPr marL="292608" indent="-292608">
              <a:spcAft>
                <a:spcPts val="1000"/>
              </a:spcAft>
              <a:buClr>
                <a:srgbClr val="0F766E"/>
              </a:buClr>
              <a:buFont typeface="Arial"/>
              <a:buChar char="▪"/>
            </a:pPr>
            <a:r>
              <a:rPr sz="2400">
                <a:solidFill>
                  <a:srgbClr val="1F2937"/>
                </a:solidFill>
                <a:latin typeface="Calibri"/>
              </a:rPr>
              <a:t>Environmental variables and paths must be set explicitly to satisfy static analysis.</a:t>
            </a:r>
          </a:p>
          <a:p>
            <a:pPr marL="292608" indent="-292608">
              <a:spcAft>
                <a:spcPts val="1000"/>
              </a:spcAft>
              <a:buClr>
                <a:srgbClr val="0F766E"/>
              </a:buClr>
              <a:buFont typeface="Arial"/>
              <a:buChar char="▪"/>
            </a:pPr>
            <a:r>
              <a:rPr sz="2400">
                <a:solidFill>
                  <a:srgbClr val="1F2937"/>
                </a:solidFill>
                <a:latin typeface="Calibri"/>
              </a:rPr>
              <a:t>Passing static analysis verification requires clean type annotations and valid JSON syntax.</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"mcpServers": {</a:t>
            </a:r>
          </a:p>
          <a:p>
            <a:pPr algn="l"/>
            <a:r>
              <a:rPr sz="1400" b="0">
                <a:solidFill>
                  <a:srgbClr val="E5E7EB"/>
                </a:solidFill>
                <a:latin typeface="Consolas"/>
              </a:rPr>
              <a:t>    "linter_tool": {</a:t>
            </a:r>
          </a:p>
          <a:p>
            <a:pPr algn="l"/>
            <a:r>
              <a:rPr sz="1400" b="0">
                <a:solidFill>
                  <a:srgbClr val="E5E7EB"/>
                </a:solidFill>
                <a:latin typeface="Consolas"/>
              </a:rPr>
              <a:t>      "command": "python",</a:t>
            </a:r>
          </a:p>
          <a:p>
            <a:pPr algn="l"/>
            <a:r>
              <a:rPr sz="1400" b="0">
                <a:solidFill>
                  <a:srgbClr val="E5E7EB"/>
                </a:solidFill>
                <a:latin typeface="Consolas"/>
              </a:rPr>
              <a:t>      "args": ["-m", "my_mcp_linter"],</a:t>
            </a:r>
          </a:p>
          <a:p>
            <a:pPr algn="l"/>
            <a:r>
              <a:rPr sz="1400" b="0">
                <a:solidFill>
                  <a:srgbClr val="E5E7EB"/>
                </a:solidFill>
                <a:latin typeface="Consolas"/>
              </a:rPr>
              <a:t>      "env": {</a:t>
            </a:r>
          </a:p>
          <a:p>
            <a:pPr algn="l"/>
            <a:r>
              <a:rPr sz="1400" b="0">
                <a:solidFill>
                  <a:srgbClr val="E5E7EB"/>
                </a:solidFill>
                <a:latin typeface="Consolas"/>
              </a:rPr>
              <a:t>        "PYTHONPATH":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  }</a:t>
            </a:r>
          </a:p>
          <a:p>
            <a:pPr algn="l"/>
            <a:r>
              <a:rPr sz="14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Workspace Agent Tool Configuration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Understanding: MCP Server Configuration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Which component in an MCP architecture is responsible for validating tool parameters against a JSON schema prior to execution?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The client runtime or model context protocol layer before function invocation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The raw LLM base weights during text generation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The host operating system kernel process manager</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The static markdown documentation generator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Product Descriptions to System Boundaries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Raw product descriptions are often informal, ambiguous, and incomplete.</a:t>
            </a:r>
          </a:p>
          <a:p>
            <a:pPr marL="292608" indent="-292608">
              <a:spcAft>
                <a:spcPts val="1000"/>
              </a:spcAft>
              <a:buClr>
                <a:srgbClr val="0F766E"/>
              </a:buClr>
              <a:buFont typeface="Arial"/>
              <a:buChar char="▪"/>
            </a:pPr>
            <a:r>
              <a:rPr sz="2400">
                <a:solidFill>
                  <a:srgbClr val="1F2937"/>
                </a:solidFill>
                <a:latin typeface="Calibri"/>
              </a:rPr>
              <a:t>System boundaries define what is inside the application versus what remains external.</a:t>
            </a:r>
          </a:p>
          <a:p>
            <a:pPr marL="292608" indent="-292608">
              <a:spcAft>
                <a:spcPts val="1000"/>
              </a:spcAft>
              <a:buClr>
                <a:srgbClr val="0F766E"/>
              </a:buClr>
              <a:buFont typeface="Arial"/>
              <a:buChar char="▪"/>
            </a:pPr>
            <a:r>
              <a:rPr sz="2400">
                <a:solidFill>
                  <a:srgbClr val="1F2937"/>
                </a:solidFill>
                <a:latin typeface="Calibri"/>
              </a:rPr>
              <a:t>Translating requirements into structured use cases bridges business goals and technical specs.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Unstructured Text</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Identify Entities</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Scope &amp; Boundaries</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Formal Use Cases</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Requirements Structuring 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Defining Actors and External Interfaces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Actors must always be external entities (human users or external systems) interacting with the system.</a:t>
            </a:r>
          </a:p>
          <a:p>
            <a:pPr marL="292608" indent="-292608">
              <a:spcAft>
                <a:spcPts val="1000"/>
              </a:spcAft>
              <a:buClr>
                <a:srgbClr val="0F766E"/>
              </a:buClr>
              <a:buFont typeface="Arial"/>
              <a:buChar char="▪"/>
            </a:pPr>
            <a:r>
              <a:rPr sz="2400">
                <a:solidFill>
                  <a:srgbClr val="1F2937"/>
                </a:solidFill>
                <a:latin typeface="Calibri"/>
              </a:rPr>
              <a:t>The software system being designed is NEVER an actor itself.</a:t>
            </a:r>
          </a:p>
          <a:p>
            <a:pPr marL="292608" indent="-292608">
              <a:spcAft>
                <a:spcPts val="1000"/>
              </a:spcAft>
              <a:buClr>
                <a:srgbClr val="0F766E"/>
              </a:buClr>
              <a:buFont typeface="Arial"/>
              <a:buChar char="▪"/>
            </a:pPr>
            <a:r>
              <a:rPr sz="2400">
                <a:solidFill>
                  <a:srgbClr val="1F2937"/>
                </a:solidFill>
                <a:latin typeface="Calibri"/>
              </a:rPr>
              <a:t>Primary actors trigger use cases; secondary actors assist in completing them.</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Primary Actor</a:t>
                      </a:r>
                    </a:p>
                  </a:txBody>
                  <a:tcPr>
                    <a:solidFill>
                      <a:srgbClr val="0F766E"/>
                    </a:solidFill>
                  </a:tcPr>
                </a:tc>
                <a:tc>
                  <a:txBody>
                    <a:bodyPr/>
                    <a:lstStyle/>
                    <a:p>
                      <a:r>
                        <a:rPr sz="1400" b="1">
                          <a:solidFill>
                            <a:srgbClr val="CCFBF1"/>
                          </a:solidFill>
                          <a:latin typeface="Calibri"/>
                        </a:rPr>
                        <a:t>User initiating interaction to achieve a goal</a:t>
                      </a:r>
                    </a:p>
                  </a:txBody>
                  <a:tcPr>
                    <a:solidFill>
                      <a:srgbClr val="0F766E"/>
                    </a:solidFill>
                  </a:tcPr>
                </a:tc>
                <a:tc>
                  <a:txBody>
                    <a:bodyPr/>
                    <a:lstStyle/>
                    <a:p>
                      <a:r>
                        <a:rPr sz="1400" b="1">
                          <a:solidFill>
                            <a:srgbClr val="CCFBF1"/>
                          </a:solidFill>
                          <a:latin typeface="Calibri"/>
                        </a:rPr>
                        <a:t>Store Customer</a:t>
                      </a:r>
                    </a:p>
                  </a:txBody>
                  <a:tcPr>
                    <a:solidFill>
                      <a:srgbClr val="0F766E"/>
                    </a:solidFill>
                  </a:tcPr>
                </a:tc>
              </a:tr>
              <a:tr h="502920">
                <a:tc>
                  <a:txBody>
                    <a:bodyPr/>
                    <a:lstStyle/>
                    <a:p>
                      <a:r>
                        <a:rPr sz="1400" b="0">
                          <a:solidFill>
                            <a:srgbClr val="1F2937"/>
                          </a:solidFill>
                          <a:latin typeface="Calibri"/>
                        </a:rPr>
                        <a:t>Secondary Actor</a:t>
                      </a:r>
                    </a:p>
                  </a:txBody>
                  <a:tcPr>
                    <a:solidFill>
                      <a:srgbClr val="F3F4F6"/>
                    </a:solidFill>
                  </a:tcPr>
                </a:tc>
                <a:tc>
                  <a:txBody>
                    <a:bodyPr/>
                    <a:lstStyle/>
                    <a:p>
                      <a:r>
                        <a:rPr sz="1400" b="0">
                          <a:solidFill>
                            <a:srgbClr val="1F2937"/>
                          </a:solidFill>
                          <a:latin typeface="Calibri"/>
                        </a:rPr>
                        <a:t>External system or role providing services</a:t>
                      </a:r>
                    </a:p>
                  </a:txBody>
                  <a:tcPr>
                    <a:solidFill>
                      <a:srgbClr val="F3F4F6"/>
                    </a:solidFill>
                  </a:tcPr>
                </a:tc>
                <a:tc>
                  <a:txBody>
                    <a:bodyPr/>
                    <a:lstStyle/>
                    <a:p>
                      <a:r>
                        <a:rPr sz="1400" b="0">
                          <a:solidFill>
                            <a:srgbClr val="1F2937"/>
                          </a:solidFill>
                          <a:latin typeface="Calibri"/>
                        </a:rPr>
                        <a:t>Payment Gateway</a:t>
                      </a:r>
                    </a:p>
                  </a:txBody>
                  <a:tcPr>
                    <a:solidFill>
                      <a:srgbClr val="F3F4F6"/>
                    </a:solidFill>
                  </a:tcPr>
                </a:tc>
              </a:tr>
              <a:tr h="502920">
                <a:tc>
                  <a:txBody>
                    <a:bodyPr/>
                    <a:lstStyle/>
                    <a:p>
                      <a:r>
                        <a:rPr sz="1400" b="0">
                          <a:solidFill>
                            <a:srgbClr val="1F2937"/>
                          </a:solidFill>
                          <a:latin typeface="Calibri"/>
                        </a:rPr>
                        <a:t>System Boundary</a:t>
                      </a:r>
                    </a:p>
                  </a:txBody>
                  <a:tcPr>
                    <a:solidFill>
                      <a:srgbClr val="F3F4F6"/>
                    </a:solidFill>
                  </a:tcPr>
                </a:tc>
                <a:tc>
                  <a:txBody>
                    <a:bodyPr/>
                    <a:lstStyle/>
                    <a:p>
                      <a:r>
                        <a:rPr sz="1400" b="0">
                          <a:solidFill>
                            <a:srgbClr val="1F2937"/>
                          </a:solidFill>
                          <a:latin typeface="Calibri"/>
                        </a:rPr>
                        <a:t>Limit dividing internal logic from actors</a:t>
                      </a:r>
                    </a:p>
                  </a:txBody>
                  <a:tcPr>
                    <a:solidFill>
                      <a:srgbClr val="F3F4F6"/>
                    </a:solidFill>
                  </a:tcPr>
                </a:tc>
                <a:tc>
                  <a:txBody>
                    <a:bodyPr/>
                    <a:lstStyle/>
                    <a:p>
                      <a:r>
                        <a:rPr sz="1400" b="0">
                          <a:solidFill>
                            <a:srgbClr val="1F2937"/>
                          </a:solidFill>
                          <a:latin typeface="Calibri"/>
                        </a:rPr>
                        <a:t>E-commerce API</a:t>
                      </a:r>
                    </a:p>
                  </a:txBody>
                  <a:tcPr>
                    <a:solidFill>
                      <a:srgbClr val="F3F4F6"/>
                    </a:solidFill>
                  </a:tcPr>
                </a:tc>
              </a:tr>
              <a:tr h="502920">
                <a:tc>
                  <a:txBody>
                    <a:bodyPr/>
                    <a:lstStyle/>
                    <a:p>
                      <a:r>
                        <a:rPr sz="1400" b="0">
                          <a:solidFill>
                            <a:srgbClr val="1F2937"/>
                          </a:solidFill>
                          <a:latin typeface="Calibri"/>
                        </a:rPr>
                        <a:t>System Administrator</a:t>
                      </a:r>
                    </a:p>
                  </a:txBody>
                  <a:tcPr>
                    <a:solidFill>
                      <a:srgbClr val="F3F4F6"/>
                    </a:solidFill>
                  </a:tcPr>
                </a:tc>
                <a:tc>
                  <a:txBody>
                    <a:bodyPr/>
                    <a:lstStyle/>
                    <a:p>
                      <a:r>
                        <a:rPr sz="1400" b="0">
                          <a:solidFill>
                            <a:srgbClr val="1F2937"/>
                          </a:solidFill>
                          <a:latin typeface="Calibri"/>
                        </a:rPr>
                        <a:t>Actor managing configuration and access</a:t>
                      </a:r>
                    </a:p>
                  </a:txBody>
                  <a:tcPr>
                    <a:solidFill>
                      <a:srgbClr val="F3F4F6"/>
                    </a:solidFill>
                  </a:tcPr>
                </a:tc>
                <a:tc>
                  <a:txBody>
                    <a:bodyPr/>
                    <a:lstStyle/>
                    <a:p>
                      <a:r>
                        <a:rPr sz="1400" b="0">
                          <a:solidFill>
                            <a:srgbClr val="1F2937"/>
                          </a:solidFill>
                          <a:latin typeface="Calibri"/>
                        </a:rPr>
                        <a:t>System Administrator</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Actor Identification Matrix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Standard Specification Guidelines for Use Cases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Standard use case templates ensure consistency across development teams.</a:t>
            </a:r>
          </a:p>
          <a:p>
            <a:pPr marL="292608" indent="-292608">
              <a:spcAft>
                <a:spcPts val="1000"/>
              </a:spcAft>
              <a:buClr>
                <a:srgbClr val="0F766E"/>
              </a:buClr>
              <a:buFont typeface="Arial"/>
              <a:buChar char="▪"/>
            </a:pPr>
            <a:r>
              <a:rPr sz="2300">
                <a:solidFill>
                  <a:srgbClr val="1F2937"/>
                </a:solidFill>
                <a:latin typeface="Calibri"/>
              </a:rPr>
              <a:t>Preconditions state necessary requirements before execution can begin.</a:t>
            </a:r>
          </a:p>
          <a:p>
            <a:pPr marL="292608" indent="-292608">
              <a:spcAft>
                <a:spcPts val="1000"/>
              </a:spcAft>
              <a:buClr>
                <a:srgbClr val="0F766E"/>
              </a:buClr>
              <a:buFont typeface="Arial"/>
              <a:buChar char="▪"/>
            </a:pPr>
            <a:r>
              <a:rPr sz="2300">
                <a:solidFill>
                  <a:srgbClr val="1F2937"/>
                </a:solidFill>
                <a:latin typeface="Calibri"/>
              </a:rPr>
              <a:t>Main success scenarios document step-by-step user interactions and system responses.</a:t>
            </a:r>
          </a:p>
          <a:p>
            <a:pPr marL="292608" indent="-292608">
              <a:spcAft>
                <a:spcPts val="1000"/>
              </a:spcAft>
              <a:buClr>
                <a:srgbClr val="0F766E"/>
              </a:buClr>
              <a:buFont typeface="Arial"/>
              <a:buChar char="▪"/>
            </a:pPr>
            <a:r>
              <a:rPr sz="2300">
                <a:solidFill>
                  <a:srgbClr val="1F2937"/>
                </a:solidFill>
                <a:latin typeface="Calibri"/>
              </a:rPr>
              <a:t>Postconditions define system state changes after successful completion.</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Name &amp; Goal</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Actors</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Preconditions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Main Success Scenario</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Postconditions</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Use Case Specification Anatomy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Analyzing an Unstructured Product Description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Read unstructured descriptions to isolate actors, actions, and integrations.</a:t>
            </a:r>
          </a:p>
          <a:p>
            <a:pPr marL="292608" indent="-292608">
              <a:spcAft>
                <a:spcPts val="1000"/>
              </a:spcAft>
              <a:buClr>
                <a:srgbClr val="0F766E"/>
              </a:buClr>
              <a:buFont typeface="Arial"/>
              <a:buChar char="▪"/>
            </a:pPr>
            <a:r>
              <a:rPr sz="2400">
                <a:solidFill>
                  <a:srgbClr val="1F2937"/>
                </a:solidFill>
                <a:latin typeface="Calibri"/>
              </a:rPr>
              <a:t>Map human users to primary actors and third-party APIs to secondary actors.</a:t>
            </a:r>
          </a:p>
          <a:p>
            <a:pPr marL="292608" indent="-292608">
              <a:spcAft>
                <a:spcPts val="1000"/>
              </a:spcAft>
              <a:buClr>
                <a:srgbClr val="0F766E"/>
              </a:buClr>
              <a:buFont typeface="Arial"/>
              <a:buChar char="▪"/>
            </a:pPr>
            <a:r>
              <a:rPr sz="2400">
                <a:solidFill>
                  <a:srgbClr val="1F2937"/>
                </a:solidFill>
                <a:latin typeface="Calibri"/>
              </a:rPr>
              <a:t>Group related actions under concise, verb-noun use case titles.</a:t>
            </a:r>
          </a:p>
        </p:txBody>
      </p:sp>
      <p:graphicFrame>
        <p:nvGraphicFramePr>
          <p:cNvPr id="8" name="Table 7"/>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'Users sign in and schedule package deliveries.'</a:t>
                      </a:r>
                    </a:p>
                  </a:txBody>
                  <a:tcPr>
                    <a:solidFill>
                      <a:srgbClr val="0F766E"/>
                    </a:solidFill>
                  </a:tcPr>
                </a:tc>
                <a:tc>
                  <a:txBody>
                    <a:bodyPr/>
                    <a:lstStyle/>
                    <a:p>
                      <a:r>
                        <a:rPr sz="1400" b="1">
                          <a:solidFill>
                            <a:srgbClr val="CCFBF1"/>
                          </a:solidFill>
                          <a:latin typeface="Calibri"/>
                        </a:rPr>
                        <a:t>Customer schedules delivery</a:t>
                      </a:r>
                    </a:p>
                  </a:txBody>
                  <a:tcPr>
                    <a:solidFill>
                      <a:srgbClr val="0F766E"/>
                    </a:solidFill>
                  </a:tcPr>
                </a:tc>
                <a:tc>
                  <a:txBody>
                    <a:bodyPr/>
                    <a:lstStyle/>
                    <a:p>
                      <a:r>
                        <a:rPr sz="1400" b="1">
                          <a:solidFill>
                            <a:srgbClr val="CCFBF1"/>
                          </a:solidFill>
                          <a:latin typeface="Calibri"/>
                        </a:rPr>
                        <a:t>Use Case</a:t>
                      </a:r>
                    </a:p>
                  </a:txBody>
                  <a:tcPr>
                    <a:solidFill>
                      <a:srgbClr val="0F766E"/>
                    </a:solidFill>
                  </a:tcPr>
                </a:tc>
              </a:tr>
              <a:tr h="502920">
                <a:tc>
                  <a:txBody>
                    <a:bodyPr/>
                    <a:lstStyle/>
                    <a:p>
                      <a:r>
                        <a:rPr sz="1400" b="0">
                          <a:solidFill>
                            <a:srgbClr val="1F2937"/>
                          </a:solidFill>
                          <a:latin typeface="Calibri"/>
                        </a:rPr>
                        <a:t>'Deliveries are dispatched via third-party couriers.'</a:t>
                      </a:r>
                    </a:p>
                  </a:txBody>
                  <a:tcPr>
                    <a:solidFill>
                      <a:srgbClr val="F3F4F6"/>
                    </a:solidFill>
                  </a:tcPr>
                </a:tc>
                <a:tc>
                  <a:txBody>
                    <a:bodyPr/>
                    <a:lstStyle/>
                    <a:p>
                      <a:r>
                        <a:rPr sz="1400" b="0">
                          <a:solidFill>
                            <a:srgbClr val="1F2937"/>
                          </a:solidFill>
                          <a:latin typeface="Calibri"/>
                        </a:rPr>
                        <a:t>Carrier</a:t>
                      </a:r>
                    </a:p>
                  </a:txBody>
                  <a:tcPr>
                    <a:solidFill>
                      <a:srgbClr val="F3F4F6"/>
                    </a:solidFill>
                  </a:tcPr>
                </a:tc>
                <a:tc>
                  <a:txBody>
                    <a:bodyPr/>
                    <a:lstStyle/>
                    <a:p>
                      <a:r>
                        <a:rPr sz="1400" b="0">
                          <a:solidFill>
                            <a:srgbClr val="1F2937"/>
                          </a:solidFill>
                          <a:latin typeface="Calibri"/>
                        </a:rPr>
                        <a:t>Secondary Actor</a:t>
                      </a:r>
                    </a:p>
                  </a:txBody>
                  <a:tcPr>
                    <a:solidFill>
                      <a:srgbClr val="F3F4F6"/>
                    </a:solidFill>
                  </a:tcPr>
                </a:tc>
              </a:tr>
              <a:tr h="502920">
                <a:tc>
                  <a:txBody>
                    <a:bodyPr/>
                    <a:lstStyle/>
                    <a:p>
                      <a:r>
                        <a:rPr sz="1400" b="0">
                          <a:solidFill>
                            <a:srgbClr val="1F2937"/>
                          </a:solidFill>
                          <a:latin typeface="Calibri"/>
                        </a:rPr>
                        <a:t>'Admins monitor system status and manage users.'</a:t>
                      </a:r>
                    </a:p>
                  </a:txBody>
                  <a:tcPr>
                    <a:solidFill>
                      <a:srgbClr val="F3F4F6"/>
                    </a:solidFill>
                  </a:tcPr>
                </a:tc>
                <a:tc>
                  <a:txBody>
                    <a:bodyPr/>
                    <a:lstStyle/>
                    <a:p>
                      <a:r>
                        <a:rPr sz="1400" b="0">
                          <a:solidFill>
                            <a:srgbClr val="1F2937"/>
                          </a:solidFill>
                          <a:latin typeface="Calibri"/>
                        </a:rPr>
                        <a:t>System Administrator</a:t>
                      </a:r>
                    </a:p>
                  </a:txBody>
                  <a:tcPr>
                    <a:solidFill>
                      <a:srgbClr val="F3F4F6"/>
                    </a:solidFill>
                  </a:tcPr>
                </a:tc>
                <a:tc>
                  <a:txBody>
                    <a:bodyPr/>
                    <a:lstStyle/>
                    <a:p>
                      <a:r>
                        <a:rPr sz="1400" b="0">
                          <a:solidFill>
                            <a:srgbClr val="1F2937"/>
                          </a:solidFill>
                          <a:latin typeface="Calibri"/>
                        </a:rPr>
                        <a:t>Primary Actor</a:t>
                      </a:r>
                    </a:p>
                  </a:txBody>
                  <a:tcPr>
                    <a:solidFill>
                      <a:srgbClr val="F3F4F6"/>
                    </a:solidFill>
                  </a:tcPr>
                </a:tc>
              </a:tr>
              <a:tr h="502920">
                <a:tc>
                  <a:txBody>
                    <a:bodyPr/>
                    <a:lstStyle/>
                    <a:p>
                      <a:r>
                        <a:rPr sz="1400" b="0">
                          <a:solidFill>
                            <a:srgbClr val="1F2937"/>
                          </a:solidFill>
                          <a:latin typeface="Calibri"/>
                        </a:rPr>
                        <a:t>'Payment processed via Stripe integration.'</a:t>
                      </a:r>
                    </a:p>
                  </a:txBody>
                  <a:tcPr>
                    <a:solidFill>
                      <a:srgbClr val="F3F4F6"/>
                    </a:solidFill>
                  </a:tcPr>
                </a:tc>
                <a:tc>
                  <a:txBody>
                    <a:bodyPr/>
                    <a:lstStyle/>
                    <a:p>
                      <a:r>
                        <a:rPr sz="1400" b="0">
                          <a:solidFill>
                            <a:srgbClr val="1F2937"/>
                          </a:solidFill>
                          <a:latin typeface="Calibri"/>
                        </a:rPr>
                        <a:t>Payment Gateway</a:t>
                      </a:r>
                    </a:p>
                  </a:txBody>
                  <a:tcPr>
                    <a:solidFill>
                      <a:srgbClr val="F3F4F6"/>
                    </a:solidFill>
                  </a:tcPr>
                </a:tc>
                <a:tc>
                  <a:txBody>
                    <a:bodyPr/>
                    <a:lstStyle/>
                    <a:p>
                      <a:r>
                        <a:rPr sz="1400" b="0">
                          <a:solidFill>
                            <a:srgbClr val="1F2937"/>
                          </a:solidFill>
                          <a:latin typeface="Calibri"/>
                        </a:rPr>
                        <a:t>Secondary Actor</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Requirement Extraction Mapping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From Product Description to Use Cases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200">
                <a:solidFill>
                  <a:srgbClr val="1F2937"/>
                </a:solidFill>
                <a:latin typeface="Calibri"/>
              </a:rPr>
              <a:t>Primary actor (System Administrator) initiates the dispatch workflow.</a:t>
            </a:r>
          </a:p>
          <a:p>
            <a:pPr marL="292608" indent="-292608">
              <a:spcAft>
                <a:spcPts val="1000"/>
              </a:spcAft>
              <a:buClr>
                <a:srgbClr val="0F766E"/>
              </a:buClr>
              <a:buFont typeface="Arial"/>
              <a:buChar char="▪"/>
            </a:pPr>
            <a:r>
              <a:rPr sz="2200">
                <a:solidFill>
                  <a:srgbClr val="1F2937"/>
                </a:solidFill>
                <a:latin typeface="Calibri"/>
              </a:rPr>
              <a:t>External partner (Carrier) acts as a secondary actor providing routing data.</a:t>
            </a:r>
          </a:p>
          <a:p>
            <a:pPr marL="292608" indent="-292608">
              <a:spcAft>
                <a:spcPts val="1000"/>
              </a:spcAft>
              <a:buClr>
                <a:srgbClr val="0F766E"/>
              </a:buClr>
              <a:buFont typeface="Arial"/>
              <a:buChar char="▪"/>
            </a:pPr>
            <a:r>
              <a:rPr sz="2200">
                <a:solidFill>
                  <a:srgbClr val="1F2937"/>
                </a:solidFill>
                <a:latin typeface="Calibri"/>
              </a:rPr>
              <a:t>Note: The internal software system coordinates actions but is not listed as an actor.</a:t>
            </a:r>
          </a:p>
          <a:p>
            <a:pPr marL="292608" indent="-292608">
              <a:spcAft>
                <a:spcPts val="1000"/>
              </a:spcAft>
              <a:buClr>
                <a:srgbClr val="0F766E"/>
              </a:buClr>
              <a:buFont typeface="Arial"/>
              <a:buChar char="▪"/>
            </a:pPr>
            <a:r>
              <a:rPr sz="2200">
                <a:solidFill>
                  <a:srgbClr val="1F2937"/>
                </a:solidFill>
                <a:latin typeface="Calibri"/>
              </a:rPr>
              <a:t>Preconditions and postconditions explicitly lock down state transition criteria.</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yaml</a:t>
            </a:r>
          </a:p>
          <a:p>
            <a:pPr algn="l"/>
            <a:r>
              <a:rPr sz="1200" b="0">
                <a:solidFill>
                  <a:srgbClr val="E5E7EB"/>
                </a:solidFill>
                <a:latin typeface="Consolas"/>
              </a:rPr>
              <a:t>use_case: Dispatch Package Delivery</a:t>
            </a:r>
          </a:p>
          <a:p>
            <a:pPr algn="l"/>
            <a:r>
              <a:rPr sz="1200" b="0">
                <a:solidFill>
                  <a:srgbClr val="E5E7EB"/>
                </a:solidFill>
                <a:latin typeface="Consolas"/>
              </a:rPr>
              <a:t>primary_actor: System Administrator</a:t>
            </a:r>
          </a:p>
          <a:p>
            <a:pPr algn="l"/>
            <a:r>
              <a:rPr sz="1200" b="0">
                <a:solidFill>
                  <a:srgbClr val="E5E7EB"/>
                </a:solidFill>
                <a:latin typeface="Consolas"/>
              </a:rPr>
              <a:t>secondary_actor: Carrier</a:t>
            </a:r>
          </a:p>
          <a:p>
            <a:pPr algn="l"/>
            <a:r>
              <a:rPr sz="1200" b="0">
                <a:solidFill>
                  <a:srgbClr val="E5E7EB"/>
                </a:solidFill>
                <a:latin typeface="Consolas"/>
              </a:rPr>
              <a:t>preconditions:</a:t>
            </a:r>
          </a:p>
          <a:p>
            <a:pPr algn="l"/>
            <a:r>
              <a:rPr sz="1200" b="0">
                <a:solidFill>
                  <a:srgbClr val="E5E7EB"/>
                </a:solidFill>
                <a:latin typeface="Consolas"/>
              </a:rPr>
              <a:t>  - Customer order is paid and verified.</a:t>
            </a:r>
          </a:p>
          <a:p>
            <a:pPr algn="l"/>
            <a:r>
              <a:rPr sz="1200" b="0">
                <a:solidFill>
                  <a:srgbClr val="E5E7EB"/>
                </a:solidFill>
                <a:latin typeface="Consolas"/>
              </a:rPr>
              <a:t>main_flow:</a:t>
            </a:r>
          </a:p>
          <a:p>
            <a:pPr algn="l"/>
            <a:r>
              <a:rPr sz="1200" b="0">
                <a:solidFill>
                  <a:srgbClr val="E5E7EB"/>
                </a:solidFill>
                <a:latin typeface="Consolas"/>
              </a:rPr>
              <a:t>  1. System Administrator selects pending package for dispatch.</a:t>
            </a:r>
          </a:p>
          <a:p>
            <a:pPr algn="l"/>
            <a:r>
              <a:rPr sz="1200" b="0">
                <a:solidFill>
                  <a:srgbClr val="E5E7EB"/>
                </a:solidFill>
                <a:latin typeface="Consolas"/>
              </a:rPr>
              <a:t>  2. System requests delivery route from Carrier.</a:t>
            </a:r>
          </a:p>
          <a:p>
            <a:pPr algn="l"/>
            <a:r>
              <a:rPr sz="1200" b="0">
                <a:solidFill>
                  <a:srgbClr val="E5E7EB"/>
                </a:solidFill>
                <a:latin typeface="Consolas"/>
              </a:rPr>
              <a:t>  3. Carrier returns tracking ID and estimated arrival.</a:t>
            </a:r>
          </a:p>
          <a:p>
            <a:pPr algn="l"/>
            <a:r>
              <a:rPr sz="1200" b="0">
                <a:solidFill>
                  <a:srgbClr val="E5E7EB"/>
                </a:solidFill>
                <a:latin typeface="Consolas"/>
              </a:rPr>
              <a:t>  4. System Administrator confirms assignment.</a:t>
            </a:r>
          </a:p>
          <a:p>
            <a:pPr algn="l"/>
            <a:r>
              <a:rPr sz="1200" b="0">
                <a:solidFill>
                  <a:srgbClr val="E5E7EB"/>
                </a:solidFill>
                <a:latin typeface="Consolas"/>
              </a:rPr>
              <a:t>postconditions:</a:t>
            </a:r>
          </a:p>
          <a:p>
            <a:pPr algn="l"/>
            <a:r>
              <a:rPr sz="1200" b="0">
                <a:solidFill>
                  <a:srgbClr val="E5E7EB"/>
                </a:solidFill>
                <a:latin typeface="Consolas"/>
              </a:rPr>
              <a:t>  - Package status set to Dispatched with assigned tracking ID.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Structured Use Case Spec in YAML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Check Understanding: System Boundaries and Actors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When drafting a use case diagram for an automated order fulfillment application, which entity CANNOT be listed as an actor?</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The Order Fulfillment Application itself</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The System Administrator managing user permissions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An external Carrier API providing shipping quotes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The end Customer placing an order online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Handling Ambiguity in Specifications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requirements often use vague language like 'fast' or 'secure'.</a:t>
            </a:r>
          </a:p>
          <a:p>
            <a:pPr marL="292608" indent="-292608">
              <a:spcAft>
                <a:spcPts val="1000"/>
              </a:spcAft>
              <a:buClr>
                <a:srgbClr val="0F766E"/>
              </a:buClr>
              <a:buFont typeface="Arial"/>
              <a:buChar char="▪"/>
            </a:pPr>
            <a:r>
              <a:rPr sz="2400">
                <a:solidFill>
                  <a:srgbClr val="1F2937"/>
                </a:solidFill>
                <a:latin typeface="Calibri"/>
              </a:rPr>
              <a:t>AI tools require structured, concrete conditions to generate accurate code/tests.</a:t>
            </a:r>
          </a:p>
          <a:p>
            <a:pPr marL="292608" indent="-292608">
              <a:spcAft>
                <a:spcPts val="1000"/>
              </a:spcAft>
              <a:buClr>
                <a:srgbClr val="0F766E"/>
              </a:buClr>
              <a:buFont typeface="Arial"/>
              <a:buChar char="▪"/>
            </a:pPr>
            <a:r>
              <a:rPr sz="2400">
                <a:solidFill>
                  <a:srgbClr val="1F2937"/>
                </a:solidFill>
                <a:latin typeface="Calibri"/>
              </a:rPr>
              <a:t>Transform vague expectations into measurable SLA targets and boundary events.</a:t>
            </a:r>
          </a:p>
        </p:txBody>
      </p:sp>
      <p:graphicFrame>
        <p:nvGraphicFramePr>
          <p:cNvPr id="7" name="Table 6"/>
          <p:cNvGraphicFramePr>
            <a:graphicFrameLocks noGrp="1"/>
          </p:cNvGraphicFramePr>
          <p:nvPr/>
        </p:nvGraphicFramePr>
        <p:xfrm>
          <a:off x="6683495" y="1463040"/>
          <a:ext cx="4959560" cy="150876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'Fast system responses'</a:t>
                      </a:r>
                    </a:p>
                  </a:txBody>
                  <a:tcPr>
                    <a:solidFill>
                      <a:srgbClr val="0F766E"/>
                    </a:solidFill>
                  </a:tcPr>
                </a:tc>
                <a:tc>
                  <a:txBody>
                    <a:bodyPr/>
                    <a:lstStyle/>
                    <a:p>
                      <a:r>
                        <a:rPr sz="1400" b="1">
                          <a:solidFill>
                            <a:srgbClr val="CCFBF1"/>
                          </a:solidFill>
                          <a:latin typeface="Calibri"/>
                        </a:rPr>
                        <a:t>Unmeasurable goal</a:t>
                      </a:r>
                    </a:p>
                  </a:txBody>
                  <a:tcPr>
                    <a:solidFill>
                      <a:srgbClr val="0F766E"/>
                    </a:solidFill>
                  </a:tcPr>
                </a:tc>
                <a:tc>
                  <a:txBody>
                    <a:bodyPr/>
                    <a:lstStyle/>
                    <a:p>
                      <a:r>
                        <a:rPr sz="1400" b="1">
                          <a:solidFill>
                            <a:srgbClr val="CCFBF1"/>
                          </a:solidFill>
                          <a:latin typeface="Calibri"/>
                        </a:rPr>
                        <a:t>Specify SLA: latency &lt; 200ms</a:t>
                      </a:r>
                    </a:p>
                  </a:txBody>
                  <a:tcPr>
                    <a:solidFill>
                      <a:srgbClr val="0F766E"/>
                    </a:solidFill>
                  </a:tcPr>
                </a:tc>
              </a:tr>
              <a:tr h="502920">
                <a:tc>
                  <a:txBody>
                    <a:bodyPr/>
                    <a:lstStyle/>
                    <a:p>
                      <a:r>
                        <a:rPr sz="1400" b="0">
                          <a:solidFill>
                            <a:srgbClr val="1F2937"/>
                          </a:solidFill>
                          <a:latin typeface="Calibri"/>
                        </a:rPr>
                        <a:t>'Process payments safely'</a:t>
                      </a:r>
                    </a:p>
                  </a:txBody>
                  <a:tcPr>
                    <a:solidFill>
                      <a:srgbClr val="F3F4F6"/>
                    </a:solidFill>
                  </a:tcPr>
                </a:tc>
                <a:tc>
                  <a:txBody>
                    <a:bodyPr/>
                    <a:lstStyle/>
                    <a:p>
                      <a:r>
                        <a:rPr sz="1400" b="0">
                          <a:solidFill>
                            <a:srgbClr val="1F2937"/>
                          </a:solidFill>
                          <a:latin typeface="Calibri"/>
                        </a:rPr>
                        <a:t>Undefined external actor</a:t>
                      </a:r>
                    </a:p>
                  </a:txBody>
                  <a:tcPr>
                    <a:solidFill>
                      <a:srgbClr val="F3F4F6"/>
                    </a:solidFill>
                  </a:tcPr>
                </a:tc>
                <a:tc>
                  <a:txBody>
                    <a:bodyPr/>
                    <a:lstStyle/>
                    <a:p>
                      <a:r>
                        <a:rPr sz="1400" b="0">
                          <a:solidFill>
                            <a:srgbClr val="1F2937"/>
                          </a:solidFill>
                          <a:latin typeface="Calibri"/>
                        </a:rPr>
                        <a:t>Explicitly integrate Payment Gateway</a:t>
                      </a:r>
                    </a:p>
                  </a:txBody>
                  <a:tcPr>
                    <a:solidFill>
                      <a:srgbClr val="F3F4F6"/>
                    </a:solidFill>
                  </a:tcPr>
                </a:tc>
              </a:tr>
              <a:tr h="502920">
                <a:tc>
                  <a:txBody>
                    <a:bodyPr/>
                    <a:lstStyle/>
                    <a:p>
                      <a:r>
                        <a:rPr sz="1400" b="0">
                          <a:solidFill>
                            <a:srgbClr val="1F2937"/>
                          </a:solidFill>
                          <a:latin typeface="Calibri"/>
                        </a:rPr>
                        <a:t>'System updates status'</a:t>
                      </a:r>
                    </a:p>
                  </a:txBody>
                  <a:tcPr>
                    <a:solidFill>
                      <a:srgbClr val="F3F4F6"/>
                    </a:solidFill>
                  </a:tcPr>
                </a:tc>
                <a:tc>
                  <a:txBody>
                    <a:bodyPr/>
                    <a:lstStyle/>
                    <a:p>
                      <a:r>
                        <a:rPr sz="1400" b="0">
                          <a:solidFill>
                            <a:srgbClr val="1F2937"/>
                          </a:solidFill>
                          <a:latin typeface="Calibri"/>
                        </a:rPr>
                        <a:t>Missing primary trigger</a:t>
                      </a:r>
                    </a:p>
                  </a:txBody>
                  <a:tcPr>
                    <a:solidFill>
                      <a:srgbClr val="F3F4F6"/>
                    </a:solidFill>
                  </a:tcPr>
                </a:tc>
                <a:tc>
                  <a:txBody>
                    <a:bodyPr/>
                    <a:lstStyle/>
                    <a:p>
                      <a:r>
                        <a:rPr sz="1400" b="0">
                          <a:solidFill>
                            <a:srgbClr val="1F2937"/>
                          </a:solidFill>
                          <a:latin typeface="Calibri"/>
                        </a:rPr>
                        <a:t>Carrier sends status update callback</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Ambiguity Resolution 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Hands-On Exercise: Outlining System Use Cases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Task: Read the provided product blurb for a smart warehouse service.</a:t>
            </a:r>
          </a:p>
          <a:p>
            <a:pPr marL="292608" indent="-292608">
              <a:spcAft>
                <a:spcPts val="1000"/>
              </a:spcAft>
              <a:buClr>
                <a:srgbClr val="0F766E"/>
              </a:buClr>
              <a:buFont typeface="Arial"/>
              <a:buChar char="▪"/>
            </a:pPr>
            <a:r>
              <a:rPr sz="2300">
                <a:solidFill>
                  <a:srgbClr val="1F2937"/>
                </a:solidFill>
                <a:latin typeface="Calibri"/>
              </a:rPr>
              <a:t>Step 1: List all primary actors and secondary external integrations (e.g., Carrier, System Administrator).</a:t>
            </a:r>
          </a:p>
          <a:p>
            <a:pPr marL="292608" indent="-292608">
              <a:spcAft>
                <a:spcPts val="1000"/>
              </a:spcAft>
              <a:buClr>
                <a:srgbClr val="0F766E"/>
              </a:buClr>
              <a:buFont typeface="Arial"/>
              <a:buChar char="▪"/>
            </a:pPr>
            <a:r>
              <a:rPr sz="2300">
                <a:solidFill>
                  <a:srgbClr val="1F2937"/>
                </a:solidFill>
                <a:latin typeface="Calibri"/>
              </a:rPr>
              <a:t>Step 2: Draft one short use case in YAML format including pre/postconditions.</a:t>
            </a:r>
          </a:p>
          <a:p>
            <a:pPr marL="292608" indent="-292608">
              <a:spcAft>
                <a:spcPts val="1000"/>
              </a:spcAft>
              <a:buClr>
                <a:srgbClr val="0F766E"/>
              </a:buClr>
              <a:buFont typeface="Arial"/>
              <a:buChar char="▪"/>
            </a:pPr>
            <a:r>
              <a:rPr sz="2300">
                <a:solidFill>
                  <a:srgbClr val="1F2937"/>
                </a:solidFill>
                <a:latin typeface="Calibri"/>
              </a:rPr>
              <a:t>Step 3: Peer review to confirm no internal system elements are misclassified as actors.</a:t>
            </a:r>
          </a:p>
        </p:txBody>
      </p:sp>
      <p:sp>
        <p:nvSpPr>
          <p:cNvPr id="8" name="Rounded Rectangle 7"/>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Read Short Description</a:t>
            </a:r>
          </a:p>
        </p:txBody>
      </p:sp>
      <p:sp>
        <p:nvSpPr>
          <p:cNvPr id="9" name="Down Arrow 8"/>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Identify External Actors</a:t>
            </a:r>
          </a:p>
        </p:txBody>
      </p:sp>
      <p:sp>
        <p:nvSpPr>
          <p:cNvPr id="11" name="Down Arrow 10"/>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Draft YAML Use Case</a:t>
            </a:r>
          </a:p>
        </p:txBody>
      </p:sp>
      <p:sp>
        <p:nvSpPr>
          <p:cNvPr id="13" name="Down Arrow 12"/>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Validate Boundaries</a:t>
            </a:r>
          </a:p>
        </p:txBody>
      </p:sp>
      <p:sp>
        <p:nvSpPr>
          <p:cNvPr id="15" name="TextBox 14"/>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Activity Workflow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Custom Tools and Requirements Specs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Protocol enables standardized, warning-free integration of tools into AI workspaces.</a:t>
            </a:r>
          </a:p>
          <a:p>
            <a:pPr marL="292608" indent="-292608">
              <a:spcAft>
                <a:spcPts val="1000"/>
              </a:spcAft>
              <a:buClr>
                <a:srgbClr val="0F766E"/>
              </a:buClr>
              <a:buFont typeface="Arial"/>
              <a:buChar char="▪"/>
            </a:pPr>
            <a:r>
              <a:rPr sz="2400">
                <a:solidFill>
                  <a:srgbClr val="1F2937"/>
                </a:solidFill>
                <a:latin typeface="Calibri"/>
              </a:rPr>
              <a:t>Typed parameters and clean schemas prevent runtime errors during agent tool calls.</a:t>
            </a:r>
          </a:p>
          <a:p>
            <a:pPr marL="292608" indent="-292608">
              <a:spcAft>
                <a:spcPts val="1000"/>
              </a:spcAft>
              <a:buClr>
                <a:srgbClr val="0F766E"/>
              </a:buClr>
              <a:buFont typeface="Arial"/>
              <a:buChar char="▪"/>
            </a:pPr>
            <a:r>
              <a:rPr sz="2400">
                <a:solidFill>
                  <a:srgbClr val="1F2937"/>
                </a:solidFill>
                <a:latin typeface="Calibri"/>
              </a:rPr>
              <a:t>System boundaries isolate internal application logic from external actors (users and external APIs).</a:t>
            </a:r>
          </a:p>
          <a:p>
            <a:pPr marL="292608" indent="-292608">
              <a:spcAft>
                <a:spcPts val="1000"/>
              </a:spcAft>
              <a:buClr>
                <a:srgbClr val="0F766E"/>
              </a:buClr>
              <a:buFont typeface="Arial"/>
              <a:buChar char="▪"/>
            </a:pPr>
            <a:r>
              <a:rPr sz="2400">
                <a:solidFill>
                  <a:srgbClr val="1F2937"/>
                </a:solidFill>
                <a:latin typeface="Calibri"/>
              </a:rPr>
              <a:t>Standardized use case specs provide clear, executable guidelines for software development.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Query Tuning Framework Using the Model Context Protocol for Workflows (2026). https://doi.org/10.2139/ssrn.6172059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