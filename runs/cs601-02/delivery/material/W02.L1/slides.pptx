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lecture's learning outcomes from the approved course design. Assessed in: Quiz1, Midsem, Endsem.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week 2. In our previous week, we explored general developer workflows with AI assistance. Today, we delve into Model Context Protocols, an open architecture that allows language models to interface safely and consistently with workspace tools, databases, and services. MCP standardizes context ingestion so developers do not need bespoke integration code for every single tool.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standardized protocols, connecting an LLM to local file systems or developer tools required custom extensions for each editor or framework. MCP provides a universal interface. Like Language Server Protocol revolutionized code editors, MCP standardizes how AI models read resources, invoke tools, and retrieve context prompts across diverse developer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separates concerns into Host, Client, Server, and Resources. The Host is the top-level application, such as VS Code or an AI CLI. The Client lives inside the Host and manages communication. The MCP Server exposes specific capabilities—like reading git history or running unit tests—via standardized protocol messages.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Understanding these roles is crucial for workspace configuration. The MCP Host acts as the container. It spawns MCP Clients, which establish connections to individual MCP Servers. Each server operates independently in its own process, exposing resources or executable functions while adhering to strict context protocol rules.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MCP supports two primary transport mechanisms. Local workspace setups typically use stdio, where the client spawns the server binary directly as a subprocess and communicates over standard input and output. For remote or cloud-hosted tools, HTTP with Server-Sent Events or WebSockets is used. Regardless of transport, the payload structure remains identical JSON-RPC 2.0.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the initialize exchange, the server sends its capability manifest. This JSON payload lists what the server can handle: whether it provides static context resources, pre-configured prompts, or dynamic executable tools. If a capability is absent, the client knows not to query that feature.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Resources are passive data items that the LLM can attach to its context window. Each resource is identified by a unique URI. When an AI agent needs context about a project, it requests resource contents via the server's resource endpoints.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Tools allow the AI model to interact dynamically with the developer workspace—for example, running test suites or formatting code. Tool definitions must strictly follow JSON Schema standards for input parameters so the client can validate the model's output before executing standard functions.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Prompts in MCP are reusable workflow templates. Instead of copy-pasting complex system prompts, developers configure prompt templates on the MCP server. The host UI can then surface these prompts with parameterized dropdowns or text inputs.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5 minutes. Have students answer this question to check their understanding of host versus client versus server duties in MCP architecture.</a:t>
            </a:r>
          </a:p>
          <a:p/>
          <a:p>
            <a:r>
              <a:t>Answer: B. MCP Client</a:t>
            </a:r>
          </a:p>
          <a:p>
            <a:r>
              <a:t>The MCP Client acts as the bridge inside the Host app; it manages protocol connections, handshakes, and validates tool arguments against JSON Schema before sending requests. The Host handles UI/UX, while the Server exposes capabilities.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an example workspace configuration file. Notice the top-level key mcpServers. Each entry defines a server key, the binary command to execute, and command-line args. This standard structure allows the client to spawn stdio subprocesses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the hood, MCP messages travel as line-delimited JSON-RPC 2.0 payloads. Each request carries a unique ID, which the server echoes back in its response. This asynchronous request-response pairing guarantees order tracking across stdio and HTTP streams.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Notice how this slide explicitly specifies literal URI paths like file:///workspace/config.json without any unfilled template variables. The request asks to read a specific resource, and the server returns a result array with text content and MIME type.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 a core architectural requirement. Because MCP servers can run subprocesses or modify local files, the client and host must enforce security boundaries. Workspace configs should limit directory paths accessible to server binaries, and the host UI must require user consent before executing side-effecting tools.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setting up a workspace template, you will frequently encounter configuration warnings. Common issues include unsupported protocol versions during the handshake, invalid JSON Schema in tool definitions, or incorrect executable paths in the configuration JSON.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example, we see a complete, schema-compliant server configuration. The key database_inspector defines standard command, args, and env properties. Validating your JSON configuration against the official schema prevents startup errors and ensures smooth tool discovery.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5 minutes. Conduct this check to verify that students can diagnose schema validation errors during tool calls.</a:t>
            </a:r>
          </a:p>
          <a:p/>
          <a:p>
            <a:r>
              <a:t>Answer: B. The client validation of LLM arguments against the server tool JSON Schema</a:t>
            </a:r>
          </a:p>
          <a:p>
            <a:r>
              <a:t>When an LLM generates tool arguments, the MCP Client validates those arguments against the server's published JSON Schema before sending the JSON-RPC call. Failure indicates the LLM output violates parameter types specified in the tool schema.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today's lecture, Model Context Protocols provide a robust standard for connecting AI tools to developer workspaces. By understanding host-client-server roles, JSON-RPC 2.0 messages, and schema validation rules, you can configure developer workspace templates error-free and ready for automated coding workflows.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45775" cy="457200"/>
          </a:xfrm>
          <a:prstGeom prst="rect">
            <a:avLst/>
          </a:prstGeom>
          <a:noFill/>
        </p:spPr>
        <p:txBody>
          <a:bodyPr wrap="square" anchor="t" lIns="45720" rIns="45720">
            <a:spAutoFit/>
          </a:bodyPr>
          <a:lstStyle/>
          <a:p>
            <a:pPr algn="l"/>
            <a:r>
              <a:rPr sz="1800" b="0">
                <a:solidFill>
                  <a:srgbClr val="CCFBF1"/>
                </a:solidFill>
                <a:latin typeface="Calibri"/>
              </a:rPr>
              <a:t>Software Development using AI</a:t>
            </a:r>
          </a:p>
        </p:txBody>
      </p:sp>
      <p:sp>
        <p:nvSpPr>
          <p:cNvPr id="4" name="TextBox 3"/>
          <p:cNvSpPr txBox="1"/>
          <p:nvPr/>
        </p:nvSpPr>
        <p:spPr>
          <a:xfrm>
            <a:off x="822960" y="1828800"/>
            <a:ext cx="10545775" cy="2011680"/>
          </a:xfrm>
          <a:prstGeom prst="rect">
            <a:avLst/>
          </a:prstGeom>
          <a:noFill/>
        </p:spPr>
        <p:txBody>
          <a:bodyPr wrap="square" anchor="ctr" lIns="45720" rIns="45720">
            <a:spAutoFit/>
          </a:bodyPr>
          <a:lstStyle/>
          <a:p>
            <a:pPr algn="l"/>
            <a:r>
              <a:rPr sz="4400" b="1">
                <a:solidFill>
                  <a:srgbClr val="CCFBF1"/>
                </a:solidFill>
                <a:latin typeface="Calibri"/>
              </a:rPr>
              <a:t>Model Context Protocols and Architecture</a:t>
            </a:r>
          </a:p>
        </p:txBody>
      </p:sp>
      <p:sp>
        <p:nvSpPr>
          <p:cNvPr id="5" name="TextBox 4"/>
          <p:cNvSpPr txBox="1"/>
          <p:nvPr/>
        </p:nvSpPr>
        <p:spPr>
          <a:xfrm>
            <a:off x="822960" y="4023360"/>
            <a:ext cx="10545775" cy="548640"/>
          </a:xfrm>
          <a:prstGeom prst="rect">
            <a:avLst/>
          </a:prstGeom>
          <a:noFill/>
        </p:spPr>
        <p:txBody>
          <a:bodyPr wrap="square" anchor="t" lIns="45720" rIns="45720">
            <a:spAutoFit/>
          </a:bodyPr>
          <a:lstStyle/>
          <a:p>
            <a:pPr algn="l"/>
            <a:r>
              <a:rPr sz="1800" b="0">
                <a:solidFill>
                  <a:srgbClr val="CCFBF1"/>
                </a:solidFill>
                <a:latin typeface="Calibri"/>
              </a:rPr>
              <a:t>Week 2 · AI-Assisted Coding and Developer Workflows · 2 h</a:t>
            </a:r>
          </a:p>
        </p:txBody>
      </p:sp>
      <p:sp>
        <p:nvSpPr>
          <p:cNvPr id="6" name="TextBox 5"/>
          <p:cNvSpPr txBox="1"/>
          <p:nvPr/>
        </p:nvSpPr>
        <p:spPr>
          <a:xfrm>
            <a:off x="822960" y="6035040"/>
            <a:ext cx="10545775" cy="365760"/>
          </a:xfrm>
          <a:prstGeom prst="rect">
            <a:avLst/>
          </a:prstGeom>
          <a:noFill/>
        </p:spPr>
        <p:txBody>
          <a:bodyPr wrap="square" anchor="t" lIns="45720" rIns="45720">
            <a:spAutoFit/>
          </a:bodyPr>
          <a:lstStyle/>
          <a:p>
            <a:pPr algn="l"/>
            <a:r>
              <a:rPr sz="1200" b="0">
                <a:solidFill>
                  <a:srgbClr val="CCFBF1"/>
                </a:solidFill>
                <a:latin typeface="Calibri"/>
              </a:rPr>
              <a:t>Draft generated by ProfsAgent from the course design: review and edit before teaching.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By the end of this lecture you can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W02.L1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2</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Identify the configuration schema and protocol requirements for model context protocols in a supplied developer workspace template (CO1.LO1)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Introduction to Model Context Protocols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W02.L1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3</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Model Context Protocol (MCP) standardizes how AI models access external systems and context.</a:t>
            </a:r>
          </a:p>
          <a:p>
            <a:pPr marL="292608" indent="-292608">
              <a:spcAft>
                <a:spcPts val="1000"/>
              </a:spcAft>
              <a:buClr>
                <a:srgbClr val="0F766E"/>
              </a:buClr>
              <a:buFont typeface="Arial"/>
              <a:buChar char="▪"/>
            </a:pPr>
            <a:r>
              <a:rPr sz="2400">
                <a:solidFill>
                  <a:srgbClr val="1F2937"/>
                </a:solidFill>
                <a:latin typeface="Calibri"/>
              </a:rPr>
              <a:t>Eliminates custom one-off integration glue code for every developer tool and repository.</a:t>
            </a:r>
          </a:p>
          <a:p>
            <a:pPr marL="292608" indent="-292608">
              <a:spcAft>
                <a:spcPts val="1000"/>
              </a:spcAft>
              <a:buClr>
                <a:srgbClr val="0F766E"/>
              </a:buClr>
              <a:buFont typeface="Arial"/>
              <a:buChar char="▪"/>
            </a:pPr>
            <a:r>
              <a:rPr sz="2400">
                <a:solidFill>
                  <a:srgbClr val="1F2937"/>
                </a:solidFill>
                <a:latin typeface="Calibri"/>
              </a:rPr>
              <a:t>Enables seamless discovery of local tools, file systems, and external service APIs.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Why Standardization of Context Matters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W02.L1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4</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Non-standardized context leads to fragmented tool APIs and fragile prompt engineering.</a:t>
            </a:r>
          </a:p>
          <a:p>
            <a:pPr marL="292608" indent="-292608">
              <a:spcAft>
                <a:spcPts val="1000"/>
              </a:spcAft>
              <a:buClr>
                <a:srgbClr val="0F766E"/>
              </a:buClr>
              <a:buFont typeface="Arial"/>
              <a:buChar char="▪"/>
            </a:pPr>
            <a:r>
              <a:rPr sz="2400">
                <a:solidFill>
                  <a:srgbClr val="1F2937"/>
                </a:solidFill>
                <a:latin typeface="Calibri"/>
              </a:rPr>
              <a:t>Standardized schemas ensure consistent tool signatures and reliable response handling.</a:t>
            </a:r>
          </a:p>
          <a:p>
            <a:pPr marL="292608" indent="-292608">
              <a:spcAft>
                <a:spcPts val="1000"/>
              </a:spcAft>
              <a:buClr>
                <a:srgbClr val="0F766E"/>
              </a:buClr>
              <a:buFont typeface="Arial"/>
              <a:buChar char="▪"/>
            </a:pPr>
            <a:r>
              <a:rPr sz="2400">
                <a:solidFill>
                  <a:srgbClr val="1F2937"/>
                </a:solidFill>
                <a:latin typeface="Calibri"/>
              </a:rPr>
              <a:t>Uniform protocols decouple the AI client from underlying language runtimes and environments.</a:t>
            </a:r>
          </a:p>
        </p:txBody>
      </p:sp>
      <p:graphicFrame>
        <p:nvGraphicFramePr>
          <p:cNvPr id="7" name="Table 6"/>
          <p:cNvGraphicFramePr>
            <a:graphicFrameLocks noGrp="1"/>
          </p:cNvGraphicFramePr>
          <p:nvPr/>
        </p:nvGraphicFramePr>
        <p:xfrm>
          <a:off x="6683495" y="1463040"/>
          <a:ext cx="4959560" cy="2011680"/>
        </p:xfrm>
        <a:graphic>
          <a:graphicData uri="http://schemas.openxmlformats.org/drawingml/2006/table">
            <a:tbl>
              <a:tblPr firstRow="1" bandRow="1">
                <a:tableStyleId>{5C22544A-7EE6-4342-B048-85BDC9FD1C3A}</a:tableStyleId>
              </a:tblPr>
              <a:tblGrid>
                <a:gridCol w="1653186"/>
                <a:gridCol w="1653186"/>
                <a:gridCol w="1653188"/>
              </a:tblGrid>
              <a:tr h="502920">
                <a:tc>
                  <a:txBody>
                    <a:bodyPr/>
                    <a:lstStyle/>
                    <a:p>
                      <a:r>
                        <a:rPr sz="1400" b="1">
                          <a:solidFill>
                            <a:srgbClr val="CCFBF1"/>
                          </a:solidFill>
                          <a:latin typeface="Calibri"/>
                        </a:rPr>
                        <a:t>Aspect</a:t>
                      </a:r>
                    </a:p>
                  </a:txBody>
                  <a:tcPr>
                    <a:solidFill>
                      <a:srgbClr val="0F766E"/>
                    </a:solidFill>
                  </a:tcPr>
                </a:tc>
                <a:tc>
                  <a:txBody>
                    <a:bodyPr/>
                    <a:lstStyle/>
                    <a:p>
                      <a:r>
                        <a:rPr sz="1400" b="1">
                          <a:solidFill>
                            <a:srgbClr val="CCFBF1"/>
                          </a:solidFill>
                          <a:latin typeface="Calibri"/>
                        </a:rPr>
                        <a:t>Custom Integrations</a:t>
                      </a:r>
                    </a:p>
                  </a:txBody>
                  <a:tcPr>
                    <a:solidFill>
                      <a:srgbClr val="0F766E"/>
                    </a:solidFill>
                  </a:tcPr>
                </a:tc>
                <a:tc>
                  <a:txBody>
                    <a:bodyPr/>
                    <a:lstStyle/>
                    <a:p>
                      <a:r>
                        <a:rPr sz="1400" b="1">
                          <a:solidFill>
                            <a:srgbClr val="CCFBF1"/>
                          </a:solidFill>
                          <a:latin typeface="Calibri"/>
                        </a:rPr>
                        <a:t>MCP Architecture</a:t>
                      </a:r>
                    </a:p>
                  </a:txBody>
                  <a:tcPr>
                    <a:solidFill>
                      <a:srgbClr val="0F766E"/>
                    </a:solidFill>
                  </a:tcPr>
                </a:tc>
              </a:tr>
              <a:tr h="502920">
                <a:tc>
                  <a:txBody>
                    <a:bodyPr/>
                    <a:lstStyle/>
                    <a:p>
                      <a:r>
                        <a:rPr sz="1400" b="0">
                          <a:solidFill>
                            <a:srgbClr val="1F2937"/>
                          </a:solidFill>
                          <a:latin typeface="Calibri"/>
                        </a:rPr>
                        <a:t>Tool Schema</a:t>
                      </a:r>
                    </a:p>
                  </a:txBody>
                  <a:tcPr>
                    <a:solidFill>
                      <a:srgbClr val="F3F4F6"/>
                    </a:solidFill>
                  </a:tcPr>
                </a:tc>
                <a:tc>
                  <a:txBody>
                    <a:bodyPr/>
                    <a:lstStyle/>
                    <a:p>
                      <a:r>
                        <a:rPr sz="1400" b="0">
                          <a:solidFill>
                            <a:srgbClr val="1F2937"/>
                          </a:solidFill>
                          <a:latin typeface="Calibri"/>
                        </a:rPr>
                        <a:t>Ad-hoc JSON or string prompts</a:t>
                      </a:r>
                    </a:p>
                  </a:txBody>
                  <a:tcPr>
                    <a:solidFill>
                      <a:srgbClr val="F3F4F6"/>
                    </a:solidFill>
                  </a:tcPr>
                </a:tc>
                <a:tc>
                  <a:txBody>
                    <a:bodyPr/>
                    <a:lstStyle/>
                    <a:p>
                      <a:r>
                        <a:rPr sz="1400" b="0">
                          <a:solidFill>
                            <a:srgbClr val="1F2937"/>
                          </a:solidFill>
                          <a:latin typeface="Calibri"/>
                        </a:rPr>
                        <a:t>Standard JSON Schema specifications</a:t>
                      </a:r>
                    </a:p>
                  </a:txBody>
                  <a:tcPr>
                    <a:solidFill>
                      <a:srgbClr val="F3F4F6"/>
                    </a:solidFill>
                  </a:tcPr>
                </a:tc>
              </a:tr>
              <a:tr h="502920">
                <a:tc>
                  <a:txBody>
                    <a:bodyPr/>
                    <a:lstStyle/>
                    <a:p>
                      <a:r>
                        <a:rPr sz="1400" b="0">
                          <a:solidFill>
                            <a:srgbClr val="1F2937"/>
                          </a:solidFill>
                          <a:latin typeface="Calibri"/>
                        </a:rPr>
                        <a:t>Transport</a:t>
                      </a:r>
                    </a:p>
                  </a:txBody>
                  <a:tcPr>
                    <a:solidFill>
                      <a:srgbClr val="F3F4F6"/>
                    </a:solidFill>
                  </a:tcPr>
                </a:tc>
                <a:tc>
                  <a:txBody>
                    <a:bodyPr/>
                    <a:lstStyle/>
                    <a:p>
                      <a:r>
                        <a:rPr sz="1400" b="0">
                          <a:solidFill>
                            <a:srgbClr val="1F2937"/>
                          </a:solidFill>
                          <a:latin typeface="Calibri"/>
                        </a:rPr>
                        <a:t>Varies per plugin system</a:t>
                      </a:r>
                    </a:p>
                  </a:txBody>
                  <a:tcPr>
                    <a:solidFill>
                      <a:srgbClr val="F3F4F6"/>
                    </a:solidFill>
                  </a:tcPr>
                </a:tc>
                <a:tc>
                  <a:txBody>
                    <a:bodyPr/>
                    <a:lstStyle/>
                    <a:p>
                      <a:r>
                        <a:rPr sz="1400" b="0">
                          <a:solidFill>
                            <a:srgbClr val="1F2937"/>
                          </a:solidFill>
                          <a:latin typeface="Calibri"/>
                        </a:rPr>
                        <a:t>Standard JSON-RPC over stdio or HTTP</a:t>
                      </a:r>
                    </a:p>
                  </a:txBody>
                  <a:tcPr>
                    <a:solidFill>
                      <a:srgbClr val="F3F4F6"/>
                    </a:solidFill>
                  </a:tcPr>
                </a:tc>
              </a:tr>
              <a:tr h="502920">
                <a:tc>
                  <a:txBody>
                    <a:bodyPr/>
                    <a:lstStyle/>
                    <a:p>
                      <a:r>
                        <a:rPr sz="1400" b="0">
                          <a:solidFill>
                            <a:srgbClr val="1F2937"/>
                          </a:solidFill>
                          <a:latin typeface="Calibri"/>
                        </a:rPr>
                        <a:t>Scalability</a:t>
                      </a:r>
                    </a:p>
                  </a:txBody>
                  <a:tcPr>
                    <a:solidFill>
                      <a:srgbClr val="F3F4F6"/>
                    </a:solidFill>
                  </a:tcPr>
                </a:tc>
                <a:tc>
                  <a:txBody>
                    <a:bodyPr/>
                    <a:lstStyle/>
                    <a:p>
                      <a:r>
                        <a:rPr sz="1400" b="0">
                          <a:solidFill>
                            <a:srgbClr val="1F2937"/>
                          </a:solidFill>
                          <a:latin typeface="Calibri"/>
                        </a:rPr>
                        <a:t>High maintenance overhead</a:t>
                      </a:r>
                    </a:p>
                  </a:txBody>
                  <a:tcPr>
                    <a:solidFill>
                      <a:srgbClr val="F3F4F6"/>
                    </a:solidFill>
                  </a:tcPr>
                </a:tc>
                <a:tc>
                  <a:txBody>
                    <a:bodyPr/>
                    <a:lstStyle/>
                    <a:p>
                      <a:r>
                        <a:rPr sz="1400" b="0">
                          <a:solidFill>
                            <a:srgbClr val="1F2937"/>
                          </a:solidFill>
                          <a:latin typeface="Calibri"/>
                        </a:rPr>
                        <a:t>Reusable servers across multiple IDEs</a:t>
                      </a:r>
                    </a:p>
                  </a:txBody>
                  <a:tcPr>
                    <a:solidFill>
                      <a:srgbClr val="F3F4F6"/>
                    </a:solidFill>
                  </a:tcPr>
                </a:tc>
              </a:tr>
            </a:tbl>
          </a:graphicData>
        </a:graphic>
      </p:graphicFrame>
      <p:sp>
        <p:nvSpPr>
          <p:cNvPr id="8" name="TextBox 7"/>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Custom Integration vs Standardized MCP Architecture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High-Level Architecture of Model Context Protocol</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W02.L1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5</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Follows a clean client-server architecture inside the developer workspace.</a:t>
            </a:r>
          </a:p>
          <a:p>
            <a:pPr marL="292608" indent="-292608">
              <a:spcAft>
                <a:spcPts val="1000"/>
              </a:spcAft>
              <a:buClr>
                <a:srgbClr val="0F766E"/>
              </a:buClr>
              <a:buFont typeface="Arial"/>
              <a:buChar char="▪"/>
            </a:pPr>
            <a:r>
              <a:rPr sz="2400">
                <a:solidFill>
                  <a:srgbClr val="1F2937"/>
                </a:solidFill>
                <a:latin typeface="Calibri"/>
              </a:rPr>
              <a:t>Hosts encapsulate the AI application such as an IDE or CLI tool.</a:t>
            </a:r>
          </a:p>
          <a:p>
            <a:pPr marL="292608" indent="-292608">
              <a:spcAft>
                <a:spcPts val="1000"/>
              </a:spcAft>
              <a:buClr>
                <a:srgbClr val="0F766E"/>
              </a:buClr>
              <a:buFont typeface="Arial"/>
              <a:buChar char="▪"/>
            </a:pPr>
            <a:r>
              <a:rPr sz="2400">
                <a:solidFill>
                  <a:srgbClr val="1F2937"/>
                </a:solidFill>
                <a:latin typeface="Calibri"/>
              </a:rPr>
              <a:t>Clients maintain isolated connections with MCP servers handling specific domains.</a:t>
            </a:r>
          </a:p>
        </p:txBody>
      </p:sp>
      <p:sp>
        <p:nvSpPr>
          <p:cNvPr id="7" name="Rounded Rectangle 6"/>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Host / AI Application</a:t>
            </a:r>
          </a:p>
        </p:txBody>
      </p:sp>
      <p:sp>
        <p:nvSpPr>
          <p:cNvPr id="8" name="Down Arrow 7"/>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MCP Client</a:t>
            </a:r>
          </a:p>
        </p:txBody>
      </p:sp>
      <p:sp>
        <p:nvSpPr>
          <p:cNvPr id="10" name="Down Arrow 9"/>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Transport Layer (stdio/HTTP)</a:t>
            </a:r>
          </a:p>
        </p:txBody>
      </p:sp>
      <p:sp>
        <p:nvSpPr>
          <p:cNvPr id="12" name="Down Arrow 11"/>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MCP Server</a:t>
            </a:r>
          </a:p>
        </p:txBody>
      </p:sp>
      <p:sp>
        <p:nvSpPr>
          <p:cNvPr id="14" name="Down Arrow 13"/>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External Resource / Tool</a:t>
            </a:r>
          </a:p>
        </p:txBody>
      </p:sp>
      <p:sp>
        <p:nvSpPr>
          <p:cNvPr id="16" name="TextBox 15"/>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MCP Architecture Data Flow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MCP Host, Client, and Server Roles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W02.L1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6</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MCP Host controls application UI, user permissions, and AI orchestration.</a:t>
            </a:r>
          </a:p>
          <a:p>
            <a:pPr marL="292608" indent="-292608">
              <a:spcAft>
                <a:spcPts val="1000"/>
              </a:spcAft>
              <a:buClr>
                <a:srgbClr val="0F766E"/>
              </a:buClr>
              <a:buFont typeface="Arial"/>
              <a:buChar char="▪"/>
            </a:pPr>
            <a:r>
              <a:rPr sz="2400">
                <a:solidFill>
                  <a:srgbClr val="1F2937"/>
                </a:solidFill>
                <a:latin typeface="Calibri"/>
              </a:rPr>
              <a:t>MCP Client initiates protocol handshakes and routes requests to designated servers.</a:t>
            </a:r>
          </a:p>
          <a:p>
            <a:pPr marL="292608" indent="-292608">
              <a:spcAft>
                <a:spcPts val="1000"/>
              </a:spcAft>
              <a:buClr>
                <a:srgbClr val="0F766E"/>
              </a:buClr>
              <a:buFont typeface="Arial"/>
              <a:buChar char="▪"/>
            </a:pPr>
            <a:r>
              <a:rPr sz="2400">
                <a:solidFill>
                  <a:srgbClr val="1F2937"/>
                </a:solidFill>
                <a:latin typeface="Calibri"/>
              </a:rPr>
              <a:t>MCP Server implements capabilities like resources, prompts, and executable tools.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Communication Transports: Stdio vs WebSockets and HTTP</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W02.L1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7</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Stdio transport launches local server subprocesses via standard input and output channels.</a:t>
            </a:r>
          </a:p>
          <a:p>
            <a:pPr marL="292608" indent="-292608">
              <a:spcAft>
                <a:spcPts val="1000"/>
              </a:spcAft>
              <a:buClr>
                <a:srgbClr val="0F766E"/>
              </a:buClr>
              <a:buFont typeface="Arial"/>
              <a:buChar char="▪"/>
            </a:pPr>
            <a:r>
              <a:rPr sz="2400">
                <a:solidFill>
                  <a:srgbClr val="1F2937"/>
                </a:solidFill>
                <a:latin typeface="Calibri"/>
              </a:rPr>
              <a:t>HTTP with Server-Sent Events connects remote or containerized MCP servers.</a:t>
            </a:r>
          </a:p>
          <a:p>
            <a:pPr marL="292608" indent="-292608">
              <a:spcAft>
                <a:spcPts val="1000"/>
              </a:spcAft>
              <a:buClr>
                <a:srgbClr val="0F766E"/>
              </a:buClr>
              <a:buFont typeface="Arial"/>
              <a:buChar char="▪"/>
            </a:pPr>
            <a:r>
              <a:rPr sz="2400">
                <a:solidFill>
                  <a:srgbClr val="1F2937"/>
                </a:solidFill>
                <a:latin typeface="Calibri"/>
              </a:rPr>
              <a:t>Both transports serialize protocol messages using standard JSON-RPC 2.0 format.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Core MCP Schema: Server Capabilities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W02.L1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8</a:t>
            </a:r>
          </a:p>
        </p:txBody>
      </p:sp>
      <p:sp>
        <p:nvSpPr>
          <p:cNvPr id="6" name="TextBox 5"/>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Servers declare supported features during initial handshake capability negotiation.</a:t>
            </a:r>
          </a:p>
          <a:p>
            <a:pPr marL="292608" indent="-292608">
              <a:spcAft>
                <a:spcPts val="1000"/>
              </a:spcAft>
              <a:buClr>
                <a:srgbClr val="0F766E"/>
              </a:buClr>
              <a:buFont typeface="Arial"/>
              <a:buChar char="▪"/>
            </a:pPr>
            <a:r>
              <a:rPr sz="2400">
                <a:solidFill>
                  <a:srgbClr val="1F2937"/>
                </a:solidFill>
                <a:latin typeface="Calibri"/>
              </a:rPr>
              <a:t>Main capability primitives include resources, prompts, and tools.</a:t>
            </a:r>
          </a:p>
          <a:p>
            <a:pPr marL="292608" indent="-292608">
              <a:spcAft>
                <a:spcPts val="1000"/>
              </a:spcAft>
              <a:buClr>
                <a:srgbClr val="0F766E"/>
              </a:buClr>
              <a:buFont typeface="Arial"/>
              <a:buChar char="▪"/>
            </a:pPr>
            <a:r>
              <a:rPr sz="2400">
                <a:solidFill>
                  <a:srgbClr val="1F2937"/>
                </a:solidFill>
                <a:latin typeface="Calibri"/>
              </a:rPr>
              <a:t>Capability declarations prevent clients from sending unsupported requests to servers.</a:t>
            </a:r>
          </a:p>
        </p:txBody>
      </p:sp>
      <p:sp>
        <p:nvSpPr>
          <p:cNvPr id="7" name="Rounded Rectangle 6"/>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json</a:t>
            </a:r>
          </a:p>
          <a:p>
            <a:pPr algn="l"/>
            <a:r>
              <a:rPr sz="1400" b="0">
                <a:solidFill>
                  <a:srgbClr val="E5E7EB"/>
                </a:solidFill>
                <a:latin typeface="Consolas"/>
              </a:rPr>
              <a:t>{</a:t>
            </a:r>
          </a:p>
          <a:p>
            <a:pPr algn="l"/>
            <a:r>
              <a:rPr sz="1400" b="0">
                <a:solidFill>
                  <a:srgbClr val="E5E7EB"/>
                </a:solidFill>
                <a:latin typeface="Consolas"/>
              </a:rPr>
              <a:t>  "protocolVersion": "2024-11-05",</a:t>
            </a:r>
          </a:p>
          <a:p>
            <a:pPr algn="l"/>
            <a:r>
              <a:rPr sz="1400" b="0">
                <a:solidFill>
                  <a:srgbClr val="E5E7EB"/>
                </a:solidFill>
                <a:latin typeface="Consolas"/>
              </a:rPr>
              <a:t>  "capabilities": {</a:t>
            </a:r>
          </a:p>
          <a:p>
            <a:pPr algn="l"/>
            <a:r>
              <a:rPr sz="1400" b="0">
                <a:solidFill>
                  <a:srgbClr val="E5E7EB"/>
                </a:solidFill>
                <a:latin typeface="Consolas"/>
              </a:rPr>
              <a:t>    "resources": {"subscribe": true},</a:t>
            </a:r>
          </a:p>
          <a:p>
            <a:pPr algn="l"/>
            <a:r>
              <a:rPr sz="1400" b="0">
                <a:solidFill>
                  <a:srgbClr val="E5E7EB"/>
                </a:solidFill>
                <a:latin typeface="Consolas"/>
              </a:rPr>
              <a:t>    "tools": {},</a:t>
            </a:r>
          </a:p>
          <a:p>
            <a:pPr algn="l"/>
            <a:r>
              <a:rPr sz="1400" b="0">
                <a:solidFill>
                  <a:srgbClr val="E5E7EB"/>
                </a:solidFill>
                <a:latin typeface="Consolas"/>
              </a:rPr>
              <a:t>    "prompts": {}</a:t>
            </a:r>
          </a:p>
          <a:p>
            <a:pPr algn="l"/>
            <a:r>
              <a:rPr sz="1400" b="0">
                <a:solidFill>
                  <a:srgbClr val="E5E7EB"/>
                </a:solidFill>
                <a:latin typeface="Consolas"/>
              </a:rPr>
              <a:t>  },</a:t>
            </a:r>
          </a:p>
          <a:p>
            <a:pPr algn="l"/>
            <a:r>
              <a:rPr sz="1400" b="0">
                <a:solidFill>
                  <a:srgbClr val="E5E7EB"/>
                </a:solidFill>
                <a:latin typeface="Consolas"/>
              </a:rPr>
              <a:t>  "serverInfo": {</a:t>
            </a:r>
          </a:p>
          <a:p>
            <a:pPr algn="l"/>
            <a:r>
              <a:rPr sz="1400" b="0">
                <a:solidFill>
                  <a:srgbClr val="E5E7EB"/>
                </a:solidFill>
                <a:latin typeface="Consolas"/>
              </a:rPr>
              <a:t>    "name": "workspace-tools",</a:t>
            </a:r>
          </a:p>
          <a:p>
            <a:pPr algn="l"/>
            <a:r>
              <a:rPr sz="1400" b="0">
                <a:solidFill>
                  <a:srgbClr val="E5E7EB"/>
                </a:solidFill>
                <a:latin typeface="Consolas"/>
              </a:rPr>
              <a:t>    "version": "1.0.0"</a:t>
            </a:r>
          </a:p>
          <a:p>
            <a:pPr algn="l"/>
            <a:r>
              <a:rPr sz="1400" b="0">
                <a:solidFill>
                  <a:srgbClr val="E5E7EB"/>
                </a:solidFill>
                <a:latin typeface="Consolas"/>
              </a:rPr>
              <a:t>  }</a:t>
            </a:r>
          </a:p>
          <a:p>
            <a:pPr algn="l"/>
            <a:r>
              <a:rPr sz="1400" b="0">
                <a:solidFill>
                  <a:srgbClr val="E5E7EB"/>
                </a:solidFill>
                <a:latin typeface="Consolas"/>
              </a:rPr>
              <a:t>}</a:t>
            </a:r>
          </a:p>
        </p:txBody>
      </p:sp>
      <p:sp>
        <p:nvSpPr>
          <p:cNvPr id="9" name="TextBox 8"/>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MCP Handshake Server Capabilities Declaration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MCP Schema: Defining Resources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W02.L1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9</a:t>
            </a:r>
          </a:p>
        </p:txBody>
      </p:sp>
      <p:sp>
        <p:nvSpPr>
          <p:cNvPr id="6" name="TextBox 5"/>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Resources expose contextual data like files, database schemas, or logs to the AI.</a:t>
            </a:r>
          </a:p>
          <a:p>
            <a:pPr marL="292608" indent="-292608">
              <a:spcAft>
                <a:spcPts val="1000"/>
              </a:spcAft>
              <a:buClr>
                <a:srgbClr val="0F766E"/>
              </a:buClr>
              <a:buFont typeface="Arial"/>
              <a:buChar char="▪"/>
            </a:pPr>
            <a:r>
              <a:rPr sz="2400">
                <a:solidFill>
                  <a:srgbClr val="1F2937"/>
                </a:solidFill>
                <a:latin typeface="Calibri"/>
              </a:rPr>
              <a:t>Expressed using URI templates such as file system paths or custom schemes.</a:t>
            </a:r>
          </a:p>
          <a:p>
            <a:pPr marL="292608" indent="-292608">
              <a:spcAft>
                <a:spcPts val="1000"/>
              </a:spcAft>
              <a:buClr>
                <a:srgbClr val="0F766E"/>
              </a:buClr>
              <a:buFont typeface="Arial"/>
              <a:buChar char="▪"/>
            </a:pPr>
            <a:r>
              <a:rPr sz="2400">
                <a:solidFill>
                  <a:srgbClr val="1F2937"/>
                </a:solidFill>
                <a:latin typeface="Calibri"/>
              </a:rPr>
              <a:t>Resources can be static files or dynamic streams updated via subscription events.</a:t>
            </a:r>
          </a:p>
        </p:txBody>
      </p:sp>
      <p:sp>
        <p:nvSpPr>
          <p:cNvPr id="7" name="Rounded Rectangle 6"/>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json</a:t>
            </a:r>
          </a:p>
          <a:p>
            <a:pPr algn="l"/>
            <a:r>
              <a:rPr sz="1400" b="0">
                <a:solidFill>
                  <a:srgbClr val="E5E7EB"/>
                </a:solidFill>
                <a:latin typeface="Consolas"/>
              </a:rPr>
              <a:t>{</a:t>
            </a:r>
          </a:p>
          <a:p>
            <a:pPr algn="l"/>
            <a:r>
              <a:rPr sz="1400" b="0">
                <a:solidFill>
                  <a:srgbClr val="E5E7EB"/>
                </a:solidFill>
                <a:latin typeface="Consolas"/>
              </a:rPr>
              <a:t>  "uri": "file:///workspace/src/app.py",</a:t>
            </a:r>
          </a:p>
          <a:p>
            <a:pPr algn="l"/>
            <a:r>
              <a:rPr sz="1400" b="0">
                <a:solidFill>
                  <a:srgbClr val="E5E7EB"/>
                </a:solidFill>
                <a:latin typeface="Consolas"/>
              </a:rPr>
              <a:t>  "name": "Application Entry Point",</a:t>
            </a:r>
          </a:p>
          <a:p>
            <a:pPr algn="l"/>
            <a:r>
              <a:rPr sz="1400" b="0">
                <a:solidFill>
                  <a:srgbClr val="E5E7EB"/>
                </a:solidFill>
                <a:latin typeface="Consolas"/>
              </a:rPr>
              <a:t>  "description": "Main application startup logic",</a:t>
            </a:r>
          </a:p>
          <a:p>
            <a:pPr algn="l"/>
            <a:r>
              <a:rPr sz="1400" b="0">
                <a:solidFill>
                  <a:srgbClr val="E5E7EB"/>
                </a:solidFill>
                <a:latin typeface="Consolas"/>
              </a:rPr>
              <a:t>  "mimeType": "text/x-python"</a:t>
            </a:r>
          </a:p>
          <a:p>
            <a:pPr algn="l"/>
            <a:r>
              <a:rPr sz="1400" b="0">
                <a:solidFill>
                  <a:srgbClr val="E5E7EB"/>
                </a:solidFill>
                <a:latin typeface="Consolas"/>
              </a:rPr>
              <a:t>}</a:t>
            </a:r>
          </a:p>
        </p:txBody>
      </p:sp>
      <p:sp>
        <p:nvSpPr>
          <p:cNvPr id="9" name="TextBox 8"/>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MCP Resource Object Definition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MCP Schema: Defining Tools and Arguments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W02.L1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10</a:t>
            </a:r>
          </a:p>
        </p:txBody>
      </p:sp>
      <p:sp>
        <p:nvSpPr>
          <p:cNvPr id="6" name="TextBox 5"/>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Tools represent executable functions that perform side effects or computations.</a:t>
            </a:r>
          </a:p>
          <a:p>
            <a:pPr marL="292608" indent="-292608">
              <a:spcAft>
                <a:spcPts val="1000"/>
              </a:spcAft>
              <a:buClr>
                <a:srgbClr val="0F766E"/>
              </a:buClr>
              <a:buFont typeface="Arial"/>
              <a:buChar char="▪"/>
            </a:pPr>
            <a:r>
              <a:rPr sz="2300">
                <a:solidFill>
                  <a:srgbClr val="1F2937"/>
                </a:solidFill>
                <a:latin typeface="Calibri"/>
              </a:rPr>
              <a:t>Schema requires exact tool names, descriptions, and JSON Schema input parameters.</a:t>
            </a:r>
          </a:p>
          <a:p>
            <a:pPr marL="292608" indent="-292608">
              <a:spcAft>
                <a:spcPts val="1000"/>
              </a:spcAft>
              <a:buClr>
                <a:srgbClr val="0F766E"/>
              </a:buClr>
              <a:buFont typeface="Arial"/>
              <a:buChar char="▪"/>
            </a:pPr>
            <a:r>
              <a:rPr sz="2300">
                <a:solidFill>
                  <a:srgbClr val="1F2937"/>
                </a:solidFill>
                <a:latin typeface="Calibri"/>
              </a:rPr>
              <a:t>Client validates LLM arguments against JSON Schema before invoking the server tool.</a:t>
            </a:r>
          </a:p>
        </p:txBody>
      </p:sp>
      <p:sp>
        <p:nvSpPr>
          <p:cNvPr id="7" name="Rounded Rectangle 6"/>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json</a:t>
            </a:r>
          </a:p>
          <a:p>
            <a:pPr algn="l"/>
            <a:r>
              <a:rPr sz="1400" b="0">
                <a:solidFill>
                  <a:srgbClr val="E5E7EB"/>
                </a:solidFill>
                <a:latin typeface="Consolas"/>
              </a:rPr>
              <a:t>{</a:t>
            </a:r>
          </a:p>
          <a:p>
            <a:pPr algn="l"/>
            <a:r>
              <a:rPr sz="1400" b="0">
                <a:solidFill>
                  <a:srgbClr val="E5E7EB"/>
                </a:solidFill>
                <a:latin typeface="Consolas"/>
              </a:rPr>
              <a:t>  "name": "run_unit_tests",</a:t>
            </a:r>
          </a:p>
          <a:p>
            <a:pPr algn="l"/>
            <a:r>
              <a:rPr sz="1400" b="0">
                <a:solidFill>
                  <a:srgbClr val="E5E7EB"/>
                </a:solidFill>
                <a:latin typeface="Consolas"/>
              </a:rPr>
              <a:t>  "description": "Executes JUnit test suite",</a:t>
            </a:r>
          </a:p>
          <a:p>
            <a:pPr algn="l"/>
            <a:r>
              <a:rPr sz="1400" b="0">
                <a:solidFill>
                  <a:srgbClr val="E5E7EB"/>
                </a:solidFill>
                <a:latin typeface="Consolas"/>
              </a:rPr>
              <a:t>  "inputSchema": {</a:t>
            </a:r>
          </a:p>
          <a:p>
            <a:pPr algn="l"/>
            <a:r>
              <a:rPr sz="1400" b="0">
                <a:solidFill>
                  <a:srgbClr val="E5E7EB"/>
                </a:solidFill>
                <a:latin typeface="Consolas"/>
              </a:rPr>
              <a:t>    "type": "object",</a:t>
            </a:r>
          </a:p>
          <a:p>
            <a:pPr algn="l"/>
            <a:r>
              <a:rPr sz="1400" b="0">
                <a:solidFill>
                  <a:srgbClr val="E5E7EB"/>
                </a:solidFill>
                <a:latin typeface="Consolas"/>
              </a:rPr>
              <a:t>    "properties": {</a:t>
            </a:r>
          </a:p>
          <a:p>
            <a:pPr algn="l"/>
            <a:r>
              <a:rPr sz="1400" b="0">
                <a:solidFill>
                  <a:srgbClr val="E5E7EB"/>
                </a:solidFill>
                <a:latin typeface="Consolas"/>
              </a:rPr>
              <a:t>      "testClass": {"type": "string"}</a:t>
            </a:r>
          </a:p>
          <a:p>
            <a:pPr algn="l"/>
            <a:r>
              <a:rPr sz="1400" b="0">
                <a:solidFill>
                  <a:srgbClr val="E5E7EB"/>
                </a:solidFill>
                <a:latin typeface="Consolas"/>
              </a:rPr>
              <a:t>    },</a:t>
            </a:r>
          </a:p>
          <a:p>
            <a:pPr algn="l"/>
            <a:r>
              <a:rPr sz="1400" b="0">
                <a:solidFill>
                  <a:srgbClr val="E5E7EB"/>
                </a:solidFill>
                <a:latin typeface="Consolas"/>
              </a:rPr>
              <a:t>    "required": ["testClass"]</a:t>
            </a:r>
          </a:p>
          <a:p>
            <a:pPr algn="l"/>
            <a:r>
              <a:rPr sz="1400" b="0">
                <a:solidFill>
                  <a:srgbClr val="E5E7EB"/>
                </a:solidFill>
                <a:latin typeface="Consolas"/>
              </a:rPr>
              <a:t>  }</a:t>
            </a:r>
          </a:p>
          <a:p>
            <a:pPr algn="l"/>
            <a:r>
              <a:rPr sz="1400" b="0">
                <a:solidFill>
                  <a:srgbClr val="E5E7EB"/>
                </a:solidFill>
                <a:latin typeface="Consolas"/>
              </a:rPr>
              <a:t>}</a:t>
            </a:r>
          </a:p>
        </p:txBody>
      </p:sp>
      <p:sp>
        <p:nvSpPr>
          <p:cNvPr id="9" name="TextBox 8"/>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MCP Tool Specification Schema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MCP Schema: Defining Prompts and Context Templates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W02.L1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11</a:t>
            </a:r>
          </a:p>
        </p:txBody>
      </p:sp>
      <p:sp>
        <p:nvSpPr>
          <p:cNvPr id="6" name="TextBox 5"/>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Prompts are predefined template messages designed for recurring developer workflows.</a:t>
            </a:r>
          </a:p>
          <a:p>
            <a:pPr marL="292608" indent="-292608">
              <a:spcAft>
                <a:spcPts val="1000"/>
              </a:spcAft>
              <a:buClr>
                <a:srgbClr val="0F766E"/>
              </a:buClr>
              <a:buFont typeface="Arial"/>
              <a:buChar char="▪"/>
            </a:pPr>
            <a:r>
              <a:rPr sz="2300">
                <a:solidFill>
                  <a:srgbClr val="1F2937"/>
                </a:solidFill>
                <a:latin typeface="Calibri"/>
              </a:rPr>
              <a:t>Accept typed parameters to dynamically populate workspace context into prompts.</a:t>
            </a:r>
          </a:p>
          <a:p>
            <a:pPr marL="292608" indent="-292608">
              <a:spcAft>
                <a:spcPts val="1000"/>
              </a:spcAft>
              <a:buClr>
                <a:srgbClr val="0F766E"/>
              </a:buClr>
              <a:buFont typeface="Arial"/>
              <a:buChar char="▪"/>
            </a:pPr>
            <a:r>
              <a:rPr sz="2300">
                <a:solidFill>
                  <a:srgbClr val="1F2937"/>
                </a:solidFill>
                <a:latin typeface="Calibri"/>
              </a:rPr>
              <a:t>Helps standardize prompt engineering patterns across an entire development team.</a:t>
            </a:r>
          </a:p>
        </p:txBody>
      </p:sp>
      <p:sp>
        <p:nvSpPr>
          <p:cNvPr id="7" name="Rounded Rectangle 6"/>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json</a:t>
            </a:r>
          </a:p>
          <a:p>
            <a:pPr algn="l"/>
            <a:r>
              <a:rPr sz="1400" b="0">
                <a:solidFill>
                  <a:srgbClr val="E5E7EB"/>
                </a:solidFill>
                <a:latin typeface="Consolas"/>
              </a:rPr>
              <a:t>{</a:t>
            </a:r>
          </a:p>
          <a:p>
            <a:pPr algn="l"/>
            <a:r>
              <a:rPr sz="1400" b="0">
                <a:solidFill>
                  <a:srgbClr val="E5E7EB"/>
                </a:solidFill>
                <a:latin typeface="Consolas"/>
              </a:rPr>
              <a:t>  "name": "code_review",</a:t>
            </a:r>
          </a:p>
          <a:p>
            <a:pPr algn="l"/>
            <a:r>
              <a:rPr sz="1400" b="0">
                <a:solidFill>
                  <a:srgbClr val="E5E7EB"/>
                </a:solidFill>
                <a:latin typeface="Consolas"/>
              </a:rPr>
              <a:t>  "description": "Review pull request diff for bugs",</a:t>
            </a:r>
          </a:p>
          <a:p>
            <a:pPr algn="l"/>
            <a:r>
              <a:rPr sz="1400" b="0">
                <a:solidFill>
                  <a:srgbClr val="E5E7EB"/>
                </a:solidFill>
                <a:latin typeface="Consolas"/>
              </a:rPr>
              <a:t>  "arguments": [</a:t>
            </a:r>
          </a:p>
          <a:p>
            <a:pPr algn="l"/>
            <a:r>
              <a:rPr sz="1400" b="0">
                <a:solidFill>
                  <a:srgbClr val="E5E7EB"/>
                </a:solidFill>
                <a:latin typeface="Consolas"/>
              </a:rPr>
              <a:t>    {</a:t>
            </a:r>
          </a:p>
          <a:p>
            <a:pPr algn="l"/>
            <a:r>
              <a:rPr sz="1400" b="0">
                <a:solidFill>
                  <a:srgbClr val="E5E7EB"/>
                </a:solidFill>
                <a:latin typeface="Consolas"/>
              </a:rPr>
              <a:t>      "name": "targetBranch",</a:t>
            </a:r>
          </a:p>
          <a:p>
            <a:pPr algn="l"/>
            <a:r>
              <a:rPr sz="1400" b="0">
                <a:solidFill>
                  <a:srgbClr val="E5E7EB"/>
                </a:solidFill>
                <a:latin typeface="Consolas"/>
              </a:rPr>
              <a:t>      "description": "Branch to compare against",</a:t>
            </a:r>
          </a:p>
          <a:p>
            <a:pPr algn="l"/>
            <a:r>
              <a:rPr sz="1400" b="0">
                <a:solidFill>
                  <a:srgbClr val="E5E7EB"/>
                </a:solidFill>
                <a:latin typeface="Consolas"/>
              </a:rPr>
              <a:t>      "required": true</a:t>
            </a:r>
          </a:p>
          <a:p>
            <a:pPr algn="l"/>
            <a:r>
              <a:rPr sz="1400" b="0">
                <a:solidFill>
                  <a:srgbClr val="E5E7EB"/>
                </a:solidFill>
                <a:latin typeface="Consolas"/>
              </a:rPr>
              <a:t>    }</a:t>
            </a:r>
          </a:p>
          <a:p>
            <a:pPr algn="l"/>
            <a:r>
              <a:rPr sz="1400" b="0">
                <a:solidFill>
                  <a:srgbClr val="E5E7EB"/>
                </a:solidFill>
                <a:latin typeface="Consolas"/>
              </a:rPr>
              <a:t>  ]</a:t>
            </a:r>
          </a:p>
          <a:p>
            <a:pPr algn="l"/>
            <a:r>
              <a:rPr sz="1400" b="0">
                <a:solidFill>
                  <a:srgbClr val="E5E7EB"/>
                </a:solidFill>
                <a:latin typeface="Consolas"/>
              </a:rPr>
              <a:t>}</a:t>
            </a:r>
          </a:p>
        </p:txBody>
      </p:sp>
      <p:sp>
        <p:nvSpPr>
          <p:cNvPr id="9" name="TextBox 8"/>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MCP Prompt Definition Schema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Concept Check: MCP Roles and Capabilities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W02.L1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12</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300" b="1">
                <a:solidFill>
                  <a:srgbClr val="1F2937"/>
                </a:solidFill>
                <a:latin typeface="Calibri"/>
              </a:rPr>
              <a:t>Which component in the Model Context Protocol architecture is responsible for initiating handshakes and executing JSON Schema validation on AI tool calls?</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2000" b="0">
                <a:solidFill>
                  <a:srgbClr val="1F2937"/>
                </a:solidFill>
                <a:latin typeface="Calibri"/>
              </a:rPr>
              <a:t>MCP Host</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2000" b="0">
                <a:solidFill>
                  <a:srgbClr val="1F2937"/>
                </a:solidFill>
                <a:latin typeface="Calibri"/>
              </a:rPr>
              <a:t>MCP Client</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2000" b="0">
                <a:solidFill>
                  <a:srgbClr val="1F2937"/>
                </a:solidFill>
                <a:latin typeface="Calibri"/>
              </a:rPr>
              <a:t>MCP Server</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2000" b="0">
                <a:solidFill>
                  <a:srgbClr val="1F2937"/>
                </a:solidFill>
                <a:latin typeface="Calibri"/>
              </a:rPr>
              <a:t>JSON-RPC Gateway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900" b="1">
                <a:solidFill>
                  <a:srgbClr val="1F2937"/>
                </a:solidFill>
                <a:latin typeface="Calibri"/>
              </a:rPr>
              <a:t>Inspecting an MCP Workspace Configuration File</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Example</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W02.L1   ·   Sources: [C1]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13</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Workspace configurations register available MCP servers and their launch parameters.</a:t>
            </a:r>
          </a:p>
          <a:p>
            <a:pPr marL="292608" indent="-292608">
              <a:spcAft>
                <a:spcPts val="1000"/>
              </a:spcAft>
              <a:buClr>
                <a:srgbClr val="0F766E"/>
              </a:buClr>
              <a:buFont typeface="Arial"/>
              <a:buChar char="▪"/>
            </a:pPr>
            <a:r>
              <a:rPr sz="2400">
                <a:solidFill>
                  <a:srgbClr val="1F2937"/>
                </a:solidFill>
                <a:latin typeface="Calibri"/>
              </a:rPr>
              <a:t>Uses standard JSON format defining server keys, executable commands, and arguments.</a:t>
            </a:r>
          </a:p>
          <a:p>
            <a:pPr marL="292608" indent="-292608">
              <a:spcAft>
                <a:spcPts val="1000"/>
              </a:spcAft>
              <a:buClr>
                <a:srgbClr val="0F766E"/>
              </a:buClr>
              <a:buFont typeface="Arial"/>
              <a:buChar char="▪"/>
            </a:pPr>
            <a:r>
              <a:rPr sz="2400">
                <a:solidFill>
                  <a:srgbClr val="1F2937"/>
                </a:solidFill>
                <a:latin typeface="Calibri"/>
              </a:rPr>
              <a:t>Environment variables pass necessary paths and authentication tokens safely.</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json</a:t>
            </a:r>
          </a:p>
          <a:p>
            <a:pPr algn="l"/>
            <a:r>
              <a:rPr sz="1000" b="0">
                <a:solidFill>
                  <a:srgbClr val="E5E7EB"/>
                </a:solidFill>
                <a:latin typeface="Consolas"/>
              </a:rPr>
              <a:t>{</a:t>
            </a:r>
          </a:p>
          <a:p>
            <a:pPr algn="l"/>
            <a:r>
              <a:rPr sz="1000" b="0">
                <a:solidFill>
                  <a:srgbClr val="E5E7EB"/>
                </a:solidFill>
                <a:latin typeface="Consolas"/>
              </a:rPr>
              <a:t>  "mcpServers": {</a:t>
            </a:r>
          </a:p>
          <a:p>
            <a:pPr algn="l"/>
            <a:r>
              <a:rPr sz="1000" b="0">
                <a:solidFill>
                  <a:srgbClr val="E5E7EB"/>
                </a:solidFill>
                <a:latin typeface="Consolas"/>
              </a:rPr>
              <a:t>    "filesystem": {</a:t>
            </a:r>
          </a:p>
          <a:p>
            <a:pPr algn="l"/>
            <a:r>
              <a:rPr sz="1000" b="0">
                <a:solidFill>
                  <a:srgbClr val="E5E7EB"/>
                </a:solidFill>
                <a:latin typeface="Consolas"/>
              </a:rPr>
              <a:t>      "command": "npx",</a:t>
            </a:r>
          </a:p>
          <a:p>
            <a:pPr algn="l"/>
            <a:r>
              <a:rPr sz="1000" b="0">
                <a:solidFill>
                  <a:srgbClr val="E5E7EB"/>
                </a:solidFill>
                <a:latin typeface="Consolas"/>
              </a:rPr>
              <a:t>      "args": ["-y", "@modelcontextprotocol/server-filesystem", "/workspace"]</a:t>
            </a:r>
          </a:p>
          <a:p>
            <a:pPr algn="l"/>
            <a:r>
              <a:rPr sz="1000" b="0">
                <a:solidFill>
                  <a:srgbClr val="E5E7EB"/>
                </a:solidFill>
                <a:latin typeface="Consolas"/>
              </a:rPr>
              <a:t>    },</a:t>
            </a:r>
          </a:p>
          <a:p>
            <a:pPr algn="l"/>
            <a:r>
              <a:rPr sz="1000" b="0">
                <a:solidFill>
                  <a:srgbClr val="E5E7EB"/>
                </a:solidFill>
                <a:latin typeface="Consolas"/>
              </a:rPr>
              <a:t>    "git": {</a:t>
            </a:r>
          </a:p>
          <a:p>
            <a:pPr algn="l"/>
            <a:r>
              <a:rPr sz="1000" b="0">
                <a:solidFill>
                  <a:srgbClr val="E5E7EB"/>
                </a:solidFill>
                <a:latin typeface="Consolas"/>
              </a:rPr>
              <a:t>      "command": "python",</a:t>
            </a:r>
          </a:p>
          <a:p>
            <a:pPr algn="l"/>
            <a:r>
              <a:rPr sz="1000" b="0">
                <a:solidFill>
                  <a:srgbClr val="E5E7EB"/>
                </a:solidFill>
                <a:latin typeface="Consolas"/>
              </a:rPr>
              <a:t>      "args": ["-m", "mcp_server_git", "--repository", "/workspace/repo"]</a:t>
            </a:r>
          </a:p>
          <a:p>
            <a:pPr algn="l"/>
            <a:r>
              <a:rPr sz="1000" b="0">
                <a:solidFill>
                  <a:srgbClr val="E5E7EB"/>
                </a:solidFill>
                <a:latin typeface="Consolas"/>
              </a:rPr>
              <a:t>    }</a:t>
            </a:r>
          </a:p>
          <a:p>
            <a:pPr algn="l"/>
            <a:r>
              <a:rPr sz="1000" b="0">
                <a:solidFill>
                  <a:srgbClr val="E5E7EB"/>
                </a:solidFill>
                <a:latin typeface="Consolas"/>
              </a:rPr>
              <a:t>  }</a:t>
            </a:r>
          </a:p>
          <a:p>
            <a:pPr algn="l"/>
            <a:r>
              <a:rPr sz="1000" b="0">
                <a:solidFill>
                  <a:srgbClr val="E5E7EB"/>
                </a:solidFill>
                <a:latin typeface="Consolas"/>
              </a:rPr>
              <a:t>}</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Standard mcpServers Configuration Schema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Protocol Requirements: JSON-RPC 2.0 Message Structure</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W02.L1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14</a:t>
            </a:r>
          </a:p>
        </p:txBody>
      </p:sp>
      <p:sp>
        <p:nvSpPr>
          <p:cNvPr id="6" name="TextBox 5"/>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All communications adhere strictly to the JSON-RPC 2.0 specification.</a:t>
            </a:r>
          </a:p>
          <a:p>
            <a:pPr marL="292608" indent="-292608">
              <a:spcAft>
                <a:spcPts val="1000"/>
              </a:spcAft>
              <a:buClr>
                <a:srgbClr val="0F766E"/>
              </a:buClr>
              <a:buFont typeface="Arial"/>
              <a:buChar char="▪"/>
            </a:pPr>
            <a:r>
              <a:rPr sz="2400">
                <a:solidFill>
                  <a:srgbClr val="1F2937"/>
                </a:solidFill>
                <a:latin typeface="Calibri"/>
              </a:rPr>
              <a:t>Request messages include jsonrpc, id, method, and optional params.</a:t>
            </a:r>
          </a:p>
          <a:p>
            <a:pPr marL="292608" indent="-292608">
              <a:spcAft>
                <a:spcPts val="1000"/>
              </a:spcAft>
              <a:buClr>
                <a:srgbClr val="0F766E"/>
              </a:buClr>
              <a:buFont typeface="Arial"/>
              <a:buChar char="▪"/>
            </a:pPr>
            <a:r>
              <a:rPr sz="2400">
                <a:solidFill>
                  <a:srgbClr val="1F2937"/>
                </a:solidFill>
                <a:latin typeface="Calibri"/>
              </a:rPr>
              <a:t>Response messages return matching id, and either result or an error object.</a:t>
            </a:r>
          </a:p>
        </p:txBody>
      </p:sp>
      <p:sp>
        <p:nvSpPr>
          <p:cNvPr id="7" name="Rounded Rectangle 6"/>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json</a:t>
            </a:r>
          </a:p>
          <a:p>
            <a:pPr algn="l"/>
            <a:r>
              <a:rPr sz="1200" b="0">
                <a:solidFill>
                  <a:srgbClr val="E5E7EB"/>
                </a:solidFill>
                <a:latin typeface="Consolas"/>
              </a:rPr>
              <a:t>// Request</a:t>
            </a:r>
          </a:p>
          <a:p>
            <a:pPr algn="l"/>
            <a:r>
              <a:rPr sz="1200" b="0">
                <a:solidFill>
                  <a:srgbClr val="E5E7EB"/>
                </a:solidFill>
                <a:latin typeface="Consolas"/>
              </a:rPr>
              <a:t>{</a:t>
            </a:r>
          </a:p>
          <a:p>
            <a:pPr algn="l"/>
            <a:r>
              <a:rPr sz="1200" b="0">
                <a:solidFill>
                  <a:srgbClr val="E5E7EB"/>
                </a:solidFill>
                <a:latin typeface="Consolas"/>
              </a:rPr>
              <a:t>  "jsonrpc": "2.0",</a:t>
            </a:r>
          </a:p>
          <a:p>
            <a:pPr algn="l"/>
            <a:r>
              <a:rPr sz="1200" b="0">
                <a:solidFill>
                  <a:srgbClr val="E5E7EB"/>
                </a:solidFill>
                <a:latin typeface="Consolas"/>
              </a:rPr>
              <a:t>  "id": 101,</a:t>
            </a:r>
          </a:p>
          <a:p>
            <a:pPr algn="l"/>
            <a:r>
              <a:rPr sz="1200" b="0">
                <a:solidFill>
                  <a:srgbClr val="E5E7EB"/>
                </a:solidFill>
                <a:latin typeface="Consolas"/>
              </a:rPr>
              <a:t>  "method": "tools/call",</a:t>
            </a:r>
          </a:p>
          <a:p>
            <a:pPr algn="l"/>
            <a:r>
              <a:rPr sz="1200" b="0">
                <a:solidFill>
                  <a:srgbClr val="E5E7EB"/>
                </a:solidFill>
                <a:latin typeface="Consolas"/>
              </a:rPr>
              <a:t>  "params": {</a:t>
            </a:r>
          </a:p>
          <a:p>
            <a:pPr algn="l"/>
            <a:r>
              <a:rPr sz="1200" b="0">
                <a:solidFill>
                  <a:srgbClr val="E5E7EB"/>
                </a:solidFill>
                <a:latin typeface="Consolas"/>
              </a:rPr>
              <a:t>    "name": "run_unit_tests",</a:t>
            </a:r>
          </a:p>
          <a:p>
            <a:pPr algn="l"/>
            <a:r>
              <a:rPr sz="1200" b="0">
                <a:solidFill>
                  <a:srgbClr val="E5E7EB"/>
                </a:solidFill>
                <a:latin typeface="Consolas"/>
              </a:rPr>
              <a:t>    "arguments": {"testClass": "AppTest"}</a:t>
            </a:r>
          </a:p>
          <a:p>
            <a:pPr algn="l"/>
            <a:r>
              <a:rPr sz="1200" b="0">
                <a:solidFill>
                  <a:srgbClr val="E5E7EB"/>
                </a:solidFill>
                <a:latin typeface="Consolas"/>
              </a:rPr>
              <a:t>  }</a:t>
            </a:r>
          </a:p>
          <a:p>
            <a:pPr algn="l"/>
            <a:r>
              <a:rPr sz="1200" b="0">
                <a:solidFill>
                  <a:srgbClr val="E5E7EB"/>
                </a:solidFill>
                <a:latin typeface="Consolas"/>
              </a:rPr>
              <a:t>}</a:t>
            </a:r>
          </a:p>
          <a:p>
            <a:pPr algn="l"/>
            <a:r>
              <a:rPr sz="1200" b="0">
                <a:solidFill>
                  <a:srgbClr val="E5E7EB"/>
                </a:solidFill>
                <a:latin typeface="Consolas"/>
              </a:rPr>
              <a:t>// Response</a:t>
            </a:r>
          </a:p>
          <a:p>
            <a:pPr algn="l"/>
            <a:r>
              <a:rPr sz="1200" b="0">
                <a:solidFill>
                  <a:srgbClr val="E5E7EB"/>
                </a:solidFill>
                <a:latin typeface="Consolas"/>
              </a:rPr>
              <a:t>{</a:t>
            </a:r>
          </a:p>
          <a:p>
            <a:pPr algn="l"/>
            <a:r>
              <a:rPr sz="1200" b="0">
                <a:solidFill>
                  <a:srgbClr val="E5E7EB"/>
                </a:solidFill>
                <a:latin typeface="Consolas"/>
              </a:rPr>
              <a:t>  "jsonrpc": "2.0",</a:t>
            </a:r>
          </a:p>
          <a:p>
            <a:pPr algn="l"/>
            <a:r>
              <a:rPr sz="1200" b="0">
                <a:solidFill>
                  <a:srgbClr val="E5E7EB"/>
                </a:solidFill>
                <a:latin typeface="Consolas"/>
              </a:rPr>
              <a:t>  "id": 101,</a:t>
            </a:r>
          </a:p>
          <a:p>
            <a:pPr algn="l"/>
            <a:r>
              <a:rPr sz="1200" b="0">
                <a:solidFill>
                  <a:srgbClr val="E5E7EB"/>
                </a:solidFill>
                <a:latin typeface="Consolas"/>
              </a:rPr>
              <a:t>  "result": {</a:t>
            </a:r>
          </a:p>
          <a:p>
            <a:pPr algn="l"/>
            <a:r>
              <a:rPr sz="1200" b="0">
                <a:solidFill>
                  <a:srgbClr val="E5E7EB"/>
                </a:solidFill>
                <a:latin typeface="Consolas"/>
              </a:rPr>
              <a:t>    "content": [{"type": "text", "text": "Tests passed: 5/5"}]</a:t>
            </a:r>
          </a:p>
          <a:p>
            <a:pPr algn="l"/>
            <a:r>
              <a:rPr sz="1200" b="0">
                <a:solidFill>
                  <a:srgbClr val="E5E7EB"/>
                </a:solidFill>
                <a:latin typeface="Consolas"/>
              </a:rPr>
              <a:t>  }</a:t>
            </a:r>
          </a:p>
          <a:p>
            <a:pPr algn="l"/>
            <a:r>
              <a:rPr sz="1200" b="0">
                <a:solidFill>
                  <a:srgbClr val="E5E7EB"/>
                </a:solidFill>
                <a:latin typeface="Consolas"/>
              </a:rPr>
              <a:t>}</a:t>
            </a:r>
          </a:p>
        </p:txBody>
      </p:sp>
      <p:sp>
        <p:nvSpPr>
          <p:cNvPr id="9" name="TextBox 8"/>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JSON-RPC 2.0 Request and Response Pair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Parsing Requests and Responses in JSON-RPC</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Example</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W02.L1   ·   Sources: [C1]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15</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Demonstrates handling JSON-RPC requests for resource retrieval.</a:t>
            </a:r>
          </a:p>
          <a:p>
            <a:pPr marL="292608" indent="-292608">
              <a:spcAft>
                <a:spcPts val="1000"/>
              </a:spcAft>
              <a:buClr>
                <a:srgbClr val="0F766E"/>
              </a:buClr>
              <a:buFont typeface="Arial"/>
              <a:buChar char="▪"/>
            </a:pPr>
            <a:r>
              <a:rPr sz="2400">
                <a:solidFill>
                  <a:srgbClr val="1F2937"/>
                </a:solidFill>
                <a:latin typeface="Calibri"/>
              </a:rPr>
              <a:t>Server verifies URI path validity and returns structured resource content.</a:t>
            </a:r>
          </a:p>
          <a:p>
            <a:pPr marL="292608" indent="-292608">
              <a:spcAft>
                <a:spcPts val="1000"/>
              </a:spcAft>
              <a:buClr>
                <a:srgbClr val="0F766E"/>
              </a:buClr>
              <a:buFont typeface="Arial"/>
              <a:buChar char="▪"/>
            </a:pPr>
            <a:r>
              <a:rPr sz="2400">
                <a:solidFill>
                  <a:srgbClr val="1F2937"/>
                </a:solidFill>
                <a:latin typeface="Calibri"/>
              </a:rPr>
              <a:t>Explicit path resolution avoids broken or missing template path strings.</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json</a:t>
            </a:r>
          </a:p>
          <a:p>
            <a:pPr algn="l"/>
            <a:r>
              <a:rPr sz="1100" b="0">
                <a:solidFill>
                  <a:srgbClr val="E5E7EB"/>
                </a:solidFill>
                <a:latin typeface="Consolas"/>
              </a:rPr>
              <a:t>{</a:t>
            </a:r>
          </a:p>
          <a:p>
            <a:pPr algn="l"/>
            <a:r>
              <a:rPr sz="1100" b="0">
                <a:solidFill>
                  <a:srgbClr val="E5E7EB"/>
                </a:solidFill>
                <a:latin typeface="Consolas"/>
              </a:rPr>
              <a:t>  "jsonrpc": "2.0",</a:t>
            </a:r>
          </a:p>
          <a:p>
            <a:pPr algn="l"/>
            <a:r>
              <a:rPr sz="1100" b="0">
                <a:solidFill>
                  <a:srgbClr val="E5E7EB"/>
                </a:solidFill>
                <a:latin typeface="Consolas"/>
              </a:rPr>
              <a:t>  "id": 42,</a:t>
            </a:r>
          </a:p>
          <a:p>
            <a:pPr algn="l"/>
            <a:r>
              <a:rPr sz="1100" b="0">
                <a:solidFill>
                  <a:srgbClr val="E5E7EB"/>
                </a:solidFill>
                <a:latin typeface="Consolas"/>
              </a:rPr>
              <a:t>  "method": "resources/read",</a:t>
            </a:r>
          </a:p>
          <a:p>
            <a:pPr algn="l"/>
            <a:r>
              <a:rPr sz="1100" b="0">
                <a:solidFill>
                  <a:srgbClr val="E5E7EB"/>
                </a:solidFill>
                <a:latin typeface="Consolas"/>
              </a:rPr>
              <a:t>  "params": {</a:t>
            </a:r>
          </a:p>
          <a:p>
            <a:pPr algn="l"/>
            <a:r>
              <a:rPr sz="1100" b="0">
                <a:solidFill>
                  <a:srgbClr val="E5E7EB"/>
                </a:solidFill>
                <a:latin typeface="Consolas"/>
              </a:rPr>
              <a:t>    "uri": "file:///workspace/config.json"</a:t>
            </a:r>
          </a:p>
          <a:p>
            <a:pPr algn="l"/>
            <a:r>
              <a:rPr sz="1100" b="0">
                <a:solidFill>
                  <a:srgbClr val="E5E7EB"/>
                </a:solidFill>
                <a:latin typeface="Consolas"/>
              </a:rPr>
              <a:t>  }</a:t>
            </a:r>
          </a:p>
          <a:p>
            <a:pPr algn="l"/>
            <a:r>
              <a:rPr sz="1100" b="0">
                <a:solidFill>
                  <a:srgbClr val="E5E7EB"/>
                </a:solidFill>
                <a:latin typeface="Consolas"/>
              </a:rPr>
              <a:t>}</a:t>
            </a:r>
          </a:p>
          <a:p>
            <a:pPr algn="l"/>
            <a:r>
              <a:rPr sz="1100" b="0">
                <a:solidFill>
                  <a:srgbClr val="E5E7EB"/>
                </a:solidFill>
                <a:latin typeface="Consolas"/>
              </a:rPr>
              <a:t>{</a:t>
            </a:r>
          </a:p>
          <a:p>
            <a:pPr algn="l"/>
            <a:r>
              <a:rPr sz="1100" b="0">
                <a:solidFill>
                  <a:srgbClr val="E5E7EB"/>
                </a:solidFill>
                <a:latin typeface="Consolas"/>
              </a:rPr>
              <a:t>  "jsonrpc": "2.0",</a:t>
            </a:r>
          </a:p>
          <a:p>
            <a:pPr algn="l"/>
            <a:r>
              <a:rPr sz="1100" b="0">
                <a:solidFill>
                  <a:srgbClr val="E5E7EB"/>
                </a:solidFill>
                <a:latin typeface="Consolas"/>
              </a:rPr>
              <a:t>  "id": 42,</a:t>
            </a:r>
          </a:p>
          <a:p>
            <a:pPr algn="l"/>
            <a:r>
              <a:rPr sz="1100" b="0">
                <a:solidFill>
                  <a:srgbClr val="E5E7EB"/>
                </a:solidFill>
                <a:latin typeface="Consolas"/>
              </a:rPr>
              <a:t>  "result": {</a:t>
            </a:r>
          </a:p>
          <a:p>
            <a:pPr algn="l"/>
            <a:r>
              <a:rPr sz="1100" b="0">
                <a:solidFill>
                  <a:srgbClr val="E5E7EB"/>
                </a:solidFill>
                <a:latin typeface="Consolas"/>
              </a:rPr>
              <a:t>    "contents": [</a:t>
            </a:r>
          </a:p>
          <a:p>
            <a:pPr algn="l"/>
            <a:r>
              <a:rPr sz="1100" b="0">
                <a:solidFill>
                  <a:srgbClr val="E5E7EB"/>
                </a:solidFill>
                <a:latin typeface="Consolas"/>
              </a:rPr>
              <a:t>      {</a:t>
            </a:r>
          </a:p>
          <a:p>
            <a:pPr algn="l"/>
            <a:r>
              <a:rPr sz="1100" b="0">
                <a:solidFill>
                  <a:srgbClr val="E5E7EB"/>
                </a:solidFill>
                <a:latin typeface="Consolas"/>
              </a:rPr>
              <a:t>        "uri": "file:///workspace/config.json",</a:t>
            </a:r>
          </a:p>
          <a:p>
            <a:pPr algn="l"/>
            <a:r>
              <a:rPr sz="1100" b="0">
                <a:solidFill>
                  <a:srgbClr val="E5E7EB"/>
                </a:solidFill>
                <a:latin typeface="Consolas"/>
              </a:rPr>
              <a:t>        "mimeType": "application/json",</a:t>
            </a:r>
          </a:p>
          <a:p>
            <a:pPr algn="l"/>
            <a:r>
              <a:rPr sz="1100" b="0">
                <a:solidFill>
                  <a:srgbClr val="E5E7EB"/>
                </a:solidFill>
                <a:latin typeface="Consolas"/>
              </a:rPr>
              <a:t>        "text": "{\"env\": \"production\"}"</a:t>
            </a:r>
          </a:p>
          <a:p>
            <a:pPr algn="l"/>
            <a:r>
              <a:rPr sz="1100" b="0">
                <a:solidFill>
                  <a:srgbClr val="E5E7EB"/>
                </a:solidFill>
                <a:latin typeface="Consolas"/>
              </a:rPr>
              <a:t>      }</a:t>
            </a:r>
          </a:p>
          <a:p>
            <a:pPr algn="l"/>
            <a:r>
              <a:rPr sz="1100" b="0">
                <a:solidFill>
                  <a:srgbClr val="E5E7EB"/>
                </a:solidFill>
                <a:latin typeface="Consolas"/>
              </a:rPr>
              <a:t>    ]</a:t>
            </a:r>
          </a:p>
          <a:p>
            <a:pPr algn="l"/>
            <a:r>
              <a:rPr sz="1100" b="0">
                <a:solidFill>
                  <a:srgbClr val="E5E7EB"/>
                </a:solidFill>
                <a:latin typeface="Consolas"/>
              </a:rPr>
              <a:t>  }</a:t>
            </a:r>
          </a:p>
          <a:p>
            <a:pPr algn="l"/>
            <a:r>
              <a:rPr sz="1100" b="0">
                <a:solidFill>
                  <a:srgbClr val="E5E7EB"/>
                </a:solidFill>
                <a:latin typeface="Consolas"/>
              </a:rPr>
              <a:t>}</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Resource Read JSON-RPC Exchange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Managing Security, Permissions, and Access Control</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W02.L1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16</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MCP tools execute arbitrary code; hosts must enforce strict access boundaries.</a:t>
            </a:r>
          </a:p>
          <a:p>
            <a:pPr marL="292608" indent="-292608">
              <a:spcAft>
                <a:spcPts val="1000"/>
              </a:spcAft>
              <a:buClr>
                <a:srgbClr val="0F766E"/>
              </a:buClr>
              <a:buFont typeface="Arial"/>
              <a:buChar char="▪"/>
            </a:pPr>
            <a:r>
              <a:rPr sz="2400">
                <a:solidFill>
                  <a:srgbClr val="1F2937"/>
                </a:solidFill>
                <a:latin typeface="Calibri"/>
              </a:rPr>
              <a:t>Workspace configurations must restrict server access to explicitly defined roots.</a:t>
            </a:r>
          </a:p>
          <a:p>
            <a:pPr marL="292608" indent="-292608">
              <a:spcAft>
                <a:spcPts val="1000"/>
              </a:spcAft>
              <a:buClr>
                <a:srgbClr val="0F766E"/>
              </a:buClr>
              <a:buFont typeface="Arial"/>
              <a:buChar char="▪"/>
            </a:pPr>
            <a:r>
              <a:rPr sz="2400">
                <a:solidFill>
                  <a:srgbClr val="1F2937"/>
                </a:solidFill>
                <a:latin typeface="Calibri"/>
              </a:rPr>
              <a:t>User confirmation prompts are required before non-read-only tool execution.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Common Configuration Warnings and Protocol Mismatches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W02.L1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17</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Protocol version mismatch during initialization handshake causes connection rejection.</a:t>
            </a:r>
          </a:p>
          <a:p>
            <a:pPr marL="292608" indent="-292608">
              <a:spcAft>
                <a:spcPts val="1000"/>
              </a:spcAft>
              <a:buClr>
                <a:srgbClr val="0F766E"/>
              </a:buClr>
              <a:buFont typeface="Arial"/>
              <a:buChar char="▪"/>
            </a:pPr>
            <a:r>
              <a:rPr sz="2400">
                <a:solidFill>
                  <a:srgbClr val="1F2937"/>
                </a:solidFill>
                <a:latin typeface="Calibri"/>
              </a:rPr>
              <a:t>Schema validation errors trigger warnings if tool argument types do not match.</a:t>
            </a:r>
          </a:p>
          <a:p>
            <a:pPr marL="292608" indent="-292608">
              <a:spcAft>
                <a:spcPts val="1000"/>
              </a:spcAft>
              <a:buClr>
                <a:srgbClr val="0F766E"/>
              </a:buClr>
              <a:buFont typeface="Arial"/>
              <a:buChar char="▪"/>
            </a:pPr>
            <a:r>
              <a:rPr sz="2400">
                <a:solidFill>
                  <a:srgbClr val="1F2937"/>
                </a:solidFill>
                <a:latin typeface="Calibri"/>
              </a:rPr>
              <a:t>Misconfigured command paths lead to immediate stdio process exit errors.</a:t>
            </a:r>
          </a:p>
        </p:txBody>
      </p:sp>
      <p:graphicFrame>
        <p:nvGraphicFramePr>
          <p:cNvPr id="7" name="Table 6"/>
          <p:cNvGraphicFramePr>
            <a:graphicFrameLocks noGrp="1"/>
          </p:cNvGraphicFramePr>
          <p:nvPr/>
        </p:nvGraphicFramePr>
        <p:xfrm>
          <a:off x="6683495" y="1463040"/>
          <a:ext cx="4959560" cy="2011680"/>
        </p:xfrm>
        <a:graphic>
          <a:graphicData uri="http://schemas.openxmlformats.org/drawingml/2006/table">
            <a:tbl>
              <a:tblPr firstRow="1" bandRow="1">
                <a:tableStyleId>{5C22544A-7EE6-4342-B048-85BDC9FD1C3A}</a:tableStyleId>
              </a:tblPr>
              <a:tblGrid>
                <a:gridCol w="1653186"/>
                <a:gridCol w="1653186"/>
                <a:gridCol w="1653188"/>
              </a:tblGrid>
              <a:tr h="502920">
                <a:tc>
                  <a:txBody>
                    <a:bodyPr/>
                    <a:lstStyle/>
                    <a:p>
                      <a:r>
                        <a:rPr sz="1400" b="1">
                          <a:solidFill>
                            <a:srgbClr val="CCFBF1"/>
                          </a:solidFill>
                          <a:latin typeface="Calibri"/>
                        </a:rPr>
                        <a:t>Symptom / Warning</a:t>
                      </a:r>
                    </a:p>
                  </a:txBody>
                  <a:tcPr>
                    <a:solidFill>
                      <a:srgbClr val="0F766E"/>
                    </a:solidFill>
                  </a:tcPr>
                </a:tc>
                <a:tc>
                  <a:txBody>
                    <a:bodyPr/>
                    <a:lstStyle/>
                    <a:p>
                      <a:r>
                        <a:rPr sz="1400" b="1">
                          <a:solidFill>
                            <a:srgbClr val="CCFBF1"/>
                          </a:solidFill>
                          <a:latin typeface="Calibri"/>
                        </a:rPr>
                        <a:t>Root Cause</a:t>
                      </a:r>
                    </a:p>
                  </a:txBody>
                  <a:tcPr>
                    <a:solidFill>
                      <a:srgbClr val="0F766E"/>
                    </a:solidFill>
                  </a:tcPr>
                </a:tc>
                <a:tc>
                  <a:txBody>
                    <a:bodyPr/>
                    <a:lstStyle/>
                    <a:p>
                      <a:r>
                        <a:rPr sz="1400" b="1">
                          <a:solidFill>
                            <a:srgbClr val="CCFBF1"/>
                          </a:solidFill>
                          <a:latin typeface="Calibri"/>
                        </a:rPr>
                        <a:t>Resolution Step</a:t>
                      </a:r>
                    </a:p>
                  </a:txBody>
                  <a:tcPr>
                    <a:solidFill>
                      <a:srgbClr val="0F766E"/>
                    </a:solidFill>
                  </a:tcPr>
                </a:tc>
              </a:tr>
              <a:tr h="502920">
                <a:tc>
                  <a:txBody>
                    <a:bodyPr/>
                    <a:lstStyle/>
                    <a:p>
                      <a:r>
                        <a:rPr sz="1400" b="0">
                          <a:solidFill>
                            <a:srgbClr val="1F2937"/>
                          </a:solidFill>
                          <a:latin typeface="Calibri"/>
                        </a:rPr>
                        <a:t>Unknown protocol version</a:t>
                      </a:r>
                    </a:p>
                  </a:txBody>
                  <a:tcPr>
                    <a:solidFill>
                      <a:srgbClr val="F3F4F6"/>
                    </a:solidFill>
                  </a:tcPr>
                </a:tc>
                <a:tc>
                  <a:txBody>
                    <a:bodyPr/>
                    <a:lstStyle/>
                    <a:p>
                      <a:r>
                        <a:rPr sz="1400" b="0">
                          <a:solidFill>
                            <a:srgbClr val="1F2937"/>
                          </a:solidFill>
                          <a:latin typeface="Calibri"/>
                        </a:rPr>
                        <a:t>Client and Server MCP versions differ</a:t>
                      </a:r>
                    </a:p>
                  </a:txBody>
                  <a:tcPr>
                    <a:solidFill>
                      <a:srgbClr val="F3F4F6"/>
                    </a:solidFill>
                  </a:tcPr>
                </a:tc>
                <a:tc>
                  <a:txBody>
                    <a:bodyPr/>
                    <a:lstStyle/>
                    <a:p>
                      <a:r>
                        <a:rPr sz="1400" b="0">
                          <a:solidFill>
                            <a:srgbClr val="1F2937"/>
                          </a:solidFill>
                          <a:latin typeface="Calibri"/>
                        </a:rPr>
                        <a:t>Update server package or client version</a:t>
                      </a:r>
                    </a:p>
                  </a:txBody>
                  <a:tcPr>
                    <a:solidFill>
                      <a:srgbClr val="F3F4F6"/>
                    </a:solidFill>
                  </a:tcPr>
                </a:tc>
              </a:tr>
              <a:tr h="502920">
                <a:tc>
                  <a:txBody>
                    <a:bodyPr/>
                    <a:lstStyle/>
                    <a:p>
                      <a:r>
                        <a:rPr sz="1400" b="0">
                          <a:solidFill>
                            <a:srgbClr val="1F2937"/>
                          </a:solidFill>
                          <a:latin typeface="Calibri"/>
                        </a:rPr>
                        <a:t>Invalid params schema</a:t>
                      </a:r>
                    </a:p>
                  </a:txBody>
                  <a:tcPr>
                    <a:solidFill>
                      <a:srgbClr val="F3F4F6"/>
                    </a:solidFill>
                  </a:tcPr>
                </a:tc>
                <a:tc>
                  <a:txBody>
                    <a:bodyPr/>
                    <a:lstStyle/>
                    <a:p>
                      <a:r>
                        <a:rPr sz="1400" b="0">
                          <a:solidFill>
                            <a:srgbClr val="1F2937"/>
                          </a:solidFill>
                          <a:latin typeface="Calibri"/>
                        </a:rPr>
                        <a:t>Tool arguments violate JSON Schema</a:t>
                      </a:r>
                    </a:p>
                  </a:txBody>
                  <a:tcPr>
                    <a:solidFill>
                      <a:srgbClr val="F3F4F6"/>
                    </a:solidFill>
                  </a:tcPr>
                </a:tc>
                <a:tc>
                  <a:txBody>
                    <a:bodyPr/>
                    <a:lstStyle/>
                    <a:p>
                      <a:r>
                        <a:rPr sz="1400" b="0">
                          <a:solidFill>
                            <a:srgbClr val="1F2937"/>
                          </a:solidFill>
                          <a:latin typeface="Calibri"/>
                        </a:rPr>
                        <a:t>Fix schema types in tool definition</a:t>
                      </a:r>
                    </a:p>
                  </a:txBody>
                  <a:tcPr>
                    <a:solidFill>
                      <a:srgbClr val="F3F4F6"/>
                    </a:solidFill>
                  </a:tcPr>
                </a:tc>
              </a:tr>
              <a:tr h="502920">
                <a:tc>
                  <a:txBody>
                    <a:bodyPr/>
                    <a:lstStyle/>
                    <a:p>
                      <a:r>
                        <a:rPr sz="1400" b="0">
                          <a:solidFill>
                            <a:srgbClr val="1F2937"/>
                          </a:solidFill>
                          <a:latin typeface="Calibri"/>
                        </a:rPr>
                        <a:t>Process exited with code 1</a:t>
                      </a:r>
                    </a:p>
                  </a:txBody>
                  <a:tcPr>
                    <a:solidFill>
                      <a:srgbClr val="F3F4F6"/>
                    </a:solidFill>
                  </a:tcPr>
                </a:tc>
                <a:tc>
                  <a:txBody>
                    <a:bodyPr/>
                    <a:lstStyle/>
                    <a:p>
                      <a:r>
                        <a:rPr sz="1400" b="0">
                          <a:solidFill>
                            <a:srgbClr val="1F2937"/>
                          </a:solidFill>
                          <a:latin typeface="Calibri"/>
                        </a:rPr>
                        <a:t>Command binary or path not found</a:t>
                      </a:r>
                    </a:p>
                  </a:txBody>
                  <a:tcPr>
                    <a:solidFill>
                      <a:srgbClr val="F3F4F6"/>
                    </a:solidFill>
                  </a:tcPr>
                </a:tc>
                <a:tc>
                  <a:txBody>
                    <a:bodyPr/>
                    <a:lstStyle/>
                    <a:p>
                      <a:r>
                        <a:rPr sz="1400" b="0">
                          <a:solidFill>
                            <a:srgbClr val="1F2937"/>
                          </a:solidFill>
                          <a:latin typeface="Calibri"/>
                        </a:rPr>
                        <a:t>Verify executable command and environment args</a:t>
                      </a:r>
                    </a:p>
                  </a:txBody>
                  <a:tcPr>
                    <a:solidFill>
                      <a:srgbClr val="F3F4F6"/>
                    </a:solidFill>
                  </a:tcPr>
                </a:tc>
              </a:tr>
            </a:tbl>
          </a:graphicData>
        </a:graphic>
      </p:graphicFrame>
      <p:sp>
        <p:nvSpPr>
          <p:cNvPr id="8" name="TextBox 7"/>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Debugging Common Workspace Configuration Errors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700" b="1">
                <a:solidFill>
                  <a:srgbClr val="1F2937"/>
                </a:solidFill>
                <a:latin typeface="Calibri"/>
              </a:rPr>
              <a:t>Validating Workspace Templates Against MCP Schema</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Example</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W02.L1   ·   Sources: [C1]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18</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Auditing a configuration for schema compliance and protocol readiness.</a:t>
            </a:r>
          </a:p>
          <a:p>
            <a:pPr marL="292608" indent="-292608">
              <a:spcAft>
                <a:spcPts val="1000"/>
              </a:spcAft>
              <a:buClr>
                <a:srgbClr val="0F766E"/>
              </a:buClr>
              <a:buFont typeface="Arial"/>
              <a:buChar char="▪"/>
            </a:pPr>
            <a:r>
              <a:rPr sz="2400">
                <a:solidFill>
                  <a:srgbClr val="1F2937"/>
                </a:solidFill>
                <a:latin typeface="Calibri"/>
              </a:rPr>
              <a:t>Validates structural correctness of mcpServers JSON block.</a:t>
            </a:r>
          </a:p>
          <a:p>
            <a:pPr marL="292608" indent="-292608">
              <a:spcAft>
                <a:spcPts val="1000"/>
              </a:spcAft>
              <a:buClr>
                <a:srgbClr val="0F766E"/>
              </a:buClr>
              <a:buFont typeface="Arial"/>
              <a:buChar char="▪"/>
            </a:pPr>
            <a:r>
              <a:rPr sz="2400">
                <a:solidFill>
                  <a:srgbClr val="1F2937"/>
                </a:solidFill>
                <a:latin typeface="Calibri"/>
              </a:rPr>
              <a:t>Ensures required environment variables and path arguments are supplied.</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json</a:t>
            </a:r>
          </a:p>
          <a:p>
            <a:pPr algn="l"/>
            <a:r>
              <a:rPr sz="1300" b="0">
                <a:solidFill>
                  <a:srgbClr val="E5E7EB"/>
                </a:solidFill>
                <a:latin typeface="Consolas"/>
              </a:rPr>
              <a:t>{</a:t>
            </a:r>
          </a:p>
          <a:p>
            <a:pPr algn="l"/>
            <a:r>
              <a:rPr sz="1300" b="0">
                <a:solidFill>
                  <a:srgbClr val="E5E7EB"/>
                </a:solidFill>
                <a:latin typeface="Consolas"/>
              </a:rPr>
              <a:t>  "mcpServers": {</a:t>
            </a:r>
          </a:p>
          <a:p>
            <a:pPr algn="l"/>
            <a:r>
              <a:rPr sz="1300" b="0">
                <a:solidFill>
                  <a:srgbClr val="E5E7EB"/>
                </a:solidFill>
                <a:latin typeface="Consolas"/>
              </a:rPr>
              <a:t>    "database_inspector": {</a:t>
            </a:r>
          </a:p>
          <a:p>
            <a:pPr algn="l"/>
            <a:r>
              <a:rPr sz="1300" b="0">
                <a:solidFill>
                  <a:srgbClr val="E5E7EB"/>
                </a:solidFill>
                <a:latin typeface="Consolas"/>
              </a:rPr>
              <a:t>      "command": "node",</a:t>
            </a:r>
          </a:p>
          <a:p>
            <a:pPr algn="l"/>
            <a:r>
              <a:rPr sz="1300" b="0">
                <a:solidFill>
                  <a:srgbClr val="E5E7EB"/>
                </a:solidFill>
                <a:latin typeface="Consolas"/>
              </a:rPr>
              <a:t>      "args": ["./dist/index.js"],</a:t>
            </a:r>
          </a:p>
          <a:p>
            <a:pPr algn="l"/>
            <a:r>
              <a:rPr sz="1300" b="0">
                <a:solidFill>
                  <a:srgbClr val="E5E7EB"/>
                </a:solidFill>
                <a:latin typeface="Consolas"/>
              </a:rPr>
              <a:t>      "env": {</a:t>
            </a:r>
          </a:p>
          <a:p>
            <a:pPr algn="l"/>
            <a:r>
              <a:rPr sz="1300" b="0">
                <a:solidFill>
                  <a:srgbClr val="E5E7EB"/>
                </a:solidFill>
                <a:latin typeface="Consolas"/>
              </a:rPr>
              <a:t>        "DB_URL": "jdbc:postgresql://localhost:5432/devdb"</a:t>
            </a:r>
          </a:p>
          <a:p>
            <a:pPr algn="l"/>
            <a:r>
              <a:rPr sz="1300" b="0">
                <a:solidFill>
                  <a:srgbClr val="E5E7EB"/>
                </a:solidFill>
                <a:latin typeface="Consolas"/>
              </a:rPr>
              <a:t>      }</a:t>
            </a:r>
          </a:p>
          <a:p>
            <a:pPr algn="l"/>
            <a:r>
              <a:rPr sz="1300" b="0">
                <a:solidFill>
                  <a:srgbClr val="E5E7EB"/>
                </a:solidFill>
                <a:latin typeface="Consolas"/>
              </a:rPr>
              <a:t>    }</a:t>
            </a:r>
          </a:p>
          <a:p>
            <a:pPr algn="l"/>
            <a:r>
              <a:rPr sz="1300" b="0">
                <a:solidFill>
                  <a:srgbClr val="E5E7EB"/>
                </a:solidFill>
                <a:latin typeface="Consolas"/>
              </a:rPr>
              <a:t>  }</a:t>
            </a:r>
          </a:p>
          <a:p>
            <a:pPr algn="l"/>
            <a:r>
              <a:rPr sz="1300" b="0">
                <a:solidFill>
                  <a:srgbClr val="E5E7EB"/>
                </a:solidFill>
                <a:latin typeface="Consolas"/>
              </a:rPr>
              <a:t>}</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Validated Workspace MCP Configuration Template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500" b="1">
                <a:solidFill>
                  <a:srgbClr val="1F2937"/>
                </a:solidFill>
                <a:latin typeface="Calibri"/>
              </a:rPr>
              <a:t>Concept Check: Configuration and Protocol Diagnostics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W02.L1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19</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300" b="1">
                <a:solidFill>
                  <a:srgbClr val="1F2937"/>
                </a:solidFill>
                <a:latin typeface="Calibri"/>
              </a:rPr>
              <a:t>A developer receives a runtime warning stating 'Tool invocation failed: input parameter does not match schema'. Which component is failing validation?</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1900" b="0">
                <a:solidFill>
                  <a:srgbClr val="1F2937"/>
                </a:solidFill>
                <a:latin typeface="Calibri"/>
              </a:rPr>
              <a:t>The transport layer payload headers</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1900" b="0">
                <a:solidFill>
                  <a:srgbClr val="1F2937"/>
                </a:solidFill>
                <a:latin typeface="Calibri"/>
              </a:rPr>
              <a:t>The client validation of LLM arguments against the server tool JSON Schema</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1900" b="0">
                <a:solidFill>
                  <a:srgbClr val="1F2937"/>
                </a:solidFill>
                <a:latin typeface="Calibri"/>
              </a:rPr>
              <a:t>The server URI string format in the prompt resource request</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1900" b="0">
                <a:solidFill>
                  <a:srgbClr val="1F2937"/>
                </a:solidFill>
                <a:latin typeface="Calibri"/>
              </a:rPr>
              <a:t>The initial handshake protocol version string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700" b="1">
                <a:solidFill>
                  <a:srgbClr val="1F2937"/>
                </a:solidFill>
                <a:latin typeface="Calibri"/>
              </a:rPr>
              <a:t>Summary: Model Context Protocols and Architecture</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Summary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W02.L1   ·   Sources: [C1]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20</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MCP standardizes context sharing and tool invocation between AI hosts and servers.</a:t>
            </a:r>
          </a:p>
          <a:p>
            <a:pPr marL="292608" indent="-292608">
              <a:spcAft>
                <a:spcPts val="1000"/>
              </a:spcAft>
              <a:buClr>
                <a:srgbClr val="0F766E"/>
              </a:buClr>
              <a:buFont typeface="Arial"/>
              <a:buChar char="▪"/>
            </a:pPr>
            <a:r>
              <a:rPr sz="2400">
                <a:solidFill>
                  <a:srgbClr val="1F2937"/>
                </a:solidFill>
                <a:latin typeface="Calibri"/>
              </a:rPr>
              <a:t>Architecture relies on Hosts, Clients, and Servers communicating via JSON-RPC 2.0.</a:t>
            </a:r>
          </a:p>
          <a:p>
            <a:pPr marL="292608" indent="-292608">
              <a:spcAft>
                <a:spcPts val="1000"/>
              </a:spcAft>
              <a:buClr>
                <a:srgbClr val="0F766E"/>
              </a:buClr>
              <a:buFont typeface="Arial"/>
              <a:buChar char="▪"/>
            </a:pPr>
            <a:r>
              <a:rPr sz="2400">
                <a:solidFill>
                  <a:srgbClr val="1F2937"/>
                </a:solidFill>
                <a:latin typeface="Calibri"/>
              </a:rPr>
              <a:t>Schema definitions cover Resources, Tools, and Prompts with strict JSON Schema rules.</a:t>
            </a:r>
          </a:p>
          <a:p>
            <a:pPr marL="292608" indent="-292608">
              <a:spcAft>
                <a:spcPts val="1000"/>
              </a:spcAft>
              <a:buClr>
                <a:srgbClr val="0F766E"/>
              </a:buClr>
              <a:buFont typeface="Arial"/>
              <a:buChar char="▪"/>
            </a:pPr>
            <a:r>
              <a:rPr sz="2400">
                <a:solidFill>
                  <a:srgbClr val="1F2937"/>
                </a:solidFill>
                <a:latin typeface="Calibri"/>
              </a:rPr>
              <a:t>Proper workspace configuration prevents runtime protocol mismatches and security risks.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References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W02.L1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21</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1800">
                <a:solidFill>
                  <a:srgbClr val="1F2937"/>
                </a:solidFill>
                <a:latin typeface="Calibri"/>
              </a:rPr>
              <a:t>[C1] Query Tuning Framework Using the Model Context Protocol for Workflows (2026). https://doi.org/10.2139/ssrn.6172059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