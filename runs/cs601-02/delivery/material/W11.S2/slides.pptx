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ProjMilestone,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remind students of the testing taxonomy covered in Week 10. Emphasise that AI‑native pipelines add non‑deterministic components, so traditional pass/fail gates are insufficient. Mention the shift from static test suites to continuous metric collection.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evaluation is not a one‑off activity; it must run continuously because models evolve. Highlight that reliability requirements (availability, latency bounds, safety) translate directly into measurable pipeline metrics.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category, linking to concrete tools (e.g., HuggingFace evaluate, Prometheus for latency). Stress that a single metric never tells the whole story; a portfolio is required for trustworthy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flow to illustrate how teams negotiate competing objectives. Cite the cross‑model study (C1) showing that complexity backpressure forces explicit trade‑off decisions in AI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 template: Requirement → Metric → Threshold → Monitoring. Emphasise traceability: every design decision in the pipeline must reference at least one reliability requirement, a core expectation for LO2.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 the class, then discuss why latency and error‑rate are the primary indicators for the given SLAs. Clarify that cost and fairness are secondary concerns here.</a:t>
            </a:r>
          </a:p>
          <a:p/>
          <a:p>
            <a:r>
              <a:t>Answer: B. Latency p99 + error‑rate monitoring</a:t>
            </a:r>
          </a:p>
          <a:p>
            <a:r>
              <a:t>Option 1 (index 1) directly measures the two stated SLAs: latency percentile and error rate (availability). The other sets miss at least one SLA.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work in pairs on a fictitious AI‑native service (e.g., code‑generation API). They produce a one‑page metric‑requirement map. Instructor circulates to probe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four pillars from recent trustworthy‑AI literature. Connect each pillar to concrete architectural mechanisms (logging, sandboxing, policy engines). This frames the design decisions students must justify in LO2.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flow: every request passes guardrails, then monitoring; anomalies trigger fallback. Stress that each layer addresses a distinct reliability requirement (integrity, availability, safety).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pattern with a one‑sentence scenario. Show how they map to requirements: circuit breaker → availability, retry → latency bound, idempotency → data consistency. Mention that AI‑native steps (model inference) often need custom timeouts.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the rationale for each stage. Emphasise that contract tests catch schema drift early, while end‑to‑end simulation validates the full reliability envelope. This pipeline is the artefact students will assess in the worked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through the assessment: (1) list requirements, (2) trace each to a metric collected in metrics_collect, (3) notice the inference stage lacks a circuit breaker, (4) propose a fallback model stage with its own latency budget, (5) define alert rules (e.g., error‑rate &gt;0.1 % triggers paging). This demonstrates the justification skill required for LO2.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 then reinforce that architectural patterns (circuit breaker) are explicit design decisions that must be traced to a requirement.</a:t>
            </a:r>
          </a:p>
          <a:p/>
          <a:p>
            <a:r>
              <a:t>Answer: C. Circuit‑breaker protection</a:t>
            </a:r>
          </a:p>
          <a:p>
            <a:r>
              <a:t>The original config had no circuit‑breaker stage for model inference, leaving the system vulnerable to cascade failures. Latency and availability were covered by metrics; cost was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produce a one‑page diagram (paper or digital). Instructor evaluates whether every stage cites a requirement and whether patterns like circuit breaker, fallback, and audit log appear. This mirrors the project milestone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two lecture parts. Remind students that the project milestone (due Week 12) requires a full pipeline assessment with justifications. Point to the lab next week for hands‑on metric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100" b="1">
                <a:solidFill>
                  <a:srgbClr val="CCFBF1"/>
                </a:solidFill>
                <a:latin typeface="Calibri"/>
              </a:rPr>
              <a:t>Pipeline evaluation mechanisms and metrics · Reliable and safe trustworthy software architectures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11 · Automated Testing and Evaluation Metrics · Reliable AI-Native Pipelines and Deployment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Compare automated testing mechanisms and evaluation metrics for AI-native software architectures (CO4.LO1)</a:t>
            </a:r>
          </a:p>
          <a:p>
            <a:pPr marL="292608" indent="-292608">
              <a:spcAft>
                <a:spcPts val="1000"/>
              </a:spcAft>
              <a:buClr>
                <a:srgbClr val="0F766E"/>
              </a:buClr>
              <a:buFont typeface="Arial"/>
              <a:buChar char="▪"/>
            </a:pPr>
            <a:r>
              <a:rPr sz="2400">
                <a:solidFill>
                  <a:srgbClr val="1F2937"/>
                </a:solidFill>
                <a:latin typeface="Calibri"/>
              </a:rPr>
              <a:t>Assess automated testing pipelines for AI-native software factories, for a supplied multi-component software project, justifying each design decision against at least one stated reliability requirement (CO4.LO2)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Automated Testing Mechanisms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Unit, integration, contract tests</a:t>
            </a:r>
          </a:p>
          <a:p>
            <a:pPr marL="292608" indent="-292608">
              <a:spcAft>
                <a:spcPts val="1000"/>
              </a:spcAft>
              <a:buClr>
                <a:srgbClr val="0F766E"/>
              </a:buClr>
              <a:buFont typeface="Arial"/>
              <a:buChar char="▪"/>
            </a:pPr>
            <a:r>
              <a:rPr sz="2400">
                <a:solidFill>
                  <a:srgbClr val="1F2937"/>
                </a:solidFill>
                <a:latin typeface="Calibri"/>
              </a:rPr>
              <a:t>Property‑based and metamorphic testing</a:t>
            </a:r>
          </a:p>
          <a:p>
            <a:pPr marL="292608" indent="-292608">
              <a:spcAft>
                <a:spcPts val="1000"/>
              </a:spcAft>
              <a:buClr>
                <a:srgbClr val="0F766E"/>
              </a:buClr>
              <a:buFont typeface="Arial"/>
              <a:buChar char="▪"/>
            </a:pPr>
            <a:r>
              <a:rPr sz="2400">
                <a:solidFill>
                  <a:srgbClr val="1F2937"/>
                </a:solidFill>
                <a:latin typeface="Calibri"/>
              </a:rPr>
              <a:t>Continuous evaluation in CI/CD</a:t>
            </a:r>
          </a:p>
          <a:p>
            <a:pPr marL="292608" indent="-292608">
              <a:spcAft>
                <a:spcPts val="1000"/>
              </a:spcAft>
              <a:buClr>
                <a:srgbClr val="0F766E"/>
              </a:buClr>
              <a:buFont typeface="Arial"/>
              <a:buChar char="▪"/>
            </a:pPr>
            <a:r>
              <a:rPr sz="2400">
                <a:solidFill>
                  <a:srgbClr val="1F2937"/>
                </a:solidFill>
                <a:latin typeface="Calibri"/>
              </a:rPr>
              <a:t>Test‑result dashboards and alerts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Evaluate AI‑Native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drift and data shift</a:t>
            </a:r>
          </a:p>
          <a:p>
            <a:pPr marL="292608" indent="-292608">
              <a:spcAft>
                <a:spcPts val="1000"/>
              </a:spcAft>
              <a:buClr>
                <a:srgbClr val="0F766E"/>
              </a:buClr>
              <a:buFont typeface="Arial"/>
              <a:buChar char="▪"/>
            </a:pPr>
            <a:r>
              <a:rPr sz="2400">
                <a:solidFill>
                  <a:srgbClr val="1F2937"/>
                </a:solidFill>
                <a:latin typeface="Calibri"/>
              </a:rPr>
              <a:t>Non‑deterministic outputs</a:t>
            </a:r>
          </a:p>
          <a:p>
            <a:pPr marL="292608" indent="-292608">
              <a:spcAft>
                <a:spcPts val="1000"/>
              </a:spcAft>
              <a:buClr>
                <a:srgbClr val="0F766E"/>
              </a:buClr>
              <a:buFont typeface="Arial"/>
              <a:buChar char="▪"/>
            </a:pPr>
            <a:r>
              <a:rPr sz="2400">
                <a:solidFill>
                  <a:srgbClr val="1F2937"/>
                </a:solidFill>
                <a:latin typeface="Calibri"/>
              </a:rPr>
              <a:t>Regulatory and safety mandates</a:t>
            </a:r>
          </a:p>
          <a:p>
            <a:pPr marL="292608" indent="-292608">
              <a:spcAft>
                <a:spcPts val="1000"/>
              </a:spcAft>
              <a:buClr>
                <a:srgbClr val="0F766E"/>
              </a:buClr>
              <a:buFont typeface="Arial"/>
              <a:buChar char="▪"/>
            </a:pPr>
            <a:r>
              <a:rPr sz="2400">
                <a:solidFill>
                  <a:srgbClr val="1F2937"/>
                </a:solidFill>
                <a:latin typeface="Calibri"/>
              </a:rPr>
              <a:t>Cost‑performance trade‑offs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Evaluation Metric Categories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Accuracy‑type metrics (F1, BLEU, exact match)</a:t>
            </a:r>
          </a:p>
          <a:p>
            <a:pPr marL="292608" indent="-292608">
              <a:spcAft>
                <a:spcPts val="1000"/>
              </a:spcAft>
              <a:buClr>
                <a:srgbClr val="0F766E"/>
              </a:buClr>
              <a:buFont typeface="Arial"/>
              <a:buChar char="▪"/>
            </a:pPr>
            <a:r>
              <a:rPr sz="2400">
                <a:solidFill>
                  <a:srgbClr val="1F2937"/>
                </a:solidFill>
                <a:latin typeface="Calibri"/>
              </a:rPr>
              <a:t>Latency percentiles (p50, p99)</a:t>
            </a:r>
          </a:p>
          <a:p>
            <a:pPr marL="292608" indent="-292608">
              <a:spcAft>
                <a:spcPts val="1000"/>
              </a:spcAft>
              <a:buClr>
                <a:srgbClr val="0F766E"/>
              </a:buClr>
              <a:buFont typeface="Arial"/>
              <a:buChar char="▪"/>
            </a:pPr>
            <a:r>
              <a:rPr sz="2400">
                <a:solidFill>
                  <a:srgbClr val="1F2937"/>
                </a:solidFill>
                <a:latin typeface="Calibri"/>
              </a:rPr>
              <a:t>Cost measures (API calls, GPU‑hours)</a:t>
            </a:r>
          </a:p>
          <a:p>
            <a:pPr marL="292608" indent="-292608">
              <a:spcAft>
                <a:spcPts val="1000"/>
              </a:spcAft>
              <a:buClr>
                <a:srgbClr val="0F766E"/>
              </a:buClr>
              <a:buFont typeface="Arial"/>
              <a:buChar char="▪"/>
            </a:pPr>
            <a:r>
              <a:rPr sz="2400">
                <a:solidFill>
                  <a:srgbClr val="1F2937"/>
                </a:solidFill>
                <a:latin typeface="Calibri"/>
              </a:rPr>
              <a:t>Robustness indicators (adversarial pass rate)</a:t>
            </a:r>
          </a:p>
          <a:p>
            <a:pPr marL="292608" indent="-292608">
              <a:spcAft>
                <a:spcPts val="1000"/>
              </a:spcAft>
              <a:buClr>
                <a:srgbClr val="0F766E"/>
              </a:buClr>
              <a:buFont typeface="Arial"/>
              <a:buChar char="▪"/>
            </a:pPr>
            <a:r>
              <a:rPr sz="2400">
                <a:solidFill>
                  <a:srgbClr val="1F2937"/>
                </a:solidFill>
                <a:latin typeface="Calibri"/>
              </a:rPr>
              <a:t>Fairness / bias proxies</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Category</a:t>
                      </a:r>
                    </a:p>
                  </a:txBody>
                  <a:tcPr>
                    <a:solidFill>
                      <a:srgbClr val="0F766E"/>
                    </a:solidFill>
                  </a:tcPr>
                </a:tc>
                <a:tc>
                  <a:txBody>
                    <a:bodyPr/>
                    <a:lstStyle/>
                    <a:p>
                      <a:r>
                        <a:rPr sz="1400" b="1">
                          <a:solidFill>
                            <a:srgbClr val="CCFBF1"/>
                          </a:solidFill>
                          <a:latin typeface="Calibri"/>
                        </a:rPr>
                        <a:t>Typical Measures</a:t>
                      </a:r>
                    </a:p>
                  </a:txBody>
                  <a:tcPr>
                    <a:solidFill>
                      <a:srgbClr val="0F766E"/>
                    </a:solidFill>
                  </a:tcPr>
                </a:tc>
                <a:tc>
                  <a:txBody>
                    <a:bodyPr/>
                    <a:lstStyle/>
                    <a:p>
                      <a:r>
                        <a:rPr sz="1400" b="1">
                          <a:solidFill>
                            <a:srgbClr val="CCFBF1"/>
                          </a:solidFill>
                          <a:latin typeface="Calibri"/>
                        </a:rPr>
                        <a:t>Tool Support</a:t>
                      </a:r>
                    </a:p>
                  </a:txBody>
                  <a:tcPr>
                    <a:solidFill>
                      <a:srgbClr val="0F766E"/>
                    </a:solidFill>
                  </a:tcPr>
                </a:tc>
              </a:tr>
              <a:tr h="502920">
                <a:tc>
                  <a:txBody>
                    <a:bodyPr/>
                    <a:lstStyle/>
                    <a:p>
                      <a:r>
                        <a:rPr sz="1400" b="0">
                          <a:solidFill>
                            <a:srgbClr val="1F2937"/>
                          </a:solidFill>
                          <a:latin typeface="Calibri"/>
                        </a:rPr>
                        <a:t>Accuracy</a:t>
                      </a:r>
                    </a:p>
                  </a:txBody>
                  <a:tcPr>
                    <a:solidFill>
                      <a:srgbClr val="F3F4F6"/>
                    </a:solidFill>
                  </a:tcPr>
                </a:tc>
                <a:tc>
                  <a:txBody>
                    <a:bodyPr/>
                    <a:lstStyle/>
                    <a:p>
                      <a:r>
                        <a:rPr sz="1400" b="0">
                          <a:solidFill>
                            <a:srgbClr val="1F2937"/>
                          </a:solidFill>
                          <a:latin typeface="Calibri"/>
                        </a:rPr>
                        <a:t>F1, BLEU, Exact Match</a:t>
                      </a:r>
                    </a:p>
                  </a:txBody>
                  <a:tcPr>
                    <a:solidFill>
                      <a:srgbClr val="F3F4F6"/>
                    </a:solidFill>
                  </a:tcPr>
                </a:tc>
                <a:tc>
                  <a:txBody>
                    <a:bodyPr/>
                    <a:lstStyle/>
                    <a:p>
                      <a:r>
                        <a:rPr sz="1400" b="0">
                          <a:solidFill>
                            <a:srgbClr val="1F2937"/>
                          </a:solidFill>
                          <a:latin typeface="Calibri"/>
                        </a:rPr>
                        <a:t>Eval frameworks</a:t>
                      </a:r>
                    </a:p>
                  </a:txBody>
                  <a:tcPr>
                    <a:solidFill>
                      <a:srgbClr val="F3F4F6"/>
                    </a:solidFill>
                  </a:tcPr>
                </a:tc>
              </a:tr>
              <a:tr h="502920">
                <a:tc>
                  <a:txBody>
                    <a:bodyPr/>
                    <a:lstStyle/>
                    <a:p>
                      <a:r>
                        <a:rPr sz="1400" b="0">
                          <a:solidFill>
                            <a:srgbClr val="1F2937"/>
                          </a:solidFill>
                          <a:latin typeface="Calibri"/>
                        </a:rPr>
                        <a:t>Latency</a:t>
                      </a:r>
                    </a:p>
                  </a:txBody>
                  <a:tcPr>
                    <a:solidFill>
                      <a:srgbClr val="F3F4F6"/>
                    </a:solidFill>
                  </a:tcPr>
                </a:tc>
                <a:tc>
                  <a:txBody>
                    <a:bodyPr/>
                    <a:lstStyle/>
                    <a:p>
                      <a:r>
                        <a:rPr sz="1400" b="0">
                          <a:solidFill>
                            <a:srgbClr val="1F2937"/>
                          </a:solidFill>
                          <a:latin typeface="Calibri"/>
                        </a:rPr>
                        <a:t>p50, p99 ms</a:t>
                      </a:r>
                    </a:p>
                  </a:txBody>
                  <a:tcPr>
                    <a:solidFill>
                      <a:srgbClr val="F3F4F6"/>
                    </a:solidFill>
                  </a:tcPr>
                </a:tc>
                <a:tc>
                  <a:txBody>
                    <a:bodyPr/>
                    <a:lstStyle/>
                    <a:p>
                      <a:r>
                        <a:rPr sz="1400" b="0">
                          <a:solidFill>
                            <a:srgbClr val="1F2937"/>
                          </a:solidFill>
                          <a:latin typeface="Calibri"/>
                        </a:rPr>
                        <a:t>Profiling</a:t>
                      </a:r>
                    </a:p>
                  </a:txBody>
                  <a:tcPr>
                    <a:solidFill>
                      <a:srgbClr val="F3F4F6"/>
                    </a:solidFill>
                  </a:tcPr>
                </a:tc>
              </a:tr>
              <a:tr h="502920">
                <a:tc>
                  <a:txBody>
                    <a:bodyPr/>
                    <a:lstStyle/>
                    <a:p>
                      <a:r>
                        <a:rPr sz="1400" b="0">
                          <a:solidFill>
                            <a:srgbClr val="1F2937"/>
                          </a:solidFill>
                          <a:latin typeface="Calibri"/>
                        </a:rPr>
                        <a:t>Cost</a:t>
                      </a:r>
                    </a:p>
                  </a:txBody>
                  <a:tcPr>
                    <a:solidFill>
                      <a:srgbClr val="F3F4F6"/>
                    </a:solidFill>
                  </a:tcPr>
                </a:tc>
                <a:tc>
                  <a:txBody>
                    <a:bodyPr/>
                    <a:lstStyle/>
                    <a:p>
                      <a:r>
                        <a:rPr sz="1400" b="0">
                          <a:solidFill>
                            <a:srgbClr val="1F2937"/>
                          </a:solidFill>
                          <a:latin typeface="Calibri"/>
                        </a:rPr>
                        <a:t>API calls, GPU hrs</a:t>
                      </a:r>
                    </a:p>
                  </a:txBody>
                  <a:tcPr>
                    <a:solidFill>
                      <a:srgbClr val="F3F4F6"/>
                    </a:solidFill>
                  </a:tcPr>
                </a:tc>
                <a:tc>
                  <a:txBody>
                    <a:bodyPr/>
                    <a:lstStyle/>
                    <a:p>
                      <a:r>
                        <a:rPr sz="1400" b="0">
                          <a:solidFill>
                            <a:srgbClr val="1F2937"/>
                          </a:solidFill>
                          <a:latin typeface="Calibri"/>
                        </a:rPr>
                        <a:t>Billing</a:t>
                      </a:r>
                    </a:p>
                  </a:txBody>
                  <a:tcPr>
                    <a:solidFill>
                      <a:srgbClr val="F3F4F6"/>
                    </a:solidFill>
                  </a:tcPr>
                </a:tc>
              </a:tr>
              <a:tr h="502920">
                <a:tc>
                  <a:txBody>
                    <a:bodyPr/>
                    <a:lstStyle/>
                    <a:p>
                      <a:r>
                        <a:rPr sz="1400" b="0">
                          <a:solidFill>
                            <a:srgbClr val="1F2937"/>
                          </a:solidFill>
                          <a:latin typeface="Calibri"/>
                        </a:rPr>
                        <a:t>Robustness</a:t>
                      </a:r>
                    </a:p>
                  </a:txBody>
                  <a:tcPr>
                    <a:solidFill>
                      <a:srgbClr val="F3F4F6"/>
                    </a:solidFill>
                  </a:tcPr>
                </a:tc>
                <a:tc>
                  <a:txBody>
                    <a:bodyPr/>
                    <a:lstStyle/>
                    <a:p>
                      <a:r>
                        <a:rPr sz="1400" b="0">
                          <a:solidFill>
                            <a:srgbClr val="1F2937"/>
                          </a:solidFill>
                          <a:latin typeface="Calibri"/>
                        </a:rPr>
                        <a:t>Adversarial pass rate</a:t>
                      </a:r>
                    </a:p>
                  </a:txBody>
                  <a:tcPr>
                    <a:solidFill>
                      <a:srgbClr val="F3F4F6"/>
                    </a:solidFill>
                  </a:tcPr>
                </a:tc>
                <a:tc>
                  <a:txBody>
                    <a:bodyPr/>
                    <a:lstStyle/>
                    <a:p>
                      <a:r>
                        <a:rPr sz="1400" b="0">
                          <a:solidFill>
                            <a:srgbClr val="1F2937"/>
                          </a:solidFill>
                          <a:latin typeface="Calibri"/>
                        </a:rPr>
                        <a:t>Stress tests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Metric categories and typical measures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Metric Trade‑offs in Practice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Higher accuracy often raises latency</a:t>
            </a:r>
          </a:p>
          <a:p>
            <a:pPr marL="292608" indent="-292608">
              <a:spcAft>
                <a:spcPts val="1000"/>
              </a:spcAft>
              <a:buClr>
                <a:srgbClr val="0F766E"/>
              </a:buClr>
              <a:buFont typeface="Arial"/>
              <a:buChar char="▪"/>
            </a:pPr>
            <a:r>
              <a:rPr sz="2400">
                <a:solidFill>
                  <a:srgbClr val="1F2937"/>
                </a:solidFill>
                <a:latin typeface="Calibri"/>
              </a:rPr>
              <a:t>Cost constraints limit model size</a:t>
            </a:r>
          </a:p>
          <a:p>
            <a:pPr marL="292608" indent="-292608">
              <a:spcAft>
                <a:spcPts val="1000"/>
              </a:spcAft>
              <a:buClr>
                <a:srgbClr val="0F766E"/>
              </a:buClr>
              <a:buFont typeface="Arial"/>
              <a:buChar char="▪"/>
            </a:pPr>
            <a:r>
              <a:rPr sz="2400">
                <a:solidFill>
                  <a:srgbClr val="1F2937"/>
                </a:solidFill>
                <a:latin typeface="Calibri"/>
              </a:rPr>
              <a:t>Robustness testing adds pipeline stages</a:t>
            </a:r>
          </a:p>
          <a:p>
            <a:pPr marL="292608" indent="-292608">
              <a:spcAft>
                <a:spcPts val="1000"/>
              </a:spcAft>
              <a:buClr>
                <a:srgbClr val="0F766E"/>
              </a:buClr>
              <a:buFont typeface="Arial"/>
              <a:buChar char="▪"/>
            </a:pPr>
            <a:r>
              <a:rPr sz="2400">
                <a:solidFill>
                  <a:srgbClr val="1F2937"/>
                </a:solidFill>
                <a:latin typeface="Calibri"/>
              </a:rPr>
              <a:t>Fairness checks may conflict with accuracy</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reliability goals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Select primary metrics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Add secondary metrics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Validate with pilot runs</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Iterate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Decision flow for metric prioritisation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Aligning Metrics to Reliability Requirements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Map each SLA to a measurable metric</a:t>
            </a:r>
          </a:p>
          <a:p>
            <a:pPr marL="292608" indent="-292608">
              <a:spcAft>
                <a:spcPts val="1000"/>
              </a:spcAft>
              <a:buClr>
                <a:srgbClr val="0F766E"/>
              </a:buClr>
              <a:buFont typeface="Arial"/>
              <a:buChar char="▪"/>
            </a:pPr>
            <a:r>
              <a:rPr sz="2400">
                <a:solidFill>
                  <a:srgbClr val="1F2937"/>
                </a:solidFill>
                <a:latin typeface="Calibri"/>
              </a:rPr>
              <a:t>Define acceptance thresholds</a:t>
            </a:r>
          </a:p>
          <a:p>
            <a:pPr marL="292608" indent="-292608">
              <a:spcAft>
                <a:spcPts val="1000"/>
              </a:spcAft>
              <a:buClr>
                <a:srgbClr val="0F766E"/>
              </a:buClr>
              <a:buFont typeface="Arial"/>
              <a:buChar char="▪"/>
            </a:pPr>
            <a:r>
              <a:rPr sz="2400">
                <a:solidFill>
                  <a:srgbClr val="1F2937"/>
                </a:solidFill>
                <a:latin typeface="Calibri"/>
              </a:rPr>
              <a:t>Automate threshold alerts</a:t>
            </a:r>
          </a:p>
          <a:p>
            <a:pPr marL="292608" indent="-292608">
              <a:spcAft>
                <a:spcPts val="1000"/>
              </a:spcAft>
              <a:buClr>
                <a:srgbClr val="0F766E"/>
              </a:buClr>
              <a:buFont typeface="Arial"/>
              <a:buChar char="▪"/>
            </a:pPr>
            <a:r>
              <a:rPr sz="2400">
                <a:solidFill>
                  <a:srgbClr val="1F2937"/>
                </a:solidFill>
                <a:latin typeface="Calibri"/>
              </a:rPr>
              <a:t>Document justification per requirement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Metric Selection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500" b="1">
                <a:solidFill>
                  <a:srgbClr val="1F2937"/>
                </a:solidFill>
                <a:latin typeface="Calibri"/>
              </a:rPr>
              <a:t>A pipeline must guarantee 99.9 % availability and sub‑200 ms p99 latency. Which metric set best satisfies both?</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Accuracy + cost only</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Latency p99 + error‑rate monitoring</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Throughput + GPU utilisation</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Fairness + adversarial pass 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Activity: Define Metrics for Sample Pipeline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three reliability requirements</a:t>
            </a:r>
          </a:p>
          <a:p>
            <a:pPr marL="292608" indent="-292608">
              <a:spcAft>
                <a:spcPts val="1000"/>
              </a:spcAft>
              <a:buClr>
                <a:srgbClr val="0F766E"/>
              </a:buClr>
              <a:buFont typeface="Arial"/>
              <a:buChar char="▪"/>
            </a:pPr>
            <a:r>
              <a:rPr sz="2400">
                <a:solidFill>
                  <a:srgbClr val="1F2937"/>
                </a:solidFill>
                <a:latin typeface="Calibri"/>
              </a:rPr>
              <a:t>Pick primary &amp; secondary metrics</a:t>
            </a:r>
          </a:p>
          <a:p>
            <a:pPr marL="292608" indent="-292608">
              <a:spcAft>
                <a:spcPts val="1000"/>
              </a:spcAft>
              <a:buClr>
                <a:srgbClr val="0F766E"/>
              </a:buClr>
              <a:buFont typeface="Arial"/>
              <a:buChar char="▪"/>
            </a:pPr>
            <a:r>
              <a:rPr sz="2400">
                <a:solidFill>
                  <a:srgbClr val="1F2937"/>
                </a:solidFill>
                <a:latin typeface="Calibri"/>
              </a:rPr>
              <a:t>Set provisional thresholds</a:t>
            </a:r>
          </a:p>
          <a:p>
            <a:pPr marL="292608" indent="-292608">
              <a:spcAft>
                <a:spcPts val="1000"/>
              </a:spcAft>
              <a:buClr>
                <a:srgbClr val="0F766E"/>
              </a:buClr>
              <a:buFont typeface="Arial"/>
              <a:buChar char="▪"/>
            </a:pPr>
            <a:r>
              <a:rPr sz="2400">
                <a:solidFill>
                  <a:srgbClr val="1F2937"/>
                </a:solidFill>
                <a:latin typeface="Calibri"/>
              </a:rPr>
              <a:t>Share with neighbour for critique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Principles of Trustworthy AI‑Native Architectures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Transparency &amp; auditability</a:t>
            </a:r>
          </a:p>
          <a:p>
            <a:pPr marL="292608" indent="-292608">
              <a:spcAft>
                <a:spcPts val="1000"/>
              </a:spcAft>
              <a:buClr>
                <a:srgbClr val="0F766E"/>
              </a:buClr>
              <a:buFont typeface="Arial"/>
              <a:buChar char="▪"/>
            </a:pPr>
            <a:r>
              <a:rPr sz="2400">
                <a:solidFill>
                  <a:srgbClr val="1F2937"/>
                </a:solidFill>
                <a:latin typeface="Calibri"/>
              </a:rPr>
              <a:t>Fail‑safe defaults</a:t>
            </a:r>
          </a:p>
          <a:p>
            <a:pPr marL="292608" indent="-292608">
              <a:spcAft>
                <a:spcPts val="1000"/>
              </a:spcAft>
              <a:buClr>
                <a:srgbClr val="0F766E"/>
              </a:buClr>
              <a:buFont typeface="Arial"/>
              <a:buChar char="▪"/>
            </a:pPr>
            <a:r>
              <a:rPr sz="2400">
                <a:solidFill>
                  <a:srgbClr val="1F2937"/>
                </a:solidFill>
                <a:latin typeface="Calibri"/>
              </a:rPr>
              <a:t>Human‑in‑the‑loop checkpoints</a:t>
            </a:r>
          </a:p>
          <a:p>
            <a:pPr marL="292608" indent="-292608">
              <a:spcAft>
                <a:spcPts val="1000"/>
              </a:spcAft>
              <a:buClr>
                <a:srgbClr val="0F766E"/>
              </a:buClr>
              <a:buFont typeface="Arial"/>
              <a:buChar char="▪"/>
            </a:pPr>
            <a:r>
              <a:rPr sz="2400">
                <a:solidFill>
                  <a:srgbClr val="1F2937"/>
                </a:solidFill>
                <a:latin typeface="Calibri"/>
              </a:rPr>
              <a:t>Continuous verification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Safety Layers: Guardrails, Monitoring, Fallback</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Input validation &amp; schema enforcement</a:t>
            </a:r>
          </a:p>
          <a:p>
            <a:pPr marL="292608" indent="-292608">
              <a:spcAft>
                <a:spcPts val="1000"/>
              </a:spcAft>
              <a:buClr>
                <a:srgbClr val="0F766E"/>
              </a:buClr>
              <a:buFont typeface="Arial"/>
              <a:buChar char="▪"/>
            </a:pPr>
            <a:r>
              <a:rPr sz="2400">
                <a:solidFill>
                  <a:srgbClr val="1F2937"/>
                </a:solidFill>
                <a:latin typeface="Calibri"/>
              </a:rPr>
              <a:t>Runtime anomaly detection</a:t>
            </a:r>
          </a:p>
          <a:p>
            <a:pPr marL="292608" indent="-292608">
              <a:spcAft>
                <a:spcPts val="1000"/>
              </a:spcAft>
              <a:buClr>
                <a:srgbClr val="0F766E"/>
              </a:buClr>
              <a:buFont typeface="Arial"/>
              <a:buChar char="▪"/>
            </a:pPr>
            <a:r>
              <a:rPr sz="2400">
                <a:solidFill>
                  <a:srgbClr val="1F2937"/>
                </a:solidFill>
                <a:latin typeface="Calibri"/>
              </a:rPr>
              <a:t>Automatic fallback to safe model</a:t>
            </a:r>
          </a:p>
          <a:p>
            <a:pPr marL="292608" indent="-292608">
              <a:spcAft>
                <a:spcPts val="1000"/>
              </a:spcAft>
              <a:buClr>
                <a:srgbClr val="0F766E"/>
              </a:buClr>
              <a:buFont typeface="Arial"/>
              <a:buChar char="▪"/>
            </a:pPr>
            <a:r>
              <a:rPr sz="2400">
                <a:solidFill>
                  <a:srgbClr val="1F2937"/>
                </a:solidFill>
                <a:latin typeface="Calibri"/>
              </a:rPr>
              <a:t>Immutable audit log</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Input guardrails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Runtime monitoring</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Anomaly detection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Fallback execution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Audit logging</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Safety‑layer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900" b="1">
                <a:solidFill>
                  <a:srgbClr val="1F2937"/>
                </a:solidFill>
                <a:latin typeface="Calibri"/>
              </a:rPr>
              <a:t>Reliability Patterns: Circuit Breaker, Retry, Idempotency</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Circuit breaker prevents cascade failures</a:t>
            </a:r>
          </a:p>
          <a:p>
            <a:pPr marL="292608" indent="-292608">
              <a:spcAft>
                <a:spcPts val="1000"/>
              </a:spcAft>
              <a:buClr>
                <a:srgbClr val="0F766E"/>
              </a:buClr>
              <a:buFont typeface="Arial"/>
              <a:buChar char="▪"/>
            </a:pPr>
            <a:r>
              <a:rPr sz="2400">
                <a:solidFill>
                  <a:srgbClr val="1F2937"/>
                </a:solidFill>
                <a:latin typeface="Calibri"/>
              </a:rPr>
              <a:t>Exponential back‑off retry for transient errors</a:t>
            </a:r>
          </a:p>
          <a:p>
            <a:pPr marL="292608" indent="-292608">
              <a:spcAft>
                <a:spcPts val="1000"/>
              </a:spcAft>
              <a:buClr>
                <a:srgbClr val="0F766E"/>
              </a:buClr>
              <a:buFont typeface="Arial"/>
              <a:buChar char="▪"/>
            </a:pPr>
            <a:r>
              <a:rPr sz="2400">
                <a:solidFill>
                  <a:srgbClr val="1F2937"/>
                </a:solidFill>
                <a:latin typeface="Calibri"/>
              </a:rPr>
              <a:t>Idempotent operations enable safe retries</a:t>
            </a:r>
          </a:p>
          <a:p>
            <a:pPr marL="292608" indent="-292608">
              <a:spcAft>
                <a:spcPts val="1000"/>
              </a:spcAft>
              <a:buClr>
                <a:srgbClr val="0F766E"/>
              </a:buClr>
              <a:buFont typeface="Arial"/>
              <a:buChar char="▪"/>
            </a:pPr>
            <a:r>
              <a:rPr sz="2400">
                <a:solidFill>
                  <a:srgbClr val="1F2937"/>
                </a:solidFill>
                <a:latin typeface="Calibri"/>
              </a:rPr>
              <a:t>Pattern composition in pipeline stages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2900" b="1">
                <a:solidFill>
                  <a:srgbClr val="1F2937"/>
                </a:solidFill>
                <a:latin typeface="Calibri"/>
              </a:rPr>
              <a:t>Designing a Testing Pipeline for Multi‑Component Projects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Component‑level unit tests</a:t>
            </a:r>
          </a:p>
          <a:p>
            <a:pPr marL="292608" indent="-292608">
              <a:spcAft>
                <a:spcPts val="1000"/>
              </a:spcAft>
              <a:buClr>
                <a:srgbClr val="0F766E"/>
              </a:buClr>
              <a:buFont typeface="Arial"/>
              <a:buChar char="▪"/>
            </a:pPr>
            <a:r>
              <a:rPr sz="2400">
                <a:solidFill>
                  <a:srgbClr val="1F2937"/>
                </a:solidFill>
                <a:latin typeface="Calibri"/>
              </a:rPr>
              <a:t>Contract tests between services</a:t>
            </a:r>
          </a:p>
          <a:p>
            <a:pPr marL="292608" indent="-292608">
              <a:spcAft>
                <a:spcPts val="1000"/>
              </a:spcAft>
              <a:buClr>
                <a:srgbClr val="0F766E"/>
              </a:buClr>
              <a:buFont typeface="Arial"/>
              <a:buChar char="▪"/>
            </a:pPr>
            <a:r>
              <a:rPr sz="2400">
                <a:solidFill>
                  <a:srgbClr val="1F2937"/>
                </a:solidFill>
                <a:latin typeface="Calibri"/>
              </a:rPr>
              <a:t>Integration test harness</a:t>
            </a:r>
          </a:p>
          <a:p>
            <a:pPr marL="292608" indent="-292608">
              <a:spcAft>
                <a:spcPts val="1000"/>
              </a:spcAft>
              <a:buClr>
                <a:srgbClr val="0F766E"/>
              </a:buClr>
              <a:buFont typeface="Arial"/>
              <a:buChar char="▪"/>
            </a:pPr>
            <a:r>
              <a:rPr sz="2400">
                <a:solidFill>
                  <a:srgbClr val="1F2937"/>
                </a:solidFill>
                <a:latin typeface="Calibri"/>
              </a:rPr>
              <a:t>End‑to‑end simulation</a:t>
            </a:r>
          </a:p>
          <a:p>
            <a:pPr marL="292608" indent="-292608">
              <a:spcAft>
                <a:spcPts val="1000"/>
              </a:spcAft>
              <a:buClr>
                <a:srgbClr val="0F766E"/>
              </a:buClr>
              <a:buFont typeface="Arial"/>
              <a:buChar char="▪"/>
            </a:pPr>
            <a:r>
              <a:rPr sz="2400">
                <a:solidFill>
                  <a:srgbClr val="1F2937"/>
                </a:solidFill>
                <a:latin typeface="Calibri"/>
              </a:rPr>
              <a:t>Automated metric aggregation</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Component unit tests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Integration test harness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Contract tests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End‑to‑end simulation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Metric aggregation</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Testing pipeline stages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Problem: Assess Pipeline Against Reliability Requirements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Requirement: 99.9 % uptime, p99 &lt; 200 ms</a:t>
            </a:r>
          </a:p>
          <a:p>
            <a:pPr marL="292608" indent="-292608">
              <a:spcAft>
                <a:spcPts val="1000"/>
              </a:spcAft>
              <a:buClr>
                <a:srgbClr val="0F766E"/>
              </a:buClr>
              <a:buFont typeface="Arial"/>
              <a:buChar char="▪"/>
            </a:pPr>
            <a:r>
              <a:rPr sz="2400">
                <a:solidFill>
                  <a:srgbClr val="1F2937"/>
                </a:solidFill>
                <a:latin typeface="Calibri"/>
              </a:rPr>
              <a:t>Map each pipeline stage to metrics</a:t>
            </a:r>
          </a:p>
          <a:p>
            <a:pPr marL="292608" indent="-292608">
              <a:spcAft>
                <a:spcPts val="1000"/>
              </a:spcAft>
              <a:buClr>
                <a:srgbClr val="0F766E"/>
              </a:buClr>
              <a:buFont typeface="Arial"/>
              <a:buChar char="▪"/>
            </a:pPr>
            <a:r>
              <a:rPr sz="2400">
                <a:solidFill>
                  <a:srgbClr val="1F2937"/>
                </a:solidFill>
                <a:latin typeface="Calibri"/>
              </a:rPr>
              <a:t>Identify missing circuit‑breaker on inference</a:t>
            </a:r>
          </a:p>
          <a:p>
            <a:pPr marL="292608" indent="-292608">
              <a:spcAft>
                <a:spcPts val="1000"/>
              </a:spcAft>
              <a:buClr>
                <a:srgbClr val="0F766E"/>
              </a:buClr>
              <a:buFont typeface="Arial"/>
              <a:buChar char="▪"/>
            </a:pPr>
            <a:r>
              <a:rPr sz="2400">
                <a:solidFill>
                  <a:srgbClr val="1F2937"/>
                </a:solidFill>
                <a:latin typeface="Calibri"/>
              </a:rPr>
              <a:t>Add fallback model stage</a:t>
            </a:r>
          </a:p>
          <a:p>
            <a:pPr marL="292608" indent="-292608">
              <a:spcAft>
                <a:spcPts val="1000"/>
              </a:spcAft>
              <a:buClr>
                <a:srgbClr val="0F766E"/>
              </a:buClr>
              <a:buFont typeface="Arial"/>
              <a:buChar char="▪"/>
            </a:pPr>
            <a:r>
              <a:rPr sz="2400">
                <a:solidFill>
                  <a:srgbClr val="1F2937"/>
                </a:solidFill>
                <a:latin typeface="Calibri"/>
              </a:rPr>
              <a:t>Set alert thresholds &amp; justify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yaml</a:t>
            </a:r>
          </a:p>
          <a:p>
            <a:pPr algn="l"/>
            <a:r>
              <a:rPr sz="1400" b="0">
                <a:solidFill>
                  <a:srgbClr val="E5E7EB"/>
                </a:solidFill>
                <a:latin typeface="Consolas"/>
              </a:rPr>
              <a:t>stages:</a:t>
            </a:r>
          </a:p>
          <a:p>
            <a:pPr algn="l"/>
            <a:r>
              <a:rPr sz="1400" b="0">
                <a:solidFill>
                  <a:srgbClr val="E5E7EB"/>
                </a:solidFill>
                <a:latin typeface="Consolas"/>
              </a:rPr>
              <a:t>  - name: unit_test</a:t>
            </a:r>
          </a:p>
          <a:p>
            <a:pPr algn="l"/>
            <a:r>
              <a:rPr sz="1400" b="0">
                <a:solidFill>
                  <a:srgbClr val="E5E7EB"/>
                </a:solidFill>
                <a:latin typeface="Consolas"/>
              </a:rPr>
              <a:t>    script: pytest unit/</a:t>
            </a:r>
          </a:p>
          <a:p>
            <a:pPr algn="l"/>
            <a:r>
              <a:rPr sz="1400" b="0">
                <a:solidFill>
                  <a:srgbClr val="E5E7EB"/>
                </a:solidFill>
                <a:latin typeface="Consolas"/>
              </a:rPr>
              <a:t>  - name: integration_test</a:t>
            </a:r>
          </a:p>
          <a:p>
            <a:pPr algn="l"/>
            <a:r>
              <a:rPr sz="1400" b="0">
                <a:solidFill>
                  <a:srgbClr val="E5E7EB"/>
                </a:solidFill>
                <a:latin typeface="Consolas"/>
              </a:rPr>
              <a:t>    script: pytest integration/</a:t>
            </a:r>
          </a:p>
          <a:p>
            <a:pPr algn="l"/>
            <a:r>
              <a:rPr sz="1400" b="0">
                <a:solidFill>
                  <a:srgbClr val="E5E7EB"/>
                </a:solidFill>
                <a:latin typeface="Consolas"/>
              </a:rPr>
              <a:t>  - name: contract_test</a:t>
            </a:r>
          </a:p>
          <a:p>
            <a:pPr algn="l"/>
            <a:r>
              <a:rPr sz="1400" b="0">
                <a:solidFill>
                  <a:srgbClr val="E5E7EB"/>
                </a:solidFill>
                <a:latin typeface="Consolas"/>
              </a:rPr>
              <a:t>    script: pact-verifier</a:t>
            </a:r>
          </a:p>
          <a:p>
            <a:pPr algn="l"/>
            <a:r>
              <a:rPr sz="1400" b="0">
                <a:solidFill>
                  <a:srgbClr val="E5E7EB"/>
                </a:solidFill>
                <a:latin typeface="Consolas"/>
              </a:rPr>
              <a:t>  - name: e2e_sim</a:t>
            </a:r>
          </a:p>
          <a:p>
            <a:pPr algn="l"/>
            <a:r>
              <a:rPr sz="1400" b="0">
                <a:solidFill>
                  <a:srgbClr val="E5E7EB"/>
                </a:solidFill>
                <a:latin typeface="Consolas"/>
              </a:rPr>
              <a:t>    script: run_sim.sh</a:t>
            </a:r>
          </a:p>
          <a:p>
            <a:pPr algn="l"/>
            <a:r>
              <a:rPr sz="1400" b="0">
                <a:solidFill>
                  <a:srgbClr val="E5E7EB"/>
                </a:solidFill>
                <a:latin typeface="Consolas"/>
              </a:rPr>
              <a:t>  - name: metrics_collect</a:t>
            </a:r>
          </a:p>
          <a:p>
            <a:pPr algn="l"/>
            <a:r>
              <a:rPr sz="1400" b="0">
                <a:solidFill>
                  <a:srgbClr val="E5E7EB"/>
                </a:solidFill>
                <a:latin typeface="Consolas"/>
              </a:rPr>
              <a:t>    script: collect_metrics.py</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Sample pipeline config (excerpt)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Missing Reliability Requirement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In the worked problem, which reliability requirement was not addressed by the original pipeline?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Latency bound</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Availability target</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Circuit‑breaker protection</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Cost ceiling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Activity: Group Design of Pipeline Architecture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Form groups of 3‑4</a:t>
            </a:r>
          </a:p>
          <a:p>
            <a:pPr marL="292608" indent="-292608">
              <a:spcAft>
                <a:spcPts val="1000"/>
              </a:spcAft>
              <a:buClr>
                <a:srgbClr val="0F766E"/>
              </a:buClr>
              <a:buFont typeface="Arial"/>
              <a:buChar char="▪"/>
            </a:pPr>
            <a:r>
              <a:rPr sz="2400">
                <a:solidFill>
                  <a:srgbClr val="1F2937"/>
                </a:solidFill>
                <a:latin typeface="Calibri"/>
              </a:rPr>
              <a:t>Sketch a pipeline with safety layers</a:t>
            </a:r>
          </a:p>
          <a:p>
            <a:pPr marL="292608" indent="-292608">
              <a:spcAft>
                <a:spcPts val="1000"/>
              </a:spcAft>
              <a:buClr>
                <a:srgbClr val="0F766E"/>
              </a:buClr>
              <a:buFont typeface="Arial"/>
              <a:buChar char="▪"/>
            </a:pPr>
            <a:r>
              <a:rPr sz="2400">
                <a:solidFill>
                  <a:srgbClr val="1F2937"/>
                </a:solidFill>
                <a:latin typeface="Calibri"/>
              </a:rPr>
              <a:t>Annotate each stage with a requirement</a:t>
            </a:r>
          </a:p>
          <a:p>
            <a:pPr marL="292608" indent="-292608">
              <a:spcAft>
                <a:spcPts val="1000"/>
              </a:spcAft>
              <a:buClr>
                <a:srgbClr val="0F766E"/>
              </a:buClr>
              <a:buFont typeface="Arial"/>
              <a:buChar char="▪"/>
            </a:pPr>
            <a:r>
              <a:rPr sz="2400">
                <a:solidFill>
                  <a:srgbClr val="1F2937"/>
                </a:solidFill>
                <a:latin typeface="Calibri"/>
              </a:rPr>
              <a:t>Present 2‑minute rationale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Key Takeaways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Evaluation metrics must map 1‑to‑1 to reliability SLAs</a:t>
            </a:r>
          </a:p>
          <a:p>
            <a:pPr marL="292608" indent="-292608">
              <a:spcAft>
                <a:spcPts val="1000"/>
              </a:spcAft>
              <a:buClr>
                <a:srgbClr val="0F766E"/>
              </a:buClr>
              <a:buFont typeface="Arial"/>
              <a:buChar char="▪"/>
            </a:pPr>
            <a:r>
              <a:rPr sz="2400">
                <a:solidFill>
                  <a:srgbClr val="1F2937"/>
                </a:solidFill>
                <a:latin typeface="Calibri"/>
              </a:rPr>
              <a:t>Trade‑offs are explicit decisions, not accidents</a:t>
            </a:r>
          </a:p>
          <a:p>
            <a:pPr marL="292608" indent="-292608">
              <a:spcAft>
                <a:spcPts val="1000"/>
              </a:spcAft>
              <a:buClr>
                <a:srgbClr val="0F766E"/>
              </a:buClr>
              <a:buFont typeface="Arial"/>
              <a:buChar char="▪"/>
            </a:pPr>
            <a:r>
              <a:rPr sz="2400">
                <a:solidFill>
                  <a:srgbClr val="1F2937"/>
                </a:solidFill>
                <a:latin typeface="Calibri"/>
              </a:rPr>
              <a:t>Trustworthy architectures layer guardrails, monitoring, fallbacks</a:t>
            </a:r>
          </a:p>
          <a:p>
            <a:pPr marL="292608" indent="-292608">
              <a:spcAft>
                <a:spcPts val="1000"/>
              </a:spcAft>
              <a:buClr>
                <a:srgbClr val="0F766E"/>
              </a:buClr>
              <a:buFont typeface="Arial"/>
              <a:buChar char="▪"/>
            </a:pPr>
            <a:r>
              <a:rPr sz="2400">
                <a:solidFill>
                  <a:srgbClr val="1F2937"/>
                </a:solidFill>
                <a:latin typeface="Calibri"/>
              </a:rPr>
              <a:t>Reliability patterns (circuit breaker, retry, idempotency) are mandatory</a:t>
            </a:r>
          </a:p>
          <a:p>
            <a:pPr marL="292608" indent="-292608">
              <a:spcAft>
                <a:spcPts val="1000"/>
              </a:spcAft>
              <a:buClr>
                <a:srgbClr val="0F766E"/>
              </a:buClr>
              <a:buFont typeface="Arial"/>
              <a:buChar char="▪"/>
            </a:pPr>
            <a:r>
              <a:rPr sz="2400">
                <a:solidFill>
                  <a:srgbClr val="1F2937"/>
                </a:solidFill>
                <a:latin typeface="Calibri"/>
              </a:rPr>
              <a:t>Every pipeline design choice needs a documented justification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Complexity Backpressure for AI Coding Agents: A Cross-Model Study on Substantive Software Tasks (2026). https://doi.org/10.1109/sse72781.2026.00047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