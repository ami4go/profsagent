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Quiz1,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Context Protocol, or MCP, addresses a key bottleneck in AI-assisted development. Traditionally, connecting an LLM agent to local project files, database schemas, or terminal commands required building custom integrations for each specific tool and model. MCP provides an open standard for context exchange. In this architecture, host applications like IDEs act as clients that connect to specialized MCP servers running locally or remotely, providing structured access to context and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the distinction between host, client, and server is essential when reading workspace configurations. The host is the overall application, such as your IDE. The MCP client lives inside or alongside the host to manage connections. MCP servers are independent processes that encapsulate specific developer tools—such as a file system reader, a git helper, or a compiler wrapper. The client and server exchange messages over standard channels like stdio or Server-Sent Events.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workspace templates configure MCP through a JSON configuration file. The root object contains an mcpServers key, mapping unique server identifiers to their launch definitions. The command field specifies the executable, while args contains array arguments for running the server process. env allows setting environment variables required by the server. If keys are misspelled or arguments are malformed, the client cannot spawn the server process.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Underneath the hood, MCP uses JSON-RPC 2.0 for all communications. When an MCP client starts an MCP server process, it must perform a protocol handshake before executing any commands. The client sends an initialize request containing its client version and desired capabilities. The server returns its metadata and capabilities, such as whether it supports resources or tools. Once initialized, the client sends an initialized notification signal, transitioning the connection to active state.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categorizes interaction capabilities into three core primitives: Resources, Tools, and Prompts. Resources act like read-only GET endpoints in web APIs, allowing the AI to read workspace state safely without side effects. Tools represent callable functions that can modify the workspace—such as compiling code or running unit tests. Prompts are reusable context templates. Identifying which primitive a configuration exports is vital when auditing workspace setups for workflow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supports two main transport layers: stdio and SSE. In a standard local development setup, stdio is used: the IDE spawns the server binary directly as a subprocess and communicates via standard input and output streams. For remote microservices or team-shared tools, SSE over HTTP is used instead. When auditing a workspace configuration template, you must check whether local binary paths or remote HTTP URLs are specified, ensuring required environment tokens are configured securely.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our understanding of the MCP workspace configuration schema. Look closely at the field names. MCP requires the top-level dictionary mcpServers, where each key is the server name, and its payload specifies command as a string and args as an array of strings. Recognizing this standard schema helps you debug workspace template configuration warnings or load failures.</a:t>
            </a:r>
          </a:p>
          <a:p/>
          <a:p>
            <a:r>
              <a:t>Answer: A. {"mcpServers": {"git-helper": {"command": "npx", "args": ["-y", "@mcp/git"]}}}</a:t>
            </a:r>
          </a:p>
          <a:p>
            <a:r>
              <a:t>Option 0 correctly uses the top-level mcpServers object with a named server dictionary containing command and args array. Option 1 incorrectly uses a tools array; Option 2 uses an invalid mcp-client format; Option 3 uses non-standard schema keys (path and params instead of command and args).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described in recent research on MCP query tuning frameworks, sending unfiltered repository contents to an LLM degrades reasoning quality and increases costs. MCP enables fine-grained context retrieval where the AI agent queries specific resources or invokes specific tools only when needed. Workspace configuration schemas can specify context filtering bounds or default tool arguments, ensuring the AI model receives optimal, high-signal context during software development workflows.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setting up developer workspace templates, debugging MCP connection failures usually traces back to configuration issues. Common errors include JSON syntax flaws, using non-standard key names like 'servers' or 'plugins' instead of 'mcpServers', or supplying relative binary paths that cannot be resolved by the host process. Always validate the workspace JSON file against the MCP schema specification before running your development agent.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Model Context Protocols provide a unified architecture for augmenting AI coding agents with real-world developer tools and environment context. By mastering the configuration schema structure—including mcpServers, commands, arguments, and capability types—you can correctly set up developer workspace templates, diagnose configuration warnings, and ensure seamless AI tool integration in your development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Model context protocols and architecture</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 · AI-Assisted Coding and Developer Workflows · 1 h</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the configuration schema and protocol requirements for model context protocols in a supplied developer workspace template (CO1.LO1)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Overview of the Model Context Protocol (MCP)</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MCP standardizes how AI models connect to external developer tools and data sources.</a:t>
            </a:r>
          </a:p>
          <a:p>
            <a:pPr marL="292608" indent="-292608">
              <a:spcAft>
                <a:spcPts val="1000"/>
              </a:spcAft>
              <a:buClr>
                <a:srgbClr val="0F766E"/>
              </a:buClr>
              <a:buFont typeface="Arial"/>
              <a:buChar char="▪"/>
            </a:pPr>
            <a:r>
              <a:rPr sz="2400">
                <a:solidFill>
                  <a:srgbClr val="1F2937"/>
                </a:solidFill>
                <a:latin typeface="Calibri"/>
              </a:rPr>
              <a:t>Decouples AI hosts from tool implementations using a client-server architectural pattern.</a:t>
            </a:r>
          </a:p>
          <a:p>
            <a:pPr marL="292608" indent="-292608">
              <a:spcAft>
                <a:spcPts val="1000"/>
              </a:spcAft>
              <a:buClr>
                <a:srgbClr val="0F766E"/>
              </a:buClr>
              <a:buFont typeface="Arial"/>
              <a:buChar char="▪"/>
            </a:pPr>
            <a:r>
              <a:rPr sz="2400">
                <a:solidFill>
                  <a:srgbClr val="1F2937"/>
                </a:solidFill>
                <a:latin typeface="Calibri"/>
              </a:rPr>
              <a:t>Eliminates custom integration glue code for every distinct tool and LLM provider.</a:t>
            </a:r>
          </a:p>
          <a:p>
            <a:pPr marL="292608" indent="-292608">
              <a:spcAft>
                <a:spcPts val="1000"/>
              </a:spcAft>
              <a:buClr>
                <a:srgbClr val="0F766E"/>
              </a:buClr>
              <a:buFont typeface="Arial"/>
              <a:buChar char="▪"/>
            </a:pPr>
            <a:r>
              <a:rPr sz="2400">
                <a:solidFill>
                  <a:srgbClr val="1F2937"/>
                </a:solidFill>
                <a:latin typeface="Calibri"/>
              </a:rPr>
              <a:t>Ensures uniform context retrieval across different IDEs and development environments.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MCP Architectural Roles: Host, Client, and Server</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Host application (e.g., IDE or coding agent) initiates AI interactions and user sessions.</a:t>
            </a:r>
          </a:p>
          <a:p>
            <a:pPr marL="292608" indent="-292608">
              <a:spcAft>
                <a:spcPts val="1000"/>
              </a:spcAft>
              <a:buClr>
                <a:srgbClr val="0F766E"/>
              </a:buClr>
              <a:buFont typeface="Arial"/>
              <a:buChar char="▪"/>
            </a:pPr>
            <a:r>
              <a:rPr sz="2300">
                <a:solidFill>
                  <a:srgbClr val="1F2937"/>
                </a:solidFill>
                <a:latin typeface="Calibri"/>
              </a:rPr>
              <a:t>MCP Client maintains connections and negotiates protocol capabilities with servers.</a:t>
            </a:r>
          </a:p>
          <a:p>
            <a:pPr marL="292608" indent="-292608">
              <a:spcAft>
                <a:spcPts val="1000"/>
              </a:spcAft>
              <a:buClr>
                <a:srgbClr val="0F766E"/>
              </a:buClr>
              <a:buFont typeface="Arial"/>
              <a:buChar char="▪"/>
            </a:pPr>
            <a:r>
              <a:rPr sz="2300">
                <a:solidFill>
                  <a:srgbClr val="1F2937"/>
                </a:solidFill>
                <a:latin typeface="Calibri"/>
              </a:rPr>
              <a:t>MCP Server exposes specific resources, tools, and prompts via standardized endpoints.</a:t>
            </a:r>
          </a:p>
          <a:p>
            <a:pPr marL="292608" indent="-292608">
              <a:spcAft>
                <a:spcPts val="1000"/>
              </a:spcAft>
              <a:buClr>
                <a:srgbClr val="0F766E"/>
              </a:buClr>
              <a:buFont typeface="Arial"/>
              <a:buChar char="▪"/>
            </a:pPr>
            <a:r>
              <a:rPr sz="2300">
                <a:solidFill>
                  <a:srgbClr val="1F2937"/>
                </a:solidFill>
                <a:latin typeface="Calibri"/>
              </a:rPr>
              <a:t>Communication follows a strict client-server model over defined transport channels.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AI Host Agent</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Client</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Transport Layer (stdio/SSE)</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Server</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Local Workspace Tools</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MCP Communication 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MCP Workspace Configuration Schema</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100">
                <a:solidFill>
                  <a:srgbClr val="1F2937"/>
                </a:solidFill>
                <a:latin typeface="Calibri"/>
              </a:rPr>
              <a:t>Workspace configuration defines installed MCP servers under a top-level mcpServers object.</a:t>
            </a:r>
          </a:p>
          <a:p>
            <a:pPr marL="292608" indent="-292608">
              <a:spcAft>
                <a:spcPts val="1000"/>
              </a:spcAft>
              <a:buClr>
                <a:srgbClr val="0F766E"/>
              </a:buClr>
              <a:buFont typeface="Arial"/>
              <a:buChar char="▪"/>
            </a:pPr>
            <a:r>
              <a:rPr sz="2100">
                <a:solidFill>
                  <a:srgbClr val="1F2937"/>
                </a:solidFill>
                <a:latin typeface="Calibri"/>
              </a:rPr>
              <a:t>Each server entry specifies execution command, arguments, and optional environment variables.</a:t>
            </a:r>
          </a:p>
          <a:p>
            <a:pPr marL="292608" indent="-292608">
              <a:spcAft>
                <a:spcPts val="1000"/>
              </a:spcAft>
              <a:buClr>
                <a:srgbClr val="0F766E"/>
              </a:buClr>
              <a:buFont typeface="Arial"/>
              <a:buChar char="▪"/>
            </a:pPr>
            <a:r>
              <a:rPr sz="2100">
                <a:solidFill>
                  <a:srgbClr val="1F2937"/>
                </a:solidFill>
                <a:latin typeface="Calibri"/>
              </a:rPr>
              <a:t>Transport protocol selection defaults to standard input/output (stdio) for local servers.</a:t>
            </a:r>
          </a:p>
          <a:p>
            <a:pPr marL="292608" indent="-292608">
              <a:spcAft>
                <a:spcPts val="1000"/>
              </a:spcAft>
              <a:buClr>
                <a:srgbClr val="0F766E"/>
              </a:buClr>
              <a:buFont typeface="Arial"/>
              <a:buChar char="▪"/>
            </a:pPr>
            <a:r>
              <a:rPr sz="2100">
                <a:solidFill>
                  <a:srgbClr val="1F2937"/>
                </a:solidFill>
                <a:latin typeface="Calibri"/>
              </a:rPr>
              <a:t>Schema strictness requires precise key naming to prevent client initialization failures.</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"mcpServers": {</a:t>
            </a:r>
          </a:p>
          <a:p>
            <a:pPr algn="l"/>
            <a:r>
              <a:rPr sz="1400" b="0">
                <a:solidFill>
                  <a:srgbClr val="E5E7EB"/>
                </a:solidFill>
                <a:latin typeface="Consolas"/>
              </a:rPr>
              <a:t>    "workspace-tools": {</a:t>
            </a:r>
          </a:p>
          <a:p>
            <a:pPr algn="l"/>
            <a:r>
              <a:rPr sz="1400" b="0">
                <a:solidFill>
                  <a:srgbClr val="E5E7EB"/>
                </a:solidFill>
                <a:latin typeface="Consolas"/>
              </a:rPr>
              <a:t>      "command": "node",</a:t>
            </a:r>
          </a:p>
          <a:p>
            <a:pPr algn="l"/>
            <a:r>
              <a:rPr sz="1400" b="0">
                <a:solidFill>
                  <a:srgbClr val="E5E7EB"/>
                </a:solidFill>
                <a:latin typeface="Consolas"/>
              </a:rPr>
              <a:t>      "args": ["./mcp-server/index.js"],</a:t>
            </a:r>
          </a:p>
          <a:p>
            <a:pPr algn="l"/>
            <a:r>
              <a:rPr sz="1400" b="0">
                <a:solidFill>
                  <a:srgbClr val="E5E7EB"/>
                </a:solidFill>
                <a:latin typeface="Consolas"/>
              </a:rPr>
              <a:t>      "env": {</a:t>
            </a:r>
          </a:p>
          <a:p>
            <a:pPr algn="l"/>
            <a:r>
              <a:rPr sz="1400" b="0">
                <a:solidFill>
                  <a:srgbClr val="E5E7EB"/>
                </a:solidFill>
                <a:latin typeface="Consolas"/>
              </a:rPr>
              <a:t>        "LOG_LEVEL": "info"</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Sample MCP Configuration JSON Schema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Protocol Handshake and Initialization Requirements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MCP messaging uses standard JSON-RPC 2.0 specification format.</a:t>
            </a:r>
          </a:p>
          <a:p>
            <a:pPr marL="292608" indent="-292608">
              <a:spcAft>
                <a:spcPts val="1000"/>
              </a:spcAft>
              <a:buClr>
                <a:srgbClr val="0F766E"/>
              </a:buClr>
              <a:buFont typeface="Arial"/>
              <a:buChar char="▪"/>
            </a:pPr>
            <a:r>
              <a:rPr sz="2400">
                <a:solidFill>
                  <a:srgbClr val="1F2937"/>
                </a:solidFill>
                <a:latin typeface="Calibri"/>
              </a:rPr>
              <a:t>Initialization phase begins with an initialize request from client to server.</a:t>
            </a:r>
          </a:p>
          <a:p>
            <a:pPr marL="292608" indent="-292608">
              <a:spcAft>
                <a:spcPts val="1000"/>
              </a:spcAft>
              <a:buClr>
                <a:srgbClr val="0F766E"/>
              </a:buClr>
              <a:buFont typeface="Arial"/>
              <a:buChar char="▪"/>
            </a:pPr>
            <a:r>
              <a:rPr sz="2400">
                <a:solidFill>
                  <a:srgbClr val="1F2937"/>
                </a:solidFill>
                <a:latin typeface="Calibri"/>
              </a:rPr>
              <a:t>Server responds with protocol version, server info, and supported capability flags.</a:t>
            </a:r>
          </a:p>
          <a:p>
            <a:pPr marL="292608" indent="-292608">
              <a:spcAft>
                <a:spcPts val="1000"/>
              </a:spcAft>
              <a:buClr>
                <a:srgbClr val="0F766E"/>
              </a:buClr>
              <a:buFont typeface="Arial"/>
              <a:buChar char="▪"/>
            </a:pPr>
            <a:r>
              <a:rPr sz="2400">
                <a:solidFill>
                  <a:srgbClr val="1F2937"/>
                </a:solidFill>
                <a:latin typeface="Calibri"/>
              </a:rPr>
              <a:t>Client sends initialized notification before executing operational tools or resource queries.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2900" b="1">
                <a:solidFill>
                  <a:srgbClr val="1F2937"/>
                </a:solidFill>
                <a:latin typeface="Calibri"/>
              </a:rPr>
              <a:t>Categorizing MCP Capabilities: Resources, Tools, Prompts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Resources supply read-only context data, such as source code files or logs.</a:t>
            </a:r>
          </a:p>
          <a:p>
            <a:pPr marL="292608" indent="-292608">
              <a:spcAft>
                <a:spcPts val="1000"/>
              </a:spcAft>
              <a:buClr>
                <a:srgbClr val="0F766E"/>
              </a:buClr>
              <a:buFont typeface="Arial"/>
              <a:buChar char="▪"/>
            </a:pPr>
            <a:r>
              <a:rPr sz="2300">
                <a:solidFill>
                  <a:srgbClr val="1F2937"/>
                </a:solidFill>
                <a:latin typeface="Calibri"/>
              </a:rPr>
              <a:t>Tools expose executable functions that perform side-effect actions in the workspace.</a:t>
            </a:r>
          </a:p>
          <a:p>
            <a:pPr marL="292608" indent="-292608">
              <a:spcAft>
                <a:spcPts val="1000"/>
              </a:spcAft>
              <a:buClr>
                <a:srgbClr val="0F766E"/>
              </a:buClr>
              <a:buFont typeface="Arial"/>
              <a:buChar char="▪"/>
            </a:pPr>
            <a:r>
              <a:rPr sz="2300">
                <a:solidFill>
                  <a:srgbClr val="1F2937"/>
                </a:solidFill>
                <a:latin typeface="Calibri"/>
              </a:rPr>
              <a:t>Prompts provide pre-configured template structures for recurring developer workflows.</a:t>
            </a:r>
          </a:p>
          <a:p>
            <a:pPr marL="292608" indent="-292608">
              <a:spcAft>
                <a:spcPts val="1000"/>
              </a:spcAft>
              <a:buClr>
                <a:srgbClr val="0F766E"/>
              </a:buClr>
              <a:buFont typeface="Arial"/>
              <a:buChar char="▪"/>
            </a:pPr>
            <a:r>
              <a:rPr sz="2300">
                <a:solidFill>
                  <a:srgbClr val="1F2937"/>
                </a:solidFill>
                <a:latin typeface="Calibri"/>
              </a:rPr>
              <a:t>Configurations must enable capability flags corresponding to required server features.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239890"/>
                <a:gridCol w="1239890"/>
                <a:gridCol w="1239890"/>
                <a:gridCol w="1239890"/>
              </a:tblGrid>
              <a:tr h="502920">
                <a:tc>
                  <a:txBody>
                    <a:bodyPr/>
                    <a:lstStyle/>
                    <a:p>
                      <a:r>
                        <a:rPr sz="1400" b="1">
                          <a:solidFill>
                            <a:srgbClr val="CCFBF1"/>
                          </a:solidFill>
                          <a:latin typeface="Calibri"/>
                        </a:rPr>
                        <a:t>Primitive</a:t>
                      </a:r>
                    </a:p>
                  </a:txBody>
                  <a:tcPr>
                    <a:solidFill>
                      <a:srgbClr val="0F766E"/>
                    </a:solidFill>
                  </a:tcPr>
                </a:tc>
                <a:tc>
                  <a:txBody>
                    <a:bodyPr/>
                    <a:lstStyle/>
                    <a:p>
                      <a:r>
                        <a:rPr sz="1400" b="1">
                          <a:solidFill>
                            <a:srgbClr val="CCFBF1"/>
                          </a:solidFill>
                          <a:latin typeface="Calibri"/>
                        </a:rPr>
                        <a:t>Primary Purpose</a:t>
                      </a:r>
                    </a:p>
                  </a:txBody>
                  <a:tcPr>
                    <a:solidFill>
                      <a:srgbClr val="0F766E"/>
                    </a:solidFill>
                  </a:tcPr>
                </a:tc>
                <a:tc>
                  <a:txBody>
                    <a:bodyPr/>
                    <a:lstStyle/>
                    <a:p>
                      <a:r>
                        <a:rPr sz="1400" b="1">
                          <a:solidFill>
                            <a:srgbClr val="CCFBF1"/>
                          </a:solidFill>
                          <a:latin typeface="Calibri"/>
                        </a:rPr>
                        <a:t>Execution Type</a:t>
                      </a:r>
                    </a:p>
                  </a:txBody>
                  <a:tcPr>
                    <a:solidFill>
                      <a:srgbClr val="0F766E"/>
                    </a:solidFill>
                  </a:tcPr>
                </a:tc>
                <a:tc>
                  <a:txBody>
                    <a:bodyPr/>
                    <a:lstStyle/>
                    <a:p>
                      <a:r>
                        <a:rPr sz="1400" b="1">
                          <a:solidFill>
                            <a:srgbClr val="CCFBF1"/>
                          </a:solidFill>
                          <a:latin typeface="Calibri"/>
                        </a:rPr>
                        <a:t>Example Use Case</a:t>
                      </a:r>
                    </a:p>
                  </a:txBody>
                  <a:tcPr>
                    <a:solidFill>
                      <a:srgbClr val="0F766E"/>
                    </a:solidFill>
                  </a:tcPr>
                </a:tc>
              </a:tr>
              <a:tr h="502920">
                <a:tc>
                  <a:txBody>
                    <a:bodyPr/>
                    <a:lstStyle/>
                    <a:p>
                      <a:r>
                        <a:rPr sz="1400" b="0">
                          <a:solidFill>
                            <a:srgbClr val="1F2937"/>
                          </a:solidFill>
                          <a:latin typeface="Calibri"/>
                        </a:rPr>
                        <a:t>Resources</a:t>
                      </a:r>
                    </a:p>
                  </a:txBody>
                  <a:tcPr>
                    <a:solidFill>
                      <a:srgbClr val="F3F4F6"/>
                    </a:solidFill>
                  </a:tcPr>
                </a:tc>
                <a:tc>
                  <a:txBody>
                    <a:bodyPr/>
                    <a:lstStyle/>
                    <a:p>
                      <a:r>
                        <a:rPr sz="1400" b="0">
                          <a:solidFill>
                            <a:srgbClr val="1F2937"/>
                          </a:solidFill>
                          <a:latin typeface="Calibri"/>
                        </a:rPr>
                        <a:t>Provide passive context</a:t>
                      </a:r>
                    </a:p>
                  </a:txBody>
                  <a:tcPr>
                    <a:solidFill>
                      <a:srgbClr val="F3F4F6"/>
                    </a:solidFill>
                  </a:tcPr>
                </a:tc>
                <a:tc>
                  <a:txBody>
                    <a:bodyPr/>
                    <a:lstStyle/>
                    <a:p>
                      <a:r>
                        <a:rPr sz="1400" b="0">
                          <a:solidFill>
                            <a:srgbClr val="1F2937"/>
                          </a:solidFill>
                          <a:latin typeface="Calibri"/>
                        </a:rPr>
                        <a:t>Read-only data retrieval</a:t>
                      </a:r>
                    </a:p>
                  </a:txBody>
                  <a:tcPr>
                    <a:solidFill>
                      <a:srgbClr val="F3F4F6"/>
                    </a:solidFill>
                  </a:tcPr>
                </a:tc>
                <a:tc>
                  <a:txBody>
                    <a:bodyPr/>
                    <a:lstStyle/>
                    <a:p>
                      <a:r>
                        <a:rPr sz="1400" b="0">
                          <a:solidFill>
                            <a:srgbClr val="1F2937"/>
                          </a:solidFill>
                          <a:latin typeface="Calibri"/>
                        </a:rPr>
                        <a:t>Reading file content or schema</a:t>
                      </a:r>
                    </a:p>
                  </a:txBody>
                  <a:tcPr>
                    <a:solidFill>
                      <a:srgbClr val="F3F4F6"/>
                    </a:solidFill>
                  </a:tcPr>
                </a:tc>
              </a:tr>
              <a:tr h="502920">
                <a:tc>
                  <a:txBody>
                    <a:bodyPr/>
                    <a:lstStyle/>
                    <a:p>
                      <a:r>
                        <a:rPr sz="1400" b="0">
                          <a:solidFill>
                            <a:srgbClr val="1F2937"/>
                          </a:solidFill>
                          <a:latin typeface="Calibri"/>
                        </a:rPr>
                        <a:t>Tools</a:t>
                      </a:r>
                    </a:p>
                  </a:txBody>
                  <a:tcPr>
                    <a:solidFill>
                      <a:srgbClr val="F3F4F6"/>
                    </a:solidFill>
                  </a:tcPr>
                </a:tc>
                <a:tc>
                  <a:txBody>
                    <a:bodyPr/>
                    <a:lstStyle/>
                    <a:p>
                      <a:r>
                        <a:rPr sz="1400" b="0">
                          <a:solidFill>
                            <a:srgbClr val="1F2937"/>
                          </a:solidFill>
                          <a:latin typeface="Calibri"/>
                        </a:rPr>
                        <a:t>Perform actions</a:t>
                      </a:r>
                    </a:p>
                  </a:txBody>
                  <a:tcPr>
                    <a:solidFill>
                      <a:srgbClr val="F3F4F6"/>
                    </a:solidFill>
                  </a:tcPr>
                </a:tc>
                <a:tc>
                  <a:txBody>
                    <a:bodyPr/>
                    <a:lstStyle/>
                    <a:p>
                      <a:r>
                        <a:rPr sz="1400" b="0">
                          <a:solidFill>
                            <a:srgbClr val="1F2937"/>
                          </a:solidFill>
                          <a:latin typeface="Calibri"/>
                        </a:rPr>
                        <a:t>Executable side-effects</a:t>
                      </a:r>
                    </a:p>
                  </a:txBody>
                  <a:tcPr>
                    <a:solidFill>
                      <a:srgbClr val="F3F4F6"/>
                    </a:solidFill>
                  </a:tcPr>
                </a:tc>
                <a:tc>
                  <a:txBody>
                    <a:bodyPr/>
                    <a:lstStyle/>
                    <a:p>
                      <a:r>
                        <a:rPr sz="1400" b="0">
                          <a:solidFill>
                            <a:srgbClr val="1F2937"/>
                          </a:solidFill>
                          <a:latin typeface="Calibri"/>
                        </a:rPr>
                        <a:t>Running tests, committing code</a:t>
                      </a:r>
                    </a:p>
                  </a:txBody>
                  <a:tcPr>
                    <a:solidFill>
                      <a:srgbClr val="F3F4F6"/>
                    </a:solidFill>
                  </a:tcPr>
                </a:tc>
              </a:tr>
              <a:tr h="502920">
                <a:tc>
                  <a:txBody>
                    <a:bodyPr/>
                    <a:lstStyle/>
                    <a:p>
                      <a:r>
                        <a:rPr sz="1400" b="0">
                          <a:solidFill>
                            <a:srgbClr val="1F2937"/>
                          </a:solidFill>
                          <a:latin typeface="Calibri"/>
                        </a:rPr>
                        <a:t>Prompts</a:t>
                      </a:r>
                    </a:p>
                  </a:txBody>
                  <a:tcPr>
                    <a:solidFill>
                      <a:srgbClr val="F3F4F6"/>
                    </a:solidFill>
                  </a:tcPr>
                </a:tc>
                <a:tc>
                  <a:txBody>
                    <a:bodyPr/>
                    <a:lstStyle/>
                    <a:p>
                      <a:r>
                        <a:rPr sz="1400" b="0">
                          <a:solidFill>
                            <a:srgbClr val="1F2937"/>
                          </a:solidFill>
                          <a:latin typeface="Calibri"/>
                        </a:rPr>
                        <a:t>Guide user interaction</a:t>
                      </a:r>
                    </a:p>
                  </a:txBody>
                  <a:tcPr>
                    <a:solidFill>
                      <a:srgbClr val="F3F4F6"/>
                    </a:solidFill>
                  </a:tcPr>
                </a:tc>
                <a:tc>
                  <a:txBody>
                    <a:bodyPr/>
                    <a:lstStyle/>
                    <a:p>
                      <a:r>
                        <a:rPr sz="1400" b="0">
                          <a:solidFill>
                            <a:srgbClr val="1F2937"/>
                          </a:solidFill>
                          <a:latin typeface="Calibri"/>
                        </a:rPr>
                        <a:t>Template expansion</a:t>
                      </a:r>
                    </a:p>
                  </a:txBody>
                  <a:tcPr>
                    <a:solidFill>
                      <a:srgbClr val="F3F4F6"/>
                    </a:solidFill>
                  </a:tcPr>
                </a:tc>
                <a:tc>
                  <a:txBody>
                    <a:bodyPr/>
                    <a:lstStyle/>
                    <a:p>
                      <a:r>
                        <a:rPr sz="1400" b="0">
                          <a:solidFill>
                            <a:srgbClr val="1F2937"/>
                          </a:solidFill>
                          <a:latin typeface="Calibri"/>
                        </a:rPr>
                        <a:t>Structuring code review requests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MCP Primitive Comparison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Transport Layers and Execution Isolation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Stdio transport launches servers as child processes communicating over standard streams.</a:t>
            </a:r>
          </a:p>
          <a:p>
            <a:pPr marL="292608" indent="-292608">
              <a:spcAft>
                <a:spcPts val="1000"/>
              </a:spcAft>
              <a:buClr>
                <a:srgbClr val="0F766E"/>
              </a:buClr>
              <a:buFont typeface="Arial"/>
              <a:buChar char="▪"/>
            </a:pPr>
            <a:r>
              <a:rPr sz="2400">
                <a:solidFill>
                  <a:srgbClr val="1F2937"/>
                </a:solidFill>
                <a:latin typeface="Calibri"/>
              </a:rPr>
              <a:t>Server-Sent Events (SSE) transport enables remote server communication over HTTP.</a:t>
            </a:r>
          </a:p>
          <a:p>
            <a:pPr marL="292608" indent="-292608">
              <a:spcAft>
                <a:spcPts val="1000"/>
              </a:spcAft>
              <a:buClr>
                <a:srgbClr val="0F766E"/>
              </a:buClr>
              <a:buFont typeface="Arial"/>
              <a:buChar char="▪"/>
            </a:pPr>
            <a:r>
              <a:rPr sz="2400">
                <a:solidFill>
                  <a:srgbClr val="1F2937"/>
                </a:solidFill>
                <a:latin typeface="Calibri"/>
              </a:rPr>
              <a:t>Local stdio isolates execution within user permissions and environment boundaries.</a:t>
            </a:r>
          </a:p>
          <a:p>
            <a:pPr marL="292608" indent="-292608">
              <a:spcAft>
                <a:spcPts val="1000"/>
              </a:spcAft>
              <a:buClr>
                <a:srgbClr val="0F766E"/>
              </a:buClr>
              <a:buFont typeface="Arial"/>
              <a:buChar char="▪"/>
            </a:pPr>
            <a:r>
              <a:rPr sz="2400">
                <a:solidFill>
                  <a:srgbClr val="1F2937"/>
                </a:solidFill>
                <a:latin typeface="Calibri"/>
              </a:rPr>
              <a:t>Workspace configuration must explicitly state transport endpoints and authorization headers when using 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Concept Check: MCP Configuration Schema</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400" b="1">
                <a:solidFill>
                  <a:srgbClr val="1F2937"/>
                </a:solidFill>
                <a:latin typeface="Calibri"/>
              </a:rPr>
              <a:t>In a developer workspace template, which JSON structure correctly defines a local stdio MCP server named 'git-helper'?</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{"mcpServers": {"git-helper": {"command": "npx", "args": ["-y", "@mcp/git"]}}}</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{"tools": [{"name": "git-helper", "exec": "npx -y @mcp/git"}]}</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{"mcp-client": {"servers": ["git-helper": "npx -y @mcp/git"]}}</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{"servers": {"git-helper": {"path": "npx", "params": ["-y", "@mcp/git"]}}}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Query Tuning and Context Workflows in MCP</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 context quality depends directly on precise query tuning and resource filtering.</a:t>
            </a:r>
          </a:p>
          <a:p>
            <a:pPr marL="292608" indent="-292608">
              <a:spcAft>
                <a:spcPts val="1000"/>
              </a:spcAft>
              <a:buClr>
                <a:srgbClr val="0F766E"/>
              </a:buClr>
              <a:buFont typeface="Arial"/>
              <a:buChar char="▪"/>
            </a:pPr>
            <a:r>
              <a:rPr sz="2400">
                <a:solidFill>
                  <a:srgbClr val="1F2937"/>
                </a:solidFill>
                <a:latin typeface="Calibri"/>
              </a:rPr>
              <a:t>MCP frameworks tune queries by dynamically selecting relevant context primitives.</a:t>
            </a:r>
          </a:p>
          <a:p>
            <a:pPr marL="292608" indent="-292608">
              <a:spcAft>
                <a:spcPts val="1000"/>
              </a:spcAft>
              <a:buClr>
                <a:srgbClr val="0F766E"/>
              </a:buClr>
              <a:buFont typeface="Arial"/>
              <a:buChar char="▪"/>
            </a:pPr>
            <a:r>
              <a:rPr sz="2400">
                <a:solidFill>
                  <a:srgbClr val="1F2937"/>
                </a:solidFill>
                <a:latin typeface="Calibri"/>
              </a:rPr>
              <a:t>Reduces context window bloating by requesting targeted snippets instead of full repositories.</a:t>
            </a:r>
          </a:p>
          <a:p>
            <a:pPr marL="292608" indent="-292608">
              <a:spcAft>
                <a:spcPts val="1000"/>
              </a:spcAft>
              <a:buClr>
                <a:srgbClr val="0F766E"/>
              </a:buClr>
              <a:buFont typeface="Arial"/>
              <a:buChar char="▪"/>
            </a:pPr>
            <a:r>
              <a:rPr sz="2400">
                <a:solidFill>
                  <a:srgbClr val="1F2937"/>
                </a:solidFill>
                <a:latin typeface="Calibri"/>
              </a:rPr>
              <a:t>Improves AI response accuracy and execution efficiency in complex coding tasks.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Identifying and Debugging Configuration Schema Issues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Syntax errors: Missing quotes, trailing commas, or invalid JSON format.</a:t>
            </a:r>
          </a:p>
          <a:p>
            <a:pPr marL="292608" indent="-292608">
              <a:spcAft>
                <a:spcPts val="1000"/>
              </a:spcAft>
              <a:buClr>
                <a:srgbClr val="0F766E"/>
              </a:buClr>
              <a:buFont typeface="Arial"/>
              <a:buChar char="▪"/>
            </a:pPr>
            <a:r>
              <a:rPr sz="2400">
                <a:solidFill>
                  <a:srgbClr val="1F2937"/>
                </a:solidFill>
                <a:latin typeface="Calibri"/>
              </a:rPr>
              <a:t>Schema mismatch: Incorrect top-level key (e.g., servers instead of mcpServers).</a:t>
            </a:r>
          </a:p>
          <a:p>
            <a:pPr marL="292608" indent="-292608">
              <a:spcAft>
                <a:spcPts val="1000"/>
              </a:spcAft>
              <a:buClr>
                <a:srgbClr val="0F766E"/>
              </a:buClr>
              <a:buFont typeface="Arial"/>
              <a:buChar char="▪"/>
            </a:pPr>
            <a:r>
              <a:rPr sz="2400">
                <a:solidFill>
                  <a:srgbClr val="1F2937"/>
                </a:solidFill>
                <a:latin typeface="Calibri"/>
              </a:rPr>
              <a:t>Path issues: Relative executable paths failing when run from different working directories.</a:t>
            </a:r>
          </a:p>
          <a:p>
            <a:pPr marL="292608" indent="-292608">
              <a:spcAft>
                <a:spcPts val="1000"/>
              </a:spcAft>
              <a:buClr>
                <a:srgbClr val="0F766E"/>
              </a:buClr>
              <a:buFont typeface="Arial"/>
              <a:buChar char="▪"/>
            </a:pPr>
            <a:r>
              <a:rPr sz="2400">
                <a:solidFill>
                  <a:srgbClr val="1F2937"/>
                </a:solidFill>
                <a:latin typeface="Calibri"/>
              </a:rPr>
              <a:t>Environment missing: Omitted authorization tokens or missing required environment variables.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Summary: Model Context Protocols and Workspace Setup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MCP standardizes client-server context exchange between AI agents and developer tools.</a:t>
            </a:r>
          </a:p>
          <a:p>
            <a:pPr marL="292608" indent="-292608">
              <a:spcAft>
                <a:spcPts val="1000"/>
              </a:spcAft>
              <a:buClr>
                <a:srgbClr val="0F766E"/>
              </a:buClr>
              <a:buFont typeface="Arial"/>
              <a:buChar char="▪"/>
            </a:pPr>
            <a:r>
              <a:rPr sz="2400">
                <a:solidFill>
                  <a:srgbClr val="1F2937"/>
                </a:solidFill>
                <a:latin typeface="Calibri"/>
              </a:rPr>
              <a:t>Workspace configuration requires an mcpServers object with command, args, and env fields.</a:t>
            </a:r>
          </a:p>
          <a:p>
            <a:pPr marL="292608" indent="-292608">
              <a:spcAft>
                <a:spcPts val="1000"/>
              </a:spcAft>
              <a:buClr>
                <a:srgbClr val="0F766E"/>
              </a:buClr>
              <a:buFont typeface="Arial"/>
              <a:buChar char="▪"/>
            </a:pPr>
            <a:r>
              <a:rPr sz="2400">
                <a:solidFill>
                  <a:srgbClr val="1F2937"/>
                </a:solidFill>
                <a:latin typeface="Calibri"/>
              </a:rPr>
              <a:t>Capabilities are partitioned into Resources (data), Tools (actions), and Prompts (templates).</a:t>
            </a:r>
          </a:p>
          <a:p>
            <a:pPr marL="292608" indent="-292608">
              <a:spcAft>
                <a:spcPts val="1000"/>
              </a:spcAft>
              <a:buClr>
                <a:srgbClr val="0F766E"/>
              </a:buClr>
              <a:buFont typeface="Arial"/>
              <a:buChar char="▪"/>
            </a:pPr>
            <a:r>
              <a:rPr sz="2400">
                <a:solidFill>
                  <a:srgbClr val="1F2937"/>
                </a:solidFill>
                <a:latin typeface="Calibri"/>
              </a:rPr>
              <a:t>Handshake and initialization follow JSON-RPC 2.0 protocol specifications over stdio or SSE.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Query Tuning Framework Using the Model Context Protocol for Workflows (2026). https://doi.org/10.2139/ssrn.6172059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