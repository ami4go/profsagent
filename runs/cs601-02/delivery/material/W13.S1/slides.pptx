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AI-native pipelines include model serving, data preprocessing, and inference services. Traditional deployment metrics (CPU, memory) don't capture model drift, prediction latency distributions, or cascade failures. This lecture teaches how to evaluate deployment and reliability metrics for multi-component AI systems, using live scenario walkthroughs.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 metrics must be collected per component and aggregated. Latency percentiles reveal tail latency issues. Throughput indicates capacity. Error rates categorized by HTTP codes, model errors, timeouts. Rollback frequency shows deployment stability. Resource saturation (CPU, GPU, memory) predicts failures.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Reliability metrics quantify system health over time. MTBF and MTTR are classic. SLOs translate business requirements into measurable targets (e.g., 99.9% requests &lt;200ms). Error budgets allow balancing feature velocity vs reliability. These metrics guide automated deployment decisions.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multi-component AI project may include data pipelines, feature stores, model servers, and business logic services. Dependency mapping reveals cascading failure risks. Contract tests ensure compatibility. Distributed tracing (e.g., OpenTelemetry) provides latency breakdowns. This slide sets up the scenario walkthroughs.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walkthrough: The evaluator provides a scenario. We demonstrate evaluating deployment metrics for a 3-service order system (API gateway, order service, payment service). We examine dashboards, find payment service p99 latency spike due to downstream database contention. Correlate with deployment event. Show how error budget burn triggers automated rollback. This demonstrates the evaluation skill.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scenario: an AI model serving pipeline with preprocessing, inference, and postprocessing. Metrics show prediction latency SLO breach and data drift alerts. We trace a request, find preprocessing step taking 600ms due to inefficient tokenization. Demonstrate horizontal scaling of preprocessing workers and model batching. Show how drift detection integrates with deployment pipeline.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Observability stack is essential for metric evaluation. Prometheus pulls metrics from exporters. Grafana visualizes. OpenTelemetry provides vendor-neutral tracing. Logs complement metrics. Alerting rules encode SLOs. This stack enables the live evaluation demonstrated in scenarios.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evaluation pipelines continuously validate deployments. Canary analysis compares new version metrics against baseline. Automated rollback protects users. Chaos engineering injects failures to test resilience. Synthetic transactions monitor critical paths. Feedback loop informs developers. This closes the reliability loop.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C3, complexity backpressure occurs when AI coding agents produce increasingly complex code under tight deadlines, leading to higher failure rates. Tracking code complexity metrics in CI/CD provides early warning. Automated refactoring or human review can relieve pressure. This connects to reliability metric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work on their development machines. They instrument a sample project (e.g., a simple AI pipeline with model serving and preprocessing). They deploy locally, generate load, and use Grafana dashboards to evaluate deployment and reliability metrics against predefined SLOs. They document findings and propose improvements. This activity directly practices CO4.LO3.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check assesses understanding of deployment vs offline metrics. The most tempting wrong answer is CPU utilization because it's commonly monitored but doesn't capture tail latency.</a:t>
            </a:r>
          </a:p>
          <a:p/>
          <a:p>
            <a:r>
              <a:t>Answer: B. Prediction latency p99</a:t>
            </a:r>
          </a:p>
          <a:p>
            <a:r>
              <a:t>Prediction latency p99 directly reflects user-facing performance. CPU utilization is a resource metric but doesn't guarantee latency SLOs. Model parameters and training loss are offline metrics, not deployment metrics.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check tests knowledge of error budget policies and automated remediation. The tempting wrong answer is pausing and alerting, which is manual and slower than automated rollback.</a:t>
            </a:r>
          </a:p>
          <a:p/>
          <a:p>
            <a:r>
              <a:t>Answer: C. Rollback canary to previous version</a:t>
            </a:r>
          </a:p>
          <a:p>
            <a:r>
              <a:t>A burn rate &gt;10x indicates rapid error budget consumption. Automated rollback protects users. Pausing and alerting is slower. Increasing traffic worsens impact. Ignoring violates SLO commitments.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lecture: We covered core deployment and reliability metrics, how to evaluate them for multi-component AI-native systems, and walked through two live scenarios. We introduced the observability stack and automated evaluation pipelines. The hands-on activity gave practical experience. These skills are assessed in the endsem exam.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Deployment and reliability metric evaluation</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13 · Reliable AI-Native Pipelines and Deployment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Evaluate deployment and reliability metrics for a supplied multi-component software project, demonstrating live, with 2 scenario walkthroughs chosen by the evaluator (CO4.LO3)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Why Deployment Metrics Matter for AI-Native Pipelines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AI components add non-determinism</a:t>
            </a:r>
          </a:p>
          <a:p>
            <a:pPr marL="292608" indent="-292608">
              <a:spcAft>
                <a:spcPts val="1000"/>
              </a:spcAft>
              <a:buClr>
                <a:srgbClr val="0F766E"/>
              </a:buClr>
              <a:buFont typeface="Arial"/>
              <a:buChar char="▪"/>
            </a:pPr>
            <a:r>
              <a:rPr sz="2400">
                <a:solidFill>
                  <a:srgbClr val="1F2937"/>
                </a:solidFill>
                <a:latin typeface="Calibri"/>
              </a:rPr>
              <a:t>Traditional metrics insufficient</a:t>
            </a:r>
          </a:p>
          <a:p>
            <a:pPr marL="292608" indent="-292608">
              <a:spcAft>
                <a:spcPts val="1000"/>
              </a:spcAft>
              <a:buClr>
                <a:srgbClr val="0F766E"/>
              </a:buClr>
              <a:buFont typeface="Arial"/>
              <a:buChar char="▪"/>
            </a:pPr>
            <a:r>
              <a:rPr sz="2400">
                <a:solidFill>
                  <a:srgbClr val="1F2937"/>
                </a:solidFill>
                <a:latin typeface="Calibri"/>
              </a:rPr>
              <a:t>Need end-to-end reliability view</a:t>
            </a:r>
          </a:p>
          <a:p>
            <a:pPr marL="292608" indent="-292608">
              <a:spcAft>
                <a:spcPts val="1000"/>
              </a:spcAft>
              <a:buClr>
                <a:srgbClr val="0F766E"/>
              </a:buClr>
              <a:buFont typeface="Arial"/>
              <a:buChar char="▪"/>
            </a:pPr>
            <a:r>
              <a:rPr sz="2400">
                <a:solidFill>
                  <a:srgbClr val="1F2937"/>
                </a:solidFill>
                <a:latin typeface="Calibri"/>
              </a:rPr>
              <a:t>Metrics drive automated remediation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Core Deployment Metrics for Multi-Component Systems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   ·   Sources: [C3]</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Latency percentiles (p50, p95, p99)</a:t>
            </a:r>
          </a:p>
          <a:p>
            <a:pPr marL="292608" indent="-292608">
              <a:spcAft>
                <a:spcPts val="1000"/>
              </a:spcAft>
              <a:buClr>
                <a:srgbClr val="0F766E"/>
              </a:buClr>
              <a:buFont typeface="Arial"/>
              <a:buChar char="▪"/>
            </a:pPr>
            <a:r>
              <a:rPr sz="2400">
                <a:solidFill>
                  <a:srgbClr val="1F2937"/>
                </a:solidFill>
                <a:latin typeface="Calibri"/>
              </a:rPr>
              <a:t>Throughput (requests/second)</a:t>
            </a:r>
          </a:p>
          <a:p>
            <a:pPr marL="292608" indent="-292608">
              <a:spcAft>
                <a:spcPts val="1000"/>
              </a:spcAft>
              <a:buClr>
                <a:srgbClr val="0F766E"/>
              </a:buClr>
              <a:buFont typeface="Arial"/>
              <a:buChar char="▪"/>
            </a:pPr>
            <a:r>
              <a:rPr sz="2400">
                <a:solidFill>
                  <a:srgbClr val="1F2937"/>
                </a:solidFill>
                <a:latin typeface="Calibri"/>
              </a:rPr>
              <a:t>Error rates by type</a:t>
            </a:r>
          </a:p>
          <a:p>
            <a:pPr marL="292608" indent="-292608">
              <a:spcAft>
                <a:spcPts val="1000"/>
              </a:spcAft>
              <a:buClr>
                <a:srgbClr val="0F766E"/>
              </a:buClr>
              <a:buFont typeface="Arial"/>
              <a:buChar char="▪"/>
            </a:pPr>
            <a:r>
              <a:rPr sz="2400">
                <a:solidFill>
                  <a:srgbClr val="1F2937"/>
                </a:solidFill>
                <a:latin typeface="Calibri"/>
              </a:rPr>
              <a:t>Rollback frequency and duration</a:t>
            </a:r>
          </a:p>
          <a:p>
            <a:pPr marL="292608" indent="-292608">
              <a:spcAft>
                <a:spcPts val="1000"/>
              </a:spcAft>
              <a:buClr>
                <a:srgbClr val="0F766E"/>
              </a:buClr>
              <a:buFont typeface="Arial"/>
              <a:buChar char="▪"/>
            </a:pPr>
            <a:r>
              <a:rPr sz="2400">
                <a:solidFill>
                  <a:srgbClr val="1F2937"/>
                </a:solidFill>
                <a:latin typeface="Calibri"/>
              </a:rPr>
              <a:t>Resource saturation indicators</a:t>
            </a:r>
          </a:p>
        </p:txBody>
      </p:sp>
      <p:graphicFrame>
        <p:nvGraphicFramePr>
          <p:cNvPr id="7" name="Table 6"/>
          <p:cNvGraphicFramePr>
            <a:graphicFrameLocks noGrp="1"/>
          </p:cNvGraphicFramePr>
          <p:nvPr/>
        </p:nvGraphicFramePr>
        <p:xfrm>
          <a:off x="6683495" y="1463040"/>
          <a:ext cx="4959560" cy="301752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Metric</a:t>
                      </a:r>
                    </a:p>
                  </a:txBody>
                  <a:tcPr>
                    <a:solidFill>
                      <a:srgbClr val="0F766E"/>
                    </a:solidFill>
                  </a:tcPr>
                </a:tc>
                <a:tc>
                  <a:txBody>
                    <a:bodyPr/>
                    <a:lstStyle/>
                    <a:p>
                      <a:r>
                        <a:rPr sz="1400" b="1">
                          <a:solidFill>
                            <a:srgbClr val="CCFBF1"/>
                          </a:solidFill>
                          <a:latin typeface="Calibri"/>
                        </a:rPr>
                        <a:t>Target</a:t>
                      </a:r>
                    </a:p>
                  </a:txBody>
                  <a:tcPr>
                    <a:solidFill>
                      <a:srgbClr val="0F766E"/>
                    </a:solidFill>
                  </a:tcPr>
                </a:tc>
                <a:tc>
                  <a:txBody>
                    <a:bodyPr/>
                    <a:lstStyle/>
                    <a:p>
                      <a:r>
                        <a:rPr sz="1400" b="1">
                          <a:solidFill>
                            <a:srgbClr val="CCFBF1"/>
                          </a:solidFill>
                          <a:latin typeface="Calibri"/>
                        </a:rPr>
                        <a:t>Collection Method</a:t>
                      </a:r>
                    </a:p>
                  </a:txBody>
                  <a:tcPr>
                    <a:solidFill>
                      <a:srgbClr val="0F766E"/>
                    </a:solidFill>
                  </a:tcPr>
                </a:tc>
              </a:tr>
              <a:tr h="502920">
                <a:tc>
                  <a:txBody>
                    <a:bodyPr/>
                    <a:lstStyle/>
                    <a:p>
                      <a:r>
                        <a:rPr sz="1400" b="0">
                          <a:solidFill>
                            <a:srgbClr val="1F2937"/>
                          </a:solidFill>
                          <a:latin typeface="Calibri"/>
                        </a:rPr>
                        <a:t>Latency p99</a:t>
                      </a:r>
                    </a:p>
                  </a:txBody>
                  <a:tcPr>
                    <a:solidFill>
                      <a:srgbClr val="F3F4F6"/>
                    </a:solidFill>
                  </a:tcPr>
                </a:tc>
                <a:tc>
                  <a:txBody>
                    <a:bodyPr/>
                    <a:lstStyle/>
                    <a:p>
                      <a:r>
                        <a:rPr sz="1400" b="0">
                          <a:solidFill>
                            <a:srgbClr val="1F2937"/>
                          </a:solidFill>
                          <a:latin typeface="Calibri"/>
                        </a:rPr>
                        <a:t>&lt;500ms</a:t>
                      </a:r>
                    </a:p>
                  </a:txBody>
                  <a:tcPr>
                    <a:solidFill>
                      <a:srgbClr val="F3F4F6"/>
                    </a:solidFill>
                  </a:tcPr>
                </a:tc>
                <a:tc>
                  <a:txBody>
                    <a:bodyPr/>
                    <a:lstStyle/>
                    <a:p>
                      <a:r>
                        <a:rPr sz="1400" b="0">
                          <a:solidFill>
                            <a:srgbClr val="1F2937"/>
                          </a:solidFill>
                          <a:latin typeface="Calibri"/>
                        </a:rPr>
                        <a:t>Prometheus histogram</a:t>
                      </a:r>
                    </a:p>
                  </a:txBody>
                  <a:tcPr>
                    <a:solidFill>
                      <a:srgbClr val="F3F4F6"/>
                    </a:solidFill>
                  </a:tcPr>
                </a:tc>
              </a:tr>
              <a:tr h="502920">
                <a:tc>
                  <a:txBody>
                    <a:bodyPr/>
                    <a:lstStyle/>
                    <a:p>
                      <a:r>
                        <a:rPr sz="1400" b="0">
                          <a:solidFill>
                            <a:srgbClr val="1F2937"/>
                          </a:solidFill>
                          <a:latin typeface="Calibri"/>
                        </a:rPr>
                        <a:t>Throughput</a:t>
                      </a:r>
                    </a:p>
                  </a:txBody>
                  <a:tcPr>
                    <a:solidFill>
                      <a:srgbClr val="F3F4F6"/>
                    </a:solidFill>
                  </a:tcPr>
                </a:tc>
                <a:tc>
                  <a:txBody>
                    <a:bodyPr/>
                    <a:lstStyle/>
                    <a:p>
                      <a:r>
                        <a:rPr sz="1400" b="0">
                          <a:solidFill>
                            <a:srgbClr val="1F2937"/>
                          </a:solidFill>
                          <a:latin typeface="Calibri"/>
                        </a:rPr>
                        <a:t>&gt;1000 req/s</a:t>
                      </a:r>
                    </a:p>
                  </a:txBody>
                  <a:tcPr>
                    <a:solidFill>
                      <a:srgbClr val="F3F4F6"/>
                    </a:solidFill>
                  </a:tcPr>
                </a:tc>
                <a:tc>
                  <a:txBody>
                    <a:bodyPr/>
                    <a:lstStyle/>
                    <a:p>
                      <a:r>
                        <a:rPr sz="1400" b="0">
                          <a:solidFill>
                            <a:srgbClr val="1F2937"/>
                          </a:solidFill>
                          <a:latin typeface="Calibri"/>
                        </a:rPr>
                        <a:t>Counter increments</a:t>
                      </a:r>
                    </a:p>
                  </a:txBody>
                  <a:tcPr>
                    <a:solidFill>
                      <a:srgbClr val="F3F4F6"/>
                    </a:solidFill>
                  </a:tcPr>
                </a:tc>
              </a:tr>
              <a:tr h="502920">
                <a:tc>
                  <a:txBody>
                    <a:bodyPr/>
                    <a:lstStyle/>
                    <a:p>
                      <a:r>
                        <a:rPr sz="1400" b="0">
                          <a:solidFill>
                            <a:srgbClr val="1F2937"/>
                          </a:solidFill>
                          <a:latin typeface="Calibri"/>
                        </a:rPr>
                        <a:t>Error rate</a:t>
                      </a:r>
                    </a:p>
                  </a:txBody>
                  <a:tcPr>
                    <a:solidFill>
                      <a:srgbClr val="F3F4F6"/>
                    </a:solidFill>
                  </a:tcPr>
                </a:tc>
                <a:tc>
                  <a:txBody>
                    <a:bodyPr/>
                    <a:lstStyle/>
                    <a:p>
                      <a:r>
                        <a:rPr sz="1400" b="0">
                          <a:solidFill>
                            <a:srgbClr val="1F2937"/>
                          </a:solidFill>
                          <a:latin typeface="Calibri"/>
                        </a:rPr>
                        <a:t>&lt;0.5%</a:t>
                      </a:r>
                    </a:p>
                  </a:txBody>
                  <a:tcPr>
                    <a:solidFill>
                      <a:srgbClr val="F3F4F6"/>
                    </a:solidFill>
                  </a:tcPr>
                </a:tc>
                <a:tc>
                  <a:txBody>
                    <a:bodyPr/>
                    <a:lstStyle/>
                    <a:p>
                      <a:r>
                        <a:rPr sz="1400" b="0">
                          <a:solidFill>
                            <a:srgbClr val="1F2937"/>
                          </a:solidFill>
                          <a:latin typeface="Calibri"/>
                        </a:rPr>
                        <a:t>Counter by type</a:t>
                      </a:r>
                    </a:p>
                  </a:txBody>
                  <a:tcPr>
                    <a:solidFill>
                      <a:srgbClr val="F3F4F6"/>
                    </a:solidFill>
                  </a:tcPr>
                </a:tc>
              </a:tr>
              <a:tr h="502920">
                <a:tc>
                  <a:txBody>
                    <a:bodyPr/>
                    <a:lstStyle/>
                    <a:p>
                      <a:r>
                        <a:rPr sz="1400" b="0">
                          <a:solidFill>
                            <a:srgbClr val="1F2937"/>
                          </a:solidFill>
                          <a:latin typeface="Calibri"/>
                        </a:rPr>
                        <a:t>Rollback frequency</a:t>
                      </a:r>
                    </a:p>
                  </a:txBody>
                  <a:tcPr>
                    <a:solidFill>
                      <a:srgbClr val="F3F4F6"/>
                    </a:solidFill>
                  </a:tcPr>
                </a:tc>
                <a:tc>
                  <a:txBody>
                    <a:bodyPr/>
                    <a:lstStyle/>
                    <a:p>
                      <a:r>
                        <a:rPr sz="1400" b="0">
                          <a:solidFill>
                            <a:srgbClr val="1F2937"/>
                          </a:solidFill>
                          <a:latin typeface="Calibri"/>
                        </a:rPr>
                        <a:t>&lt;1/week</a:t>
                      </a:r>
                    </a:p>
                  </a:txBody>
                  <a:tcPr>
                    <a:solidFill>
                      <a:srgbClr val="F3F4F6"/>
                    </a:solidFill>
                  </a:tcPr>
                </a:tc>
                <a:tc>
                  <a:txBody>
                    <a:bodyPr/>
                    <a:lstStyle/>
                    <a:p>
                      <a:r>
                        <a:rPr sz="1400" b="0">
                          <a:solidFill>
                            <a:srgbClr val="1F2937"/>
                          </a:solidFill>
                          <a:latin typeface="Calibri"/>
                        </a:rPr>
                        <a:t>Deployment logs</a:t>
                      </a:r>
                    </a:p>
                  </a:txBody>
                  <a:tcPr>
                    <a:solidFill>
                      <a:srgbClr val="F3F4F6"/>
                    </a:solidFill>
                  </a:tcPr>
                </a:tc>
              </a:tr>
              <a:tr h="502920">
                <a:tc>
                  <a:txBody>
                    <a:bodyPr/>
                    <a:lstStyle/>
                    <a:p>
                      <a:r>
                        <a:rPr sz="1400" b="0">
                          <a:solidFill>
                            <a:srgbClr val="1F2937"/>
                          </a:solidFill>
                          <a:latin typeface="Calibri"/>
                        </a:rPr>
                        <a:t>CPU saturation</a:t>
                      </a:r>
                    </a:p>
                  </a:txBody>
                  <a:tcPr>
                    <a:solidFill>
                      <a:srgbClr val="F3F4F6"/>
                    </a:solidFill>
                  </a:tcPr>
                </a:tc>
                <a:tc>
                  <a:txBody>
                    <a:bodyPr/>
                    <a:lstStyle/>
                    <a:p>
                      <a:r>
                        <a:rPr sz="1400" b="0">
                          <a:solidFill>
                            <a:srgbClr val="1F2937"/>
                          </a:solidFill>
                          <a:latin typeface="Calibri"/>
                        </a:rPr>
                        <a:t>&lt;80%</a:t>
                      </a:r>
                    </a:p>
                  </a:txBody>
                  <a:tcPr>
                    <a:solidFill>
                      <a:srgbClr val="F3F4F6"/>
                    </a:solidFill>
                  </a:tcPr>
                </a:tc>
                <a:tc>
                  <a:txBody>
                    <a:bodyPr/>
                    <a:lstStyle/>
                    <a:p>
                      <a:r>
                        <a:rPr sz="1400" b="0">
                          <a:solidFill>
                            <a:srgbClr val="1F2937"/>
                          </a:solidFill>
                          <a:latin typeface="Calibri"/>
                        </a:rPr>
                        <a:t>Node exporter</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Key deployment metrics and collection methods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Reliability Metrics: MTBF, MTTR, Availability, SLOs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   ·   Sources: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Mean Time Between Failures (MTBF)</a:t>
            </a:r>
          </a:p>
          <a:p>
            <a:pPr marL="292608" indent="-292608">
              <a:spcAft>
                <a:spcPts val="1000"/>
              </a:spcAft>
              <a:buClr>
                <a:srgbClr val="0F766E"/>
              </a:buClr>
              <a:buFont typeface="Arial"/>
              <a:buChar char="▪"/>
            </a:pPr>
            <a:r>
              <a:rPr sz="2400">
                <a:solidFill>
                  <a:srgbClr val="1F2937"/>
                </a:solidFill>
                <a:latin typeface="Calibri"/>
              </a:rPr>
              <a:t>Mean Time To Recovery (MTTR)</a:t>
            </a:r>
          </a:p>
          <a:p>
            <a:pPr marL="292608" indent="-292608">
              <a:spcAft>
                <a:spcPts val="1000"/>
              </a:spcAft>
              <a:buClr>
                <a:srgbClr val="0F766E"/>
              </a:buClr>
              <a:buFont typeface="Arial"/>
              <a:buChar char="▪"/>
            </a:pPr>
            <a:r>
              <a:rPr sz="2400">
                <a:solidFill>
                  <a:srgbClr val="1F2937"/>
                </a:solidFill>
                <a:latin typeface="Calibri"/>
              </a:rPr>
              <a:t>Availability = MTBF/(MTBF+MTTR)</a:t>
            </a:r>
          </a:p>
          <a:p>
            <a:pPr marL="292608" indent="-292608">
              <a:spcAft>
                <a:spcPts val="1000"/>
              </a:spcAft>
              <a:buClr>
                <a:srgbClr val="0F766E"/>
              </a:buClr>
              <a:buFont typeface="Arial"/>
              <a:buChar char="▪"/>
            </a:pPr>
            <a:r>
              <a:rPr sz="2400">
                <a:solidFill>
                  <a:srgbClr val="1F2937"/>
                </a:solidFill>
                <a:latin typeface="Calibri"/>
              </a:rPr>
              <a:t>Service Level Objectives (SLOs) and Indicators (SLIs)</a:t>
            </a:r>
          </a:p>
          <a:p>
            <a:pPr marL="292608" indent="-292608">
              <a:spcAft>
                <a:spcPts val="1000"/>
              </a:spcAft>
              <a:buClr>
                <a:srgbClr val="0F766E"/>
              </a:buClr>
              <a:buFont typeface="Arial"/>
              <a:buChar char="▪"/>
            </a:pPr>
            <a:r>
              <a:rPr sz="2400">
                <a:solidFill>
                  <a:srgbClr val="1F2937"/>
                </a:solidFill>
                <a:latin typeface="Calibri"/>
              </a:rPr>
              <a:t>Error budgets for release decisions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Define SLIs</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Set SLOs</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Measure</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Alert on error budget burn</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Automate rollback</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SLO-driven reliability loop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Evaluating Multi-Component Projects: Dependency Mapping</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Identify all services, models, data stores</a:t>
            </a:r>
          </a:p>
          <a:p>
            <a:pPr marL="292608" indent="-292608">
              <a:spcAft>
                <a:spcPts val="1000"/>
              </a:spcAft>
              <a:buClr>
                <a:srgbClr val="0F766E"/>
              </a:buClr>
              <a:buFont typeface="Arial"/>
              <a:buChar char="▪"/>
            </a:pPr>
            <a:r>
              <a:rPr sz="2400">
                <a:solidFill>
                  <a:srgbClr val="1F2937"/>
                </a:solidFill>
                <a:latin typeface="Calibri"/>
              </a:rPr>
              <a:t>Map synchronous vs asynchronous calls</a:t>
            </a:r>
          </a:p>
          <a:p>
            <a:pPr marL="292608" indent="-292608">
              <a:spcAft>
                <a:spcPts val="1000"/>
              </a:spcAft>
              <a:buClr>
                <a:srgbClr val="0F766E"/>
              </a:buClr>
              <a:buFont typeface="Arial"/>
              <a:buChar char="▪"/>
            </a:pPr>
            <a:r>
              <a:rPr sz="2400">
                <a:solidFill>
                  <a:srgbClr val="1F2937"/>
                </a:solidFill>
                <a:latin typeface="Calibri"/>
              </a:rPr>
              <a:t>Define contract tests for interfaces</a:t>
            </a:r>
          </a:p>
          <a:p>
            <a:pPr marL="292608" indent="-292608">
              <a:spcAft>
                <a:spcPts val="1000"/>
              </a:spcAft>
              <a:buClr>
                <a:srgbClr val="0F766E"/>
              </a:buClr>
              <a:buFont typeface="Arial"/>
              <a:buChar char="▪"/>
            </a:pPr>
            <a:r>
              <a:rPr sz="2400">
                <a:solidFill>
                  <a:srgbClr val="1F2937"/>
                </a:solidFill>
                <a:latin typeface="Calibri"/>
              </a:rPr>
              <a:t>Trace request flows across components</a:t>
            </a:r>
          </a:p>
          <a:p>
            <a:pPr marL="292608" indent="-292608">
              <a:spcAft>
                <a:spcPts val="1000"/>
              </a:spcAft>
              <a:buClr>
                <a:srgbClr val="0F766E"/>
              </a:buClr>
              <a:buFont typeface="Arial"/>
              <a:buChar char="▪"/>
            </a:pPr>
            <a:r>
              <a:rPr sz="2400">
                <a:solidFill>
                  <a:srgbClr val="1F2937"/>
                </a:solidFill>
                <a:latin typeface="Calibri"/>
              </a:rPr>
              <a:t>Detect single points of failure</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Inventory components</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Map dependencies</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Define contracts</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Instrument tracing</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Analyze failure domains</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Dependency mapping process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900" b="1">
                <a:solidFill>
                  <a:srgbClr val="1F2937"/>
                </a:solidFill>
                <a:latin typeface="Calibri"/>
              </a:rPr>
              <a:t>Scenario 1: Microservice Deployment Evaluation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   ·   Sources: [C3]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Given: 3-service order processing system</a:t>
            </a:r>
          </a:p>
          <a:p>
            <a:pPr marL="292608" indent="-292608">
              <a:spcAft>
                <a:spcPts val="1000"/>
              </a:spcAft>
              <a:buClr>
                <a:srgbClr val="0F766E"/>
              </a:buClr>
              <a:buFont typeface="Arial"/>
              <a:buChar char="▪"/>
            </a:pPr>
            <a:r>
              <a:rPr sz="2400">
                <a:solidFill>
                  <a:srgbClr val="1F2937"/>
                </a:solidFill>
                <a:latin typeface="Calibri"/>
              </a:rPr>
              <a:t>Metrics: p99 latency 800ms, error rate 2%</a:t>
            </a:r>
          </a:p>
          <a:p>
            <a:pPr marL="292608" indent="-292608">
              <a:spcAft>
                <a:spcPts val="1000"/>
              </a:spcAft>
              <a:buClr>
                <a:srgbClr val="0F766E"/>
              </a:buClr>
              <a:buFont typeface="Arial"/>
              <a:buChar char="▪"/>
            </a:pPr>
            <a:r>
              <a:rPr sz="2400">
                <a:solidFill>
                  <a:srgbClr val="1F2937"/>
                </a:solidFill>
                <a:latin typeface="Calibri"/>
              </a:rPr>
              <a:t>SLO: p99 &lt;500ms, error rate &lt;0.5%</a:t>
            </a:r>
          </a:p>
          <a:p>
            <a:pPr marL="292608" indent="-292608">
              <a:spcAft>
                <a:spcPts val="1000"/>
              </a:spcAft>
              <a:buClr>
                <a:srgbClr val="0F766E"/>
              </a:buClr>
              <a:buFont typeface="Arial"/>
              <a:buChar char="▪"/>
            </a:pPr>
            <a:r>
              <a:rPr sz="2400">
                <a:solidFill>
                  <a:srgbClr val="1F2937"/>
                </a:solidFill>
                <a:latin typeface="Calibri"/>
              </a:rPr>
              <a:t>Walkthrough: identify bottleneck, correlate logs, propose fix</a:t>
            </a:r>
          </a:p>
          <a:p>
            <a:pPr marL="292608" indent="-292608">
              <a:spcAft>
                <a:spcPts val="1000"/>
              </a:spcAft>
              <a:buClr>
                <a:srgbClr val="0F766E"/>
              </a:buClr>
              <a:buFont typeface="Arial"/>
              <a:buChar char="▪"/>
            </a:pPr>
            <a:r>
              <a:rPr sz="2400">
                <a:solidFill>
                  <a:srgbClr val="1F2937"/>
                </a:solidFill>
                <a:latin typeface="Calibri"/>
              </a:rPr>
              <a:t>Outcome: error budget exhausted, rollback triggered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Scenario 2: AI Model Serving Pipeline Evaluation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   ·   Sources: [C1] [C5]</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Given: Model serving with pre/post processing</a:t>
            </a:r>
          </a:p>
          <a:p>
            <a:pPr marL="292608" indent="-292608">
              <a:spcAft>
                <a:spcPts val="1000"/>
              </a:spcAft>
              <a:buClr>
                <a:srgbClr val="0F766E"/>
              </a:buClr>
              <a:buFont typeface="Arial"/>
              <a:buChar char="▪"/>
            </a:pPr>
            <a:r>
              <a:rPr sz="2400">
                <a:solidFill>
                  <a:srgbClr val="1F2937"/>
                </a:solidFill>
                <a:latin typeface="Calibri"/>
              </a:rPr>
              <a:t>Metrics: prediction latency p99 1.2s, drift detection alerts</a:t>
            </a:r>
          </a:p>
          <a:p>
            <a:pPr marL="292608" indent="-292608">
              <a:spcAft>
                <a:spcPts val="1000"/>
              </a:spcAft>
              <a:buClr>
                <a:srgbClr val="0F766E"/>
              </a:buClr>
              <a:buFont typeface="Arial"/>
              <a:buChar char="▪"/>
            </a:pPr>
            <a:r>
              <a:rPr sz="2400">
                <a:solidFill>
                  <a:srgbClr val="1F2937"/>
                </a:solidFill>
                <a:latin typeface="Calibri"/>
              </a:rPr>
              <a:t>SLO: p99 &lt;800ms, drift score &lt;0.1</a:t>
            </a:r>
          </a:p>
          <a:p>
            <a:pPr marL="292608" indent="-292608">
              <a:spcAft>
                <a:spcPts val="1000"/>
              </a:spcAft>
              <a:buClr>
                <a:srgbClr val="0F766E"/>
              </a:buClr>
              <a:buFont typeface="Arial"/>
              <a:buChar char="▪"/>
            </a:pPr>
            <a:r>
              <a:rPr sz="2400">
                <a:solidFill>
                  <a:srgbClr val="1F2937"/>
                </a:solidFill>
                <a:latin typeface="Calibri"/>
              </a:rPr>
              <a:t>Walkthrough: trace through preprocess, inference, postprocess</a:t>
            </a:r>
          </a:p>
          <a:p>
            <a:pPr marL="292608" indent="-292608">
              <a:spcAft>
                <a:spcPts val="1000"/>
              </a:spcAft>
              <a:buClr>
                <a:srgbClr val="0F766E"/>
              </a:buClr>
              <a:buFont typeface="Arial"/>
              <a:buChar char="▪"/>
            </a:pPr>
            <a:r>
              <a:rPr sz="2400">
                <a:solidFill>
                  <a:srgbClr val="1F2937"/>
                </a:solidFill>
                <a:latin typeface="Calibri"/>
              </a:rPr>
              <a:t>Outcome: identify preprocessing bottleneck, scale horizontally</a:t>
            </a:r>
          </a:p>
        </p:txBody>
      </p:sp>
      <p:sp>
        <p:nvSpPr>
          <p:cNvPr id="8" name="Rounded Rectangle 7"/>
          <p:cNvSpPr/>
          <p:nvPr/>
        </p:nvSpPr>
        <p:spPr>
          <a:xfrm>
            <a:off x="6683495" y="146304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Request received</a:t>
            </a:r>
          </a:p>
        </p:txBody>
      </p:sp>
      <p:sp>
        <p:nvSpPr>
          <p:cNvPr id="9" name="Down Arrow 8"/>
          <p:cNvSpPr/>
          <p:nvPr/>
        </p:nvSpPr>
        <p:spPr>
          <a:xfrm>
            <a:off x="9026115" y="194767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24028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Preprocess</a:t>
            </a:r>
          </a:p>
        </p:txBody>
      </p:sp>
      <p:sp>
        <p:nvSpPr>
          <p:cNvPr id="11" name="Down Arrow 10"/>
          <p:cNvSpPr/>
          <p:nvPr/>
        </p:nvSpPr>
        <p:spPr>
          <a:xfrm>
            <a:off x="9026115" y="27249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01752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Inference</a:t>
            </a:r>
          </a:p>
        </p:txBody>
      </p:sp>
      <p:sp>
        <p:nvSpPr>
          <p:cNvPr id="13" name="Down Arrow 12"/>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379476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Postprocess</a:t>
            </a:r>
          </a:p>
        </p:txBody>
      </p:sp>
      <p:sp>
        <p:nvSpPr>
          <p:cNvPr id="15" name="Down Arrow 14"/>
          <p:cNvSpPr/>
          <p:nvPr/>
        </p:nvSpPr>
        <p:spPr>
          <a:xfrm>
            <a:off x="9026115" y="42793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83495" y="457200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Response sent</a:t>
            </a:r>
          </a:p>
        </p:txBody>
      </p:sp>
      <p:sp>
        <p:nvSpPr>
          <p:cNvPr id="17" name="Down Arrow 16"/>
          <p:cNvSpPr/>
          <p:nvPr/>
        </p:nvSpPr>
        <p:spPr>
          <a:xfrm>
            <a:off x="9026115" y="505663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683495" y="534924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Drift check</a:t>
            </a:r>
          </a:p>
        </p:txBody>
      </p:sp>
      <p:sp>
        <p:nvSpPr>
          <p:cNvPr id="19" name="TextBox 18"/>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Model serving request flow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Metric Collection and Observability Stack</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Prometheus for metric scraping</a:t>
            </a:r>
          </a:p>
          <a:p>
            <a:pPr marL="292608" indent="-292608">
              <a:spcAft>
                <a:spcPts val="1000"/>
              </a:spcAft>
              <a:buClr>
                <a:srgbClr val="0F766E"/>
              </a:buClr>
              <a:buFont typeface="Arial"/>
              <a:buChar char="▪"/>
            </a:pPr>
            <a:r>
              <a:rPr sz="2400">
                <a:solidFill>
                  <a:srgbClr val="1F2937"/>
                </a:solidFill>
                <a:latin typeface="Calibri"/>
              </a:rPr>
              <a:t>Grafana for dashboards</a:t>
            </a:r>
          </a:p>
          <a:p>
            <a:pPr marL="292608" indent="-292608">
              <a:spcAft>
                <a:spcPts val="1000"/>
              </a:spcAft>
              <a:buClr>
                <a:srgbClr val="0F766E"/>
              </a:buClr>
              <a:buFont typeface="Arial"/>
              <a:buChar char="▪"/>
            </a:pPr>
            <a:r>
              <a:rPr sz="2400">
                <a:solidFill>
                  <a:srgbClr val="1F2937"/>
                </a:solidFill>
                <a:latin typeface="Calibri"/>
              </a:rPr>
              <a:t>OpenTelemetry for distributed tracing</a:t>
            </a:r>
          </a:p>
          <a:p>
            <a:pPr marL="292608" indent="-292608">
              <a:spcAft>
                <a:spcPts val="1000"/>
              </a:spcAft>
              <a:buClr>
                <a:srgbClr val="0F766E"/>
              </a:buClr>
              <a:buFont typeface="Arial"/>
              <a:buChar char="▪"/>
            </a:pPr>
            <a:r>
              <a:rPr sz="2400">
                <a:solidFill>
                  <a:srgbClr val="1F2937"/>
                </a:solidFill>
                <a:latin typeface="Calibri"/>
              </a:rPr>
              <a:t>Log aggregation (Loki, ELK)</a:t>
            </a:r>
          </a:p>
          <a:p>
            <a:pPr marL="292608" indent="-292608">
              <a:spcAft>
                <a:spcPts val="1000"/>
              </a:spcAft>
              <a:buClr>
                <a:srgbClr val="0F766E"/>
              </a:buClr>
              <a:buFont typeface="Arial"/>
              <a:buChar char="▪"/>
            </a:pPr>
            <a:r>
              <a:rPr sz="2400">
                <a:solidFill>
                  <a:srgbClr val="1F2937"/>
                </a:solidFill>
                <a:latin typeface="Calibri"/>
              </a:rPr>
              <a:t>Alerting rules and notification channels</a:t>
            </a:r>
          </a:p>
        </p:txBody>
      </p:sp>
      <p:graphicFrame>
        <p:nvGraphicFramePr>
          <p:cNvPr id="7" name="Table 6"/>
          <p:cNvGraphicFramePr>
            <a:graphicFrameLocks noGrp="1"/>
          </p:cNvGraphicFramePr>
          <p:nvPr/>
        </p:nvGraphicFramePr>
        <p:xfrm>
          <a:off x="6683495" y="1463040"/>
          <a:ext cx="4959560" cy="301752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Tool</a:t>
                      </a:r>
                    </a:p>
                  </a:txBody>
                  <a:tcPr>
                    <a:solidFill>
                      <a:srgbClr val="0F766E"/>
                    </a:solidFill>
                  </a:tcPr>
                </a:tc>
                <a:tc>
                  <a:txBody>
                    <a:bodyPr/>
                    <a:lstStyle/>
                    <a:p>
                      <a:r>
                        <a:rPr sz="1400" b="1">
                          <a:solidFill>
                            <a:srgbClr val="CCFBF1"/>
                          </a:solidFill>
                          <a:latin typeface="Calibri"/>
                        </a:rPr>
                        <a:t>Purpose</a:t>
                      </a:r>
                    </a:p>
                  </a:txBody>
                  <a:tcPr>
                    <a:solidFill>
                      <a:srgbClr val="0F766E"/>
                    </a:solidFill>
                  </a:tcPr>
                </a:tc>
                <a:tc>
                  <a:txBody>
                    <a:bodyPr/>
                    <a:lstStyle/>
                    <a:p>
                      <a:r>
                        <a:rPr sz="1400" b="1">
                          <a:solidFill>
                            <a:srgbClr val="CCFBF1"/>
                          </a:solidFill>
                          <a:latin typeface="Calibri"/>
                        </a:rPr>
                        <a:t>Integration</a:t>
                      </a:r>
                    </a:p>
                  </a:txBody>
                  <a:tcPr>
                    <a:solidFill>
                      <a:srgbClr val="0F766E"/>
                    </a:solidFill>
                  </a:tcPr>
                </a:tc>
              </a:tr>
              <a:tr h="502920">
                <a:tc>
                  <a:txBody>
                    <a:bodyPr/>
                    <a:lstStyle/>
                    <a:p>
                      <a:r>
                        <a:rPr sz="1400" b="0">
                          <a:solidFill>
                            <a:srgbClr val="1F2937"/>
                          </a:solidFill>
                          <a:latin typeface="Calibri"/>
                        </a:rPr>
                        <a:t>Prometheus</a:t>
                      </a:r>
                    </a:p>
                  </a:txBody>
                  <a:tcPr>
                    <a:solidFill>
                      <a:srgbClr val="F3F4F6"/>
                    </a:solidFill>
                  </a:tcPr>
                </a:tc>
                <a:tc>
                  <a:txBody>
                    <a:bodyPr/>
                    <a:lstStyle/>
                    <a:p>
                      <a:r>
                        <a:rPr sz="1400" b="0">
                          <a:solidFill>
                            <a:srgbClr val="1F2937"/>
                          </a:solidFill>
                          <a:latin typeface="Calibri"/>
                        </a:rPr>
                        <a:t>Metric collection</a:t>
                      </a:r>
                    </a:p>
                  </a:txBody>
                  <a:tcPr>
                    <a:solidFill>
                      <a:srgbClr val="F3F4F6"/>
                    </a:solidFill>
                  </a:tcPr>
                </a:tc>
                <a:tc>
                  <a:txBody>
                    <a:bodyPr/>
                    <a:lstStyle/>
                    <a:p>
                      <a:r>
                        <a:rPr sz="1400" b="0">
                          <a:solidFill>
                            <a:srgbClr val="1F2937"/>
                          </a:solidFill>
                          <a:latin typeface="Calibri"/>
                        </a:rPr>
                        <a:t>Service exporters</a:t>
                      </a:r>
                    </a:p>
                  </a:txBody>
                  <a:tcPr>
                    <a:solidFill>
                      <a:srgbClr val="F3F4F6"/>
                    </a:solidFill>
                  </a:tcPr>
                </a:tc>
              </a:tr>
              <a:tr h="502920">
                <a:tc>
                  <a:txBody>
                    <a:bodyPr/>
                    <a:lstStyle/>
                    <a:p>
                      <a:r>
                        <a:rPr sz="1400" b="0">
                          <a:solidFill>
                            <a:srgbClr val="1F2937"/>
                          </a:solidFill>
                          <a:latin typeface="Calibri"/>
                        </a:rPr>
                        <a:t>Grafana</a:t>
                      </a:r>
                    </a:p>
                  </a:txBody>
                  <a:tcPr>
                    <a:solidFill>
                      <a:srgbClr val="F3F4F6"/>
                    </a:solidFill>
                  </a:tcPr>
                </a:tc>
                <a:tc>
                  <a:txBody>
                    <a:bodyPr/>
                    <a:lstStyle/>
                    <a:p>
                      <a:r>
                        <a:rPr sz="1400" b="0">
                          <a:solidFill>
                            <a:srgbClr val="1F2937"/>
                          </a:solidFill>
                          <a:latin typeface="Calibri"/>
                        </a:rPr>
                        <a:t>Visualization</a:t>
                      </a:r>
                    </a:p>
                  </a:txBody>
                  <a:tcPr>
                    <a:solidFill>
                      <a:srgbClr val="F3F4F6"/>
                    </a:solidFill>
                  </a:tcPr>
                </a:tc>
                <a:tc>
                  <a:txBody>
                    <a:bodyPr/>
                    <a:lstStyle/>
                    <a:p>
                      <a:r>
                        <a:rPr sz="1400" b="0">
                          <a:solidFill>
                            <a:srgbClr val="1F2937"/>
                          </a:solidFill>
                          <a:latin typeface="Calibri"/>
                        </a:rPr>
                        <a:t>Prometheus datasource</a:t>
                      </a:r>
                    </a:p>
                  </a:txBody>
                  <a:tcPr>
                    <a:solidFill>
                      <a:srgbClr val="F3F4F6"/>
                    </a:solidFill>
                  </a:tcPr>
                </a:tc>
              </a:tr>
              <a:tr h="502920">
                <a:tc>
                  <a:txBody>
                    <a:bodyPr/>
                    <a:lstStyle/>
                    <a:p>
                      <a:r>
                        <a:rPr sz="1400" b="0">
                          <a:solidFill>
                            <a:srgbClr val="1F2937"/>
                          </a:solidFill>
                          <a:latin typeface="Calibri"/>
                        </a:rPr>
                        <a:t>OpenTelemetry</a:t>
                      </a:r>
                    </a:p>
                  </a:txBody>
                  <a:tcPr>
                    <a:solidFill>
                      <a:srgbClr val="F3F4F6"/>
                    </a:solidFill>
                  </a:tcPr>
                </a:tc>
                <a:tc>
                  <a:txBody>
                    <a:bodyPr/>
                    <a:lstStyle/>
                    <a:p>
                      <a:r>
                        <a:rPr sz="1400" b="0">
                          <a:solidFill>
                            <a:srgbClr val="1F2937"/>
                          </a:solidFill>
                          <a:latin typeface="Calibri"/>
                        </a:rPr>
                        <a:t>Distributed tracing</a:t>
                      </a:r>
                    </a:p>
                  </a:txBody>
                  <a:tcPr>
                    <a:solidFill>
                      <a:srgbClr val="F3F4F6"/>
                    </a:solidFill>
                  </a:tcPr>
                </a:tc>
                <a:tc>
                  <a:txBody>
                    <a:bodyPr/>
                    <a:lstStyle/>
                    <a:p>
                      <a:r>
                        <a:rPr sz="1400" b="0">
                          <a:solidFill>
                            <a:srgbClr val="1F2937"/>
                          </a:solidFill>
                          <a:latin typeface="Calibri"/>
                        </a:rPr>
                        <a:t>Auto-instrumentation</a:t>
                      </a:r>
                    </a:p>
                  </a:txBody>
                  <a:tcPr>
                    <a:solidFill>
                      <a:srgbClr val="F3F4F6"/>
                    </a:solidFill>
                  </a:tcPr>
                </a:tc>
              </a:tr>
              <a:tr h="502920">
                <a:tc>
                  <a:txBody>
                    <a:bodyPr/>
                    <a:lstStyle/>
                    <a:p>
                      <a:r>
                        <a:rPr sz="1400" b="0">
                          <a:solidFill>
                            <a:srgbClr val="1F2937"/>
                          </a:solidFill>
                          <a:latin typeface="Calibri"/>
                        </a:rPr>
                        <a:t>Loki</a:t>
                      </a:r>
                    </a:p>
                  </a:txBody>
                  <a:tcPr>
                    <a:solidFill>
                      <a:srgbClr val="F3F4F6"/>
                    </a:solidFill>
                  </a:tcPr>
                </a:tc>
                <a:tc>
                  <a:txBody>
                    <a:bodyPr/>
                    <a:lstStyle/>
                    <a:p>
                      <a:r>
                        <a:rPr sz="1400" b="0">
                          <a:solidFill>
                            <a:srgbClr val="1F2937"/>
                          </a:solidFill>
                          <a:latin typeface="Calibri"/>
                        </a:rPr>
                        <a:t>Log aggregation</a:t>
                      </a:r>
                    </a:p>
                  </a:txBody>
                  <a:tcPr>
                    <a:solidFill>
                      <a:srgbClr val="F3F4F6"/>
                    </a:solidFill>
                  </a:tcPr>
                </a:tc>
                <a:tc>
                  <a:txBody>
                    <a:bodyPr/>
                    <a:lstStyle/>
                    <a:p>
                      <a:r>
                        <a:rPr sz="1400" b="0">
                          <a:solidFill>
                            <a:srgbClr val="1F2937"/>
                          </a:solidFill>
                          <a:latin typeface="Calibri"/>
                        </a:rPr>
                        <a:t>Promtail agents</a:t>
                      </a:r>
                    </a:p>
                  </a:txBody>
                  <a:tcPr>
                    <a:solidFill>
                      <a:srgbClr val="F3F4F6"/>
                    </a:solidFill>
                  </a:tcPr>
                </a:tc>
              </a:tr>
              <a:tr h="502920">
                <a:tc>
                  <a:txBody>
                    <a:bodyPr/>
                    <a:lstStyle/>
                    <a:p>
                      <a:r>
                        <a:rPr sz="1400" b="0">
                          <a:solidFill>
                            <a:srgbClr val="1F2937"/>
                          </a:solidFill>
                          <a:latin typeface="Calibri"/>
                        </a:rPr>
                        <a:t>Alertmanager</a:t>
                      </a:r>
                    </a:p>
                  </a:txBody>
                  <a:tcPr>
                    <a:solidFill>
                      <a:srgbClr val="F3F4F6"/>
                    </a:solidFill>
                  </a:tcPr>
                </a:tc>
                <a:tc>
                  <a:txBody>
                    <a:bodyPr/>
                    <a:lstStyle/>
                    <a:p>
                      <a:r>
                        <a:rPr sz="1400" b="0">
                          <a:solidFill>
                            <a:srgbClr val="1F2937"/>
                          </a:solidFill>
                          <a:latin typeface="Calibri"/>
                        </a:rPr>
                        <a:t>Alert routing</a:t>
                      </a:r>
                    </a:p>
                  </a:txBody>
                  <a:tcPr>
                    <a:solidFill>
                      <a:srgbClr val="F3F4F6"/>
                    </a:solidFill>
                  </a:tcPr>
                </a:tc>
                <a:tc>
                  <a:txBody>
                    <a:bodyPr/>
                    <a:lstStyle/>
                    <a:p>
                      <a:r>
                        <a:rPr sz="1400" b="0">
                          <a:solidFill>
                            <a:srgbClr val="1F2937"/>
                          </a:solidFill>
                          <a:latin typeface="Calibri"/>
                        </a:rPr>
                        <a:t>Webhook, PagerDuty</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Observability stack components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Automated Evaluation Pipelines: Continuous Validation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   ·   Sources: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Canary analysis with metric comparison</a:t>
            </a:r>
          </a:p>
          <a:p>
            <a:pPr marL="292608" indent="-292608">
              <a:spcAft>
                <a:spcPts val="1000"/>
              </a:spcAft>
              <a:buClr>
                <a:srgbClr val="0F766E"/>
              </a:buClr>
              <a:buFont typeface="Arial"/>
              <a:buChar char="▪"/>
            </a:pPr>
            <a:r>
              <a:rPr sz="2400">
                <a:solidFill>
                  <a:srgbClr val="1F2937"/>
                </a:solidFill>
                <a:latin typeface="Calibri"/>
              </a:rPr>
              <a:t>Automated rollback on SLO breach</a:t>
            </a:r>
          </a:p>
          <a:p>
            <a:pPr marL="292608" indent="-292608">
              <a:spcAft>
                <a:spcPts val="1000"/>
              </a:spcAft>
              <a:buClr>
                <a:srgbClr val="0F766E"/>
              </a:buClr>
              <a:buFont typeface="Arial"/>
              <a:buChar char="▪"/>
            </a:pPr>
            <a:r>
              <a:rPr sz="2400">
                <a:solidFill>
                  <a:srgbClr val="1F2937"/>
                </a:solidFill>
                <a:latin typeface="Calibri"/>
              </a:rPr>
              <a:t>Chaos engineering for resilience testing</a:t>
            </a:r>
          </a:p>
          <a:p>
            <a:pPr marL="292608" indent="-292608">
              <a:spcAft>
                <a:spcPts val="1000"/>
              </a:spcAft>
              <a:buClr>
                <a:srgbClr val="0F766E"/>
              </a:buClr>
              <a:buFont typeface="Arial"/>
              <a:buChar char="▪"/>
            </a:pPr>
            <a:r>
              <a:rPr sz="2400">
                <a:solidFill>
                  <a:srgbClr val="1F2937"/>
                </a:solidFill>
                <a:latin typeface="Calibri"/>
              </a:rPr>
              <a:t>Synthetic transaction monitoring</a:t>
            </a:r>
          </a:p>
          <a:p>
            <a:pPr marL="292608" indent="-292608">
              <a:spcAft>
                <a:spcPts val="1000"/>
              </a:spcAft>
              <a:buClr>
                <a:srgbClr val="0F766E"/>
              </a:buClr>
              <a:buFont typeface="Arial"/>
              <a:buChar char="▪"/>
            </a:pPr>
            <a:r>
              <a:rPr sz="2400">
                <a:solidFill>
                  <a:srgbClr val="1F2937"/>
                </a:solidFill>
                <a:latin typeface="Calibri"/>
              </a:rPr>
              <a:t>Feedback loop to development</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Deploy canary</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Collect metrics</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Compare to baseline</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Decide promote/rollback</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Update baseline</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Canary evaluation pipeline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Complexity Backpressure and Its Impact on Reliability</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   ·   Sources: [C3]</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AI agents generate complex code under pressure</a:t>
            </a:r>
          </a:p>
          <a:p>
            <a:pPr marL="292608" indent="-292608">
              <a:spcAft>
                <a:spcPts val="1000"/>
              </a:spcAft>
              <a:buClr>
                <a:srgbClr val="0F766E"/>
              </a:buClr>
              <a:buFont typeface="Arial"/>
              <a:buChar char="▪"/>
            </a:pPr>
            <a:r>
              <a:rPr sz="2400">
                <a:solidFill>
                  <a:srgbClr val="1F2937"/>
                </a:solidFill>
                <a:latin typeface="Calibri"/>
              </a:rPr>
              <a:t>Complexity backpressure degrades reliability</a:t>
            </a:r>
          </a:p>
          <a:p>
            <a:pPr marL="292608" indent="-292608">
              <a:spcAft>
                <a:spcPts val="1000"/>
              </a:spcAft>
              <a:buClr>
                <a:srgbClr val="0F766E"/>
              </a:buClr>
              <a:buFont typeface="Arial"/>
              <a:buChar char="▪"/>
            </a:pPr>
            <a:r>
              <a:rPr sz="2400">
                <a:solidFill>
                  <a:srgbClr val="1F2937"/>
                </a:solidFill>
                <a:latin typeface="Calibri"/>
              </a:rPr>
              <a:t>Metrics: cyclomatic complexity, dependency depth</a:t>
            </a:r>
          </a:p>
          <a:p>
            <a:pPr marL="292608" indent="-292608">
              <a:spcAft>
                <a:spcPts val="1000"/>
              </a:spcAft>
              <a:buClr>
                <a:srgbClr val="0F766E"/>
              </a:buClr>
              <a:buFont typeface="Arial"/>
              <a:buChar char="▪"/>
            </a:pPr>
            <a:r>
              <a:rPr sz="2400">
                <a:solidFill>
                  <a:srgbClr val="1F2937"/>
                </a:solidFill>
                <a:latin typeface="Calibri"/>
              </a:rPr>
              <a:t>Mitigation: modular design, automated refactoring</a:t>
            </a:r>
          </a:p>
          <a:p>
            <a:pPr marL="292608" indent="-292608">
              <a:spcAft>
                <a:spcPts val="1000"/>
              </a:spcAft>
              <a:buClr>
                <a:srgbClr val="0F766E"/>
              </a:buClr>
              <a:buFont typeface="Arial"/>
              <a:buChar char="▪"/>
            </a:pPr>
            <a:r>
              <a:rPr sz="2400">
                <a:solidFill>
                  <a:srgbClr val="1F2937"/>
                </a:solidFill>
                <a:latin typeface="Calibri"/>
              </a:rPr>
              <a:t>Monitor complexity trends in CI/CD</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Code generated</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Complexity measured</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Threshold exceeded</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Backpressure applied</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Refactor triggered</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Complexity backpressure loop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700" b="1">
                <a:solidFill>
                  <a:srgbClr val="1F2937"/>
                </a:solidFill>
                <a:latin typeface="Calibri"/>
              </a:rPr>
              <a:t>Hands-On: Instrument and Evaluate a Sample Project</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Clone provided multi-component repo</a:t>
            </a:r>
          </a:p>
          <a:p>
            <a:pPr marL="292608" indent="-292608">
              <a:spcAft>
                <a:spcPts val="1000"/>
              </a:spcAft>
              <a:buClr>
                <a:srgbClr val="0F766E"/>
              </a:buClr>
              <a:buFont typeface="Arial"/>
              <a:buChar char="▪"/>
            </a:pPr>
            <a:r>
              <a:rPr sz="2400">
                <a:solidFill>
                  <a:srgbClr val="1F2937"/>
                </a:solidFill>
                <a:latin typeface="Calibri"/>
              </a:rPr>
              <a:t>Add Prometheus metrics to each service</a:t>
            </a:r>
          </a:p>
          <a:p>
            <a:pPr marL="292608" indent="-292608">
              <a:spcAft>
                <a:spcPts val="1000"/>
              </a:spcAft>
              <a:buClr>
                <a:srgbClr val="0F766E"/>
              </a:buClr>
              <a:buFont typeface="Arial"/>
              <a:buChar char="▪"/>
            </a:pPr>
            <a:r>
              <a:rPr sz="2400">
                <a:solidFill>
                  <a:srgbClr val="1F2937"/>
                </a:solidFill>
                <a:latin typeface="Calibri"/>
              </a:rPr>
              <a:t>Deploy to local Kubernetes (kind)</a:t>
            </a:r>
          </a:p>
          <a:p>
            <a:pPr marL="292608" indent="-292608">
              <a:spcAft>
                <a:spcPts val="1000"/>
              </a:spcAft>
              <a:buClr>
                <a:srgbClr val="0F766E"/>
              </a:buClr>
              <a:buFont typeface="Arial"/>
              <a:buChar char="▪"/>
            </a:pPr>
            <a:r>
              <a:rPr sz="2400">
                <a:solidFill>
                  <a:srgbClr val="1F2937"/>
                </a:solidFill>
                <a:latin typeface="Calibri"/>
              </a:rPr>
              <a:t>Generate load and observe dashboards</a:t>
            </a:r>
          </a:p>
          <a:p>
            <a:pPr marL="292608" indent="-292608">
              <a:spcAft>
                <a:spcPts val="1000"/>
              </a:spcAft>
              <a:buClr>
                <a:srgbClr val="0F766E"/>
              </a:buClr>
              <a:buFont typeface="Arial"/>
              <a:buChar char="▪"/>
            </a:pPr>
            <a:r>
              <a:rPr sz="2400">
                <a:solidFill>
                  <a:srgbClr val="1F2937"/>
                </a:solidFill>
                <a:latin typeface="Calibri"/>
              </a:rPr>
              <a:t>Evaluate against given SLOs, propose improvements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Metric Selection for AI Model Serving</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Which metric is most critical for detecting model serving performance degradation in real-time?</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CPU utilization of the model server</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Prediction latency p99</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Number of model parameters</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Training loss on validation set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Reliability Evaluation Decision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During a canary deployment, the error budget burn rate exceeds 10x. What is the correct automated action?</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Increase canary traffic to 100%</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Pause deployment and alert on-call</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Rollback canary to previous version</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Ignore and continue monitoring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Key Takeaways: Deployment and Reliability Metric Evaluation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Deployment metrics: latency, throughput, errors, rollbacks</a:t>
            </a:r>
          </a:p>
          <a:p>
            <a:pPr marL="292608" indent="-292608">
              <a:spcAft>
                <a:spcPts val="1000"/>
              </a:spcAft>
              <a:buClr>
                <a:srgbClr val="0F766E"/>
              </a:buClr>
              <a:buFont typeface="Arial"/>
              <a:buChar char="▪"/>
            </a:pPr>
            <a:r>
              <a:rPr sz="2400">
                <a:solidFill>
                  <a:srgbClr val="1F2937"/>
                </a:solidFill>
                <a:latin typeface="Calibri"/>
              </a:rPr>
              <a:t>Reliability metrics: MTBF, MTTR, SLOs, error budgets</a:t>
            </a:r>
          </a:p>
          <a:p>
            <a:pPr marL="292608" indent="-292608">
              <a:spcAft>
                <a:spcPts val="1000"/>
              </a:spcAft>
              <a:buClr>
                <a:srgbClr val="0F766E"/>
              </a:buClr>
              <a:buFont typeface="Arial"/>
              <a:buChar char="▪"/>
            </a:pPr>
            <a:r>
              <a:rPr sz="2400">
                <a:solidFill>
                  <a:srgbClr val="1F2937"/>
                </a:solidFill>
                <a:latin typeface="Calibri"/>
              </a:rPr>
              <a:t>Multi-component evaluation requires dependency mapping</a:t>
            </a:r>
          </a:p>
          <a:p>
            <a:pPr marL="292608" indent="-292608">
              <a:spcAft>
                <a:spcPts val="1000"/>
              </a:spcAft>
              <a:buClr>
                <a:srgbClr val="0F766E"/>
              </a:buClr>
              <a:buFont typeface="Arial"/>
              <a:buChar char="▪"/>
            </a:pPr>
            <a:r>
              <a:rPr sz="2400">
                <a:solidFill>
                  <a:srgbClr val="1F2937"/>
                </a:solidFill>
                <a:latin typeface="Calibri"/>
              </a:rPr>
              <a:t>Live scenario walkthroughs demonstrate evaluation skill</a:t>
            </a:r>
          </a:p>
          <a:p>
            <a:pPr marL="292608" indent="-292608">
              <a:spcAft>
                <a:spcPts val="1000"/>
              </a:spcAft>
              <a:buClr>
                <a:srgbClr val="0F766E"/>
              </a:buClr>
              <a:buFont typeface="Arial"/>
              <a:buChar char="▪"/>
            </a:pPr>
            <a:r>
              <a:rPr sz="2400">
                <a:solidFill>
                  <a:srgbClr val="1F2937"/>
                </a:solidFill>
                <a:latin typeface="Calibri"/>
              </a:rPr>
              <a:t>Automated pipelines enforce reliability continuously</a:t>
            </a:r>
          </a:p>
          <a:p>
            <a:pPr marL="292608" indent="-292608">
              <a:spcAft>
                <a:spcPts val="1000"/>
              </a:spcAft>
              <a:buClr>
                <a:srgbClr val="0F766E"/>
              </a:buClr>
              <a:buFont typeface="Arial"/>
              <a:buChar char="▪"/>
            </a:pPr>
            <a:r>
              <a:rPr sz="2400">
                <a:solidFill>
                  <a:srgbClr val="1F2937"/>
                </a:solidFill>
                <a:latin typeface="Calibri"/>
              </a:rPr>
              <a:t>Hands-on practice with observability stack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Competition-level code generation with AlphaCode (2022). https://doi.org/10.1126/science.abq1158</a:t>
            </a:r>
          </a:p>
          <a:p>
            <a:pPr marL="292608" indent="-292608">
              <a:spcAft>
                <a:spcPts val="1000"/>
              </a:spcAft>
              <a:buClr>
                <a:srgbClr val="0F766E"/>
              </a:buClr>
              <a:buFont typeface="Arial"/>
              <a:buChar char="▪"/>
            </a:pPr>
            <a:r>
              <a:rPr sz="1800">
                <a:solidFill>
                  <a:srgbClr val="1F2937"/>
                </a:solidFill>
                <a:latin typeface="Calibri"/>
              </a:rPr>
              <a:t>[C2] SPECIFICATION-DRIVEN DEVELOPMENT AS STRUCTURED APPROACH FOR SOURCE CODE GENERATION (2026). https://doi.org/10.52058/2786-6025-2026-4(58)-2631-2644</a:t>
            </a:r>
          </a:p>
          <a:p>
            <a:pPr marL="292608" indent="-292608">
              <a:spcAft>
                <a:spcPts val="1000"/>
              </a:spcAft>
              <a:buClr>
                <a:srgbClr val="0F766E"/>
              </a:buClr>
              <a:buFont typeface="Arial"/>
              <a:buChar char="▪"/>
            </a:pPr>
            <a:r>
              <a:rPr sz="1800">
                <a:solidFill>
                  <a:srgbClr val="1F2937"/>
                </a:solidFill>
                <a:latin typeface="Calibri"/>
              </a:rPr>
              <a:t>[C3] Complexity Backpressure for AI Coding Agents: A Cross-Model Study on Substantive Software Tasks (2026). https://doi.org/10.1109/sse72781.2026.00047</a:t>
            </a:r>
          </a:p>
          <a:p>
            <a:pPr marL="292608" indent="-292608">
              <a:spcAft>
                <a:spcPts val="1000"/>
              </a:spcAft>
              <a:buClr>
                <a:srgbClr val="0F766E"/>
              </a:buClr>
              <a:buFont typeface="Arial"/>
              <a:buChar char="▪"/>
            </a:pPr>
            <a:r>
              <a:rPr sz="1800">
                <a:solidFill>
                  <a:srgbClr val="1F2937"/>
                </a:solidFill>
                <a:latin typeface="Calibri"/>
              </a:rPr>
              <a:t>[C4] 8 Redefining and Transforming Software Development with Generative AI (2025). https://doi.org/10.1515/9783111677798-008</a:t>
            </a:r>
          </a:p>
          <a:p>
            <a:pPr marL="292608" indent="-292608">
              <a:spcAft>
                <a:spcPts val="1000"/>
              </a:spcAft>
              <a:buClr>
                <a:srgbClr val="0F766E"/>
              </a:buClr>
              <a:buFont typeface="Arial"/>
              <a:buChar char="▪"/>
            </a:pPr>
            <a:r>
              <a:rPr sz="1800">
                <a:solidFill>
                  <a:srgbClr val="1F2937"/>
                </a:solidFill>
                <a:latin typeface="Calibri"/>
              </a:rPr>
              <a:t>[C5] Query Tuning Framework Using the Model Context Protocol for Workflows (2026). https://doi.org/10.2139/ssrn.6172059</a:t>
            </a:r>
          </a:p>
          <a:p>
            <a:pPr marL="292608" indent="-292608">
              <a:spcAft>
                <a:spcPts val="1000"/>
              </a:spcAft>
              <a:buClr>
                <a:srgbClr val="0F766E"/>
              </a:buClr>
              <a:buFont typeface="Arial"/>
              <a:buChar char="▪"/>
            </a:pPr>
            <a:r>
              <a:rPr sz="1800">
                <a:solidFill>
                  <a:srgbClr val="1F2937"/>
                </a:solidFill>
                <a:latin typeface="Calibri"/>
              </a:rPr>
              <a:t>[C6] Autonomous Coding Agents for Software Development Testing and Debugging (2026). https://doi.org/10.2139/ssrn.7515638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