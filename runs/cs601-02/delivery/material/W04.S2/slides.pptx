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Assign2,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lecture by framing the problem: we receive a narrative product description and must produce precise use cases. Standards provide the common language that lets analysts, developers, and testers agree on what the system must do. Spec‑driven development then uses those use cases as executable specifications that can drive code generation and test creation.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 standard notation, each team invents its own way of writing use cases, leading to ambiguity and gaps. A shared standard lets requirements be traced forward to design, code, and test cases, and it enables tools to parse, validate, and even generate artifacts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UML 2.x is the de‑facto graphical standard for use‑case diagrams; the OMG also publishes a textual template (often called the Cockburn template) that captures preconditions, postconditions, main flow, and alternatives. Both are actively maintained and widely supported by modeling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IEEE 830 was withdrawn in 2017. The current international standard for writing Software Requirements Specifications is ISO/IEC/IEEE 29148, which defines the required sections of an SRS and emphasizes bidirectional traceability between requirements, design, and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ISO/IEC 25010 (2018 edition) provides a taxonomy of quality attributes such as performance, security, and usability. While it does not define use‑case notation, it is the reference for writing non‑functional requirements that later become quality‑focused use cases or acceptance criteria.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diagram: the Customer initiates Place Order. The system includes two sub‑use cases — Process Payment (interacting with the external Payment Service actor) and Check Inventory (interacting with the Inventory Service actor). Both are marked with «include» because they are mandatory parts of every order.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boundary is a conceptual line that separates what the project team must build from what is given (actors, external services, hardware). It is drawn on the use‑case diagram as a rectangle; everything inside is in scope, everything outside is an actor or an external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 single coherent scope — here the mobile client. The Customer interacts with the app; the app calls Bank Server APIs (outside) for core banking functions; the Regulator receives compliance reports via a separate reporting service (also outside). This makes clear which components the team must deliver.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Spec‑driven development treats a well‑structured use case (with clear preconditions, main flow, and postconditions) as a living specification. Tools can parse the steps to generate BDD‑style test skeletons, API contracts, or even prototype code, keeping implementation aligned with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a paragraph describing a ‘library self‑checkout’ system, we first spot actors (Patron, Librarian, Catalog Service). Next we write goals: ‘Check out book’, ‘Return book’, ‘Pay fine’. We draw a boundary around the self‑checkout kiosk software, add «include» for ‘Authenticate Patron’ used by both check‑out and return, and finally fill the OMG textual template for each use case.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confusion: class diagram shows structure, not use cases. The use‑case diagram is the only UML diagram whose primary purpose is to capture functional requirements from the user's perspective.</a:t>
            </a:r>
          </a:p>
          <a:p/>
          <a:p>
            <a:r>
              <a:t>Answer: A. Use‑case diagram</a:t>
            </a:r>
          </a:p>
          <a:p>
            <a:r>
              <a:t>UML 2.x defines the use‑case diagram notation; class, sequence, and state machine diagrams serve other purposes.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engineering is the disciplined process of discovering, documenting, and maintaining what the software must do. It is not a one‑shot activity; modern projects revisit each phase as knowledge grows.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single technique suffices. Interviews uncover detailed needs, workshops align stakeholders, and prototypes make abstract ideas concrete. Combining them reduces the risk of missing critical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transforms raw elicitation data into structured models. Use cases (or user stories) describe behavior; domain models (class diagrams, ER diagrams) capture data; quality attributes from ISO/IEC 25010 become non‑functional requirements with measurable targets.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SRS is the contract between stakeholders and developers. Following ISO/IEC/IEEE 29148 ensures all required sections exist. Validation uses peer reviews, executable prototypes, and a traceability matrix to confirm every requirement is testable and covered.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evolve. A management process stores each version, records rationale, and maintains trace links to design, code, and tests. When a requirement changes, impact analysis shows which downstream artifacts must be updated. Modern tools integrate with Git to keep requirements close to the codebase.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IEEE 830 is withdrawn. The current SRS standard is ISO/IEC/IEEE 29148, which also emphasizes traceability and verification.</a:t>
            </a:r>
          </a:p>
          <a:p/>
          <a:p>
            <a:r>
              <a:t>Answer: A. ISO/IEC/IEEE 29148</a:t>
            </a:r>
          </a:p>
          <a:p>
            <a:r>
              <a:t>ISO/IEC/IEEE 29148 superseded IEEE 830 in 2017; ISO/IEC 25010 is a quality model, and UML 2.x defines diagrams, not SRS structure.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main points: use‑case standards give a common language, the SRS standard structures the full specification, the quality model shapes non‑functional needs, and the system boundary sets scope. Spec‑driven development leverages these artifacts for automation. The requirements engineering lifecycle ties everything together and prepares us for next week’s spec‑driven frameworks.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100" b="1">
                <a:solidFill>
                  <a:srgbClr val="CCFBF1"/>
                </a:solidFill>
                <a:latin typeface="Calibri"/>
              </a:rPr>
              <a:t>Standards and Specification Guidelines for Use Cases &amp; Software Requirements Engineering</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4 · Requirements and Specification-Driven Development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Outline use cases and system boundaries from unstructured product descriptions using standards and specification guidelines for most short items (CO2.LO3)</a:t>
            </a:r>
          </a:p>
          <a:p>
            <a:pPr marL="292608" indent="-292608">
              <a:spcAft>
                <a:spcPts val="1000"/>
              </a:spcAft>
              <a:buClr>
                <a:srgbClr val="0F766E"/>
              </a:buClr>
              <a:buFont typeface="Arial"/>
              <a:buChar char="▪"/>
            </a:pPr>
            <a:r>
              <a:rPr sz="2400">
                <a:solidFill>
                  <a:srgbClr val="1F2937"/>
                </a:solidFill>
                <a:latin typeface="Calibri"/>
              </a:rPr>
              <a:t>Outline use cases and system boundaries from unstructured product descriptions using spec-driven development guidelines (CO2.LO1)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From Product Description to Use Cases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Unstructured product descriptions are the starting point</a:t>
            </a:r>
          </a:p>
          <a:p>
            <a:pPr marL="292608" indent="-292608">
              <a:spcAft>
                <a:spcPts val="1000"/>
              </a:spcAft>
              <a:buClr>
                <a:srgbClr val="0F766E"/>
              </a:buClr>
              <a:buFont typeface="Arial"/>
              <a:buChar char="▪"/>
            </a:pPr>
            <a:r>
              <a:rPr sz="2400">
                <a:solidFill>
                  <a:srgbClr val="1F2937"/>
                </a:solidFill>
                <a:latin typeface="Calibri"/>
              </a:rPr>
              <a:t>Standards give a shared vocabulary</a:t>
            </a:r>
          </a:p>
          <a:p>
            <a:pPr marL="292608" indent="-292608">
              <a:spcAft>
                <a:spcPts val="1000"/>
              </a:spcAft>
              <a:buClr>
                <a:srgbClr val="0F766E"/>
              </a:buClr>
              <a:buFont typeface="Arial"/>
              <a:buChar char="▪"/>
            </a:pPr>
            <a:r>
              <a:rPr sz="2400">
                <a:solidFill>
                  <a:srgbClr val="1F2937"/>
                </a:solidFill>
                <a:latin typeface="Calibri"/>
              </a:rPr>
              <a:t>Spec‑driven development turns descriptions into executable specs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Use‑Case Standards Matter</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Common language for stakeholders</a:t>
            </a:r>
          </a:p>
          <a:p>
            <a:pPr marL="292608" indent="-292608">
              <a:spcAft>
                <a:spcPts val="1000"/>
              </a:spcAft>
              <a:buClr>
                <a:srgbClr val="0F766E"/>
              </a:buClr>
              <a:buFont typeface="Arial"/>
              <a:buChar char="▪"/>
            </a:pPr>
            <a:r>
              <a:rPr sz="2400">
                <a:solidFill>
                  <a:srgbClr val="1F2937"/>
                </a:solidFill>
                <a:latin typeface="Calibri"/>
              </a:rPr>
              <a:t>Enables traceability to code and tests</a:t>
            </a:r>
          </a:p>
          <a:p>
            <a:pPr marL="292608" indent="-292608">
              <a:spcAft>
                <a:spcPts val="1000"/>
              </a:spcAft>
              <a:buClr>
                <a:srgbClr val="0F766E"/>
              </a:buClr>
              <a:buFont typeface="Arial"/>
              <a:buChar char="▪"/>
            </a:pPr>
            <a:r>
              <a:rPr sz="2400">
                <a:solidFill>
                  <a:srgbClr val="1F2937"/>
                </a:solidFill>
                <a:latin typeface="Calibri"/>
              </a:rPr>
              <a:t>Supports tooling and automation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Key Use‑Case Standards: UML 2.x &amp; OMG Template</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UML 2.x defines use‑case diagram notation</a:t>
            </a:r>
          </a:p>
          <a:p>
            <a:pPr marL="292608" indent="-292608">
              <a:spcAft>
                <a:spcPts val="1000"/>
              </a:spcAft>
              <a:buClr>
                <a:srgbClr val="0F766E"/>
              </a:buClr>
              <a:buFont typeface="Arial"/>
              <a:buChar char="▪"/>
            </a:pPr>
            <a:r>
              <a:rPr sz="2400">
                <a:solidFill>
                  <a:srgbClr val="1F2937"/>
                </a:solidFill>
                <a:latin typeface="Calibri"/>
              </a:rPr>
              <a:t>OMG provides a textual use‑case template</a:t>
            </a:r>
          </a:p>
          <a:p>
            <a:pPr marL="292608" indent="-292608">
              <a:spcAft>
                <a:spcPts val="1000"/>
              </a:spcAft>
              <a:buClr>
                <a:srgbClr val="0F766E"/>
              </a:buClr>
              <a:buFont typeface="Arial"/>
              <a:buChar char="▪"/>
            </a:pPr>
            <a:r>
              <a:rPr sz="2400">
                <a:solidFill>
                  <a:srgbClr val="1F2937"/>
                </a:solidFill>
                <a:latin typeface="Calibri"/>
              </a:rPr>
              <a:t>Both are maintained by the Object Management Group</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Actor</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Use Case</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Include/Extend</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System Boundary</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Core elements of a UML use‑case diagram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Requirements Specification Standard: ISO/IEC/IEEE 29148</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Replaces withdrawn IEEE 830 (2017)</a:t>
            </a:r>
          </a:p>
          <a:p>
            <a:pPr marL="292608" indent="-292608">
              <a:spcAft>
                <a:spcPts val="1000"/>
              </a:spcAft>
              <a:buClr>
                <a:srgbClr val="0F766E"/>
              </a:buClr>
              <a:buFont typeface="Arial"/>
              <a:buChar char="▪"/>
            </a:pPr>
            <a:r>
              <a:rPr sz="2400">
                <a:solidFill>
                  <a:srgbClr val="1F2937"/>
                </a:solidFill>
                <a:latin typeface="Calibri"/>
              </a:rPr>
              <a:t>Structures SRS: purpose, scope, functional &amp; non‑functional requirements</a:t>
            </a:r>
          </a:p>
          <a:p>
            <a:pPr marL="292608" indent="-292608">
              <a:spcAft>
                <a:spcPts val="1000"/>
              </a:spcAft>
              <a:buClr>
                <a:srgbClr val="0F766E"/>
              </a:buClr>
              <a:buFont typeface="Arial"/>
              <a:buChar char="▪"/>
            </a:pPr>
            <a:r>
              <a:rPr sz="2400">
                <a:solidFill>
                  <a:srgbClr val="1F2937"/>
                </a:solidFill>
                <a:latin typeface="Calibri"/>
              </a:rPr>
              <a:t>Guides traceability and verification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Quality Model: ISO/IEC 25010</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Defines product quality characteristics (e.g., functionality, reliability)</a:t>
            </a:r>
          </a:p>
          <a:p>
            <a:pPr marL="292608" indent="-292608">
              <a:spcAft>
                <a:spcPts val="1000"/>
              </a:spcAft>
              <a:buClr>
                <a:srgbClr val="0F766E"/>
              </a:buClr>
              <a:buFont typeface="Arial"/>
              <a:buChar char="▪"/>
            </a:pPr>
            <a:r>
              <a:rPr sz="2400">
                <a:solidFill>
                  <a:srgbClr val="1F2937"/>
                </a:solidFill>
                <a:latin typeface="Calibri"/>
              </a:rPr>
              <a:t>Not a use‑case standard but informs non‑functional requirements</a:t>
            </a:r>
          </a:p>
          <a:p>
            <a:pPr marL="292608" indent="-292608">
              <a:spcAft>
                <a:spcPts val="1000"/>
              </a:spcAft>
              <a:buClr>
                <a:srgbClr val="0F766E"/>
              </a:buClr>
              <a:buFont typeface="Arial"/>
              <a:buChar char="▪"/>
            </a:pPr>
            <a:r>
              <a:rPr sz="2400">
                <a:solidFill>
                  <a:srgbClr val="1F2937"/>
                </a:solidFill>
                <a:latin typeface="Calibri"/>
              </a:rPr>
              <a:t>Used to derive quality‑focused use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Example: Online Ordering Use‑Case Diagram</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Actors: Customer, Payment Service, Inventory Service</a:t>
            </a:r>
          </a:p>
          <a:p>
            <a:pPr marL="292608" indent="-292608">
              <a:spcAft>
                <a:spcPts val="1000"/>
              </a:spcAft>
              <a:buClr>
                <a:srgbClr val="0F766E"/>
              </a:buClr>
              <a:buFont typeface="Arial"/>
              <a:buChar char="▪"/>
            </a:pPr>
            <a:r>
              <a:rPr sz="2400">
                <a:solidFill>
                  <a:srgbClr val="1F2937"/>
                </a:solidFill>
                <a:latin typeface="Calibri"/>
              </a:rPr>
              <a:t>Use cases: Place Order, Process Payment, Check Inventory</a:t>
            </a:r>
          </a:p>
          <a:p>
            <a:pPr marL="292608" indent="-292608">
              <a:spcAft>
                <a:spcPts val="1000"/>
              </a:spcAft>
              <a:buClr>
                <a:srgbClr val="0F766E"/>
              </a:buClr>
              <a:buFont typeface="Arial"/>
              <a:buChar char="▪"/>
            </a:pPr>
            <a:r>
              <a:rPr sz="2400">
                <a:solidFill>
                  <a:srgbClr val="1F2937"/>
                </a:solidFill>
                <a:latin typeface="Calibri"/>
              </a:rPr>
              <a:t>Include relationships: Place Order includes Process Payment and Check Inventory</a:t>
            </a:r>
          </a:p>
        </p:txBody>
      </p:sp>
      <p:sp>
        <p:nvSpPr>
          <p:cNvPr id="8" name="Rounded Rectangle 7"/>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Customer</a:t>
            </a:r>
          </a:p>
        </p:txBody>
      </p:sp>
      <p:sp>
        <p:nvSpPr>
          <p:cNvPr id="9" name="Down Arrow 8"/>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Place Order</a:t>
            </a:r>
          </a:p>
        </p:txBody>
      </p:sp>
      <p:sp>
        <p:nvSpPr>
          <p:cNvPr id="11" name="Down Arrow 10"/>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Process Payment</a:t>
            </a:r>
          </a:p>
        </p:txBody>
      </p:sp>
      <p:sp>
        <p:nvSpPr>
          <p:cNvPr id="13" name="Down Arrow 12"/>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Check Inventory</a:t>
            </a:r>
          </a:p>
        </p:txBody>
      </p:sp>
      <p:sp>
        <p:nvSpPr>
          <p:cNvPr id="15" name="Down Arrow 14"/>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Confirm Order</a:t>
            </a:r>
          </a:p>
        </p:txBody>
      </p:sp>
      <p:sp>
        <p:nvSpPr>
          <p:cNvPr id="17" name="TextBox 16"/>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Simplified flow for the Place Order use case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Identifying the System Boundary</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Boundary encloses responsibilities of the system under design</a:t>
            </a:r>
          </a:p>
          <a:p>
            <a:pPr marL="292608" indent="-292608">
              <a:spcAft>
                <a:spcPts val="1000"/>
              </a:spcAft>
              <a:buClr>
                <a:srgbClr val="0F766E"/>
              </a:buClr>
              <a:buFont typeface="Arial"/>
              <a:buChar char="▪"/>
            </a:pPr>
            <a:r>
              <a:rPr sz="2400">
                <a:solidFill>
                  <a:srgbClr val="1F2937"/>
                </a:solidFill>
                <a:latin typeface="Calibri"/>
              </a:rPr>
              <a:t>Actors and external systems stay outside</a:t>
            </a:r>
          </a:p>
          <a:p>
            <a:pPr marL="292608" indent="-292608">
              <a:spcAft>
                <a:spcPts val="1000"/>
              </a:spcAft>
              <a:buClr>
                <a:srgbClr val="0F766E"/>
              </a:buClr>
              <a:buFont typeface="Arial"/>
              <a:buChar char="▪"/>
            </a:pPr>
            <a:r>
              <a:rPr sz="2400">
                <a:solidFill>
                  <a:srgbClr val="1F2937"/>
                </a:solidFill>
                <a:latin typeface="Calibri"/>
              </a:rPr>
              <a:t>Clarifies scope for development and testing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Example: System Boundary for Mobile Banking App</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Actors: Customer, Bank Server, Regulator</a:t>
            </a:r>
          </a:p>
          <a:p>
            <a:pPr marL="292608" indent="-292608">
              <a:spcAft>
                <a:spcPts val="1000"/>
              </a:spcAft>
              <a:buClr>
                <a:srgbClr val="0F766E"/>
              </a:buClr>
              <a:buFont typeface="Arial"/>
              <a:buChar char="▪"/>
            </a:pPr>
            <a:r>
              <a:rPr sz="2400">
                <a:solidFill>
                  <a:srgbClr val="1F2937"/>
                </a:solidFill>
                <a:latin typeface="Calibri"/>
              </a:rPr>
              <a:t>Inside boundary: Mobile App UI, Local Validation, Transaction Logic</a:t>
            </a:r>
          </a:p>
          <a:p>
            <a:pPr marL="292608" indent="-292608">
              <a:spcAft>
                <a:spcPts val="1000"/>
              </a:spcAft>
              <a:buClr>
                <a:srgbClr val="0F766E"/>
              </a:buClr>
              <a:buFont typeface="Arial"/>
              <a:buChar char="▪"/>
            </a:pPr>
            <a:r>
              <a:rPr sz="2400">
                <a:solidFill>
                  <a:srgbClr val="1F2937"/>
                </a:solidFill>
                <a:latin typeface="Calibri"/>
              </a:rPr>
              <a:t>Outside: Bank Server APIs, Regulatory Reporting Service</a:t>
            </a:r>
          </a:p>
        </p:txBody>
      </p:sp>
      <p:sp>
        <p:nvSpPr>
          <p:cNvPr id="8" name="Rounded Rectangle 7"/>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Customer</a:t>
            </a:r>
          </a:p>
        </p:txBody>
      </p:sp>
      <p:sp>
        <p:nvSpPr>
          <p:cNvPr id="9" name="Down Arrow 8"/>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Mobile App</a:t>
            </a:r>
          </a:p>
        </p:txBody>
      </p:sp>
      <p:sp>
        <p:nvSpPr>
          <p:cNvPr id="11" name="Down Arrow 10"/>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Bank Server</a:t>
            </a:r>
          </a:p>
        </p:txBody>
      </p:sp>
      <p:sp>
        <p:nvSpPr>
          <p:cNvPr id="13" name="Down Arrow 12"/>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Regulator</a:t>
            </a:r>
          </a:p>
        </p:txBody>
      </p:sp>
      <p:sp>
        <p:nvSpPr>
          <p:cNvPr id="15" name="TextBox 14"/>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Actors and the mobile‑app system boundary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Spec‑Driven Development Guidelines for Use Cases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Write use cases as executable specifications</a:t>
            </a:r>
          </a:p>
          <a:p>
            <a:pPr marL="292608" indent="-292608">
              <a:spcAft>
                <a:spcPts val="1000"/>
              </a:spcAft>
              <a:buClr>
                <a:srgbClr val="0F766E"/>
              </a:buClr>
              <a:buFont typeface="Arial"/>
              <a:buChar char="▪"/>
            </a:pPr>
            <a:r>
              <a:rPr sz="2400">
                <a:solidFill>
                  <a:srgbClr val="1F2937"/>
                </a:solidFill>
                <a:latin typeface="Calibri"/>
              </a:rPr>
              <a:t>Link each use case to acceptance criteria</a:t>
            </a:r>
          </a:p>
          <a:p>
            <a:pPr marL="292608" indent="-292608">
              <a:spcAft>
                <a:spcPts val="1000"/>
              </a:spcAft>
              <a:buClr>
                <a:srgbClr val="0F766E"/>
              </a:buClr>
              <a:buFont typeface="Arial"/>
              <a:buChar char="▪"/>
            </a:pPr>
            <a:r>
              <a:rPr sz="2400">
                <a:solidFill>
                  <a:srgbClr val="1F2937"/>
                </a:solidFill>
                <a:latin typeface="Calibri"/>
              </a:rPr>
              <a:t>Generate test scaffolding from use‑case steps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Worked Problem: Extract Use Cases from a Short Product Description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Step 1: Identify actors from nouns</a:t>
            </a:r>
          </a:p>
          <a:p>
            <a:pPr marL="292608" indent="-292608">
              <a:spcAft>
                <a:spcPts val="1000"/>
              </a:spcAft>
              <a:buClr>
                <a:srgbClr val="0F766E"/>
              </a:buClr>
              <a:buFont typeface="Arial"/>
              <a:buChar char="▪"/>
            </a:pPr>
            <a:r>
              <a:rPr sz="2400">
                <a:solidFill>
                  <a:srgbClr val="1F2937"/>
                </a:solidFill>
                <a:latin typeface="Calibri"/>
              </a:rPr>
              <a:t>Step 2: List user goals as use cases</a:t>
            </a:r>
          </a:p>
          <a:p>
            <a:pPr marL="292608" indent="-292608">
              <a:spcAft>
                <a:spcPts val="1000"/>
              </a:spcAft>
              <a:buClr>
                <a:srgbClr val="0F766E"/>
              </a:buClr>
              <a:buFont typeface="Arial"/>
              <a:buChar char="▪"/>
            </a:pPr>
            <a:r>
              <a:rPr sz="2400">
                <a:solidFill>
                  <a:srgbClr val="1F2937"/>
                </a:solidFill>
                <a:latin typeface="Calibri"/>
              </a:rPr>
              <a:t>Step 3: Draw system boundary</a:t>
            </a:r>
          </a:p>
          <a:p>
            <a:pPr marL="292608" indent="-292608">
              <a:spcAft>
                <a:spcPts val="1000"/>
              </a:spcAft>
              <a:buClr>
                <a:srgbClr val="0F766E"/>
              </a:buClr>
              <a:buFont typeface="Arial"/>
              <a:buChar char="▪"/>
            </a:pPr>
            <a:r>
              <a:rPr sz="2400">
                <a:solidFill>
                  <a:srgbClr val="1F2937"/>
                </a:solidFill>
                <a:latin typeface="Calibri"/>
              </a:rPr>
              <a:t>Step 4: Add include/extend relationships</a:t>
            </a:r>
          </a:p>
          <a:p>
            <a:pPr marL="292608" indent="-292608">
              <a:spcAft>
                <a:spcPts val="1000"/>
              </a:spcAft>
              <a:buClr>
                <a:srgbClr val="0F766E"/>
              </a:buClr>
              <a:buFont typeface="Arial"/>
              <a:buChar char="▪"/>
            </a:pPr>
            <a:r>
              <a:rPr sz="2400">
                <a:solidFill>
                  <a:srgbClr val="1F2937"/>
                </a:solidFill>
                <a:latin typeface="Calibri"/>
              </a:rPr>
              <a:t>Step 5: Write brief textual template for each use case</a:t>
            </a:r>
          </a:p>
        </p:txBody>
      </p:sp>
      <p:sp>
        <p:nvSpPr>
          <p:cNvPr id="8" name="Rounded Rectangle 7"/>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Identify Actors</a:t>
            </a:r>
          </a:p>
        </p:txBody>
      </p:sp>
      <p:sp>
        <p:nvSpPr>
          <p:cNvPr id="9" name="Down Arrow 8"/>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List Goals</a:t>
            </a:r>
          </a:p>
        </p:txBody>
      </p:sp>
      <p:sp>
        <p:nvSpPr>
          <p:cNvPr id="11" name="Down Arrow 10"/>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Draw Boundary</a:t>
            </a:r>
          </a:p>
        </p:txBody>
      </p:sp>
      <p:sp>
        <p:nvSpPr>
          <p:cNvPr id="13" name="Down Arrow 12"/>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Add Relationships</a:t>
            </a:r>
          </a:p>
        </p:txBody>
      </p:sp>
      <p:sp>
        <p:nvSpPr>
          <p:cNvPr id="15" name="Down Arrow 14"/>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Write Templates</a:t>
            </a:r>
          </a:p>
        </p:txBody>
      </p:sp>
      <p:sp>
        <p:nvSpPr>
          <p:cNvPr id="17" name="TextBox 16"/>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Step‑by‑step extraction process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Use‑Case Identification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artifact is defined by UML 2.x for visualizing use cases?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Use‑case diagram</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Class diagram</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Sequence diagram</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State machine diagram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Software Requirements Engineering Overview</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Elicitation, analysis, specification, validation, management</a:t>
            </a:r>
          </a:p>
          <a:p>
            <a:pPr marL="292608" indent="-292608">
              <a:spcAft>
                <a:spcPts val="1000"/>
              </a:spcAft>
              <a:buClr>
                <a:srgbClr val="0F766E"/>
              </a:buClr>
              <a:buFont typeface="Arial"/>
              <a:buChar char="▪"/>
            </a:pPr>
            <a:r>
              <a:rPr sz="2400">
                <a:solidFill>
                  <a:srgbClr val="1F2937"/>
                </a:solidFill>
                <a:latin typeface="Calibri"/>
              </a:rPr>
              <a:t>Iterative and incremental in modern practice</a:t>
            </a:r>
          </a:p>
          <a:p>
            <a:pPr marL="292608" indent="-292608">
              <a:spcAft>
                <a:spcPts val="1000"/>
              </a:spcAft>
              <a:buClr>
                <a:srgbClr val="0F766E"/>
              </a:buClr>
              <a:buFont typeface="Arial"/>
              <a:buChar char="▪"/>
            </a:pPr>
            <a:r>
              <a:rPr sz="2400">
                <a:solidFill>
                  <a:srgbClr val="1F2937"/>
                </a:solidFill>
                <a:latin typeface="Calibri"/>
              </a:rPr>
              <a:t>Bridges stakeholder needs and technical solution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Requirements Elicitation Techniques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Interviews and workshops</a:t>
            </a:r>
          </a:p>
          <a:p>
            <a:pPr marL="292608" indent="-292608">
              <a:spcAft>
                <a:spcPts val="1000"/>
              </a:spcAft>
              <a:buClr>
                <a:srgbClr val="0F766E"/>
              </a:buClr>
              <a:buFont typeface="Arial"/>
              <a:buChar char="▪"/>
            </a:pPr>
            <a:r>
              <a:rPr sz="2400">
                <a:solidFill>
                  <a:srgbClr val="1F2937"/>
                </a:solidFill>
                <a:latin typeface="Calibri"/>
              </a:rPr>
              <a:t>Observation and ethnography</a:t>
            </a:r>
          </a:p>
          <a:p>
            <a:pPr marL="292608" indent="-292608">
              <a:spcAft>
                <a:spcPts val="1000"/>
              </a:spcAft>
              <a:buClr>
                <a:srgbClr val="0F766E"/>
              </a:buClr>
              <a:buFont typeface="Arial"/>
              <a:buChar char="▪"/>
            </a:pPr>
            <a:r>
              <a:rPr sz="2400">
                <a:solidFill>
                  <a:srgbClr val="1F2937"/>
                </a:solidFill>
                <a:latin typeface="Calibri"/>
              </a:rPr>
              <a:t>Prototyping and storyboarding</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Technique</a:t>
                      </a:r>
                    </a:p>
                  </a:txBody>
                  <a:tcPr>
                    <a:solidFill>
                      <a:srgbClr val="0F766E"/>
                    </a:solidFill>
                  </a:tcPr>
                </a:tc>
                <a:tc>
                  <a:txBody>
                    <a:bodyPr/>
                    <a:lstStyle/>
                    <a:p>
                      <a:r>
                        <a:rPr sz="1400" b="1">
                          <a:solidFill>
                            <a:srgbClr val="CCFBF1"/>
                          </a:solidFill>
                          <a:latin typeface="Calibri"/>
                        </a:rPr>
                        <a:t>Strength</a:t>
                      </a:r>
                    </a:p>
                  </a:txBody>
                  <a:tcPr>
                    <a:solidFill>
                      <a:srgbClr val="0F766E"/>
                    </a:solidFill>
                  </a:tcPr>
                </a:tc>
                <a:tc>
                  <a:txBody>
                    <a:bodyPr/>
                    <a:lstStyle/>
                    <a:p>
                      <a:r>
                        <a:rPr sz="1400" b="1">
                          <a:solidFill>
                            <a:srgbClr val="CCFBF1"/>
                          </a:solidFill>
                          <a:latin typeface="Calibri"/>
                        </a:rPr>
                        <a:t>Weakness</a:t>
                      </a:r>
                    </a:p>
                  </a:txBody>
                  <a:tcPr>
                    <a:solidFill>
                      <a:srgbClr val="0F766E"/>
                    </a:solidFill>
                  </a:tcPr>
                </a:tc>
              </a:tr>
              <a:tr h="502920">
                <a:tc>
                  <a:txBody>
                    <a:bodyPr/>
                    <a:lstStyle/>
                    <a:p>
                      <a:r>
                        <a:rPr sz="1400" b="0">
                          <a:solidFill>
                            <a:srgbClr val="1F2937"/>
                          </a:solidFill>
                          <a:latin typeface="Calibri"/>
                        </a:rPr>
                        <a:t>Interviews</a:t>
                      </a:r>
                    </a:p>
                  </a:txBody>
                  <a:tcPr>
                    <a:solidFill>
                      <a:srgbClr val="F3F4F6"/>
                    </a:solidFill>
                  </a:tcPr>
                </a:tc>
                <a:tc>
                  <a:txBody>
                    <a:bodyPr/>
                    <a:lstStyle/>
                    <a:p>
                      <a:r>
                        <a:rPr sz="1400" b="0">
                          <a:solidFill>
                            <a:srgbClr val="1F2937"/>
                          </a:solidFill>
                          <a:latin typeface="Calibri"/>
                        </a:rPr>
                        <a:t>Deep insight</a:t>
                      </a:r>
                    </a:p>
                  </a:txBody>
                  <a:tcPr>
                    <a:solidFill>
                      <a:srgbClr val="F3F4F6"/>
                    </a:solidFill>
                  </a:tcPr>
                </a:tc>
                <a:tc>
                  <a:txBody>
                    <a:bodyPr/>
                    <a:lstStyle/>
                    <a:p>
                      <a:r>
                        <a:rPr sz="1400" b="0">
                          <a:solidFill>
                            <a:srgbClr val="1F2937"/>
                          </a:solidFill>
                          <a:latin typeface="Calibri"/>
                        </a:rPr>
                        <a:t>Time‑consuming</a:t>
                      </a:r>
                    </a:p>
                  </a:txBody>
                  <a:tcPr>
                    <a:solidFill>
                      <a:srgbClr val="F3F4F6"/>
                    </a:solidFill>
                  </a:tcPr>
                </a:tc>
              </a:tr>
              <a:tr h="502920">
                <a:tc>
                  <a:txBody>
                    <a:bodyPr/>
                    <a:lstStyle/>
                    <a:p>
                      <a:r>
                        <a:rPr sz="1400" b="0">
                          <a:solidFill>
                            <a:srgbClr val="1F2937"/>
                          </a:solidFill>
                          <a:latin typeface="Calibri"/>
                        </a:rPr>
                        <a:t>Workshops</a:t>
                      </a:r>
                    </a:p>
                  </a:txBody>
                  <a:tcPr>
                    <a:solidFill>
                      <a:srgbClr val="F3F4F6"/>
                    </a:solidFill>
                  </a:tcPr>
                </a:tc>
                <a:tc>
                  <a:txBody>
                    <a:bodyPr/>
                    <a:lstStyle/>
                    <a:p>
                      <a:r>
                        <a:rPr sz="1400" b="0">
                          <a:solidFill>
                            <a:srgbClr val="1F2937"/>
                          </a:solidFill>
                          <a:latin typeface="Calibri"/>
                        </a:rPr>
                        <a:t>Consensus building</a:t>
                      </a:r>
                    </a:p>
                  </a:txBody>
                  <a:tcPr>
                    <a:solidFill>
                      <a:srgbClr val="F3F4F6"/>
                    </a:solidFill>
                  </a:tcPr>
                </a:tc>
                <a:tc>
                  <a:txBody>
                    <a:bodyPr/>
                    <a:lstStyle/>
                    <a:p>
                      <a:r>
                        <a:rPr sz="1400" b="0">
                          <a:solidFill>
                            <a:srgbClr val="1F2937"/>
                          </a:solidFill>
                          <a:latin typeface="Calibri"/>
                        </a:rPr>
                        <a:t>Groupthink risk</a:t>
                      </a:r>
                    </a:p>
                  </a:txBody>
                  <a:tcPr>
                    <a:solidFill>
                      <a:srgbClr val="F3F4F6"/>
                    </a:solidFill>
                  </a:tcPr>
                </a:tc>
              </a:tr>
              <a:tr h="502920">
                <a:tc>
                  <a:txBody>
                    <a:bodyPr/>
                    <a:lstStyle/>
                    <a:p>
                      <a:r>
                        <a:rPr sz="1400" b="0">
                          <a:solidFill>
                            <a:srgbClr val="1F2937"/>
                          </a:solidFill>
                          <a:latin typeface="Calibri"/>
                        </a:rPr>
                        <a:t>Prototyping</a:t>
                      </a:r>
                    </a:p>
                  </a:txBody>
                  <a:tcPr>
                    <a:solidFill>
                      <a:srgbClr val="F3F4F6"/>
                    </a:solidFill>
                  </a:tcPr>
                </a:tc>
                <a:tc>
                  <a:txBody>
                    <a:bodyPr/>
                    <a:lstStyle/>
                    <a:p>
                      <a:r>
                        <a:rPr sz="1400" b="0">
                          <a:solidFill>
                            <a:srgbClr val="1F2937"/>
                          </a:solidFill>
                          <a:latin typeface="Calibri"/>
                        </a:rPr>
                        <a:t>Early feedback</a:t>
                      </a:r>
                    </a:p>
                  </a:txBody>
                  <a:tcPr>
                    <a:solidFill>
                      <a:srgbClr val="F3F4F6"/>
                    </a:solidFill>
                  </a:tcPr>
                </a:tc>
                <a:tc>
                  <a:txBody>
                    <a:bodyPr/>
                    <a:lstStyle/>
                    <a:p>
                      <a:r>
                        <a:rPr sz="1400" b="0">
                          <a:solidFill>
                            <a:srgbClr val="1F2937"/>
                          </a:solidFill>
                          <a:latin typeface="Calibri"/>
                        </a:rPr>
                        <a:t>Scope creep</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Common elicitation techniques compared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Requirements Analysis &amp; Modeling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Use cases and user stories capture functional needs</a:t>
            </a:r>
          </a:p>
          <a:p>
            <a:pPr marL="292608" indent="-292608">
              <a:spcAft>
                <a:spcPts val="1000"/>
              </a:spcAft>
              <a:buClr>
                <a:srgbClr val="0F766E"/>
              </a:buClr>
              <a:buFont typeface="Arial"/>
              <a:buChar char="▪"/>
            </a:pPr>
            <a:r>
              <a:rPr sz="2400">
                <a:solidFill>
                  <a:srgbClr val="1F2937"/>
                </a:solidFill>
                <a:latin typeface="Calibri"/>
              </a:rPr>
              <a:t>Domain models clarify data concepts</a:t>
            </a:r>
          </a:p>
          <a:p>
            <a:pPr marL="292608" indent="-292608">
              <a:spcAft>
                <a:spcPts val="1000"/>
              </a:spcAft>
              <a:buClr>
                <a:srgbClr val="0F766E"/>
              </a:buClr>
              <a:buFont typeface="Arial"/>
              <a:buChar char="▪"/>
            </a:pPr>
            <a:r>
              <a:rPr sz="2400">
                <a:solidFill>
                  <a:srgbClr val="1F2937"/>
                </a:solidFill>
                <a:latin typeface="Calibri"/>
              </a:rPr>
              <a:t>Non‑functional requirements mapped to ISO/IEC 25010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Requirements Specification &amp; Validation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SRS structured per ISO/IEC/IEEE 29148</a:t>
            </a:r>
          </a:p>
          <a:p>
            <a:pPr marL="292608" indent="-292608">
              <a:spcAft>
                <a:spcPts val="1000"/>
              </a:spcAft>
              <a:buClr>
                <a:srgbClr val="0F766E"/>
              </a:buClr>
              <a:buFont typeface="Arial"/>
              <a:buChar char="▪"/>
            </a:pPr>
            <a:r>
              <a:rPr sz="2400">
                <a:solidFill>
                  <a:srgbClr val="1F2937"/>
                </a:solidFill>
                <a:latin typeface="Calibri"/>
              </a:rPr>
              <a:t>Reviews, inspections, and prototypes validate completeness</a:t>
            </a:r>
          </a:p>
          <a:p>
            <a:pPr marL="292608" indent="-292608">
              <a:spcAft>
                <a:spcPts val="1000"/>
              </a:spcAft>
              <a:buClr>
                <a:srgbClr val="0F766E"/>
              </a:buClr>
              <a:buFont typeface="Arial"/>
              <a:buChar char="▪"/>
            </a:pPr>
            <a:r>
              <a:rPr sz="2400">
                <a:solidFill>
                  <a:srgbClr val="1F2937"/>
                </a:solidFill>
                <a:latin typeface="Calibri"/>
              </a:rPr>
              <a:t>Traceability matrix links requirements to tests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Requirements Management &amp; Traceability</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Version control for requirements artifacts</a:t>
            </a:r>
          </a:p>
          <a:p>
            <a:pPr marL="292608" indent="-292608">
              <a:spcAft>
                <a:spcPts val="1000"/>
              </a:spcAft>
              <a:buClr>
                <a:srgbClr val="0F766E"/>
              </a:buClr>
              <a:buFont typeface="Arial"/>
              <a:buChar char="▪"/>
            </a:pPr>
            <a:r>
              <a:rPr sz="2400">
                <a:solidFill>
                  <a:srgbClr val="1F2937"/>
                </a:solidFill>
                <a:latin typeface="Calibri"/>
              </a:rPr>
              <a:t>Change impact analysis via trace links</a:t>
            </a:r>
          </a:p>
          <a:p>
            <a:pPr marL="292608" indent="-292608">
              <a:spcAft>
                <a:spcPts val="1000"/>
              </a:spcAft>
              <a:buClr>
                <a:srgbClr val="0F766E"/>
              </a:buClr>
              <a:buFont typeface="Arial"/>
              <a:buChar char="▪"/>
            </a:pPr>
            <a:r>
              <a:rPr sz="2400">
                <a:solidFill>
                  <a:srgbClr val="1F2937"/>
                </a:solidFill>
                <a:latin typeface="Calibri"/>
              </a:rPr>
              <a:t>Tool support (e.g., DOORS, Jama, Git‑based)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Requirements Engineering Activities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19</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standard structures a Software Requirements Specification (SRS) today?</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ISO/IEC/IEEE 29148</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IEEE 830</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ISO/IEC 25010</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UML 2.x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Key Takeaways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20</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UML 2.x &amp; OMG template standardize use‑case notation</a:t>
            </a:r>
          </a:p>
          <a:p>
            <a:pPr marL="292608" indent="-292608">
              <a:spcAft>
                <a:spcPts val="1000"/>
              </a:spcAft>
              <a:buClr>
                <a:srgbClr val="0F766E"/>
              </a:buClr>
              <a:buFont typeface="Arial"/>
              <a:buChar char="▪"/>
            </a:pPr>
            <a:r>
              <a:rPr sz="2400">
                <a:solidFill>
                  <a:srgbClr val="1F2937"/>
                </a:solidFill>
                <a:latin typeface="Calibri"/>
              </a:rPr>
              <a:t>ISO/IEC/IEEE 29148 guides SRS structure</a:t>
            </a:r>
          </a:p>
          <a:p>
            <a:pPr marL="292608" indent="-292608">
              <a:spcAft>
                <a:spcPts val="1000"/>
              </a:spcAft>
              <a:buClr>
                <a:srgbClr val="0F766E"/>
              </a:buClr>
              <a:buFont typeface="Arial"/>
              <a:buChar char="▪"/>
            </a:pPr>
            <a:r>
              <a:rPr sz="2400">
                <a:solidFill>
                  <a:srgbClr val="1F2937"/>
                </a:solidFill>
                <a:latin typeface="Calibri"/>
              </a:rPr>
              <a:t>ISO/IEC 25010 informs quality requirements</a:t>
            </a:r>
          </a:p>
          <a:p>
            <a:pPr marL="292608" indent="-292608">
              <a:spcAft>
                <a:spcPts val="1000"/>
              </a:spcAft>
              <a:buClr>
                <a:srgbClr val="0F766E"/>
              </a:buClr>
              <a:buFont typeface="Arial"/>
              <a:buChar char="▪"/>
            </a:pPr>
            <a:r>
              <a:rPr sz="2400">
                <a:solidFill>
                  <a:srgbClr val="1F2937"/>
                </a:solidFill>
                <a:latin typeface="Calibri"/>
              </a:rPr>
              <a:t>System boundary defines scope of the system under design</a:t>
            </a:r>
          </a:p>
          <a:p>
            <a:pPr marL="292608" indent="-292608">
              <a:spcAft>
                <a:spcPts val="1000"/>
              </a:spcAft>
              <a:buClr>
                <a:srgbClr val="0F766E"/>
              </a:buClr>
              <a:buFont typeface="Arial"/>
              <a:buChar char="▪"/>
            </a:pPr>
            <a:r>
              <a:rPr sz="2400">
                <a:solidFill>
                  <a:srgbClr val="1F2937"/>
                </a:solidFill>
                <a:latin typeface="Calibri"/>
              </a:rPr>
              <a:t>Spec‑driven development turns use cases into executable specs</a:t>
            </a:r>
          </a:p>
          <a:p>
            <a:pPr marL="292608" indent="-292608">
              <a:spcAft>
                <a:spcPts val="1000"/>
              </a:spcAft>
              <a:buClr>
                <a:srgbClr val="0F766E"/>
              </a:buClr>
              <a:buFont typeface="Arial"/>
              <a:buChar char="▪"/>
            </a:pPr>
            <a:r>
              <a:rPr sz="2400">
                <a:solidFill>
                  <a:srgbClr val="1F2937"/>
                </a:solidFill>
                <a:latin typeface="Calibri"/>
              </a:rPr>
              <a:t>Requirements engineering cycles through elicitation, analysis, specification, validation, management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W04.S2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21</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