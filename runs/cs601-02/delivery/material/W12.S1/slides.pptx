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the lecture's learning outcomes from the approved course design. Assessed in: ProjMilestone, Endsem.</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Introduce the six core reliability requirements that any AI‑native testing pipeline must address. Emphasize that these requirements are not independent; a design decision often trades off one against another. Relate each requirement to concrete pipeline stages (generation, testing, evaluation, deployment).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through each stage, highlighting where AI‑specific nondeterminism appears (generation, dynamic testing). Note that static analysis is deterministic and can catch many defects early, while dynamic stages must be designed for flakiness mitigation.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how specification‑driven development (SDD) structures the prompt and the evaluation harness. Cite the 2026 SDD paper (C2) which shows that explicit specs improve both correctness and reproducibility of generated artifacts.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Describe the AlphaCode pipeline accurately: it parses the problem, generates massive numbers of candidates, filters and clusters them, then evaluates using both generated and held‑out tests before selecting a submission. This illustrates how correctness, performance, and reproducibility are addressed at each stage (C1).</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 complexity backpressure as the course’s proposed policy for controlling overly complex AI‑generated code. The 2026 cross‑model study (C3) shows that token and modularity thresholds reduce downstream debugging effort, but they are configurable checks, not an industry standard.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through the worked problem step by step, showing how to map each pipeline design decision to explicit reliability requirements. This demonstrates the assessment skill required for CO4.LO2 (Bloom level 5). Encourage students to practice with their own project milestones.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contract testing as a specialized integration test that validates interface compliance. It directly supports correctness by catching mismatched schemas, and indirectly aids maintainability by making contracts first‑class artifacts (C4).</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Clarify that MCP is a protocol for exchanging context and invoking tools, not a built‑in context‑tuning mechanism. The 2026 query‑tuning framework (C5) uses MCP to standardize the context supplied to an agent; reproducibility gains come from the client controlling retrieval, versioning, and execution parameters.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Illustrate a concrete workflow where MCP standardizes the context fed to a test‑generation agent. By fixing the context version and token budget, the pipeline achieves better traceability and reproducibility, consistent with the query‑tuning framework (C5).</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quick poll to confirm students distinguish correctness (static guarantees) from robustness (runtime behavior). The most tempting distractor is robustness because static analysis can flag unchecked error paths, but the core target is correctness.</a:t>
            </a:r>
          </a:p>
          <a:p/>
          <a:p>
            <a:r>
              <a:t>Answer: A. Correctness</a:t>
            </a:r>
          </a:p>
          <a:p>
            <a:r>
              <a:t>Static analysis detects defects and violations before execution, directly supporting correctness. While it can also catch some robustness issues, its primary purpose is to ensure the generated code conforms to language rules and specified contracts, i.e., correctness.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Reinforce that contract testing’s main goal is correctness of integration. Maintainability appears as a distractor; clarify that while contracts aid maintenance, the test itself validates correct behavior.</a:t>
            </a:r>
          </a:p>
          <a:p/>
          <a:p>
            <a:r>
              <a:t>Answer: A. Correctness</a:t>
            </a:r>
          </a:p>
          <a:p>
            <a:r>
              <a:t>Contract testing ensures that provider and consumer implementations honor the same interface specification, directly guaranteeing integration correctness. Maintainability is a secondary benefit because contracts become explicit documentation, but the primary verification target is correctness.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Students work in pairs on their development machines using the AI coding tools from the lab (week 11). They practice the assessment skill from CO4.LO2 by mapping observed pipeline stages to reliability requirements and proposing justified enhancements. Instructor circulates to answer questions.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Summarize practical strategies from the autonomous coding agents study (C6) to reduce nondeterministic test failures. Emphasize that flakiness undermines reproducibility and correctness guarantees, so systematic mitigation is essential in AI‑native pipelines.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Detail concrete steps to achieve reproducibility, drawing on AlphaCode’s evaluation methodology (C1) and the complexity backpressure study (C3). Controlled reruns turn nondeterministic generation into an auditable process, supporting both reproducibility and correctness.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Briefly outline the upcoming deployment‑focused lecture, linking current pipeline assessment to production reliability metrics. This sets expectations for the project milestone due in week 12.</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Conclude by recapping the main themes: requirements‑driven design, concrete AI‑native testing stages, and the assessment mindset needed for the project milestone and final exam. Remind students to review the lab report feedback.</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1280160"/>
            <a:ext cx="10545775" cy="457200"/>
          </a:xfrm>
          <a:prstGeom prst="rect">
            <a:avLst/>
          </a:prstGeom>
          <a:noFill/>
        </p:spPr>
        <p:txBody>
          <a:bodyPr wrap="square" anchor="t" lIns="45720" rIns="45720">
            <a:spAutoFit/>
          </a:bodyPr>
          <a:lstStyle/>
          <a:p>
            <a:pPr algn="l"/>
            <a:r>
              <a:rPr sz="1800" b="0">
                <a:solidFill>
                  <a:srgbClr val="CCFBF1"/>
                </a:solidFill>
                <a:latin typeface="Calibri"/>
              </a:rPr>
              <a:t>Software Development using AI</a:t>
            </a:r>
          </a:p>
        </p:txBody>
      </p:sp>
      <p:sp>
        <p:nvSpPr>
          <p:cNvPr id="4" name="TextBox 3"/>
          <p:cNvSpPr txBox="1"/>
          <p:nvPr/>
        </p:nvSpPr>
        <p:spPr>
          <a:xfrm>
            <a:off x="822960" y="1828800"/>
            <a:ext cx="10545775" cy="2011680"/>
          </a:xfrm>
          <a:prstGeom prst="rect">
            <a:avLst/>
          </a:prstGeom>
          <a:noFill/>
        </p:spPr>
        <p:txBody>
          <a:bodyPr wrap="square" anchor="ctr" lIns="45720" rIns="45720">
            <a:spAutoFit/>
          </a:bodyPr>
          <a:lstStyle/>
          <a:p>
            <a:pPr algn="l"/>
            <a:r>
              <a:rPr sz="4400" b="1">
                <a:solidFill>
                  <a:srgbClr val="CCFBF1"/>
                </a:solidFill>
                <a:latin typeface="Calibri"/>
              </a:rPr>
              <a:t>Reliable and Safe Trustworthy Software Architectures</a:t>
            </a:r>
          </a:p>
        </p:txBody>
      </p:sp>
      <p:sp>
        <p:nvSpPr>
          <p:cNvPr id="5" name="TextBox 4"/>
          <p:cNvSpPr txBox="1"/>
          <p:nvPr/>
        </p:nvSpPr>
        <p:spPr>
          <a:xfrm>
            <a:off x="822960" y="4023360"/>
            <a:ext cx="10545775" cy="548640"/>
          </a:xfrm>
          <a:prstGeom prst="rect">
            <a:avLst/>
          </a:prstGeom>
          <a:noFill/>
        </p:spPr>
        <p:txBody>
          <a:bodyPr wrap="square" anchor="t" lIns="45720" rIns="45720">
            <a:spAutoFit/>
          </a:bodyPr>
          <a:lstStyle/>
          <a:p>
            <a:pPr algn="l"/>
            <a:r>
              <a:rPr sz="1800" b="0">
                <a:solidFill>
                  <a:srgbClr val="CCFBF1"/>
                </a:solidFill>
                <a:latin typeface="Calibri"/>
              </a:rPr>
              <a:t>Week 12 · Reliable AI-Native Pipelines and Deployment · 90 min</a:t>
            </a:r>
          </a:p>
        </p:txBody>
      </p:sp>
      <p:sp>
        <p:nvSpPr>
          <p:cNvPr id="6" name="TextBox 5"/>
          <p:cNvSpPr txBox="1"/>
          <p:nvPr/>
        </p:nvSpPr>
        <p:spPr>
          <a:xfrm>
            <a:off x="822960" y="6035040"/>
            <a:ext cx="10545775" cy="365760"/>
          </a:xfrm>
          <a:prstGeom prst="rect">
            <a:avLst/>
          </a:prstGeom>
          <a:noFill/>
        </p:spPr>
        <p:txBody>
          <a:bodyPr wrap="square" anchor="t" lIns="45720" rIns="45720">
            <a:spAutoFit/>
          </a:bodyPr>
          <a:lstStyle/>
          <a:p>
            <a:pPr algn="l"/>
            <a:r>
              <a:rPr sz="1200" b="0">
                <a:solidFill>
                  <a:srgbClr val="CCFBF1"/>
                </a:solidFill>
                <a:latin typeface="Calibri"/>
              </a:rPr>
              <a:t>Draft generated by ProfsAgent from the course design: review and edit before teaching.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868680"/>
          </a:xfrm>
          <a:prstGeom prst="rect">
            <a:avLst/>
          </a:prstGeom>
          <a:noFill/>
        </p:spPr>
        <p:txBody>
          <a:bodyPr wrap="square" anchor="ctr" lIns="45720" rIns="45720">
            <a:spAutoFit/>
          </a:bodyPr>
          <a:lstStyle/>
          <a:p>
            <a:pPr algn="l"/>
            <a:r>
              <a:rPr sz="3000" b="1">
                <a:solidFill>
                  <a:srgbClr val="1F2937"/>
                </a:solidFill>
                <a:latin typeface="Calibri"/>
              </a:rPr>
              <a:t>By the end of this lecture you can</a:t>
            </a:r>
          </a:p>
        </p:txBody>
      </p:sp>
      <p:sp>
        <p:nvSpPr>
          <p:cNvPr id="4" name="TextBox 3"/>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W12.S1</a:t>
            </a:r>
          </a:p>
        </p:txBody>
      </p:sp>
      <p:sp>
        <p:nvSpPr>
          <p:cNvPr id="5" name="TextBox 4"/>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2</a:t>
            </a:r>
          </a:p>
        </p:txBody>
      </p:sp>
      <p:sp>
        <p:nvSpPr>
          <p:cNvPr id="6" name="TextBox 5"/>
          <p:cNvSpPr txBox="1"/>
          <p:nvPr/>
        </p:nvSpPr>
        <p:spPr>
          <a:xfrm>
            <a:off x="548640" y="1463040"/>
            <a:ext cx="11094415" cy="4754880"/>
          </a:xfrm>
          <a:prstGeom prst="rect">
            <a:avLst/>
          </a:prstGeom>
          <a:noFill/>
        </p:spPr>
        <p:txBody>
          <a:bodyPr wrap="square">
            <a:spAutoFit/>
          </a:bodyPr>
          <a:lstStyle/>
          <a:p>
            <a:pPr marL="292608" indent="-292608">
              <a:spcAft>
                <a:spcPts val="1000"/>
              </a:spcAft>
              <a:buClr>
                <a:srgbClr val="0F766E"/>
              </a:buClr>
              <a:buFont typeface="Arial"/>
              <a:buChar char="▪"/>
            </a:pPr>
            <a:r>
              <a:rPr sz="2400">
                <a:solidFill>
                  <a:srgbClr val="1F2937"/>
                </a:solidFill>
                <a:latin typeface="Calibri"/>
              </a:rPr>
              <a:t>Assess automated testing pipelines for AI-native software factories, for a supplied multi-component software project, justifying each design decision against at least one stated reliability requirement (CO4.LO2)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868680"/>
          </a:xfrm>
          <a:prstGeom prst="rect">
            <a:avLst/>
          </a:prstGeom>
          <a:noFill/>
        </p:spPr>
        <p:txBody>
          <a:bodyPr wrap="square" anchor="ctr" lIns="45720" rIns="45720">
            <a:spAutoFit/>
          </a:bodyPr>
          <a:lstStyle/>
          <a:p>
            <a:pPr algn="l"/>
            <a:r>
              <a:rPr sz="3000" b="1">
                <a:solidFill>
                  <a:srgbClr val="1F2937"/>
                </a:solidFill>
                <a:latin typeface="Calibri"/>
              </a:rPr>
              <a:t>Reliability Requirements for AI-Native Pipelines</a:t>
            </a:r>
          </a:p>
        </p:txBody>
      </p:sp>
      <p:sp>
        <p:nvSpPr>
          <p:cNvPr id="4" name="TextBox 3"/>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W12.S1   ·   Sources: [C4]</a:t>
            </a:r>
          </a:p>
        </p:txBody>
      </p:sp>
      <p:sp>
        <p:nvSpPr>
          <p:cNvPr id="5" name="TextBox 4"/>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3</a:t>
            </a:r>
          </a:p>
        </p:txBody>
      </p:sp>
      <p:sp>
        <p:nvSpPr>
          <p:cNvPr id="6" name="TextBox 5"/>
          <p:cNvSpPr txBox="1"/>
          <p:nvPr/>
        </p:nvSpPr>
        <p:spPr>
          <a:xfrm>
            <a:off x="548640" y="1463040"/>
            <a:ext cx="11094415" cy="4709160"/>
          </a:xfrm>
          <a:prstGeom prst="rect">
            <a:avLst/>
          </a:prstGeom>
          <a:noFill/>
        </p:spPr>
        <p:txBody>
          <a:bodyPr wrap="square">
            <a:spAutoFit/>
          </a:bodyPr>
          <a:lstStyle/>
          <a:p>
            <a:pPr marL="292608" indent="-292608">
              <a:spcAft>
                <a:spcPts val="1000"/>
              </a:spcAft>
              <a:buClr>
                <a:srgbClr val="0F766E"/>
              </a:buClr>
              <a:buFont typeface="Arial"/>
              <a:buChar char="▪"/>
            </a:pPr>
            <a:r>
              <a:rPr sz="2400">
                <a:solidFill>
                  <a:srgbClr val="1F2937"/>
                </a:solidFill>
                <a:latin typeface="Calibri"/>
              </a:rPr>
              <a:t>Correctness: outputs match specification</a:t>
            </a:r>
          </a:p>
          <a:p>
            <a:pPr marL="292608" indent="-292608">
              <a:spcAft>
                <a:spcPts val="1000"/>
              </a:spcAft>
              <a:buClr>
                <a:srgbClr val="0F766E"/>
              </a:buClr>
              <a:buFont typeface="Arial"/>
              <a:buChar char="▪"/>
            </a:pPr>
            <a:r>
              <a:rPr sz="2400">
                <a:solidFill>
                  <a:srgbClr val="1F2937"/>
                </a:solidFill>
                <a:latin typeface="Calibri"/>
              </a:rPr>
              <a:t>Robustness: graceful handling of unexpected inputs</a:t>
            </a:r>
          </a:p>
          <a:p>
            <a:pPr marL="292608" indent="-292608">
              <a:spcAft>
                <a:spcPts val="1000"/>
              </a:spcAft>
              <a:buClr>
                <a:srgbClr val="0F766E"/>
              </a:buClr>
              <a:buFont typeface="Arial"/>
              <a:buChar char="▪"/>
            </a:pPr>
            <a:r>
              <a:rPr sz="2400">
                <a:solidFill>
                  <a:srgbClr val="1F2937"/>
                </a:solidFill>
                <a:latin typeface="Calibri"/>
              </a:rPr>
              <a:t>Performance: latency and throughput bounds</a:t>
            </a:r>
          </a:p>
          <a:p>
            <a:pPr marL="292608" indent="-292608">
              <a:spcAft>
                <a:spcPts val="1000"/>
              </a:spcAft>
              <a:buClr>
                <a:srgbClr val="0F766E"/>
              </a:buClr>
              <a:buFont typeface="Arial"/>
              <a:buChar char="▪"/>
            </a:pPr>
            <a:r>
              <a:rPr sz="2400">
                <a:solidFill>
                  <a:srgbClr val="1F2937"/>
                </a:solidFill>
                <a:latin typeface="Calibri"/>
              </a:rPr>
              <a:t>Reproducibility: deterministic results across runs</a:t>
            </a:r>
          </a:p>
          <a:p>
            <a:pPr marL="292608" indent="-292608">
              <a:spcAft>
                <a:spcPts val="1000"/>
              </a:spcAft>
              <a:buClr>
                <a:srgbClr val="0F766E"/>
              </a:buClr>
              <a:buFont typeface="Arial"/>
              <a:buChar char="▪"/>
            </a:pPr>
            <a:r>
              <a:rPr sz="2400">
                <a:solidFill>
                  <a:srgbClr val="1F2937"/>
                </a:solidFill>
                <a:latin typeface="Calibri"/>
              </a:rPr>
              <a:t>Maintainability: clear contracts and low coupling</a:t>
            </a:r>
          </a:p>
          <a:p>
            <a:pPr marL="292608" indent="-292608">
              <a:spcAft>
                <a:spcPts val="1000"/>
              </a:spcAft>
              <a:buClr>
                <a:srgbClr val="0F766E"/>
              </a:buClr>
              <a:buFont typeface="Arial"/>
              <a:buChar char="▪"/>
            </a:pPr>
            <a:r>
              <a:rPr sz="2400">
                <a:solidFill>
                  <a:srgbClr val="1F2937"/>
                </a:solidFill>
                <a:latin typeface="Calibri"/>
              </a:rPr>
              <a:t>Security: protection against injection and leakage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868680"/>
          </a:xfrm>
          <a:prstGeom prst="rect">
            <a:avLst/>
          </a:prstGeom>
          <a:noFill/>
        </p:spPr>
        <p:txBody>
          <a:bodyPr wrap="square" anchor="ctr" lIns="45720" rIns="45720">
            <a:spAutoFit/>
          </a:bodyPr>
          <a:lstStyle/>
          <a:p>
            <a:pPr algn="l"/>
            <a:r>
              <a:rPr sz="3000" b="1">
                <a:solidFill>
                  <a:srgbClr val="1F2937"/>
                </a:solidFill>
                <a:latin typeface="Calibri"/>
              </a:rPr>
              <a:t>Automated Testing Pipeline Stages</a:t>
            </a:r>
          </a:p>
        </p:txBody>
      </p:sp>
      <p:sp>
        <p:nvSpPr>
          <p:cNvPr id="4" name="TextBox 3"/>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W12.S1   ·   Sources: [C4] [C6]</a:t>
            </a:r>
          </a:p>
        </p:txBody>
      </p:sp>
      <p:sp>
        <p:nvSpPr>
          <p:cNvPr id="5" name="TextBox 4"/>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4</a:t>
            </a:r>
          </a:p>
        </p:txBody>
      </p:sp>
      <p:sp>
        <p:nvSpPr>
          <p:cNvPr id="6" name="TextBox 5"/>
          <p:cNvSpPr txBox="1"/>
          <p:nvPr/>
        </p:nvSpPr>
        <p:spPr>
          <a:xfrm>
            <a:off x="548640" y="1463040"/>
            <a:ext cx="5769095" cy="4709160"/>
          </a:xfrm>
          <a:prstGeom prst="rect">
            <a:avLst/>
          </a:prstGeom>
          <a:noFill/>
        </p:spPr>
        <p:txBody>
          <a:bodyPr wrap="square">
            <a:spAutoFit/>
          </a:bodyPr>
          <a:lstStyle/>
          <a:p>
            <a:pPr marL="292608" indent="-292608">
              <a:spcAft>
                <a:spcPts val="1000"/>
              </a:spcAft>
              <a:buClr>
                <a:srgbClr val="0F766E"/>
              </a:buClr>
              <a:buFont typeface="Arial"/>
              <a:buChar char="▪"/>
            </a:pPr>
            <a:r>
              <a:rPr sz="2300">
                <a:solidFill>
                  <a:srgbClr val="1F2937"/>
                </a:solidFill>
                <a:latin typeface="Calibri"/>
              </a:rPr>
              <a:t>Specification capture (requirements, contracts)</a:t>
            </a:r>
          </a:p>
          <a:p>
            <a:pPr marL="292608" indent="-292608">
              <a:spcAft>
                <a:spcPts val="1000"/>
              </a:spcAft>
              <a:buClr>
                <a:srgbClr val="0F766E"/>
              </a:buClr>
              <a:buFont typeface="Arial"/>
              <a:buChar char="▪"/>
            </a:pPr>
            <a:r>
              <a:rPr sz="2300">
                <a:solidFill>
                  <a:srgbClr val="1F2937"/>
                </a:solidFill>
                <a:latin typeface="Calibri"/>
              </a:rPr>
              <a:t>Code generation (LLM or agent)</a:t>
            </a:r>
          </a:p>
          <a:p>
            <a:pPr marL="292608" indent="-292608">
              <a:spcAft>
                <a:spcPts val="1000"/>
              </a:spcAft>
              <a:buClr>
                <a:srgbClr val="0F766E"/>
              </a:buClr>
              <a:buFont typeface="Arial"/>
              <a:buChar char="▪"/>
            </a:pPr>
            <a:r>
              <a:rPr sz="2300">
                <a:solidFill>
                  <a:srgbClr val="1F2937"/>
                </a:solidFill>
                <a:latin typeface="Calibri"/>
              </a:rPr>
              <a:t>Static analysis (lint, type check, security scan)</a:t>
            </a:r>
          </a:p>
          <a:p>
            <a:pPr marL="292608" indent="-292608">
              <a:spcAft>
                <a:spcPts val="1000"/>
              </a:spcAft>
              <a:buClr>
                <a:srgbClr val="0F766E"/>
              </a:buClr>
              <a:buFont typeface="Arial"/>
              <a:buChar char="▪"/>
            </a:pPr>
            <a:r>
              <a:rPr sz="2300">
                <a:solidFill>
                  <a:srgbClr val="1F2937"/>
                </a:solidFill>
                <a:latin typeface="Calibri"/>
              </a:rPr>
              <a:t>Dynamic testing (unit, integration, contract, property‑based)</a:t>
            </a:r>
          </a:p>
          <a:p>
            <a:pPr marL="292608" indent="-292608">
              <a:spcAft>
                <a:spcPts val="1000"/>
              </a:spcAft>
              <a:buClr>
                <a:srgbClr val="0F766E"/>
              </a:buClr>
              <a:buFont typeface="Arial"/>
              <a:buChar char="▪"/>
            </a:pPr>
            <a:r>
              <a:rPr sz="2300">
                <a:solidFill>
                  <a:srgbClr val="1F2937"/>
                </a:solidFill>
                <a:latin typeface="Calibri"/>
              </a:rPr>
              <a:t>Stress &amp; mutation testing for robustness</a:t>
            </a:r>
          </a:p>
          <a:p>
            <a:pPr marL="292608" indent="-292608">
              <a:spcAft>
                <a:spcPts val="1000"/>
              </a:spcAft>
              <a:buClr>
                <a:srgbClr val="0F766E"/>
              </a:buClr>
              <a:buFont typeface="Arial"/>
              <a:buChar char="▪"/>
            </a:pPr>
            <a:r>
              <a:rPr sz="2300">
                <a:solidFill>
                  <a:srgbClr val="1F2937"/>
                </a:solidFill>
                <a:latin typeface="Calibri"/>
              </a:rPr>
              <a:t>Evaluation &amp; selection (metrics, thresholds)</a:t>
            </a:r>
          </a:p>
        </p:txBody>
      </p:sp>
      <p:sp>
        <p:nvSpPr>
          <p:cNvPr id="7" name="Rounded Rectangle 6"/>
          <p:cNvSpPr/>
          <p:nvPr/>
        </p:nvSpPr>
        <p:spPr>
          <a:xfrm>
            <a:off x="6683495" y="1463040"/>
            <a:ext cx="4959560" cy="457200"/>
          </a:xfrm>
          <a:prstGeom prst="roundRect">
            <a:avLst/>
          </a:prstGeom>
          <a:solidFill>
            <a:srgbClr val="CCFBF1"/>
          </a:solidFill>
          <a:ln>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a:solidFill>
                  <a:srgbClr val="1F2937"/>
                </a:solidFill>
                <a:latin typeface="Calibri"/>
              </a:rPr>
              <a:t>Spec</a:t>
            </a:r>
          </a:p>
        </p:txBody>
      </p:sp>
      <p:sp>
        <p:nvSpPr>
          <p:cNvPr id="8" name="Down Arrow 7"/>
          <p:cNvSpPr/>
          <p:nvPr/>
        </p:nvSpPr>
        <p:spPr>
          <a:xfrm>
            <a:off x="9026115" y="1947672"/>
            <a:ext cx="274320" cy="265176"/>
          </a:xfrm>
          <a:prstGeom prst="downArrow">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683495" y="2240280"/>
            <a:ext cx="4959560" cy="457200"/>
          </a:xfrm>
          <a:prstGeom prst="roundRect">
            <a:avLst/>
          </a:prstGeom>
          <a:solidFill>
            <a:srgbClr val="CCFBF1"/>
          </a:solidFill>
          <a:ln>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a:solidFill>
                  <a:srgbClr val="1F2937"/>
                </a:solidFill>
                <a:latin typeface="Calibri"/>
              </a:rPr>
              <a:t>Generate</a:t>
            </a:r>
          </a:p>
        </p:txBody>
      </p:sp>
      <p:sp>
        <p:nvSpPr>
          <p:cNvPr id="10" name="Down Arrow 9"/>
          <p:cNvSpPr/>
          <p:nvPr/>
        </p:nvSpPr>
        <p:spPr>
          <a:xfrm>
            <a:off x="9026115" y="2724912"/>
            <a:ext cx="274320" cy="265176"/>
          </a:xfrm>
          <a:prstGeom prst="downArrow">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683495" y="3017520"/>
            <a:ext cx="4959560" cy="457200"/>
          </a:xfrm>
          <a:prstGeom prst="roundRect">
            <a:avLst/>
          </a:prstGeom>
          <a:solidFill>
            <a:srgbClr val="CCFBF1"/>
          </a:solidFill>
          <a:ln>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a:solidFill>
                  <a:srgbClr val="1F2937"/>
                </a:solidFill>
                <a:latin typeface="Calibri"/>
              </a:rPr>
              <a:t>Static Analysis</a:t>
            </a:r>
          </a:p>
        </p:txBody>
      </p:sp>
      <p:sp>
        <p:nvSpPr>
          <p:cNvPr id="12" name="Down Arrow 11"/>
          <p:cNvSpPr/>
          <p:nvPr/>
        </p:nvSpPr>
        <p:spPr>
          <a:xfrm>
            <a:off x="9026115" y="3502152"/>
            <a:ext cx="274320" cy="265176"/>
          </a:xfrm>
          <a:prstGeom prst="downArrow">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683495" y="3794760"/>
            <a:ext cx="4959560" cy="457200"/>
          </a:xfrm>
          <a:prstGeom prst="roundRect">
            <a:avLst/>
          </a:prstGeom>
          <a:solidFill>
            <a:srgbClr val="CCFBF1"/>
          </a:solidFill>
          <a:ln>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a:solidFill>
                  <a:srgbClr val="1F2937"/>
                </a:solidFill>
                <a:latin typeface="Calibri"/>
              </a:rPr>
              <a:t>Dynamic Tests</a:t>
            </a:r>
          </a:p>
        </p:txBody>
      </p:sp>
      <p:sp>
        <p:nvSpPr>
          <p:cNvPr id="14" name="Down Arrow 13"/>
          <p:cNvSpPr/>
          <p:nvPr/>
        </p:nvSpPr>
        <p:spPr>
          <a:xfrm>
            <a:off x="9026115" y="4279392"/>
            <a:ext cx="274320" cy="265176"/>
          </a:xfrm>
          <a:prstGeom prst="downArrow">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683495" y="4572000"/>
            <a:ext cx="4959560" cy="457200"/>
          </a:xfrm>
          <a:prstGeom prst="roundRect">
            <a:avLst/>
          </a:prstGeom>
          <a:solidFill>
            <a:srgbClr val="CCFBF1"/>
          </a:solidFill>
          <a:ln>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a:solidFill>
                  <a:srgbClr val="1F2937"/>
                </a:solidFill>
                <a:latin typeface="Calibri"/>
              </a:rPr>
              <a:t>Stress/Mutation</a:t>
            </a:r>
          </a:p>
        </p:txBody>
      </p:sp>
      <p:sp>
        <p:nvSpPr>
          <p:cNvPr id="16" name="Down Arrow 15"/>
          <p:cNvSpPr/>
          <p:nvPr/>
        </p:nvSpPr>
        <p:spPr>
          <a:xfrm>
            <a:off x="9026115" y="5056632"/>
            <a:ext cx="274320" cy="265176"/>
          </a:xfrm>
          <a:prstGeom prst="downArrow">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683495" y="5349240"/>
            <a:ext cx="4959560" cy="457200"/>
          </a:xfrm>
          <a:prstGeom prst="roundRect">
            <a:avLst/>
          </a:prstGeom>
          <a:solidFill>
            <a:srgbClr val="CCFBF1"/>
          </a:solidFill>
          <a:ln>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a:solidFill>
                  <a:srgbClr val="1F2937"/>
                </a:solidFill>
                <a:latin typeface="Calibri"/>
              </a:rPr>
              <a:t>Evaluate</a:t>
            </a:r>
          </a:p>
        </p:txBody>
      </p:sp>
      <p:sp>
        <p:nvSpPr>
          <p:cNvPr id="18" name="TextBox 17"/>
          <p:cNvSpPr txBox="1"/>
          <p:nvPr/>
        </p:nvSpPr>
        <p:spPr>
          <a:xfrm>
            <a:off x="6683495" y="5806440"/>
            <a:ext cx="4959560" cy="365760"/>
          </a:xfrm>
          <a:prstGeom prst="rect">
            <a:avLst/>
          </a:prstGeom>
          <a:noFill/>
        </p:spPr>
        <p:txBody>
          <a:bodyPr wrap="square" anchor="t" lIns="45720" rIns="45720">
            <a:spAutoFit/>
          </a:bodyPr>
          <a:lstStyle/>
          <a:p>
            <a:pPr algn="ctr"/>
            <a:r>
              <a:rPr sz="1200" b="0">
                <a:solidFill>
                  <a:srgbClr val="6B7280"/>
                </a:solidFill>
                <a:latin typeface="Calibri"/>
              </a:rPr>
              <a:t>Typical AI‑native pipeline flow</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868680"/>
          </a:xfrm>
          <a:prstGeom prst="rect">
            <a:avLst/>
          </a:prstGeom>
          <a:noFill/>
        </p:spPr>
        <p:txBody>
          <a:bodyPr wrap="square" anchor="ctr" lIns="45720" rIns="45720">
            <a:spAutoFit/>
          </a:bodyPr>
          <a:lstStyle/>
          <a:p>
            <a:pPr algn="l"/>
            <a:r>
              <a:rPr sz="3000" b="1">
                <a:solidFill>
                  <a:srgbClr val="1F2937"/>
                </a:solidFill>
                <a:latin typeface="Calibri"/>
              </a:rPr>
              <a:t>Specification‑Driven Development for AI Code Generation</a:t>
            </a:r>
          </a:p>
        </p:txBody>
      </p:sp>
      <p:sp>
        <p:nvSpPr>
          <p:cNvPr id="4" name="TextBox 3"/>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W12.S1   ·   Sources: [C2]</a:t>
            </a:r>
          </a:p>
        </p:txBody>
      </p:sp>
      <p:sp>
        <p:nvSpPr>
          <p:cNvPr id="5" name="TextBox 4"/>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5</a:t>
            </a:r>
          </a:p>
        </p:txBody>
      </p:sp>
      <p:sp>
        <p:nvSpPr>
          <p:cNvPr id="6" name="TextBox 5"/>
          <p:cNvSpPr txBox="1"/>
          <p:nvPr/>
        </p:nvSpPr>
        <p:spPr>
          <a:xfrm>
            <a:off x="548640" y="1463040"/>
            <a:ext cx="11094415" cy="4709160"/>
          </a:xfrm>
          <a:prstGeom prst="rect">
            <a:avLst/>
          </a:prstGeom>
          <a:noFill/>
        </p:spPr>
        <p:txBody>
          <a:bodyPr wrap="square">
            <a:spAutoFit/>
          </a:bodyPr>
          <a:lstStyle/>
          <a:p>
            <a:pPr marL="292608" indent="-292608">
              <a:spcAft>
                <a:spcPts val="1000"/>
              </a:spcAft>
              <a:buClr>
                <a:srgbClr val="0F766E"/>
              </a:buClr>
              <a:buFont typeface="Arial"/>
              <a:buChar char="▪"/>
            </a:pPr>
            <a:r>
              <a:rPr sz="2400">
                <a:solidFill>
                  <a:srgbClr val="1F2937"/>
                </a:solidFill>
                <a:latin typeface="Calibri"/>
              </a:rPr>
              <a:t>Formal specs (pre/post conditions, invariants) guide generation</a:t>
            </a:r>
          </a:p>
          <a:p>
            <a:pPr marL="292608" indent="-292608">
              <a:spcAft>
                <a:spcPts val="1000"/>
              </a:spcAft>
              <a:buClr>
                <a:srgbClr val="0F766E"/>
              </a:buClr>
              <a:buFont typeface="Arial"/>
              <a:buChar char="▪"/>
            </a:pPr>
            <a:r>
              <a:rPr sz="2400">
                <a:solidFill>
                  <a:srgbClr val="1F2937"/>
                </a:solidFill>
                <a:latin typeface="Calibri"/>
              </a:rPr>
              <a:t>Specs become executable contracts for testing</a:t>
            </a:r>
          </a:p>
          <a:p>
            <a:pPr marL="292608" indent="-292608">
              <a:spcAft>
                <a:spcPts val="1000"/>
              </a:spcAft>
              <a:buClr>
                <a:srgbClr val="0F766E"/>
              </a:buClr>
              <a:buFont typeface="Arial"/>
              <a:buChar char="▪"/>
            </a:pPr>
            <a:r>
              <a:rPr sz="2400">
                <a:solidFill>
                  <a:srgbClr val="1F2937"/>
                </a:solidFill>
                <a:latin typeface="Calibri"/>
              </a:rPr>
              <a:t>Reduces ambiguity between human intent and model output</a:t>
            </a:r>
          </a:p>
          <a:p>
            <a:pPr marL="292608" indent="-292608">
              <a:spcAft>
                <a:spcPts val="1000"/>
              </a:spcAft>
              <a:buClr>
                <a:srgbClr val="0F766E"/>
              </a:buClr>
              <a:buFont typeface="Arial"/>
              <a:buChar char="▪"/>
            </a:pPr>
            <a:r>
              <a:rPr sz="2400">
                <a:solidFill>
                  <a:srgbClr val="1F2937"/>
                </a:solidFill>
                <a:latin typeface="Calibri"/>
              </a:rPr>
              <a:t>Enables automated verification of generated code</a:t>
            </a:r>
          </a:p>
          <a:p>
            <a:pPr marL="292608" indent="-292608">
              <a:spcAft>
                <a:spcPts val="1000"/>
              </a:spcAft>
              <a:buClr>
                <a:srgbClr val="0F766E"/>
              </a:buClr>
              <a:buFont typeface="Arial"/>
              <a:buChar char="▪"/>
            </a:pPr>
            <a:r>
              <a:rPr sz="2400">
                <a:solidFill>
                  <a:srgbClr val="1F2937"/>
                </a:solidFill>
                <a:latin typeface="Calibri"/>
              </a:rPr>
              <a:t>Supports traceability from requirement to test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9082735" cy="868680"/>
          </a:xfrm>
          <a:prstGeom prst="rect">
            <a:avLst/>
          </a:prstGeom>
          <a:noFill/>
        </p:spPr>
        <p:txBody>
          <a:bodyPr wrap="square" anchor="ctr" lIns="45720" rIns="45720">
            <a:spAutoFit/>
          </a:bodyPr>
          <a:lstStyle/>
          <a:p>
            <a:pPr algn="l"/>
            <a:r>
              <a:rPr sz="3000" b="1">
                <a:solidFill>
                  <a:srgbClr val="1F2937"/>
                </a:solidFill>
                <a:latin typeface="Calibri"/>
              </a:rPr>
              <a:t>AlphaCode Competition Pipeline Case Study</a:t>
            </a:r>
          </a:p>
        </p:txBody>
      </p:sp>
      <p:sp>
        <p:nvSpPr>
          <p:cNvPr id="4" name="Rounded Rectangle 3"/>
          <p:cNvSpPr/>
          <p:nvPr/>
        </p:nvSpPr>
        <p:spPr>
          <a:xfrm>
            <a:off x="9814255" y="502920"/>
            <a:ext cx="1828800" cy="457200"/>
          </a:xfrm>
          <a:prstGeom prst="roundRect">
            <a:avLst/>
          </a:prstGeom>
          <a:solidFill>
            <a:srgbClr val="CCFB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0F766E"/>
                </a:solidFill>
                <a:latin typeface="Calibri"/>
              </a:rPr>
              <a:t>Example</a:t>
            </a:r>
          </a:p>
        </p:txBody>
      </p:sp>
      <p:sp>
        <p:nvSpPr>
          <p:cNvPr id="5" name="TextBox 4"/>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W12.S1   ·   Sources: [C1]</a:t>
            </a:r>
          </a:p>
        </p:txBody>
      </p:sp>
      <p:sp>
        <p:nvSpPr>
          <p:cNvPr id="6" name="TextBox 5"/>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6</a:t>
            </a:r>
          </a:p>
        </p:txBody>
      </p:sp>
      <p:sp>
        <p:nvSpPr>
          <p:cNvPr id="7" name="TextBox 6"/>
          <p:cNvSpPr txBox="1"/>
          <p:nvPr/>
        </p:nvSpPr>
        <p:spPr>
          <a:xfrm>
            <a:off x="548640" y="1463040"/>
            <a:ext cx="5769095" cy="4709160"/>
          </a:xfrm>
          <a:prstGeom prst="rect">
            <a:avLst/>
          </a:prstGeom>
          <a:noFill/>
        </p:spPr>
        <p:txBody>
          <a:bodyPr wrap="square">
            <a:spAutoFit/>
          </a:bodyPr>
          <a:lstStyle/>
          <a:p>
            <a:pPr marL="292608" indent="-292608">
              <a:spcAft>
                <a:spcPts val="1000"/>
              </a:spcAft>
              <a:buClr>
                <a:srgbClr val="0F766E"/>
              </a:buClr>
              <a:buFont typeface="Arial"/>
              <a:buChar char="▪"/>
            </a:pPr>
            <a:r>
              <a:rPr sz="2100">
                <a:solidFill>
                  <a:srgbClr val="1F2937"/>
                </a:solidFill>
                <a:latin typeface="Calibri"/>
              </a:rPr>
              <a:t>Problem parsing → natural language to formal spec</a:t>
            </a:r>
          </a:p>
          <a:p>
            <a:pPr marL="292608" indent="-292608">
              <a:spcAft>
                <a:spcPts val="1000"/>
              </a:spcAft>
              <a:buClr>
                <a:srgbClr val="0F766E"/>
              </a:buClr>
              <a:buFont typeface="Arial"/>
              <a:buChar char="▪"/>
            </a:pPr>
            <a:r>
              <a:rPr sz="2100">
                <a:solidFill>
                  <a:srgbClr val="1F2937"/>
                </a:solidFill>
                <a:latin typeface="Calibri"/>
              </a:rPr>
              <a:t>Large‑scale candidate generation (millions of programs)</a:t>
            </a:r>
          </a:p>
          <a:p>
            <a:pPr marL="292608" indent="-292608">
              <a:spcAft>
                <a:spcPts val="1000"/>
              </a:spcAft>
              <a:buClr>
                <a:srgbClr val="0F766E"/>
              </a:buClr>
              <a:buFont typeface="Arial"/>
              <a:buChar char="▪"/>
            </a:pPr>
            <a:r>
              <a:rPr sz="2100">
                <a:solidFill>
                  <a:srgbClr val="1F2937"/>
                </a:solidFill>
                <a:latin typeface="Calibri"/>
              </a:rPr>
              <a:t>Filtering by syntax and static checks</a:t>
            </a:r>
          </a:p>
          <a:p>
            <a:pPr marL="292608" indent="-292608">
              <a:spcAft>
                <a:spcPts val="1000"/>
              </a:spcAft>
              <a:buClr>
                <a:srgbClr val="0F766E"/>
              </a:buClr>
              <a:buFont typeface="Arial"/>
              <a:buChar char="▪"/>
            </a:pPr>
            <a:r>
              <a:rPr sz="2100">
                <a:solidFill>
                  <a:srgbClr val="1F2937"/>
                </a:solidFill>
                <a:latin typeface="Calibri"/>
              </a:rPr>
              <a:t>Clustering by output behavior on generated tests</a:t>
            </a:r>
          </a:p>
          <a:p>
            <a:pPr marL="292608" indent="-292608">
              <a:spcAft>
                <a:spcPts val="1000"/>
              </a:spcAft>
              <a:buClr>
                <a:srgbClr val="0F766E"/>
              </a:buClr>
              <a:buFont typeface="Arial"/>
              <a:buChar char="▪"/>
            </a:pPr>
            <a:r>
              <a:rPr sz="2100">
                <a:solidFill>
                  <a:srgbClr val="1F2937"/>
                </a:solidFill>
                <a:latin typeface="Calibri"/>
              </a:rPr>
              <a:t>Evaluation on held‑out test suite (generated + hidden)</a:t>
            </a:r>
          </a:p>
          <a:p>
            <a:pPr marL="292608" indent="-292608">
              <a:spcAft>
                <a:spcPts val="1000"/>
              </a:spcAft>
              <a:buClr>
                <a:srgbClr val="0F766E"/>
              </a:buClr>
              <a:buFont typeface="Arial"/>
              <a:buChar char="▪"/>
            </a:pPr>
            <a:r>
              <a:rPr sz="2100">
                <a:solidFill>
                  <a:srgbClr val="1F2937"/>
                </a:solidFill>
                <a:latin typeface="Calibri"/>
              </a:rPr>
              <a:t>Selection of top‑k submissions for final ranking</a:t>
            </a:r>
          </a:p>
        </p:txBody>
      </p:sp>
      <p:sp>
        <p:nvSpPr>
          <p:cNvPr id="8" name="Rounded Rectangle 7"/>
          <p:cNvSpPr/>
          <p:nvPr/>
        </p:nvSpPr>
        <p:spPr>
          <a:xfrm>
            <a:off x="6683495" y="1463040"/>
            <a:ext cx="4959560" cy="457200"/>
          </a:xfrm>
          <a:prstGeom prst="roundRect">
            <a:avLst/>
          </a:prstGeom>
          <a:solidFill>
            <a:srgbClr val="CCFBF1"/>
          </a:solidFill>
          <a:ln>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a:solidFill>
                  <a:srgbClr val="1F2937"/>
                </a:solidFill>
                <a:latin typeface="Calibri"/>
              </a:rPr>
              <a:t>Parse</a:t>
            </a:r>
          </a:p>
        </p:txBody>
      </p:sp>
      <p:sp>
        <p:nvSpPr>
          <p:cNvPr id="9" name="Down Arrow 8"/>
          <p:cNvSpPr/>
          <p:nvPr/>
        </p:nvSpPr>
        <p:spPr>
          <a:xfrm>
            <a:off x="9026115" y="1947672"/>
            <a:ext cx="274320" cy="265176"/>
          </a:xfrm>
          <a:prstGeom prst="downArrow">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683495" y="2240280"/>
            <a:ext cx="4959560" cy="457200"/>
          </a:xfrm>
          <a:prstGeom prst="roundRect">
            <a:avLst/>
          </a:prstGeom>
          <a:solidFill>
            <a:srgbClr val="CCFBF1"/>
          </a:solidFill>
          <a:ln>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a:solidFill>
                  <a:srgbClr val="1F2937"/>
                </a:solidFill>
                <a:latin typeface="Calibri"/>
              </a:rPr>
              <a:t>Generate</a:t>
            </a:r>
          </a:p>
        </p:txBody>
      </p:sp>
      <p:sp>
        <p:nvSpPr>
          <p:cNvPr id="11" name="Down Arrow 10"/>
          <p:cNvSpPr/>
          <p:nvPr/>
        </p:nvSpPr>
        <p:spPr>
          <a:xfrm>
            <a:off x="9026115" y="2724912"/>
            <a:ext cx="274320" cy="265176"/>
          </a:xfrm>
          <a:prstGeom prst="downArrow">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683495" y="3017520"/>
            <a:ext cx="4959560" cy="457200"/>
          </a:xfrm>
          <a:prstGeom prst="roundRect">
            <a:avLst/>
          </a:prstGeom>
          <a:solidFill>
            <a:srgbClr val="CCFBF1"/>
          </a:solidFill>
          <a:ln>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a:solidFill>
                  <a:srgbClr val="1F2937"/>
                </a:solidFill>
                <a:latin typeface="Calibri"/>
              </a:rPr>
              <a:t>Filter</a:t>
            </a:r>
          </a:p>
        </p:txBody>
      </p:sp>
      <p:sp>
        <p:nvSpPr>
          <p:cNvPr id="13" name="Down Arrow 12"/>
          <p:cNvSpPr/>
          <p:nvPr/>
        </p:nvSpPr>
        <p:spPr>
          <a:xfrm>
            <a:off x="9026115" y="3502152"/>
            <a:ext cx="274320" cy="265176"/>
          </a:xfrm>
          <a:prstGeom prst="downArrow">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683495" y="3794760"/>
            <a:ext cx="4959560" cy="457200"/>
          </a:xfrm>
          <a:prstGeom prst="roundRect">
            <a:avLst/>
          </a:prstGeom>
          <a:solidFill>
            <a:srgbClr val="CCFBF1"/>
          </a:solidFill>
          <a:ln>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a:solidFill>
                  <a:srgbClr val="1F2937"/>
                </a:solidFill>
                <a:latin typeface="Calibri"/>
              </a:rPr>
              <a:t>Cluster</a:t>
            </a:r>
          </a:p>
        </p:txBody>
      </p:sp>
      <p:sp>
        <p:nvSpPr>
          <p:cNvPr id="15" name="Down Arrow 14"/>
          <p:cNvSpPr/>
          <p:nvPr/>
        </p:nvSpPr>
        <p:spPr>
          <a:xfrm>
            <a:off x="9026115" y="4279392"/>
            <a:ext cx="274320" cy="265176"/>
          </a:xfrm>
          <a:prstGeom prst="downArrow">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683495" y="4572000"/>
            <a:ext cx="4959560" cy="457200"/>
          </a:xfrm>
          <a:prstGeom prst="roundRect">
            <a:avLst/>
          </a:prstGeom>
          <a:solidFill>
            <a:srgbClr val="CCFBF1"/>
          </a:solidFill>
          <a:ln>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a:solidFill>
                  <a:srgbClr val="1F2937"/>
                </a:solidFill>
                <a:latin typeface="Calibri"/>
              </a:rPr>
              <a:t>Evaluate</a:t>
            </a:r>
          </a:p>
        </p:txBody>
      </p:sp>
      <p:sp>
        <p:nvSpPr>
          <p:cNvPr id="17" name="Down Arrow 16"/>
          <p:cNvSpPr/>
          <p:nvPr/>
        </p:nvSpPr>
        <p:spPr>
          <a:xfrm>
            <a:off x="9026115" y="5056632"/>
            <a:ext cx="274320" cy="265176"/>
          </a:xfrm>
          <a:prstGeom prst="downArrow">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683495" y="5349240"/>
            <a:ext cx="4959560" cy="457200"/>
          </a:xfrm>
          <a:prstGeom prst="roundRect">
            <a:avLst/>
          </a:prstGeom>
          <a:solidFill>
            <a:srgbClr val="CCFBF1"/>
          </a:solidFill>
          <a:ln>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a:solidFill>
                  <a:srgbClr val="1F2937"/>
                </a:solidFill>
                <a:latin typeface="Calibri"/>
              </a:rPr>
              <a:t>Select</a:t>
            </a:r>
          </a:p>
        </p:txBody>
      </p:sp>
      <p:sp>
        <p:nvSpPr>
          <p:cNvPr id="19" name="TextBox 18"/>
          <p:cNvSpPr txBox="1"/>
          <p:nvPr/>
        </p:nvSpPr>
        <p:spPr>
          <a:xfrm>
            <a:off x="6683495" y="5806440"/>
            <a:ext cx="4959560" cy="365760"/>
          </a:xfrm>
          <a:prstGeom prst="rect">
            <a:avLst/>
          </a:prstGeom>
          <a:noFill/>
        </p:spPr>
        <p:txBody>
          <a:bodyPr wrap="square" anchor="t" lIns="45720" rIns="45720">
            <a:spAutoFit/>
          </a:bodyPr>
          <a:lstStyle/>
          <a:p>
            <a:pPr algn="ctr"/>
            <a:r>
              <a:rPr sz="1200" b="0">
                <a:solidFill>
                  <a:srgbClr val="6B7280"/>
                </a:solidFill>
                <a:latin typeface="Calibri"/>
              </a:rPr>
              <a:t>AlphaCode pipeline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868680"/>
          </a:xfrm>
          <a:prstGeom prst="rect">
            <a:avLst/>
          </a:prstGeom>
          <a:noFill/>
        </p:spPr>
        <p:txBody>
          <a:bodyPr wrap="square" anchor="ctr" lIns="45720" rIns="45720">
            <a:spAutoFit/>
          </a:bodyPr>
          <a:lstStyle/>
          <a:p>
            <a:pPr algn="l"/>
            <a:r>
              <a:rPr sz="3000" b="1">
                <a:solidFill>
                  <a:srgbClr val="1F2937"/>
                </a:solidFill>
                <a:latin typeface="Calibri"/>
              </a:rPr>
              <a:t>Complexity Backpressure as a Policy for AI Agents</a:t>
            </a:r>
          </a:p>
        </p:txBody>
      </p:sp>
      <p:sp>
        <p:nvSpPr>
          <p:cNvPr id="4" name="TextBox 3"/>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W12.S1   ·   Sources: [C3]</a:t>
            </a:r>
          </a:p>
        </p:txBody>
      </p:sp>
      <p:sp>
        <p:nvSpPr>
          <p:cNvPr id="5" name="TextBox 4"/>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7</a:t>
            </a:r>
          </a:p>
        </p:txBody>
      </p:sp>
      <p:sp>
        <p:nvSpPr>
          <p:cNvPr id="6" name="TextBox 5"/>
          <p:cNvSpPr txBox="1"/>
          <p:nvPr/>
        </p:nvSpPr>
        <p:spPr>
          <a:xfrm>
            <a:off x="548640" y="1463040"/>
            <a:ext cx="11094415" cy="4709160"/>
          </a:xfrm>
          <a:prstGeom prst="rect">
            <a:avLst/>
          </a:prstGeom>
          <a:noFill/>
        </p:spPr>
        <p:txBody>
          <a:bodyPr wrap="square">
            <a:spAutoFit/>
          </a:bodyPr>
          <a:lstStyle/>
          <a:p>
            <a:pPr marL="292608" indent="-292608">
              <a:spcAft>
                <a:spcPts val="1000"/>
              </a:spcAft>
              <a:buClr>
                <a:srgbClr val="0F766E"/>
              </a:buClr>
              <a:buFont typeface="Arial"/>
              <a:buChar char="▪"/>
            </a:pPr>
            <a:r>
              <a:rPr sz="2400">
                <a:solidFill>
                  <a:srgbClr val="1F2937"/>
                </a:solidFill>
                <a:latin typeface="Calibri"/>
              </a:rPr>
              <a:t>Definition: reject or refactor generated code exceeding complexity thresholds</a:t>
            </a:r>
          </a:p>
          <a:p>
            <a:pPr marL="292608" indent="-292608">
              <a:spcAft>
                <a:spcPts val="1000"/>
              </a:spcAft>
              <a:buClr>
                <a:srgbClr val="0F766E"/>
              </a:buClr>
              <a:buFont typeface="Arial"/>
              <a:buChar char="▪"/>
            </a:pPr>
            <a:r>
              <a:rPr sz="2400">
                <a:solidFill>
                  <a:srgbClr val="1F2937"/>
                </a:solidFill>
                <a:latin typeface="Calibri"/>
              </a:rPr>
              <a:t>Configurable token‑budget limits per module</a:t>
            </a:r>
          </a:p>
          <a:p>
            <a:pPr marL="292608" indent="-292608">
              <a:spcAft>
                <a:spcPts val="1000"/>
              </a:spcAft>
              <a:buClr>
                <a:srgbClr val="0F766E"/>
              </a:buClr>
              <a:buFont typeface="Arial"/>
              <a:buChar char="▪"/>
            </a:pPr>
            <a:r>
              <a:rPr sz="2400">
                <a:solidFill>
                  <a:srgbClr val="1F2937"/>
                </a:solidFill>
                <a:latin typeface="Calibri"/>
              </a:rPr>
              <a:t>Modularity metrics (cyclomatic complexity, depth)</a:t>
            </a:r>
          </a:p>
          <a:p>
            <a:pPr marL="292608" indent="-292608">
              <a:spcAft>
                <a:spcPts val="1000"/>
              </a:spcAft>
              <a:buClr>
                <a:srgbClr val="0F766E"/>
              </a:buClr>
              <a:buFont typeface="Arial"/>
              <a:buChar char="▪"/>
            </a:pPr>
            <a:r>
              <a:rPr sz="2400">
                <a:solidFill>
                  <a:srgbClr val="1F2937"/>
                </a:solidFill>
                <a:latin typeface="Calibri"/>
              </a:rPr>
              <a:t>Integrated as a gate in the static analysis stage</a:t>
            </a:r>
          </a:p>
          <a:p>
            <a:pPr marL="292608" indent="-292608">
              <a:spcAft>
                <a:spcPts val="1000"/>
              </a:spcAft>
              <a:buClr>
                <a:srgbClr val="0F766E"/>
              </a:buClr>
              <a:buFont typeface="Arial"/>
              <a:buChar char="▪"/>
            </a:pPr>
            <a:r>
              <a:rPr sz="2400">
                <a:solidFill>
                  <a:srgbClr val="1F2937"/>
                </a:solidFill>
                <a:latin typeface="Calibri"/>
              </a:rPr>
              <a:t>Not a universal standard; a course‑proposed policy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9082735" cy="868680"/>
          </a:xfrm>
          <a:prstGeom prst="rect">
            <a:avLst/>
          </a:prstGeom>
          <a:noFill/>
        </p:spPr>
        <p:txBody>
          <a:bodyPr wrap="square" anchor="ctr" lIns="45720" rIns="45720">
            <a:spAutoFit/>
          </a:bodyPr>
          <a:lstStyle/>
          <a:p>
            <a:pPr algn="l"/>
            <a:r>
              <a:rPr sz="3000" b="1">
                <a:solidFill>
                  <a:srgbClr val="1F2937"/>
                </a:solidFill>
                <a:latin typeface="Calibri"/>
              </a:rPr>
              <a:t>Assessing a Multi‑Component Pipeline Design</a:t>
            </a:r>
          </a:p>
        </p:txBody>
      </p:sp>
      <p:sp>
        <p:nvSpPr>
          <p:cNvPr id="4" name="Rounded Rectangle 3"/>
          <p:cNvSpPr/>
          <p:nvPr/>
        </p:nvSpPr>
        <p:spPr>
          <a:xfrm>
            <a:off x="9814255" y="502920"/>
            <a:ext cx="1828800" cy="457200"/>
          </a:xfrm>
          <a:prstGeom prst="roundRect">
            <a:avLst/>
          </a:prstGeom>
          <a:solidFill>
            <a:srgbClr val="CCFB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0F766E"/>
                </a:solidFill>
                <a:latin typeface="Calibri"/>
              </a:rPr>
              <a:t>Worked problem</a:t>
            </a:r>
          </a:p>
        </p:txBody>
      </p:sp>
      <p:sp>
        <p:nvSpPr>
          <p:cNvPr id="5" name="TextBox 4"/>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W12.S1   ·   Sources: [C2] [C3] [C4]</a:t>
            </a:r>
          </a:p>
        </p:txBody>
      </p:sp>
      <p:sp>
        <p:nvSpPr>
          <p:cNvPr id="6" name="TextBox 5"/>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8</a:t>
            </a:r>
          </a:p>
        </p:txBody>
      </p:sp>
      <p:sp>
        <p:nvSpPr>
          <p:cNvPr id="7" name="TextBox 6"/>
          <p:cNvSpPr txBox="1"/>
          <p:nvPr/>
        </p:nvSpPr>
        <p:spPr>
          <a:xfrm>
            <a:off x="548640" y="1463040"/>
            <a:ext cx="5769095" cy="4709160"/>
          </a:xfrm>
          <a:prstGeom prst="rect">
            <a:avLst/>
          </a:prstGeom>
          <a:noFill/>
        </p:spPr>
        <p:txBody>
          <a:bodyPr wrap="square">
            <a:spAutoFit/>
          </a:bodyPr>
          <a:lstStyle/>
          <a:p>
            <a:pPr marL="292608" indent="-292608">
              <a:spcAft>
                <a:spcPts val="1000"/>
              </a:spcAft>
              <a:buClr>
                <a:srgbClr val="0F766E"/>
              </a:buClr>
              <a:buFont typeface="Arial"/>
              <a:buChar char="▪"/>
            </a:pPr>
            <a:r>
              <a:rPr sz="1800">
                <a:solidFill>
                  <a:srgbClr val="1F2937"/>
                </a:solidFill>
                <a:latin typeface="Calibri"/>
              </a:rPr>
              <a:t>Scenario: three services (API, ML model, data prep) with shared contract</a:t>
            </a:r>
          </a:p>
          <a:p>
            <a:pPr marL="292608" indent="-292608">
              <a:spcAft>
                <a:spcPts val="1000"/>
              </a:spcAft>
              <a:buClr>
                <a:srgbClr val="0F766E"/>
              </a:buClr>
              <a:buFont typeface="Arial"/>
              <a:buChar char="▪"/>
            </a:pPr>
            <a:r>
              <a:rPr sz="1800">
                <a:solidFill>
                  <a:srgbClr val="1F2937"/>
                </a:solidFill>
                <a:latin typeface="Calibri"/>
              </a:rPr>
              <a:t>Requirement list: correctness, robustness, reproducibility, maintainability</a:t>
            </a:r>
          </a:p>
          <a:p>
            <a:pPr marL="292608" indent="-292608">
              <a:spcAft>
                <a:spcPts val="1000"/>
              </a:spcAft>
              <a:buClr>
                <a:srgbClr val="0F766E"/>
              </a:buClr>
              <a:buFont typeface="Arial"/>
              <a:buChar char="▪"/>
            </a:pPr>
            <a:r>
              <a:rPr sz="1800">
                <a:solidFill>
                  <a:srgbClr val="1F2937"/>
                </a:solidFill>
                <a:latin typeface="Calibri"/>
              </a:rPr>
              <a:t>Design decision 1: contract tests at service boundaries → correctness &amp; maintainability</a:t>
            </a:r>
          </a:p>
          <a:p>
            <a:pPr marL="292608" indent="-292608">
              <a:spcAft>
                <a:spcPts val="1000"/>
              </a:spcAft>
              <a:buClr>
                <a:srgbClr val="0F766E"/>
              </a:buClr>
              <a:buFont typeface="Arial"/>
              <a:buChar char="▪"/>
            </a:pPr>
            <a:r>
              <a:rPr sz="1800">
                <a:solidFill>
                  <a:srgbClr val="1F2937"/>
                </a:solidFill>
                <a:latin typeface="Calibri"/>
              </a:rPr>
              <a:t>Design decision 2: property‑based tests on ML outputs → robustness</a:t>
            </a:r>
          </a:p>
          <a:p>
            <a:pPr marL="292608" indent="-292608">
              <a:spcAft>
                <a:spcPts val="1000"/>
              </a:spcAft>
              <a:buClr>
                <a:srgbClr val="0F766E"/>
              </a:buClr>
              <a:buFont typeface="Arial"/>
              <a:buChar char="▪"/>
            </a:pPr>
            <a:r>
              <a:rPr sz="1800">
                <a:solidFill>
                  <a:srgbClr val="1F2937"/>
                </a:solidFill>
                <a:latin typeface="Calibri"/>
              </a:rPr>
              <a:t>Design decision 3: deterministic seed &amp; versioned data for ML → reproducibility</a:t>
            </a:r>
          </a:p>
          <a:p>
            <a:pPr marL="292608" indent="-292608">
              <a:spcAft>
                <a:spcPts val="1000"/>
              </a:spcAft>
              <a:buClr>
                <a:srgbClr val="0F766E"/>
              </a:buClr>
              <a:buFont typeface="Arial"/>
              <a:buChar char="▪"/>
            </a:pPr>
            <a:r>
              <a:rPr sz="1800">
                <a:solidFill>
                  <a:srgbClr val="1F2937"/>
                </a:solidFill>
                <a:latin typeface="Calibri"/>
              </a:rPr>
              <a:t>Design decision 4: complexity backpressure gate on generated glue code → maintainability</a:t>
            </a:r>
          </a:p>
          <a:p>
            <a:pPr marL="292608" indent="-292608">
              <a:spcAft>
                <a:spcPts val="1000"/>
              </a:spcAft>
              <a:buClr>
                <a:srgbClr val="0F766E"/>
              </a:buClr>
              <a:buFont typeface="Arial"/>
              <a:buChar char="▪"/>
            </a:pPr>
            <a:r>
              <a:rPr sz="1800">
                <a:solidFill>
                  <a:srgbClr val="1F2937"/>
                </a:solidFill>
                <a:latin typeface="Calibri"/>
              </a:rPr>
              <a:t>Justify each decision against at least one requirement</a:t>
            </a:r>
          </a:p>
        </p:txBody>
      </p:sp>
      <p:graphicFrame>
        <p:nvGraphicFramePr>
          <p:cNvPr id="8" name="Table 7"/>
          <p:cNvGraphicFramePr>
            <a:graphicFrameLocks noGrp="1"/>
          </p:cNvGraphicFramePr>
          <p:nvPr/>
        </p:nvGraphicFramePr>
        <p:xfrm>
          <a:off x="6683495" y="1463040"/>
          <a:ext cx="4959560" cy="2514600"/>
        </p:xfrm>
        <a:graphic>
          <a:graphicData uri="http://schemas.openxmlformats.org/drawingml/2006/table">
            <a:tbl>
              <a:tblPr firstRow="1" bandRow="1">
                <a:tableStyleId>{5C22544A-7EE6-4342-B048-85BDC9FD1C3A}</a:tableStyleId>
              </a:tblPr>
              <a:tblGrid>
                <a:gridCol w="1653186"/>
                <a:gridCol w="1653186"/>
                <a:gridCol w="1653188"/>
              </a:tblGrid>
              <a:tr h="502920">
                <a:tc>
                  <a:txBody>
                    <a:bodyPr/>
                    <a:lstStyle/>
                    <a:p>
                      <a:r>
                        <a:rPr sz="1400" b="1">
                          <a:solidFill>
                            <a:srgbClr val="CCFBF1"/>
                          </a:solidFill>
                          <a:latin typeface="Calibri"/>
                        </a:rPr>
                        <a:t>Decision</a:t>
                      </a:r>
                    </a:p>
                  </a:txBody>
                  <a:tcPr>
                    <a:solidFill>
                      <a:srgbClr val="0F766E"/>
                    </a:solidFill>
                  </a:tcPr>
                </a:tc>
                <a:tc>
                  <a:txBody>
                    <a:bodyPr/>
                    <a:lstStyle/>
                    <a:p>
                      <a:r>
                        <a:rPr sz="1400" b="1">
                          <a:solidFill>
                            <a:srgbClr val="CCFBF1"/>
                          </a:solidFill>
                          <a:latin typeface="Calibri"/>
                        </a:rPr>
                        <a:t>Primary Requirement</a:t>
                      </a:r>
                    </a:p>
                  </a:txBody>
                  <a:tcPr>
                    <a:solidFill>
                      <a:srgbClr val="0F766E"/>
                    </a:solidFill>
                  </a:tcPr>
                </a:tc>
                <a:tc>
                  <a:txBody>
                    <a:bodyPr/>
                    <a:lstStyle/>
                    <a:p>
                      <a:r>
                        <a:rPr sz="1400" b="1">
                          <a:solidFill>
                            <a:srgbClr val="CCFBF1"/>
                          </a:solidFill>
                          <a:latin typeface="Calibri"/>
                        </a:rPr>
                        <a:t>Secondary</a:t>
                      </a:r>
                    </a:p>
                  </a:txBody>
                  <a:tcPr>
                    <a:solidFill>
                      <a:srgbClr val="0F766E"/>
                    </a:solidFill>
                  </a:tcPr>
                </a:tc>
              </a:tr>
              <a:tr h="502920">
                <a:tc>
                  <a:txBody>
                    <a:bodyPr/>
                    <a:lstStyle/>
                    <a:p>
                      <a:r>
                        <a:rPr sz="1400" b="0">
                          <a:solidFill>
                            <a:srgbClr val="1F2937"/>
                          </a:solidFill>
                          <a:latin typeface="Calibri"/>
                        </a:rPr>
                        <a:t>Contract tests</a:t>
                      </a:r>
                    </a:p>
                  </a:txBody>
                  <a:tcPr>
                    <a:solidFill>
                      <a:srgbClr val="F3F4F6"/>
                    </a:solidFill>
                  </a:tcPr>
                </a:tc>
                <a:tc>
                  <a:txBody>
                    <a:bodyPr/>
                    <a:lstStyle/>
                    <a:p>
                      <a:r>
                        <a:rPr sz="1400" b="0">
                          <a:solidFill>
                            <a:srgbClr val="1F2937"/>
                          </a:solidFill>
                          <a:latin typeface="Calibri"/>
                        </a:rPr>
                        <a:t>Correctness</a:t>
                      </a:r>
                    </a:p>
                  </a:txBody>
                  <a:tcPr>
                    <a:solidFill>
                      <a:srgbClr val="F3F4F6"/>
                    </a:solidFill>
                  </a:tcPr>
                </a:tc>
                <a:tc>
                  <a:txBody>
                    <a:bodyPr/>
                    <a:lstStyle/>
                    <a:p>
                      <a:r>
                        <a:rPr sz="1400" b="0">
                          <a:solidFill>
                            <a:srgbClr val="1F2937"/>
                          </a:solidFill>
                          <a:latin typeface="Calibri"/>
                        </a:rPr>
                        <a:t>Maintainability</a:t>
                      </a:r>
                    </a:p>
                  </a:txBody>
                  <a:tcPr>
                    <a:solidFill>
                      <a:srgbClr val="F3F4F6"/>
                    </a:solidFill>
                  </a:tcPr>
                </a:tc>
              </a:tr>
              <a:tr h="502920">
                <a:tc>
                  <a:txBody>
                    <a:bodyPr/>
                    <a:lstStyle/>
                    <a:p>
                      <a:r>
                        <a:rPr sz="1400" b="0">
                          <a:solidFill>
                            <a:srgbClr val="1F2937"/>
                          </a:solidFill>
                          <a:latin typeface="Calibri"/>
                        </a:rPr>
                        <a:t>Property‑based ML tests</a:t>
                      </a:r>
                    </a:p>
                  </a:txBody>
                  <a:tcPr>
                    <a:solidFill>
                      <a:srgbClr val="F3F4F6"/>
                    </a:solidFill>
                  </a:tcPr>
                </a:tc>
                <a:tc>
                  <a:txBody>
                    <a:bodyPr/>
                    <a:lstStyle/>
                    <a:p>
                      <a:r>
                        <a:rPr sz="1400" b="0">
                          <a:solidFill>
                            <a:srgbClr val="1F2937"/>
                          </a:solidFill>
                          <a:latin typeface="Calibri"/>
                        </a:rPr>
                        <a:t>Robustness</a:t>
                      </a:r>
                    </a:p>
                  </a:txBody>
                  <a:tcPr>
                    <a:solidFill>
                      <a:srgbClr val="F3F4F6"/>
                    </a:solidFill>
                  </a:tcPr>
                </a:tc>
                <a:tc>
                  <a:txBody>
                    <a:bodyPr/>
                    <a:lstStyle/>
                    <a:p>
                      <a:r>
                        <a:rPr sz="1400" b="0">
                          <a:solidFill>
                            <a:srgbClr val="1F2937"/>
                          </a:solidFill>
                          <a:latin typeface="Calibri"/>
                        </a:rPr>
                        <a:t>Correctness</a:t>
                      </a:r>
                    </a:p>
                  </a:txBody>
                  <a:tcPr>
                    <a:solidFill>
                      <a:srgbClr val="F3F4F6"/>
                    </a:solidFill>
                  </a:tcPr>
                </a:tc>
              </a:tr>
              <a:tr h="502920">
                <a:tc>
                  <a:txBody>
                    <a:bodyPr/>
                    <a:lstStyle/>
                    <a:p>
                      <a:r>
                        <a:rPr sz="1400" b="0">
                          <a:solidFill>
                            <a:srgbClr val="1F2937"/>
                          </a:solidFill>
                          <a:latin typeface="Calibri"/>
                        </a:rPr>
                        <a:t>Deterministic seed &amp; versioned data</a:t>
                      </a:r>
                    </a:p>
                  </a:txBody>
                  <a:tcPr>
                    <a:solidFill>
                      <a:srgbClr val="F3F4F6"/>
                    </a:solidFill>
                  </a:tcPr>
                </a:tc>
                <a:tc>
                  <a:txBody>
                    <a:bodyPr/>
                    <a:lstStyle/>
                    <a:p>
                      <a:r>
                        <a:rPr sz="1400" b="0">
                          <a:solidFill>
                            <a:srgbClr val="1F2937"/>
                          </a:solidFill>
                          <a:latin typeface="Calibri"/>
                        </a:rPr>
                        <a:t>Reproducibility</a:t>
                      </a:r>
                    </a:p>
                  </a:txBody>
                  <a:tcPr>
                    <a:solidFill>
                      <a:srgbClr val="F3F4F6"/>
                    </a:solidFill>
                  </a:tcPr>
                </a:tc>
                <a:tc>
                  <a:txBody>
                    <a:bodyPr/>
                    <a:lstStyle/>
                    <a:p>
                      <a:r>
                        <a:rPr sz="1400" b="0">
                          <a:solidFill>
                            <a:srgbClr val="1F2937"/>
                          </a:solidFill>
                          <a:latin typeface="Calibri"/>
                        </a:rPr>
                        <a:t>Correctness</a:t>
                      </a:r>
                    </a:p>
                  </a:txBody>
                  <a:tcPr>
                    <a:solidFill>
                      <a:srgbClr val="F3F4F6"/>
                    </a:solidFill>
                  </a:tcPr>
                </a:tc>
              </a:tr>
              <a:tr h="502920">
                <a:tc>
                  <a:txBody>
                    <a:bodyPr/>
                    <a:lstStyle/>
                    <a:p>
                      <a:r>
                        <a:rPr sz="1400" b="0">
                          <a:solidFill>
                            <a:srgbClr val="1F2937"/>
                          </a:solidFill>
                          <a:latin typeface="Calibri"/>
                        </a:rPr>
                        <a:t>Complexity backpressure gate</a:t>
                      </a:r>
                    </a:p>
                  </a:txBody>
                  <a:tcPr>
                    <a:solidFill>
                      <a:srgbClr val="F3F4F6"/>
                    </a:solidFill>
                  </a:tcPr>
                </a:tc>
                <a:tc>
                  <a:txBody>
                    <a:bodyPr/>
                    <a:lstStyle/>
                    <a:p>
                      <a:r>
                        <a:rPr sz="1400" b="0">
                          <a:solidFill>
                            <a:srgbClr val="1F2937"/>
                          </a:solidFill>
                          <a:latin typeface="Calibri"/>
                        </a:rPr>
                        <a:t>Maintainability</a:t>
                      </a:r>
                    </a:p>
                  </a:txBody>
                  <a:tcPr>
                    <a:solidFill>
                      <a:srgbClr val="F3F4F6"/>
                    </a:solidFill>
                  </a:tcPr>
                </a:tc>
                <a:tc>
                  <a:txBody>
                    <a:bodyPr/>
                    <a:lstStyle/>
                    <a:p>
                      <a:r>
                        <a:rPr sz="1400" b="0">
                          <a:solidFill>
                            <a:srgbClr val="1F2937"/>
                          </a:solidFill>
                          <a:latin typeface="Calibri"/>
                        </a:rPr>
                        <a:t>Robustness</a:t>
                      </a:r>
                    </a:p>
                  </a:txBody>
                  <a:tcPr>
                    <a:solidFill>
                      <a:srgbClr val="F3F4F6"/>
                    </a:solidFill>
                  </a:tcPr>
                </a:tc>
              </a:tr>
            </a:tbl>
          </a:graphicData>
        </a:graphic>
      </p:graphicFrame>
      <p:sp>
        <p:nvSpPr>
          <p:cNvPr id="9" name="TextBox 8"/>
          <p:cNvSpPr txBox="1"/>
          <p:nvPr/>
        </p:nvSpPr>
        <p:spPr>
          <a:xfrm>
            <a:off x="6683495" y="5806440"/>
            <a:ext cx="4959560" cy="365760"/>
          </a:xfrm>
          <a:prstGeom prst="rect">
            <a:avLst/>
          </a:prstGeom>
          <a:noFill/>
        </p:spPr>
        <p:txBody>
          <a:bodyPr wrap="square" anchor="t" lIns="45720" rIns="45720">
            <a:spAutoFit/>
          </a:bodyPr>
          <a:lstStyle/>
          <a:p>
            <a:pPr algn="ctr"/>
            <a:r>
              <a:rPr sz="1200" b="0">
                <a:solidFill>
                  <a:srgbClr val="6B7280"/>
                </a:solidFill>
                <a:latin typeface="Calibri"/>
              </a:rPr>
              <a:t>Decision‑requirement mapping</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868680"/>
          </a:xfrm>
          <a:prstGeom prst="rect">
            <a:avLst/>
          </a:prstGeom>
          <a:noFill/>
        </p:spPr>
        <p:txBody>
          <a:bodyPr wrap="square" anchor="ctr" lIns="45720" rIns="45720">
            <a:spAutoFit/>
          </a:bodyPr>
          <a:lstStyle/>
          <a:p>
            <a:pPr algn="l"/>
            <a:r>
              <a:rPr sz="3000" b="1">
                <a:solidFill>
                  <a:srgbClr val="1F2937"/>
                </a:solidFill>
                <a:latin typeface="Calibri"/>
              </a:rPr>
              <a:t>Contract Testing for Service Interfaces</a:t>
            </a:r>
          </a:p>
        </p:txBody>
      </p:sp>
      <p:sp>
        <p:nvSpPr>
          <p:cNvPr id="4" name="TextBox 3"/>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W12.S1   ·   Sources: [C4]</a:t>
            </a:r>
          </a:p>
        </p:txBody>
      </p:sp>
      <p:sp>
        <p:nvSpPr>
          <p:cNvPr id="5" name="TextBox 4"/>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9</a:t>
            </a:r>
          </a:p>
        </p:txBody>
      </p:sp>
      <p:sp>
        <p:nvSpPr>
          <p:cNvPr id="6" name="TextBox 5"/>
          <p:cNvSpPr txBox="1"/>
          <p:nvPr/>
        </p:nvSpPr>
        <p:spPr>
          <a:xfrm>
            <a:off x="548640" y="1463040"/>
            <a:ext cx="11094415" cy="4709160"/>
          </a:xfrm>
          <a:prstGeom prst="rect">
            <a:avLst/>
          </a:prstGeom>
          <a:noFill/>
        </p:spPr>
        <p:txBody>
          <a:bodyPr wrap="square">
            <a:spAutoFit/>
          </a:bodyPr>
          <a:lstStyle/>
          <a:p>
            <a:pPr marL="292608" indent="-292608">
              <a:spcAft>
                <a:spcPts val="1000"/>
              </a:spcAft>
              <a:buClr>
                <a:srgbClr val="0F766E"/>
              </a:buClr>
              <a:buFont typeface="Arial"/>
              <a:buChar char="▪"/>
            </a:pPr>
            <a:r>
              <a:rPr sz="2400">
                <a:solidFill>
                  <a:srgbClr val="1F2937"/>
                </a:solidFill>
                <a:latin typeface="Calibri"/>
              </a:rPr>
              <a:t>Verifies provider/consumer compatibility</a:t>
            </a:r>
          </a:p>
          <a:p>
            <a:pPr marL="292608" indent="-292608">
              <a:spcAft>
                <a:spcPts val="1000"/>
              </a:spcAft>
              <a:buClr>
                <a:srgbClr val="0F766E"/>
              </a:buClr>
              <a:buFont typeface="Arial"/>
              <a:buChar char="▪"/>
            </a:pPr>
            <a:r>
              <a:rPr sz="2400">
                <a:solidFill>
                  <a:srgbClr val="1F2937"/>
                </a:solidFill>
                <a:latin typeface="Calibri"/>
              </a:rPr>
              <a:t>Runs against a shared contract (OpenAPI, gRPC proto)</a:t>
            </a:r>
          </a:p>
          <a:p>
            <a:pPr marL="292608" indent="-292608">
              <a:spcAft>
                <a:spcPts val="1000"/>
              </a:spcAft>
              <a:buClr>
                <a:srgbClr val="0F766E"/>
              </a:buClr>
              <a:buFont typeface="Arial"/>
              <a:buChar char="▪"/>
            </a:pPr>
            <a:r>
              <a:rPr sz="2400">
                <a:solidFill>
                  <a:srgbClr val="1F2937"/>
                </a:solidFill>
                <a:latin typeface="Calibri"/>
              </a:rPr>
              <a:t>Detects breaking changes early in CI</a:t>
            </a:r>
          </a:p>
          <a:p>
            <a:pPr marL="292608" indent="-292608">
              <a:spcAft>
                <a:spcPts val="1000"/>
              </a:spcAft>
              <a:buClr>
                <a:srgbClr val="0F766E"/>
              </a:buClr>
              <a:buFont typeface="Arial"/>
              <a:buChar char="▪"/>
            </a:pPr>
            <a:r>
              <a:rPr sz="2400">
                <a:solidFill>
                  <a:srgbClr val="1F2937"/>
                </a:solidFill>
                <a:latin typeface="Calibri"/>
              </a:rPr>
              <a:t>Primary reliability target: correctness of integration</a:t>
            </a:r>
          </a:p>
          <a:p>
            <a:pPr marL="292608" indent="-292608">
              <a:spcAft>
                <a:spcPts val="1000"/>
              </a:spcAft>
              <a:buClr>
                <a:srgbClr val="0F766E"/>
              </a:buClr>
              <a:buFont typeface="Arial"/>
              <a:buChar char="▪"/>
            </a:pPr>
            <a:r>
              <a:rPr sz="2400">
                <a:solidFill>
                  <a:srgbClr val="1F2937"/>
                </a:solidFill>
                <a:latin typeface="Calibri"/>
              </a:rPr>
              <a:t>Secondary benefit: maintainability through explicit contracts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868680"/>
          </a:xfrm>
          <a:prstGeom prst="rect">
            <a:avLst/>
          </a:prstGeom>
          <a:noFill/>
        </p:spPr>
        <p:txBody>
          <a:bodyPr wrap="square" anchor="ctr" lIns="45720" rIns="45720">
            <a:spAutoFit/>
          </a:bodyPr>
          <a:lstStyle/>
          <a:p>
            <a:pPr algn="l"/>
            <a:r>
              <a:rPr sz="3000" b="1">
                <a:solidFill>
                  <a:srgbClr val="1F2937"/>
                </a:solidFill>
                <a:latin typeface="Calibri"/>
              </a:rPr>
              <a:t>Model Context Protocol (MCP) for Context Exchange</a:t>
            </a:r>
          </a:p>
        </p:txBody>
      </p:sp>
      <p:sp>
        <p:nvSpPr>
          <p:cNvPr id="4" name="TextBox 3"/>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W12.S1   ·   Sources: [C5]</a:t>
            </a:r>
          </a:p>
        </p:txBody>
      </p:sp>
      <p:sp>
        <p:nvSpPr>
          <p:cNvPr id="5" name="TextBox 4"/>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10</a:t>
            </a:r>
          </a:p>
        </p:txBody>
      </p:sp>
      <p:sp>
        <p:nvSpPr>
          <p:cNvPr id="6" name="TextBox 5"/>
          <p:cNvSpPr txBox="1"/>
          <p:nvPr/>
        </p:nvSpPr>
        <p:spPr>
          <a:xfrm>
            <a:off x="548640" y="1463040"/>
            <a:ext cx="11094415" cy="4709160"/>
          </a:xfrm>
          <a:prstGeom prst="rect">
            <a:avLst/>
          </a:prstGeom>
          <a:noFill/>
        </p:spPr>
        <p:txBody>
          <a:bodyPr wrap="square">
            <a:spAutoFit/>
          </a:bodyPr>
          <a:lstStyle/>
          <a:p>
            <a:pPr marL="292608" indent="-292608">
              <a:spcAft>
                <a:spcPts val="1000"/>
              </a:spcAft>
              <a:buClr>
                <a:srgbClr val="0F766E"/>
              </a:buClr>
              <a:buFont typeface="Arial"/>
              <a:buChar char="▪"/>
            </a:pPr>
            <a:r>
              <a:rPr sz="2400">
                <a:solidFill>
                  <a:srgbClr val="1F2937"/>
                </a:solidFill>
                <a:latin typeface="Calibri"/>
              </a:rPr>
              <a:t>MCP standardizes tool, resource, and context exposure</a:t>
            </a:r>
          </a:p>
          <a:p>
            <a:pPr marL="292608" indent="-292608">
              <a:spcAft>
                <a:spcPts val="1000"/>
              </a:spcAft>
              <a:buClr>
                <a:srgbClr val="0F766E"/>
              </a:buClr>
              <a:buFont typeface="Arial"/>
              <a:buChar char="▪"/>
            </a:pPr>
            <a:r>
              <a:rPr sz="2400">
                <a:solidFill>
                  <a:srgbClr val="1F2937"/>
                </a:solidFill>
                <a:latin typeface="Calibri"/>
              </a:rPr>
              <a:t>Clients request context; servers provide typed resources</a:t>
            </a:r>
          </a:p>
          <a:p>
            <a:pPr marL="292608" indent="-292608">
              <a:spcAft>
                <a:spcPts val="1000"/>
              </a:spcAft>
              <a:buClr>
                <a:srgbClr val="0F766E"/>
              </a:buClr>
              <a:buFont typeface="Arial"/>
              <a:buChar char="▪"/>
            </a:pPr>
            <a:r>
              <a:rPr sz="2400">
                <a:solidFill>
                  <a:srgbClr val="1F2937"/>
                </a:solidFill>
                <a:latin typeface="Calibri"/>
              </a:rPr>
              <a:t>Does not itself adjust context windows or perform retrieval</a:t>
            </a:r>
          </a:p>
          <a:p>
            <a:pPr marL="292608" indent="-292608">
              <a:spcAft>
                <a:spcPts val="1000"/>
              </a:spcAft>
              <a:buClr>
                <a:srgbClr val="0F766E"/>
              </a:buClr>
              <a:buFont typeface="Arial"/>
              <a:buChar char="▪"/>
            </a:pPr>
            <a:r>
              <a:rPr sz="2400">
                <a:solidFill>
                  <a:srgbClr val="1F2937"/>
                </a:solidFill>
                <a:latin typeface="Calibri"/>
              </a:rPr>
              <a:t>Context selection and token‑budget policies are client‑side</a:t>
            </a:r>
          </a:p>
          <a:p>
            <a:pPr marL="292608" indent="-292608">
              <a:spcAft>
                <a:spcPts val="1000"/>
              </a:spcAft>
              <a:buClr>
                <a:srgbClr val="0F766E"/>
              </a:buClr>
              <a:buFont typeface="Arial"/>
              <a:buChar char="▪"/>
            </a:pPr>
            <a:r>
              <a:rPr sz="2400">
                <a:solidFill>
                  <a:srgbClr val="1F2937"/>
                </a:solidFill>
                <a:latin typeface="Calibri"/>
              </a:rPr>
              <a:t>Improves traceability when versions and execution settings are controlled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9082735" cy="868680"/>
          </a:xfrm>
          <a:prstGeom prst="rect">
            <a:avLst/>
          </a:prstGeom>
          <a:noFill/>
        </p:spPr>
        <p:txBody>
          <a:bodyPr wrap="square" anchor="ctr" lIns="45720" rIns="45720">
            <a:spAutoFit/>
          </a:bodyPr>
          <a:lstStyle/>
          <a:p>
            <a:pPr algn="l"/>
            <a:r>
              <a:rPr sz="3000" b="1">
                <a:solidFill>
                  <a:srgbClr val="1F2937"/>
                </a:solidFill>
                <a:latin typeface="Calibri"/>
              </a:rPr>
              <a:t>Query Tuning via MCP in a Testing Workflow</a:t>
            </a:r>
          </a:p>
        </p:txBody>
      </p:sp>
      <p:sp>
        <p:nvSpPr>
          <p:cNvPr id="4" name="Rounded Rectangle 3"/>
          <p:cNvSpPr/>
          <p:nvPr/>
        </p:nvSpPr>
        <p:spPr>
          <a:xfrm>
            <a:off x="9814255" y="502920"/>
            <a:ext cx="1828800" cy="457200"/>
          </a:xfrm>
          <a:prstGeom prst="roundRect">
            <a:avLst/>
          </a:prstGeom>
          <a:solidFill>
            <a:srgbClr val="CCFB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0F766E"/>
                </a:solidFill>
                <a:latin typeface="Calibri"/>
              </a:rPr>
              <a:t>Example</a:t>
            </a:r>
          </a:p>
        </p:txBody>
      </p:sp>
      <p:sp>
        <p:nvSpPr>
          <p:cNvPr id="5" name="TextBox 4"/>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W12.S1   ·   Sources: [C5]</a:t>
            </a:r>
          </a:p>
        </p:txBody>
      </p:sp>
      <p:sp>
        <p:nvSpPr>
          <p:cNvPr id="6" name="TextBox 5"/>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11</a:t>
            </a:r>
          </a:p>
        </p:txBody>
      </p:sp>
      <p:sp>
        <p:nvSpPr>
          <p:cNvPr id="7" name="TextBox 6"/>
          <p:cNvSpPr txBox="1"/>
          <p:nvPr/>
        </p:nvSpPr>
        <p:spPr>
          <a:xfrm>
            <a:off x="548640" y="1463040"/>
            <a:ext cx="5769095" cy="4709160"/>
          </a:xfrm>
          <a:prstGeom prst="rect">
            <a:avLst/>
          </a:prstGeom>
          <a:noFill/>
        </p:spPr>
        <p:txBody>
          <a:bodyPr wrap="square">
            <a:spAutoFit/>
          </a:bodyPr>
          <a:lstStyle/>
          <a:p>
            <a:pPr marL="292608" indent="-292608">
              <a:spcAft>
                <a:spcPts val="1000"/>
              </a:spcAft>
              <a:buClr>
                <a:srgbClr val="0F766E"/>
              </a:buClr>
              <a:buFont typeface="Arial"/>
              <a:buChar char="▪"/>
            </a:pPr>
            <a:r>
              <a:rPr sz="2400">
                <a:solidFill>
                  <a:srgbClr val="1F2937"/>
                </a:solidFill>
                <a:latin typeface="Calibri"/>
              </a:rPr>
              <a:t>Test harness requests relevant schema via MCP</a:t>
            </a:r>
          </a:p>
          <a:p>
            <a:pPr marL="292608" indent="-292608">
              <a:spcAft>
                <a:spcPts val="1000"/>
              </a:spcAft>
              <a:buClr>
                <a:srgbClr val="0F766E"/>
              </a:buClr>
              <a:buFont typeface="Arial"/>
              <a:buChar char="▪"/>
            </a:pPr>
            <a:r>
              <a:rPr sz="2400">
                <a:solidFill>
                  <a:srgbClr val="1F2937"/>
                </a:solidFill>
                <a:latin typeface="Calibri"/>
              </a:rPr>
              <a:t>Agent receives versioned contract and data samples</a:t>
            </a:r>
          </a:p>
          <a:p>
            <a:pPr marL="292608" indent="-292608">
              <a:spcAft>
                <a:spcPts val="1000"/>
              </a:spcAft>
              <a:buClr>
                <a:srgbClr val="0F766E"/>
              </a:buClr>
              <a:buFont typeface="Arial"/>
              <a:buChar char="▪"/>
            </a:pPr>
            <a:r>
              <a:rPr sz="2400">
                <a:solidFill>
                  <a:srgbClr val="1F2937"/>
                </a:solidFill>
                <a:latin typeface="Calibri"/>
              </a:rPr>
              <a:t>Client enforces token budget and deterministic retrieval</a:t>
            </a:r>
          </a:p>
          <a:p>
            <a:pPr marL="292608" indent="-292608">
              <a:spcAft>
                <a:spcPts val="1000"/>
              </a:spcAft>
              <a:buClr>
                <a:srgbClr val="0F766E"/>
              </a:buClr>
              <a:buFont typeface="Arial"/>
              <a:buChar char="▪"/>
            </a:pPr>
            <a:r>
              <a:rPr sz="2400">
                <a:solidFill>
                  <a:srgbClr val="1F2937"/>
                </a:solidFill>
                <a:latin typeface="Calibri"/>
              </a:rPr>
              <a:t>Generated tests are executed in a sandboxed runner</a:t>
            </a:r>
          </a:p>
          <a:p>
            <a:pPr marL="292608" indent="-292608">
              <a:spcAft>
                <a:spcPts val="1000"/>
              </a:spcAft>
              <a:buClr>
                <a:srgbClr val="0F766E"/>
              </a:buClr>
              <a:buFont typeface="Arial"/>
              <a:buChar char="▪"/>
            </a:pPr>
            <a:r>
              <a:rPr sz="2400">
                <a:solidFill>
                  <a:srgbClr val="1F2937"/>
                </a:solidFill>
                <a:latin typeface="Calibri"/>
              </a:rPr>
              <a:t>Results logged with full context provenance for replay</a:t>
            </a:r>
          </a:p>
        </p:txBody>
      </p:sp>
      <p:sp>
        <p:nvSpPr>
          <p:cNvPr id="8" name="Rounded Rectangle 7"/>
          <p:cNvSpPr/>
          <p:nvPr/>
        </p:nvSpPr>
        <p:spPr>
          <a:xfrm>
            <a:off x="6683495" y="1463040"/>
            <a:ext cx="4959560" cy="612648"/>
          </a:xfrm>
          <a:prstGeom prst="roundRect">
            <a:avLst/>
          </a:prstGeom>
          <a:solidFill>
            <a:srgbClr val="CCFBF1"/>
          </a:solidFill>
          <a:ln>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a:solidFill>
                  <a:srgbClr val="1F2937"/>
                </a:solidFill>
                <a:latin typeface="Calibri"/>
              </a:rPr>
              <a:t>Request Context</a:t>
            </a:r>
          </a:p>
        </p:txBody>
      </p:sp>
      <p:sp>
        <p:nvSpPr>
          <p:cNvPr id="9" name="Down Arrow 8"/>
          <p:cNvSpPr/>
          <p:nvPr/>
        </p:nvSpPr>
        <p:spPr>
          <a:xfrm>
            <a:off x="9026115" y="2103120"/>
            <a:ext cx="274320" cy="265176"/>
          </a:xfrm>
          <a:prstGeom prst="downArrow">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683495" y="2395728"/>
            <a:ext cx="4959560" cy="612648"/>
          </a:xfrm>
          <a:prstGeom prst="roundRect">
            <a:avLst/>
          </a:prstGeom>
          <a:solidFill>
            <a:srgbClr val="CCFBF1"/>
          </a:solidFill>
          <a:ln>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a:solidFill>
                  <a:srgbClr val="1F2937"/>
                </a:solidFill>
                <a:latin typeface="Calibri"/>
              </a:rPr>
              <a:t>Receive Resources</a:t>
            </a:r>
          </a:p>
        </p:txBody>
      </p:sp>
      <p:sp>
        <p:nvSpPr>
          <p:cNvPr id="11" name="Down Arrow 10"/>
          <p:cNvSpPr/>
          <p:nvPr/>
        </p:nvSpPr>
        <p:spPr>
          <a:xfrm>
            <a:off x="9026115" y="3035808"/>
            <a:ext cx="274320" cy="265176"/>
          </a:xfrm>
          <a:prstGeom prst="downArrow">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683495" y="3328416"/>
            <a:ext cx="4959560" cy="612648"/>
          </a:xfrm>
          <a:prstGeom prst="roundRect">
            <a:avLst/>
          </a:prstGeom>
          <a:solidFill>
            <a:srgbClr val="CCFBF1"/>
          </a:solidFill>
          <a:ln>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a:solidFill>
                  <a:srgbClr val="1F2937"/>
                </a:solidFill>
                <a:latin typeface="Calibri"/>
              </a:rPr>
              <a:t>Generate Tests</a:t>
            </a:r>
          </a:p>
        </p:txBody>
      </p:sp>
      <p:sp>
        <p:nvSpPr>
          <p:cNvPr id="13" name="Down Arrow 12"/>
          <p:cNvSpPr/>
          <p:nvPr/>
        </p:nvSpPr>
        <p:spPr>
          <a:xfrm>
            <a:off x="9026115" y="3968496"/>
            <a:ext cx="274320" cy="265176"/>
          </a:xfrm>
          <a:prstGeom prst="downArrow">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683495" y="4261104"/>
            <a:ext cx="4959560" cy="612648"/>
          </a:xfrm>
          <a:prstGeom prst="roundRect">
            <a:avLst/>
          </a:prstGeom>
          <a:solidFill>
            <a:srgbClr val="CCFBF1"/>
          </a:solidFill>
          <a:ln>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a:solidFill>
                  <a:srgbClr val="1F2937"/>
                </a:solidFill>
                <a:latin typeface="Calibri"/>
              </a:rPr>
              <a:t>Execute</a:t>
            </a:r>
          </a:p>
        </p:txBody>
      </p:sp>
      <p:sp>
        <p:nvSpPr>
          <p:cNvPr id="15" name="Down Arrow 14"/>
          <p:cNvSpPr/>
          <p:nvPr/>
        </p:nvSpPr>
        <p:spPr>
          <a:xfrm>
            <a:off x="9026115" y="4901184"/>
            <a:ext cx="274320" cy="265176"/>
          </a:xfrm>
          <a:prstGeom prst="downArrow">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683495" y="5193792"/>
            <a:ext cx="4959560" cy="612648"/>
          </a:xfrm>
          <a:prstGeom prst="roundRect">
            <a:avLst/>
          </a:prstGeom>
          <a:solidFill>
            <a:srgbClr val="CCFBF1"/>
          </a:solidFill>
          <a:ln>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a:solidFill>
                  <a:srgbClr val="1F2937"/>
                </a:solidFill>
                <a:latin typeface="Calibri"/>
              </a:rPr>
              <a:t>Log Provenance</a:t>
            </a:r>
          </a:p>
        </p:txBody>
      </p:sp>
      <p:sp>
        <p:nvSpPr>
          <p:cNvPr id="17" name="TextBox 16"/>
          <p:cNvSpPr txBox="1"/>
          <p:nvPr/>
        </p:nvSpPr>
        <p:spPr>
          <a:xfrm>
            <a:off x="6683495" y="5806440"/>
            <a:ext cx="4959560" cy="365760"/>
          </a:xfrm>
          <a:prstGeom prst="rect">
            <a:avLst/>
          </a:prstGeom>
          <a:noFill/>
        </p:spPr>
        <p:txBody>
          <a:bodyPr wrap="square" anchor="t" lIns="45720" rIns="45720">
            <a:spAutoFit/>
          </a:bodyPr>
          <a:lstStyle/>
          <a:p>
            <a:pPr algn="ctr"/>
            <a:r>
              <a:rPr sz="1200" b="0">
                <a:solidFill>
                  <a:srgbClr val="6B7280"/>
                </a:solidFill>
                <a:latin typeface="Calibri"/>
              </a:rPr>
              <a:t>MCP‑enabled test generation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9082735" cy="868680"/>
          </a:xfrm>
          <a:prstGeom prst="rect">
            <a:avLst/>
          </a:prstGeom>
          <a:noFill/>
        </p:spPr>
        <p:txBody>
          <a:bodyPr wrap="square" anchor="ctr" lIns="45720" rIns="45720">
            <a:spAutoFit/>
          </a:bodyPr>
          <a:lstStyle/>
          <a:p>
            <a:pPr algn="l"/>
            <a:r>
              <a:rPr sz="3000" b="1">
                <a:solidFill>
                  <a:srgbClr val="1F2937"/>
                </a:solidFill>
                <a:latin typeface="Calibri"/>
              </a:rPr>
              <a:t>Check: Reliability Requirement Identification</a:t>
            </a:r>
          </a:p>
        </p:txBody>
      </p:sp>
      <p:sp>
        <p:nvSpPr>
          <p:cNvPr id="4" name="Rounded Rectangle 3"/>
          <p:cNvSpPr/>
          <p:nvPr/>
        </p:nvSpPr>
        <p:spPr>
          <a:xfrm>
            <a:off x="9814255" y="502920"/>
            <a:ext cx="1828800" cy="457200"/>
          </a:xfrm>
          <a:prstGeom prst="roundRect">
            <a:avLst/>
          </a:prstGeom>
          <a:solidFill>
            <a:srgbClr val="CCFB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0F766E"/>
                </a:solidFill>
                <a:latin typeface="Calibri"/>
              </a:rPr>
              <a:t>Check</a:t>
            </a:r>
          </a:p>
        </p:txBody>
      </p:sp>
      <p:sp>
        <p:nvSpPr>
          <p:cNvPr id="5" name="TextBox 4"/>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W12.S1</a:t>
            </a:r>
          </a:p>
        </p:txBody>
      </p:sp>
      <p:sp>
        <p:nvSpPr>
          <p:cNvPr id="6" name="TextBox 5"/>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12</a:t>
            </a:r>
          </a:p>
        </p:txBody>
      </p:sp>
      <p:sp>
        <p:nvSpPr>
          <p:cNvPr id="7" name="TextBox 6"/>
          <p:cNvSpPr txBox="1"/>
          <p:nvPr/>
        </p:nvSpPr>
        <p:spPr>
          <a:xfrm>
            <a:off x="1280160" y="1463040"/>
            <a:ext cx="9631375" cy="1188720"/>
          </a:xfrm>
          <a:prstGeom prst="rect">
            <a:avLst/>
          </a:prstGeom>
          <a:noFill/>
        </p:spPr>
        <p:txBody>
          <a:bodyPr wrap="square" anchor="t" lIns="45720" rIns="45720">
            <a:spAutoFit/>
          </a:bodyPr>
          <a:lstStyle/>
          <a:p>
            <a:pPr algn="l"/>
            <a:r>
              <a:rPr sz="2300" b="1">
                <a:solidFill>
                  <a:srgbClr val="1F2937"/>
                </a:solidFill>
                <a:latin typeface="Calibri"/>
              </a:rPr>
              <a:t>Which reliability requirement is primarily addressed by static analysis gates (lint, type checking, security scans) in an AI‑native pipeline?</a:t>
            </a:r>
          </a:p>
        </p:txBody>
      </p:sp>
      <p:sp>
        <p:nvSpPr>
          <p:cNvPr id="8" name="Rounded Rectangle 7"/>
          <p:cNvSpPr/>
          <p:nvPr/>
        </p:nvSpPr>
        <p:spPr>
          <a:xfrm>
            <a:off x="1280160" y="2834640"/>
            <a:ext cx="9631375" cy="710946"/>
          </a:xfrm>
          <a:prstGeom prst="round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17320" y="2961513"/>
            <a:ext cx="457200" cy="457200"/>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CCFBF1"/>
                </a:solidFill>
                <a:latin typeface="Calibri"/>
              </a:rPr>
              <a:t>A</a:t>
            </a:r>
          </a:p>
        </p:txBody>
      </p:sp>
      <p:sp>
        <p:nvSpPr>
          <p:cNvPr id="10" name="TextBox 9"/>
          <p:cNvSpPr txBox="1"/>
          <p:nvPr/>
        </p:nvSpPr>
        <p:spPr>
          <a:xfrm>
            <a:off x="2057400" y="2834640"/>
            <a:ext cx="8625535" cy="710946"/>
          </a:xfrm>
          <a:prstGeom prst="rect">
            <a:avLst/>
          </a:prstGeom>
          <a:noFill/>
        </p:spPr>
        <p:txBody>
          <a:bodyPr wrap="square" anchor="ctr" lIns="45720" rIns="45720">
            <a:spAutoFit/>
          </a:bodyPr>
          <a:lstStyle/>
          <a:p>
            <a:pPr algn="l"/>
            <a:r>
              <a:rPr sz="2000" b="0">
                <a:solidFill>
                  <a:srgbClr val="1F2937"/>
                </a:solidFill>
                <a:latin typeface="Calibri"/>
              </a:rPr>
              <a:t>Correctness</a:t>
            </a:r>
          </a:p>
        </p:txBody>
      </p:sp>
      <p:sp>
        <p:nvSpPr>
          <p:cNvPr id="11" name="Rounded Rectangle 10"/>
          <p:cNvSpPr/>
          <p:nvPr/>
        </p:nvSpPr>
        <p:spPr>
          <a:xfrm>
            <a:off x="1280160" y="3710178"/>
            <a:ext cx="9631375" cy="710946"/>
          </a:xfrm>
          <a:prstGeom prst="round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417320" y="3837051"/>
            <a:ext cx="457200" cy="457200"/>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CCFBF1"/>
                </a:solidFill>
                <a:latin typeface="Calibri"/>
              </a:rPr>
              <a:t>B</a:t>
            </a:r>
          </a:p>
        </p:txBody>
      </p:sp>
      <p:sp>
        <p:nvSpPr>
          <p:cNvPr id="13" name="TextBox 12"/>
          <p:cNvSpPr txBox="1"/>
          <p:nvPr/>
        </p:nvSpPr>
        <p:spPr>
          <a:xfrm>
            <a:off x="2057400" y="3710178"/>
            <a:ext cx="8625535" cy="710946"/>
          </a:xfrm>
          <a:prstGeom prst="rect">
            <a:avLst/>
          </a:prstGeom>
          <a:noFill/>
        </p:spPr>
        <p:txBody>
          <a:bodyPr wrap="square" anchor="ctr" lIns="45720" rIns="45720">
            <a:spAutoFit/>
          </a:bodyPr>
          <a:lstStyle/>
          <a:p>
            <a:pPr algn="l"/>
            <a:r>
              <a:rPr sz="2000" b="0">
                <a:solidFill>
                  <a:srgbClr val="1F2937"/>
                </a:solidFill>
                <a:latin typeface="Calibri"/>
              </a:rPr>
              <a:t>Robustness</a:t>
            </a:r>
          </a:p>
        </p:txBody>
      </p:sp>
      <p:sp>
        <p:nvSpPr>
          <p:cNvPr id="14" name="Rounded Rectangle 13"/>
          <p:cNvSpPr/>
          <p:nvPr/>
        </p:nvSpPr>
        <p:spPr>
          <a:xfrm>
            <a:off x="1280160" y="4585716"/>
            <a:ext cx="9631375" cy="710946"/>
          </a:xfrm>
          <a:prstGeom prst="round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417320" y="4712589"/>
            <a:ext cx="457200" cy="457200"/>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CCFBF1"/>
                </a:solidFill>
                <a:latin typeface="Calibri"/>
              </a:rPr>
              <a:t>C</a:t>
            </a:r>
          </a:p>
        </p:txBody>
      </p:sp>
      <p:sp>
        <p:nvSpPr>
          <p:cNvPr id="16" name="TextBox 15"/>
          <p:cNvSpPr txBox="1"/>
          <p:nvPr/>
        </p:nvSpPr>
        <p:spPr>
          <a:xfrm>
            <a:off x="2057400" y="4585716"/>
            <a:ext cx="8625535" cy="710946"/>
          </a:xfrm>
          <a:prstGeom prst="rect">
            <a:avLst/>
          </a:prstGeom>
          <a:noFill/>
        </p:spPr>
        <p:txBody>
          <a:bodyPr wrap="square" anchor="ctr" lIns="45720" rIns="45720">
            <a:spAutoFit/>
          </a:bodyPr>
          <a:lstStyle/>
          <a:p>
            <a:pPr algn="l"/>
            <a:r>
              <a:rPr sz="2000" b="0">
                <a:solidFill>
                  <a:srgbClr val="1F2937"/>
                </a:solidFill>
                <a:latin typeface="Calibri"/>
              </a:rPr>
              <a:t>Performance</a:t>
            </a:r>
          </a:p>
        </p:txBody>
      </p:sp>
      <p:sp>
        <p:nvSpPr>
          <p:cNvPr id="17" name="Rounded Rectangle 16"/>
          <p:cNvSpPr/>
          <p:nvPr/>
        </p:nvSpPr>
        <p:spPr>
          <a:xfrm>
            <a:off x="1280160" y="5461254"/>
            <a:ext cx="9631375" cy="710946"/>
          </a:xfrm>
          <a:prstGeom prst="round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417320" y="5588127"/>
            <a:ext cx="457200" cy="457200"/>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CCFBF1"/>
                </a:solidFill>
                <a:latin typeface="Calibri"/>
              </a:rPr>
              <a:t>D</a:t>
            </a:r>
          </a:p>
        </p:txBody>
      </p:sp>
      <p:sp>
        <p:nvSpPr>
          <p:cNvPr id="19" name="TextBox 18"/>
          <p:cNvSpPr txBox="1"/>
          <p:nvPr/>
        </p:nvSpPr>
        <p:spPr>
          <a:xfrm>
            <a:off x="2057400" y="5461254"/>
            <a:ext cx="8625535" cy="710946"/>
          </a:xfrm>
          <a:prstGeom prst="rect">
            <a:avLst/>
          </a:prstGeom>
          <a:noFill/>
        </p:spPr>
        <p:txBody>
          <a:bodyPr wrap="square" anchor="ctr" lIns="45720" rIns="45720">
            <a:spAutoFit/>
          </a:bodyPr>
          <a:lstStyle/>
          <a:p>
            <a:pPr algn="l"/>
            <a:r>
              <a:rPr sz="2000" b="0">
                <a:solidFill>
                  <a:srgbClr val="1F2937"/>
                </a:solidFill>
                <a:latin typeface="Calibri"/>
              </a:rPr>
              <a:t>Reproducibility</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9082735" cy="868680"/>
          </a:xfrm>
          <a:prstGeom prst="rect">
            <a:avLst/>
          </a:prstGeom>
          <a:noFill/>
        </p:spPr>
        <p:txBody>
          <a:bodyPr wrap="square" anchor="ctr" lIns="45720" rIns="45720">
            <a:spAutoFit/>
          </a:bodyPr>
          <a:lstStyle/>
          <a:p>
            <a:pPr algn="l"/>
            <a:r>
              <a:rPr sz="3000" b="1">
                <a:solidFill>
                  <a:srgbClr val="1F2937"/>
                </a:solidFill>
                <a:latin typeface="Calibri"/>
              </a:rPr>
              <a:t>Check: Pipeline Design Decision Justification</a:t>
            </a:r>
          </a:p>
        </p:txBody>
      </p:sp>
      <p:sp>
        <p:nvSpPr>
          <p:cNvPr id="4" name="Rounded Rectangle 3"/>
          <p:cNvSpPr/>
          <p:nvPr/>
        </p:nvSpPr>
        <p:spPr>
          <a:xfrm>
            <a:off x="9814255" y="502920"/>
            <a:ext cx="1828800" cy="457200"/>
          </a:xfrm>
          <a:prstGeom prst="roundRect">
            <a:avLst/>
          </a:prstGeom>
          <a:solidFill>
            <a:srgbClr val="CCFB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0F766E"/>
                </a:solidFill>
                <a:latin typeface="Calibri"/>
              </a:rPr>
              <a:t>Check</a:t>
            </a:r>
          </a:p>
        </p:txBody>
      </p:sp>
      <p:sp>
        <p:nvSpPr>
          <p:cNvPr id="5" name="TextBox 4"/>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W12.S1</a:t>
            </a:r>
          </a:p>
        </p:txBody>
      </p:sp>
      <p:sp>
        <p:nvSpPr>
          <p:cNvPr id="6" name="TextBox 5"/>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13</a:t>
            </a:r>
          </a:p>
        </p:txBody>
      </p:sp>
      <p:sp>
        <p:nvSpPr>
          <p:cNvPr id="7" name="TextBox 6"/>
          <p:cNvSpPr txBox="1"/>
          <p:nvPr/>
        </p:nvSpPr>
        <p:spPr>
          <a:xfrm>
            <a:off x="1280160" y="1463040"/>
            <a:ext cx="9631375" cy="1188720"/>
          </a:xfrm>
          <a:prstGeom prst="rect">
            <a:avLst/>
          </a:prstGeom>
          <a:noFill/>
        </p:spPr>
        <p:txBody>
          <a:bodyPr wrap="square" anchor="t" lIns="45720" rIns="45720">
            <a:spAutoFit/>
          </a:bodyPr>
          <a:lstStyle/>
          <a:p>
            <a:pPr algn="l"/>
            <a:r>
              <a:rPr sz="2500" b="1">
                <a:solidFill>
                  <a:srgbClr val="1F2937"/>
                </a:solidFill>
                <a:latin typeface="Calibri"/>
              </a:rPr>
              <a:t>Contract testing of service interfaces primarily verifies which reliability requirement for AI‑native pipelines?</a:t>
            </a:r>
          </a:p>
        </p:txBody>
      </p:sp>
      <p:sp>
        <p:nvSpPr>
          <p:cNvPr id="8" name="Rounded Rectangle 7"/>
          <p:cNvSpPr/>
          <p:nvPr/>
        </p:nvSpPr>
        <p:spPr>
          <a:xfrm>
            <a:off x="1280160" y="2834640"/>
            <a:ext cx="9631375" cy="710946"/>
          </a:xfrm>
          <a:prstGeom prst="round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17320" y="2961513"/>
            <a:ext cx="457200" cy="457200"/>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CCFBF1"/>
                </a:solidFill>
                <a:latin typeface="Calibri"/>
              </a:rPr>
              <a:t>A</a:t>
            </a:r>
          </a:p>
        </p:txBody>
      </p:sp>
      <p:sp>
        <p:nvSpPr>
          <p:cNvPr id="10" name="TextBox 9"/>
          <p:cNvSpPr txBox="1"/>
          <p:nvPr/>
        </p:nvSpPr>
        <p:spPr>
          <a:xfrm>
            <a:off x="2057400" y="2834640"/>
            <a:ext cx="8625535" cy="710946"/>
          </a:xfrm>
          <a:prstGeom prst="rect">
            <a:avLst/>
          </a:prstGeom>
          <a:noFill/>
        </p:spPr>
        <p:txBody>
          <a:bodyPr wrap="square" anchor="ctr" lIns="45720" rIns="45720">
            <a:spAutoFit/>
          </a:bodyPr>
          <a:lstStyle/>
          <a:p>
            <a:pPr algn="l"/>
            <a:r>
              <a:rPr sz="2000" b="0">
                <a:solidFill>
                  <a:srgbClr val="1F2937"/>
                </a:solidFill>
                <a:latin typeface="Calibri"/>
              </a:rPr>
              <a:t>Correctness</a:t>
            </a:r>
          </a:p>
        </p:txBody>
      </p:sp>
      <p:sp>
        <p:nvSpPr>
          <p:cNvPr id="11" name="Rounded Rectangle 10"/>
          <p:cNvSpPr/>
          <p:nvPr/>
        </p:nvSpPr>
        <p:spPr>
          <a:xfrm>
            <a:off x="1280160" y="3710178"/>
            <a:ext cx="9631375" cy="710946"/>
          </a:xfrm>
          <a:prstGeom prst="round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417320" y="3837051"/>
            <a:ext cx="457200" cy="457200"/>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CCFBF1"/>
                </a:solidFill>
                <a:latin typeface="Calibri"/>
              </a:rPr>
              <a:t>B</a:t>
            </a:r>
          </a:p>
        </p:txBody>
      </p:sp>
      <p:sp>
        <p:nvSpPr>
          <p:cNvPr id="13" name="TextBox 12"/>
          <p:cNvSpPr txBox="1"/>
          <p:nvPr/>
        </p:nvSpPr>
        <p:spPr>
          <a:xfrm>
            <a:off x="2057400" y="3710178"/>
            <a:ext cx="8625535" cy="710946"/>
          </a:xfrm>
          <a:prstGeom prst="rect">
            <a:avLst/>
          </a:prstGeom>
          <a:noFill/>
        </p:spPr>
        <p:txBody>
          <a:bodyPr wrap="square" anchor="ctr" lIns="45720" rIns="45720">
            <a:spAutoFit/>
          </a:bodyPr>
          <a:lstStyle/>
          <a:p>
            <a:pPr algn="l"/>
            <a:r>
              <a:rPr sz="2000" b="0">
                <a:solidFill>
                  <a:srgbClr val="1F2937"/>
                </a:solidFill>
                <a:latin typeface="Calibri"/>
              </a:rPr>
              <a:t>Maintainability</a:t>
            </a:r>
          </a:p>
        </p:txBody>
      </p:sp>
      <p:sp>
        <p:nvSpPr>
          <p:cNvPr id="14" name="Rounded Rectangle 13"/>
          <p:cNvSpPr/>
          <p:nvPr/>
        </p:nvSpPr>
        <p:spPr>
          <a:xfrm>
            <a:off x="1280160" y="4585716"/>
            <a:ext cx="9631375" cy="710946"/>
          </a:xfrm>
          <a:prstGeom prst="round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417320" y="4712589"/>
            <a:ext cx="457200" cy="457200"/>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CCFBF1"/>
                </a:solidFill>
                <a:latin typeface="Calibri"/>
              </a:rPr>
              <a:t>C</a:t>
            </a:r>
          </a:p>
        </p:txBody>
      </p:sp>
      <p:sp>
        <p:nvSpPr>
          <p:cNvPr id="16" name="TextBox 15"/>
          <p:cNvSpPr txBox="1"/>
          <p:nvPr/>
        </p:nvSpPr>
        <p:spPr>
          <a:xfrm>
            <a:off x="2057400" y="4585716"/>
            <a:ext cx="8625535" cy="710946"/>
          </a:xfrm>
          <a:prstGeom prst="rect">
            <a:avLst/>
          </a:prstGeom>
          <a:noFill/>
        </p:spPr>
        <p:txBody>
          <a:bodyPr wrap="square" anchor="ctr" lIns="45720" rIns="45720">
            <a:spAutoFit/>
          </a:bodyPr>
          <a:lstStyle/>
          <a:p>
            <a:pPr algn="l"/>
            <a:r>
              <a:rPr sz="2000" b="0">
                <a:solidFill>
                  <a:srgbClr val="1F2937"/>
                </a:solidFill>
                <a:latin typeface="Calibri"/>
              </a:rPr>
              <a:t>Performance</a:t>
            </a:r>
          </a:p>
        </p:txBody>
      </p:sp>
      <p:sp>
        <p:nvSpPr>
          <p:cNvPr id="17" name="Rounded Rectangle 16"/>
          <p:cNvSpPr/>
          <p:nvPr/>
        </p:nvSpPr>
        <p:spPr>
          <a:xfrm>
            <a:off x="1280160" y="5461254"/>
            <a:ext cx="9631375" cy="710946"/>
          </a:xfrm>
          <a:prstGeom prst="round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417320" y="5588127"/>
            <a:ext cx="457200" cy="457200"/>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CCFBF1"/>
                </a:solidFill>
                <a:latin typeface="Calibri"/>
              </a:rPr>
              <a:t>D</a:t>
            </a:r>
          </a:p>
        </p:txBody>
      </p:sp>
      <p:sp>
        <p:nvSpPr>
          <p:cNvPr id="19" name="TextBox 18"/>
          <p:cNvSpPr txBox="1"/>
          <p:nvPr/>
        </p:nvSpPr>
        <p:spPr>
          <a:xfrm>
            <a:off x="2057400" y="5461254"/>
            <a:ext cx="8625535" cy="710946"/>
          </a:xfrm>
          <a:prstGeom prst="rect">
            <a:avLst/>
          </a:prstGeom>
          <a:noFill/>
        </p:spPr>
        <p:txBody>
          <a:bodyPr wrap="square" anchor="ctr" lIns="45720" rIns="45720">
            <a:spAutoFit/>
          </a:bodyPr>
          <a:lstStyle/>
          <a:p>
            <a:pPr algn="l"/>
            <a:r>
              <a:rPr sz="2000" b="0">
                <a:solidFill>
                  <a:srgbClr val="1F2937"/>
                </a:solidFill>
                <a:latin typeface="Calibri"/>
              </a:rPr>
              <a:t>Security</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9082735" cy="868680"/>
          </a:xfrm>
          <a:prstGeom prst="rect">
            <a:avLst/>
          </a:prstGeom>
          <a:noFill/>
        </p:spPr>
        <p:txBody>
          <a:bodyPr wrap="square" anchor="ctr" lIns="45720" rIns="45720">
            <a:spAutoFit/>
          </a:bodyPr>
          <a:lstStyle/>
          <a:p>
            <a:pPr algn="l"/>
            <a:r>
              <a:rPr sz="3000" b="1">
                <a:solidFill>
                  <a:srgbClr val="1F2937"/>
                </a:solidFill>
                <a:latin typeface="Calibri"/>
              </a:rPr>
              <a:t>Hands‑On Reliability Assessment Lab</a:t>
            </a:r>
          </a:p>
        </p:txBody>
      </p:sp>
      <p:sp>
        <p:nvSpPr>
          <p:cNvPr id="4" name="Rounded Rectangle 3"/>
          <p:cNvSpPr/>
          <p:nvPr/>
        </p:nvSpPr>
        <p:spPr>
          <a:xfrm>
            <a:off x="9814255" y="502920"/>
            <a:ext cx="1828800" cy="457200"/>
          </a:xfrm>
          <a:prstGeom prst="roundRect">
            <a:avLst/>
          </a:prstGeom>
          <a:solidFill>
            <a:srgbClr val="CCFB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0F766E"/>
                </a:solidFill>
                <a:latin typeface="Calibri"/>
              </a:rPr>
              <a:t>Activity</a:t>
            </a:r>
          </a:p>
        </p:txBody>
      </p:sp>
      <p:sp>
        <p:nvSpPr>
          <p:cNvPr id="5" name="TextBox 4"/>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W12.S1</a:t>
            </a:r>
          </a:p>
        </p:txBody>
      </p:sp>
      <p:sp>
        <p:nvSpPr>
          <p:cNvPr id="6" name="TextBox 5"/>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14</a:t>
            </a:r>
          </a:p>
        </p:txBody>
      </p:sp>
      <p:sp>
        <p:nvSpPr>
          <p:cNvPr id="7" name="TextBox 6"/>
          <p:cNvSpPr txBox="1"/>
          <p:nvPr/>
        </p:nvSpPr>
        <p:spPr>
          <a:xfrm>
            <a:off x="548640" y="1463040"/>
            <a:ext cx="11094415" cy="4709160"/>
          </a:xfrm>
          <a:prstGeom prst="rect">
            <a:avLst/>
          </a:prstGeom>
          <a:noFill/>
        </p:spPr>
        <p:txBody>
          <a:bodyPr wrap="square">
            <a:spAutoFit/>
          </a:bodyPr>
          <a:lstStyle/>
          <a:p>
            <a:pPr marL="292608" indent="-292608">
              <a:spcAft>
                <a:spcPts val="1000"/>
              </a:spcAft>
              <a:buClr>
                <a:srgbClr val="0F766E"/>
              </a:buClr>
              <a:buFont typeface="Arial"/>
              <a:buChar char="▪"/>
            </a:pPr>
            <a:r>
              <a:rPr sz="2400">
                <a:solidFill>
                  <a:srgbClr val="1F2937"/>
                </a:solidFill>
                <a:latin typeface="Calibri"/>
              </a:rPr>
              <a:t>Clone the provided multi‑component repo (API, ML, data prep)</a:t>
            </a:r>
          </a:p>
          <a:p>
            <a:pPr marL="292608" indent="-292608">
              <a:spcAft>
                <a:spcPts val="1000"/>
              </a:spcAft>
              <a:buClr>
                <a:srgbClr val="0F766E"/>
              </a:buClr>
              <a:buFont typeface="Arial"/>
              <a:buChar char="▪"/>
            </a:pPr>
            <a:r>
              <a:rPr sz="2400">
                <a:solidFill>
                  <a:srgbClr val="1F2937"/>
                </a:solidFill>
                <a:latin typeface="Calibri"/>
              </a:rPr>
              <a:t>Run the existing CI pipeline and collect test reports</a:t>
            </a:r>
          </a:p>
          <a:p>
            <a:pPr marL="292608" indent="-292608">
              <a:spcAft>
                <a:spcPts val="1000"/>
              </a:spcAft>
              <a:buClr>
                <a:srgbClr val="0F766E"/>
              </a:buClr>
              <a:buFont typeface="Arial"/>
              <a:buChar char="▪"/>
            </a:pPr>
            <a:r>
              <a:rPr sz="2400">
                <a:solidFill>
                  <a:srgbClr val="1F2937"/>
                </a:solidFill>
                <a:latin typeface="Calibri"/>
              </a:rPr>
              <a:t>Identify gaps against the six reliability requirements</a:t>
            </a:r>
          </a:p>
          <a:p>
            <a:pPr marL="292608" indent="-292608">
              <a:spcAft>
                <a:spcPts val="1000"/>
              </a:spcAft>
              <a:buClr>
                <a:srgbClr val="0F766E"/>
              </a:buClr>
              <a:buFont typeface="Arial"/>
              <a:buChar char="▪"/>
            </a:pPr>
            <a:r>
              <a:rPr sz="2400">
                <a:solidFill>
                  <a:srgbClr val="1F2937"/>
                </a:solidFill>
                <a:latin typeface="Calibri"/>
              </a:rPr>
              <a:t>Propose two concrete pipeline improvements with justifications</a:t>
            </a:r>
          </a:p>
          <a:p>
            <a:pPr marL="292608" indent="-292608">
              <a:spcAft>
                <a:spcPts val="1000"/>
              </a:spcAft>
              <a:buClr>
                <a:srgbClr val="0F766E"/>
              </a:buClr>
              <a:buFont typeface="Arial"/>
              <a:buChar char="▪"/>
            </a:pPr>
            <a:r>
              <a:rPr sz="2400">
                <a:solidFill>
                  <a:srgbClr val="1F2937"/>
                </a:solidFill>
                <a:latin typeface="Calibri"/>
              </a:rPr>
              <a:t>Submit a short markdown report via the course portal</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868680"/>
          </a:xfrm>
          <a:prstGeom prst="rect">
            <a:avLst/>
          </a:prstGeom>
          <a:noFill/>
        </p:spPr>
        <p:txBody>
          <a:bodyPr wrap="square" anchor="ctr" lIns="45720" rIns="45720">
            <a:spAutoFit/>
          </a:bodyPr>
          <a:lstStyle/>
          <a:p>
            <a:pPr algn="l"/>
            <a:r>
              <a:rPr sz="3000" b="1">
                <a:solidFill>
                  <a:srgbClr val="1F2937"/>
                </a:solidFill>
                <a:latin typeface="Calibri"/>
              </a:rPr>
              <a:t>Flakiness Mitigation in AI‑Generated Tests</a:t>
            </a:r>
          </a:p>
        </p:txBody>
      </p:sp>
      <p:sp>
        <p:nvSpPr>
          <p:cNvPr id="4" name="TextBox 3"/>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W12.S1   ·   Sources: [C6]</a:t>
            </a:r>
          </a:p>
        </p:txBody>
      </p:sp>
      <p:sp>
        <p:nvSpPr>
          <p:cNvPr id="5" name="TextBox 4"/>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15</a:t>
            </a:r>
          </a:p>
        </p:txBody>
      </p:sp>
      <p:sp>
        <p:nvSpPr>
          <p:cNvPr id="6" name="TextBox 5"/>
          <p:cNvSpPr txBox="1"/>
          <p:nvPr/>
        </p:nvSpPr>
        <p:spPr>
          <a:xfrm>
            <a:off x="548640" y="1463040"/>
            <a:ext cx="11094415" cy="4709160"/>
          </a:xfrm>
          <a:prstGeom prst="rect">
            <a:avLst/>
          </a:prstGeom>
          <a:noFill/>
        </p:spPr>
        <p:txBody>
          <a:bodyPr wrap="square">
            <a:spAutoFit/>
          </a:bodyPr>
          <a:lstStyle/>
          <a:p>
            <a:pPr marL="292608" indent="-292608">
              <a:spcAft>
                <a:spcPts val="1000"/>
              </a:spcAft>
              <a:buClr>
                <a:srgbClr val="0F766E"/>
              </a:buClr>
              <a:buFont typeface="Arial"/>
              <a:buChar char="▪"/>
            </a:pPr>
            <a:r>
              <a:rPr sz="2400">
                <a:solidFill>
                  <a:srgbClr val="1F2937"/>
                </a:solidFill>
                <a:latin typeface="Calibri"/>
              </a:rPr>
              <a:t>Quarantine flaky tests and rerun with fixed seeds</a:t>
            </a:r>
          </a:p>
          <a:p>
            <a:pPr marL="292608" indent="-292608">
              <a:spcAft>
                <a:spcPts val="1000"/>
              </a:spcAft>
              <a:buClr>
                <a:srgbClr val="0F766E"/>
              </a:buClr>
              <a:buFont typeface="Arial"/>
              <a:buChar char="▪"/>
            </a:pPr>
            <a:r>
              <a:rPr sz="2400">
                <a:solidFill>
                  <a:srgbClr val="1F2937"/>
                </a:solidFill>
                <a:latin typeface="Calibri"/>
              </a:rPr>
              <a:t>Use deterministic test data and mock external services</a:t>
            </a:r>
          </a:p>
          <a:p>
            <a:pPr marL="292608" indent="-292608">
              <a:spcAft>
                <a:spcPts val="1000"/>
              </a:spcAft>
              <a:buClr>
                <a:srgbClr val="0F766E"/>
              </a:buClr>
              <a:buFont typeface="Arial"/>
              <a:buChar char="▪"/>
            </a:pPr>
            <a:r>
              <a:rPr sz="2400">
                <a:solidFill>
                  <a:srgbClr val="1F2937"/>
                </a:solidFill>
                <a:latin typeface="Calibri"/>
              </a:rPr>
              <a:t>Apply statistical thresholds (e.g., 95% pass rate over 10 runs)</a:t>
            </a:r>
          </a:p>
          <a:p>
            <a:pPr marL="292608" indent="-292608">
              <a:spcAft>
                <a:spcPts val="1000"/>
              </a:spcAft>
              <a:buClr>
                <a:srgbClr val="0F766E"/>
              </a:buClr>
              <a:buFont typeface="Arial"/>
              <a:buChar char="▪"/>
            </a:pPr>
            <a:r>
              <a:rPr sz="2400">
                <a:solidFill>
                  <a:srgbClr val="1F2937"/>
                </a:solidFill>
                <a:latin typeface="Calibri"/>
              </a:rPr>
              <a:t>Log environment hashes for reproducibility</a:t>
            </a:r>
          </a:p>
          <a:p>
            <a:pPr marL="292608" indent="-292608">
              <a:spcAft>
                <a:spcPts val="1000"/>
              </a:spcAft>
              <a:buClr>
                <a:srgbClr val="0F766E"/>
              </a:buClr>
              <a:buFont typeface="Arial"/>
              <a:buChar char="▪"/>
            </a:pPr>
            <a:r>
              <a:rPr sz="2400">
                <a:solidFill>
                  <a:srgbClr val="1F2937"/>
                </a:solidFill>
                <a:latin typeface="Calibri"/>
              </a:rPr>
              <a:t>Integrate flakiness dashboard into CI</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868680"/>
          </a:xfrm>
          <a:prstGeom prst="rect">
            <a:avLst/>
          </a:prstGeom>
          <a:noFill/>
        </p:spPr>
        <p:txBody>
          <a:bodyPr wrap="square" anchor="ctr" lIns="45720" rIns="45720">
            <a:spAutoFit/>
          </a:bodyPr>
          <a:lstStyle/>
          <a:p>
            <a:pPr algn="l"/>
            <a:r>
              <a:rPr sz="3000" b="1">
                <a:solidFill>
                  <a:srgbClr val="1F2937"/>
                </a:solidFill>
                <a:latin typeface="Calibri"/>
              </a:rPr>
              <a:t>Ensuring Reproducibility via Controlled Reruns</a:t>
            </a:r>
          </a:p>
        </p:txBody>
      </p:sp>
      <p:sp>
        <p:nvSpPr>
          <p:cNvPr id="4" name="TextBox 3"/>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W12.S1   ·   Sources: [C1] [C3]</a:t>
            </a:r>
          </a:p>
        </p:txBody>
      </p:sp>
      <p:sp>
        <p:nvSpPr>
          <p:cNvPr id="5" name="TextBox 4"/>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16</a:t>
            </a:r>
          </a:p>
        </p:txBody>
      </p:sp>
      <p:sp>
        <p:nvSpPr>
          <p:cNvPr id="6" name="TextBox 5"/>
          <p:cNvSpPr txBox="1"/>
          <p:nvPr/>
        </p:nvSpPr>
        <p:spPr>
          <a:xfrm>
            <a:off x="548640" y="1463040"/>
            <a:ext cx="11094415" cy="4709160"/>
          </a:xfrm>
          <a:prstGeom prst="rect">
            <a:avLst/>
          </a:prstGeom>
          <a:noFill/>
        </p:spPr>
        <p:txBody>
          <a:bodyPr wrap="square">
            <a:spAutoFit/>
          </a:bodyPr>
          <a:lstStyle/>
          <a:p>
            <a:pPr marL="292608" indent="-292608">
              <a:spcAft>
                <a:spcPts val="1000"/>
              </a:spcAft>
              <a:buClr>
                <a:srgbClr val="0F766E"/>
              </a:buClr>
              <a:buFont typeface="Arial"/>
              <a:buChar char="▪"/>
            </a:pPr>
            <a:r>
              <a:rPr sz="2400">
                <a:solidFill>
                  <a:srgbClr val="1F2937"/>
                </a:solidFill>
                <a:latin typeface="Calibri"/>
              </a:rPr>
              <a:t>Pin model versions, prompts, and temperature settings</a:t>
            </a:r>
          </a:p>
          <a:p>
            <a:pPr marL="292608" indent="-292608">
              <a:spcAft>
                <a:spcPts val="1000"/>
              </a:spcAft>
              <a:buClr>
                <a:srgbClr val="0F766E"/>
              </a:buClr>
              <a:buFont typeface="Arial"/>
              <a:buChar char="▪"/>
            </a:pPr>
            <a:r>
              <a:rPr sz="2400">
                <a:solidFill>
                  <a:srgbClr val="1F2937"/>
                </a:solidFill>
                <a:latin typeface="Calibri"/>
              </a:rPr>
              <a:t>Version control all generated artifacts and test inputs</a:t>
            </a:r>
          </a:p>
          <a:p>
            <a:pPr marL="292608" indent="-292608">
              <a:spcAft>
                <a:spcPts val="1000"/>
              </a:spcAft>
              <a:buClr>
                <a:srgbClr val="0F766E"/>
              </a:buClr>
              <a:buFont typeface="Arial"/>
              <a:buChar char="▪"/>
            </a:pPr>
            <a:r>
              <a:rPr sz="2400">
                <a:solidFill>
                  <a:srgbClr val="1F2937"/>
                </a:solidFill>
                <a:latin typeface="Calibri"/>
              </a:rPr>
              <a:t>Use containerized execution environments</a:t>
            </a:r>
          </a:p>
          <a:p>
            <a:pPr marL="292608" indent="-292608">
              <a:spcAft>
                <a:spcPts val="1000"/>
              </a:spcAft>
              <a:buClr>
                <a:srgbClr val="0F766E"/>
              </a:buClr>
              <a:buFont typeface="Arial"/>
              <a:buChar char="▪"/>
            </a:pPr>
            <a:r>
              <a:rPr sz="2400">
                <a:solidFill>
                  <a:srgbClr val="1F2937"/>
                </a:solidFill>
                <a:latin typeface="Calibri"/>
              </a:rPr>
              <a:t>Record full provenance (context, seed, dependencies)</a:t>
            </a:r>
          </a:p>
          <a:p>
            <a:pPr marL="292608" indent="-292608">
              <a:spcAft>
                <a:spcPts val="1000"/>
              </a:spcAft>
              <a:buClr>
                <a:srgbClr val="0F766E"/>
              </a:buClr>
              <a:buFont typeface="Arial"/>
              <a:buChar char="▪"/>
            </a:pPr>
            <a:r>
              <a:rPr sz="2400">
                <a:solidFill>
                  <a:srgbClr val="1F2937"/>
                </a:solidFill>
                <a:latin typeface="Calibri"/>
              </a:rPr>
              <a:t>Enable on‑demand replay for audit and debugging</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868680"/>
          </a:xfrm>
          <a:prstGeom prst="rect">
            <a:avLst/>
          </a:prstGeom>
          <a:noFill/>
        </p:spPr>
        <p:txBody>
          <a:bodyPr wrap="square" anchor="ctr" lIns="45720" rIns="45720">
            <a:spAutoFit/>
          </a:bodyPr>
          <a:lstStyle/>
          <a:p>
            <a:pPr algn="l"/>
            <a:r>
              <a:rPr sz="3000" b="1">
                <a:solidFill>
                  <a:srgbClr val="1F2937"/>
                </a:solidFill>
                <a:latin typeface="Calibri"/>
              </a:rPr>
              <a:t>Deployment and Reliability Metric Evaluation Preview</a:t>
            </a:r>
          </a:p>
        </p:txBody>
      </p:sp>
      <p:sp>
        <p:nvSpPr>
          <p:cNvPr id="4" name="TextBox 3"/>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W12.S1   ·   Sources: [C4]</a:t>
            </a:r>
          </a:p>
        </p:txBody>
      </p:sp>
      <p:sp>
        <p:nvSpPr>
          <p:cNvPr id="5" name="TextBox 4"/>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17</a:t>
            </a:r>
          </a:p>
        </p:txBody>
      </p:sp>
      <p:sp>
        <p:nvSpPr>
          <p:cNvPr id="6" name="TextBox 5"/>
          <p:cNvSpPr txBox="1"/>
          <p:nvPr/>
        </p:nvSpPr>
        <p:spPr>
          <a:xfrm>
            <a:off x="548640" y="1463040"/>
            <a:ext cx="11094415" cy="4709160"/>
          </a:xfrm>
          <a:prstGeom prst="rect">
            <a:avLst/>
          </a:prstGeom>
          <a:noFill/>
        </p:spPr>
        <p:txBody>
          <a:bodyPr wrap="square">
            <a:spAutoFit/>
          </a:bodyPr>
          <a:lstStyle/>
          <a:p>
            <a:pPr marL="292608" indent="-292608">
              <a:spcAft>
                <a:spcPts val="1000"/>
              </a:spcAft>
              <a:buClr>
                <a:srgbClr val="0F766E"/>
              </a:buClr>
              <a:buFont typeface="Arial"/>
              <a:buChar char="▪"/>
            </a:pPr>
            <a:r>
              <a:rPr sz="2400">
                <a:solidFill>
                  <a:srgbClr val="1F2937"/>
                </a:solidFill>
                <a:latin typeface="Calibri"/>
              </a:rPr>
              <a:t>Next week: canary releases, SLO/SLI definitions</a:t>
            </a:r>
          </a:p>
          <a:p>
            <a:pPr marL="292608" indent="-292608">
              <a:spcAft>
                <a:spcPts val="1000"/>
              </a:spcAft>
              <a:buClr>
                <a:srgbClr val="0F766E"/>
              </a:buClr>
              <a:buFont typeface="Arial"/>
              <a:buChar char="▪"/>
            </a:pPr>
            <a:r>
              <a:rPr sz="2400">
                <a:solidFill>
                  <a:srgbClr val="1F2937"/>
                </a:solidFill>
                <a:latin typeface="Calibri"/>
              </a:rPr>
              <a:t>Metrics: error rate, latency percentiles, drift detection</a:t>
            </a:r>
          </a:p>
          <a:p>
            <a:pPr marL="292608" indent="-292608">
              <a:spcAft>
                <a:spcPts val="1000"/>
              </a:spcAft>
              <a:buClr>
                <a:srgbClr val="0F766E"/>
              </a:buClr>
              <a:buFont typeface="Arial"/>
              <a:buChar char="▪"/>
            </a:pPr>
            <a:r>
              <a:rPr sz="2400">
                <a:solidFill>
                  <a:srgbClr val="1F2937"/>
                </a:solidFill>
                <a:latin typeface="Calibri"/>
              </a:rPr>
              <a:t>Automated rollback tied to reliability thresholds</a:t>
            </a:r>
          </a:p>
          <a:p>
            <a:pPr marL="292608" indent="-292608">
              <a:spcAft>
                <a:spcPts val="1000"/>
              </a:spcAft>
              <a:buClr>
                <a:srgbClr val="0F766E"/>
              </a:buClr>
              <a:buFont typeface="Arial"/>
              <a:buChar char="▪"/>
            </a:pPr>
            <a:r>
              <a:rPr sz="2400">
                <a:solidFill>
                  <a:srgbClr val="1F2937"/>
                </a:solidFill>
                <a:latin typeface="Calibri"/>
              </a:rPr>
              <a:t>Continuous evaluation loops feed back into pipeline</a:t>
            </a:r>
          </a:p>
          <a:p>
            <a:pPr marL="292608" indent="-292608">
              <a:spcAft>
                <a:spcPts val="1000"/>
              </a:spcAft>
              <a:buClr>
                <a:srgbClr val="0F766E"/>
              </a:buClr>
              <a:buFont typeface="Arial"/>
              <a:buChar char="▪"/>
            </a:pPr>
            <a:r>
              <a:rPr sz="2400">
                <a:solidFill>
                  <a:srgbClr val="1F2937"/>
                </a:solidFill>
                <a:latin typeface="Calibri"/>
              </a:rPr>
              <a:t>Project milestone due: integrated pipeline demo</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9082735" cy="868680"/>
          </a:xfrm>
          <a:prstGeom prst="rect">
            <a:avLst/>
          </a:prstGeom>
          <a:noFill/>
        </p:spPr>
        <p:txBody>
          <a:bodyPr wrap="square" anchor="ctr" lIns="45720" rIns="45720">
            <a:spAutoFit/>
          </a:bodyPr>
          <a:lstStyle/>
          <a:p>
            <a:pPr algn="l"/>
            <a:r>
              <a:rPr sz="3000" b="1">
                <a:solidFill>
                  <a:srgbClr val="1F2937"/>
                </a:solidFill>
                <a:latin typeface="Calibri"/>
              </a:rPr>
              <a:t>Key Takeaways</a:t>
            </a:r>
          </a:p>
        </p:txBody>
      </p:sp>
      <p:sp>
        <p:nvSpPr>
          <p:cNvPr id="4" name="Rounded Rectangle 3"/>
          <p:cNvSpPr/>
          <p:nvPr/>
        </p:nvSpPr>
        <p:spPr>
          <a:xfrm>
            <a:off x="9814255" y="502920"/>
            <a:ext cx="1828800" cy="457200"/>
          </a:xfrm>
          <a:prstGeom prst="roundRect">
            <a:avLst/>
          </a:prstGeom>
          <a:solidFill>
            <a:srgbClr val="CCFB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0F766E"/>
                </a:solidFill>
                <a:latin typeface="Calibri"/>
              </a:rPr>
              <a:t>Summary</a:t>
            </a:r>
          </a:p>
        </p:txBody>
      </p:sp>
      <p:sp>
        <p:nvSpPr>
          <p:cNvPr id="5" name="TextBox 4"/>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W12.S1</a:t>
            </a:r>
          </a:p>
        </p:txBody>
      </p:sp>
      <p:sp>
        <p:nvSpPr>
          <p:cNvPr id="6" name="TextBox 5"/>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18</a:t>
            </a:r>
          </a:p>
        </p:txBody>
      </p:sp>
      <p:sp>
        <p:nvSpPr>
          <p:cNvPr id="7" name="TextBox 6"/>
          <p:cNvSpPr txBox="1"/>
          <p:nvPr/>
        </p:nvSpPr>
        <p:spPr>
          <a:xfrm>
            <a:off x="548640" y="1463040"/>
            <a:ext cx="11094415" cy="4709160"/>
          </a:xfrm>
          <a:prstGeom prst="rect">
            <a:avLst/>
          </a:prstGeom>
          <a:noFill/>
        </p:spPr>
        <p:txBody>
          <a:bodyPr wrap="square">
            <a:spAutoFit/>
          </a:bodyPr>
          <a:lstStyle/>
          <a:p>
            <a:pPr marL="292608" indent="-292608">
              <a:spcAft>
                <a:spcPts val="1000"/>
              </a:spcAft>
              <a:buClr>
                <a:srgbClr val="0F766E"/>
              </a:buClr>
              <a:buFont typeface="Arial"/>
              <a:buChar char="▪"/>
            </a:pPr>
            <a:r>
              <a:rPr sz="2400">
                <a:solidFill>
                  <a:srgbClr val="1F2937"/>
                </a:solidFill>
                <a:latin typeface="Calibri"/>
              </a:rPr>
              <a:t>Six reliability requirements guide every pipeline decision</a:t>
            </a:r>
          </a:p>
          <a:p>
            <a:pPr marL="292608" indent="-292608">
              <a:spcAft>
                <a:spcPts val="1000"/>
              </a:spcAft>
              <a:buClr>
                <a:srgbClr val="0F766E"/>
              </a:buClr>
              <a:buFont typeface="Arial"/>
              <a:buChar char="▪"/>
            </a:pPr>
            <a:r>
              <a:rPr sz="2400">
                <a:solidFill>
                  <a:srgbClr val="1F2937"/>
                </a:solidFill>
                <a:latin typeface="Calibri"/>
              </a:rPr>
              <a:t>Specification‑driven development and contract testing anchor correctness</a:t>
            </a:r>
          </a:p>
          <a:p>
            <a:pPr marL="292608" indent="-292608">
              <a:spcAft>
                <a:spcPts val="1000"/>
              </a:spcAft>
              <a:buClr>
                <a:srgbClr val="0F766E"/>
              </a:buClr>
              <a:buFont typeface="Arial"/>
              <a:buChar char="▪"/>
            </a:pPr>
            <a:r>
              <a:rPr sz="2400">
                <a:solidFill>
                  <a:srgbClr val="1F2937"/>
                </a:solidFill>
                <a:latin typeface="Calibri"/>
              </a:rPr>
              <a:t>Complexity backpressure and flakiness mitigation protect maintainability and reproducibility</a:t>
            </a:r>
          </a:p>
          <a:p>
            <a:pPr marL="292608" indent="-292608">
              <a:spcAft>
                <a:spcPts val="1000"/>
              </a:spcAft>
              <a:buClr>
                <a:srgbClr val="0F766E"/>
              </a:buClr>
              <a:buFont typeface="Arial"/>
              <a:buChar char="▪"/>
            </a:pPr>
            <a:r>
              <a:rPr sz="2400">
                <a:solidFill>
                  <a:srgbClr val="1F2937"/>
                </a:solidFill>
                <a:latin typeface="Calibri"/>
              </a:rPr>
              <a:t>MCP standardizes context exchange; reproducibility comes from client‑side controls</a:t>
            </a:r>
          </a:p>
          <a:p>
            <a:pPr marL="292608" indent="-292608">
              <a:spcAft>
                <a:spcPts val="1000"/>
              </a:spcAft>
              <a:buClr>
                <a:srgbClr val="0F766E"/>
              </a:buClr>
              <a:buFont typeface="Arial"/>
              <a:buChar char="▪"/>
            </a:pPr>
            <a:r>
              <a:rPr sz="2400">
                <a:solidFill>
                  <a:srgbClr val="1F2937"/>
                </a:solidFill>
                <a:latin typeface="Calibri"/>
              </a:rPr>
              <a:t>Assessment skill: map design choices to explicit requirements with justification</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868680"/>
          </a:xfrm>
          <a:prstGeom prst="rect">
            <a:avLst/>
          </a:prstGeom>
          <a:noFill/>
        </p:spPr>
        <p:txBody>
          <a:bodyPr wrap="square" anchor="ctr" lIns="45720" rIns="45720">
            <a:spAutoFit/>
          </a:bodyPr>
          <a:lstStyle/>
          <a:p>
            <a:pPr algn="l"/>
            <a:r>
              <a:rPr sz="3000" b="1">
                <a:solidFill>
                  <a:srgbClr val="1F2937"/>
                </a:solidFill>
                <a:latin typeface="Calibri"/>
              </a:rPr>
              <a:t>References</a:t>
            </a:r>
          </a:p>
        </p:txBody>
      </p:sp>
      <p:sp>
        <p:nvSpPr>
          <p:cNvPr id="4" name="TextBox 3"/>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W12.S1</a:t>
            </a:r>
          </a:p>
        </p:txBody>
      </p:sp>
      <p:sp>
        <p:nvSpPr>
          <p:cNvPr id="5" name="TextBox 4"/>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19</a:t>
            </a:r>
          </a:p>
        </p:txBody>
      </p:sp>
      <p:sp>
        <p:nvSpPr>
          <p:cNvPr id="6" name="TextBox 5"/>
          <p:cNvSpPr txBox="1"/>
          <p:nvPr/>
        </p:nvSpPr>
        <p:spPr>
          <a:xfrm>
            <a:off x="548640" y="1463040"/>
            <a:ext cx="11094415" cy="4754880"/>
          </a:xfrm>
          <a:prstGeom prst="rect">
            <a:avLst/>
          </a:prstGeom>
          <a:noFill/>
        </p:spPr>
        <p:txBody>
          <a:bodyPr wrap="square">
            <a:spAutoFit/>
          </a:bodyPr>
          <a:lstStyle/>
          <a:p>
            <a:pPr marL="292608" indent="-292608">
              <a:spcAft>
                <a:spcPts val="1000"/>
              </a:spcAft>
              <a:buClr>
                <a:srgbClr val="0F766E"/>
              </a:buClr>
              <a:buFont typeface="Arial"/>
              <a:buChar char="▪"/>
            </a:pPr>
            <a:r>
              <a:rPr sz="1800">
                <a:solidFill>
                  <a:srgbClr val="1F2937"/>
                </a:solidFill>
                <a:latin typeface="Calibri"/>
              </a:rPr>
              <a:t>[C1] Competition-level code generation with AlphaCode (2022). https://doi.org/10.1126/science.abq1158</a:t>
            </a:r>
          </a:p>
          <a:p>
            <a:pPr marL="292608" indent="-292608">
              <a:spcAft>
                <a:spcPts val="1000"/>
              </a:spcAft>
              <a:buClr>
                <a:srgbClr val="0F766E"/>
              </a:buClr>
              <a:buFont typeface="Arial"/>
              <a:buChar char="▪"/>
            </a:pPr>
            <a:r>
              <a:rPr sz="1800">
                <a:solidFill>
                  <a:srgbClr val="1F2937"/>
                </a:solidFill>
                <a:latin typeface="Calibri"/>
              </a:rPr>
              <a:t>[C2] SPECIFICATION-DRIVEN DEVELOPMENT AS STRUCTURED APPROACH FOR SOURCE CODE GENERATION (2026). https://doi.org/10.52058/2786-6025-2026-4(58)-2631-2644</a:t>
            </a:r>
          </a:p>
          <a:p>
            <a:pPr marL="292608" indent="-292608">
              <a:spcAft>
                <a:spcPts val="1000"/>
              </a:spcAft>
              <a:buClr>
                <a:srgbClr val="0F766E"/>
              </a:buClr>
              <a:buFont typeface="Arial"/>
              <a:buChar char="▪"/>
            </a:pPr>
            <a:r>
              <a:rPr sz="1800">
                <a:solidFill>
                  <a:srgbClr val="1F2937"/>
                </a:solidFill>
                <a:latin typeface="Calibri"/>
              </a:rPr>
              <a:t>[C3] Complexity Backpressure for AI Coding Agents: A Cross-Model Study on Substantive Software Tasks (2026). https://doi.org/10.1109/sse72781.2026.00047</a:t>
            </a:r>
          </a:p>
          <a:p>
            <a:pPr marL="292608" indent="-292608">
              <a:spcAft>
                <a:spcPts val="1000"/>
              </a:spcAft>
              <a:buClr>
                <a:srgbClr val="0F766E"/>
              </a:buClr>
              <a:buFont typeface="Arial"/>
              <a:buChar char="▪"/>
            </a:pPr>
            <a:r>
              <a:rPr sz="1800">
                <a:solidFill>
                  <a:srgbClr val="1F2937"/>
                </a:solidFill>
                <a:latin typeface="Calibri"/>
              </a:rPr>
              <a:t>[C4] 8 Redefining and Transforming Software Development with Generative AI (2025). https://doi.org/10.1515/9783111677798-008</a:t>
            </a:r>
          </a:p>
          <a:p>
            <a:pPr marL="292608" indent="-292608">
              <a:spcAft>
                <a:spcPts val="1000"/>
              </a:spcAft>
              <a:buClr>
                <a:srgbClr val="0F766E"/>
              </a:buClr>
              <a:buFont typeface="Arial"/>
              <a:buChar char="▪"/>
            </a:pPr>
            <a:r>
              <a:rPr sz="1800">
                <a:solidFill>
                  <a:srgbClr val="1F2937"/>
                </a:solidFill>
                <a:latin typeface="Calibri"/>
              </a:rPr>
              <a:t>[C5] Query Tuning Framework Using the Model Context Protocol for Workflows (2026). https://doi.org/10.2139/ssrn.6172059</a:t>
            </a:r>
          </a:p>
          <a:p>
            <a:pPr marL="292608" indent="-292608">
              <a:spcAft>
                <a:spcPts val="1000"/>
              </a:spcAft>
              <a:buClr>
                <a:srgbClr val="0F766E"/>
              </a:buClr>
              <a:buFont typeface="Arial"/>
              <a:buChar char="▪"/>
            </a:pPr>
            <a:r>
              <a:rPr sz="1800">
                <a:solidFill>
                  <a:srgbClr val="1F2937"/>
                </a:solidFill>
                <a:latin typeface="Calibri"/>
              </a:rPr>
              <a:t>[C6] Autonomous Coding Agents for Software Development Testing and Debugging (2026). https://doi.org/10.2139/ssrn.7515638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