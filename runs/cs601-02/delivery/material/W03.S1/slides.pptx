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Quiz1, Assign1, Midsem,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In Week 2, we explored how coding agents use context engineering to solve development tasks. Today, we bridge context engineering with system execution loops and custom Model Context Protocols. We will see how feedback from tests and static analysis feeds directly into agent context, allowing autonomous agents to fix failures cleanly.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engineering is not just pasting files into a prompt. A production agent dynamically indexes the workspace and builds a structured context window. It balances relevant source code, system constraints, and execution memory. Overloading context causes token bloat, while sparse context leads to incorrect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LLM alone cannot run tests or verify whether a class compiles. Tool augmentation gives the model arms and legs. When an agent emits a tool request, the workspace agent executes the command—like running JUnit or Maven—and feeds stdout and stderr back into the context window.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classic agent loop: perceive, act, evaluate feedback, and update memory. If the code generated by the agent fails a test or triggers a compiler warning, that failure is fed directly into the context memory for the next turn.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 test outputs are ideal feedback signals for coding agents. When JUnit reports a failure, the stack trace indicates exactly where and why the assertion failed. The agent uses this stack trace as context to generate an updated patch.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highlight a common mistake in agent feedback loops. If you reassign the context prompt inside the loop on every turn, you discard the previous error context! Notice in this code: context_prompt is initialized outside the loop as base_prompt. When a test fails, we append the error log to context_prompt. This preserves failure history across retries so the model learns from prior attempts.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patch that passes unit tests might still introduce unused variables, unhandled exceptions, or naming violations. For full workspace integration, we must capture static analyzer warnings and feed them to the agent alongside test results.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give you 2 minutes to answer this question. Think about what information the agent needs when it tries a second or third repair attempt.</a:t>
            </a:r>
          </a:p>
          <a:p/>
          <a:p>
            <a:r>
              <a:t>Answer: B. Appending failure logs preserves memory of prior attempts so the model avoids repeating identical mistakes.</a:t>
            </a:r>
          </a:p>
          <a:p>
            <a:r>
              <a:t>Appending failure feedback retains context across attempts, allowing the agent to learn from prior failures. Resetting the prompt causes the agent to lose context and potentially repeat the same incorrect fix.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12-minute exercise, open your development environments and write a short loop that takes a buggy Java class and a failing JUnit stack trace. Pass them to the model, re-run tests, and append failures if it fails. Verify your script handles retries without discarding past context.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Hardcoding API calls for linters and test runners in custom scripts doesn't scale across different development tools. Model Context Protocol (MCP) standardizes how agents discover tools, inspect context, and execute actions regardless of the underlying editor or 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uses JSON-RPC to establish client-server communication. The MCP server exposes tools and resources. The agent client queries the server to discover what tools exist, what arguments they expect, and how to format inputs.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creating a custom MCP server for code quality, the server exposes a tool like run_static_analysis. The server executes the linter, checks for warnings, and returns a JSON payload containing diagnostic details.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concrete MCP tool server implementation in Python using the official MCP SDK. We annotate run_linter with @mcp.tool(). The client agent automatically discovers this function schema, invokes it during a repair loop, and gets back structured output with passed, warning_count, and diagnostics.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connect your workspace agent to your custom MCP server, you add a JSON entry in the configuration file specifying the command and arguments to start the server. Ensure paths and permissions are correct so no integration warnings or connection drops occur.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do a quick knowledge check on MCP concepts. Choose the option that best describes the primary role of an MCP tool server.</a:t>
            </a:r>
          </a:p>
          <a:p/>
          <a:p>
            <a:r>
              <a:t>Answer: B. To expose executable functions and schemas that allow agent clients to run tools and query context.</a:t>
            </a:r>
          </a:p>
          <a:p>
            <a:r>
              <a:t>MCP Tool servers expose executable tools and resources with standard JSON schemas, enabling agent clients to invoke actions and fetch context in a uniform way.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context engineering and tool protocols form the foundation of production AI coding workflows. By maintaining failure history in context loops and building structured MCP servers for linters and tests, you can build reliable, automated coding agents.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200" b="1">
                <a:solidFill>
                  <a:srgbClr val="CCFBF1"/>
                </a:solidFill>
                <a:latin typeface="Calibri"/>
              </a:rPr>
              <a:t>Coding Agents, Context Engineering, and Custom Tool Integrations using MCP</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3 · Agent Workspaces and Tool Integrations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Configure custom tool integrations within agent workspaces using model context protocols, with all public tests passing and no warnings from the configured static analyser (CO1.LO2)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Recap: Coding Agents and Context Engineering</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Coding agents autonomously inspect repositories, generate code, and execute development tools.</a:t>
            </a:r>
          </a:p>
          <a:p>
            <a:pPr marL="292608" indent="-292608">
              <a:spcAft>
                <a:spcPts val="1000"/>
              </a:spcAft>
              <a:buClr>
                <a:srgbClr val="0F766E"/>
              </a:buClr>
              <a:buFont typeface="Arial"/>
              <a:buChar char="▪"/>
            </a:pPr>
            <a:r>
              <a:rPr sz="2400">
                <a:solidFill>
                  <a:srgbClr val="1F2937"/>
                </a:solidFill>
                <a:latin typeface="Calibri"/>
              </a:rPr>
              <a:t>Context engineering structures system prompts, file snippets, and execution state into LLM prompts.</a:t>
            </a:r>
          </a:p>
          <a:p>
            <a:pPr marL="292608" indent="-292608">
              <a:spcAft>
                <a:spcPts val="1000"/>
              </a:spcAft>
              <a:buClr>
                <a:srgbClr val="0F766E"/>
              </a:buClr>
              <a:buFont typeface="Arial"/>
              <a:buChar char="▪"/>
            </a:pPr>
            <a:r>
              <a:rPr sz="2400">
                <a:solidFill>
                  <a:srgbClr val="1F2937"/>
                </a:solidFill>
                <a:latin typeface="Calibri"/>
              </a:rPr>
              <a:t>Proper context prevents hallucinations and ensures generated code aligns with project conventions.</a:t>
            </a:r>
          </a:p>
          <a:p>
            <a:pPr marL="292608" indent="-292608">
              <a:spcAft>
                <a:spcPts val="1000"/>
              </a:spcAft>
              <a:buClr>
                <a:srgbClr val="0F766E"/>
              </a:buClr>
              <a:buFont typeface="Arial"/>
              <a:buChar char="▪"/>
            </a:pPr>
            <a:r>
              <a:rPr sz="2400">
                <a:solidFill>
                  <a:srgbClr val="1F2937"/>
                </a:solidFill>
                <a:latin typeface="Calibri"/>
              </a:rPr>
              <a:t>Today we extend context loops and connect them to external tools via Model Context Protocol (MCP).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2800" b="1">
                <a:solidFill>
                  <a:srgbClr val="1F2937"/>
                </a:solidFill>
                <a:latin typeface="Calibri"/>
              </a:rPr>
              <a:t>Context Engineering: System Prompts and Workspace Awareness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Workspace awareness incorporates repository structure, active files, and dependencies into agent context.</a:t>
            </a:r>
          </a:p>
          <a:p>
            <a:pPr marL="292608" indent="-292608">
              <a:spcAft>
                <a:spcPts val="1000"/>
              </a:spcAft>
              <a:buClr>
                <a:srgbClr val="0F766E"/>
              </a:buClr>
              <a:buFont typeface="Arial"/>
              <a:buChar char="▪"/>
            </a:pPr>
            <a:r>
              <a:rPr sz="2300">
                <a:solidFill>
                  <a:srgbClr val="1F2937"/>
                </a:solidFill>
                <a:latin typeface="Calibri"/>
              </a:rPr>
              <a:t>Dynamic context retrieval selects relevant source files dynamically using semantic search or path trees.</a:t>
            </a:r>
          </a:p>
          <a:p>
            <a:pPr marL="292608" indent="-292608">
              <a:spcAft>
                <a:spcPts val="1000"/>
              </a:spcAft>
              <a:buClr>
                <a:srgbClr val="0F766E"/>
              </a:buClr>
              <a:buFont typeface="Arial"/>
              <a:buChar char="▪"/>
            </a:pPr>
            <a:r>
              <a:rPr sz="2300">
                <a:solidFill>
                  <a:srgbClr val="1F2937"/>
                </a:solidFill>
                <a:latin typeface="Calibri"/>
              </a:rPr>
              <a:t>System prompts define agent constraints, coding styles, and required tool interaction rules.</a:t>
            </a:r>
          </a:p>
          <a:p>
            <a:pPr marL="292608" indent="-292608">
              <a:spcAft>
                <a:spcPts val="1000"/>
              </a:spcAft>
              <a:buClr>
                <a:srgbClr val="0F766E"/>
              </a:buClr>
              <a:buFont typeface="Arial"/>
              <a:buChar char="▪"/>
            </a:pPr>
            <a:r>
              <a:rPr sz="2300">
                <a:solidFill>
                  <a:srgbClr val="1F2937"/>
                </a:solidFill>
                <a:latin typeface="Calibri"/>
              </a:rPr>
              <a:t>Context limits necessitate token prioritization to avoid truncating vital error traces or definitions.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User Task Input</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Workspace File Indexing</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Dynamic Context Search</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Prompt Assembly</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LLM Inference</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Context construction pipeline for coding agents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Tool Augmentation in Coding Agents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Agents require deterministic tools to read code, edit files, and execute build scripts.</a:t>
            </a:r>
          </a:p>
          <a:p>
            <a:pPr marL="292608" indent="-292608">
              <a:spcAft>
                <a:spcPts val="1000"/>
              </a:spcAft>
              <a:buClr>
                <a:srgbClr val="0F766E"/>
              </a:buClr>
              <a:buFont typeface="Arial"/>
              <a:buChar char="▪"/>
            </a:pPr>
            <a:r>
              <a:rPr sz="2400">
                <a:solidFill>
                  <a:srgbClr val="1F2937"/>
                </a:solidFill>
                <a:latin typeface="Calibri"/>
              </a:rPr>
              <a:t>Tool calls allow LLMs to invoke external CLI utilities or APIs during context generation.</a:t>
            </a:r>
          </a:p>
          <a:p>
            <a:pPr marL="292608" indent="-292608">
              <a:spcAft>
                <a:spcPts val="1000"/>
              </a:spcAft>
              <a:buClr>
                <a:srgbClr val="0F766E"/>
              </a:buClr>
              <a:buFont typeface="Arial"/>
              <a:buChar char="▪"/>
            </a:pPr>
            <a:r>
              <a:rPr sz="2400">
                <a:solidFill>
                  <a:srgbClr val="1F2937"/>
                </a:solidFill>
                <a:latin typeface="Calibri"/>
              </a:rPr>
              <a:t>Structured outputs like JSON schemas format tool arguments to prevent syntax or runtime errors.</a:t>
            </a:r>
          </a:p>
          <a:p>
            <a:pPr marL="292608" indent="-292608">
              <a:spcAft>
                <a:spcPts val="1000"/>
              </a:spcAft>
              <a:buClr>
                <a:srgbClr val="0F766E"/>
              </a:buClr>
              <a:buFont typeface="Arial"/>
              <a:buChar char="▪"/>
            </a:pPr>
            <a:r>
              <a:rPr sz="2400">
                <a:solidFill>
                  <a:srgbClr val="1F2937"/>
                </a:solidFill>
                <a:latin typeface="Calibri"/>
              </a:rPr>
              <a:t>Real-time feedback from tool execution provides grounding context for subsequent inference steps.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Agent Loop Architecture: Perception, Action, Feedback</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The perception phase collects user instructions, project files, and current terminal outputs.</a:t>
            </a:r>
          </a:p>
          <a:p>
            <a:pPr marL="292608" indent="-292608">
              <a:spcAft>
                <a:spcPts val="1000"/>
              </a:spcAft>
              <a:buClr>
                <a:srgbClr val="0F766E"/>
              </a:buClr>
              <a:buFont typeface="Arial"/>
              <a:buChar char="▪"/>
            </a:pPr>
            <a:r>
              <a:rPr sz="2300">
                <a:solidFill>
                  <a:srgbClr val="1F2937"/>
                </a:solidFill>
                <a:latin typeface="Calibri"/>
              </a:rPr>
              <a:t>The action phase predicts the next logical step, such as modifying code or invoking a tool.</a:t>
            </a:r>
          </a:p>
          <a:p>
            <a:pPr marL="292608" indent="-292608">
              <a:spcAft>
                <a:spcPts val="1000"/>
              </a:spcAft>
              <a:buClr>
                <a:srgbClr val="0F766E"/>
              </a:buClr>
              <a:buFont typeface="Arial"/>
              <a:buChar char="▪"/>
            </a:pPr>
            <a:r>
              <a:rPr sz="2300">
                <a:solidFill>
                  <a:srgbClr val="1F2937"/>
                </a:solidFill>
                <a:latin typeface="Calibri"/>
              </a:rPr>
              <a:t>The feedback phase executes the action and captures stdout, stderr, or static analysis warnings.</a:t>
            </a:r>
          </a:p>
          <a:p>
            <a:pPr marL="292608" indent="-292608">
              <a:spcAft>
                <a:spcPts val="1000"/>
              </a:spcAft>
              <a:buClr>
                <a:srgbClr val="0F766E"/>
              </a:buClr>
              <a:buFont typeface="Arial"/>
              <a:buChar char="▪"/>
            </a:pPr>
            <a:r>
              <a:rPr sz="2300">
                <a:solidFill>
                  <a:srgbClr val="1F2937"/>
                </a:solidFill>
                <a:latin typeface="Calibri"/>
              </a:rPr>
              <a:t>Iterative loops repeat this sequence until public unit tests pass with zero warnings.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Perceive Context</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Plan &amp; Generate Action</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Execute Tool/Code</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Capture Feedback</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Update Context Memory</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Closed-loop agent execution cycle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Automated Test Generation and Feedback Loops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Test feedback provides clear signals on code correctness without human intervention.</a:t>
            </a:r>
          </a:p>
          <a:p>
            <a:pPr marL="292608" indent="-292608">
              <a:spcAft>
                <a:spcPts val="1000"/>
              </a:spcAft>
              <a:buClr>
                <a:srgbClr val="0F766E"/>
              </a:buClr>
              <a:buFont typeface="Arial"/>
              <a:buChar char="▪"/>
            </a:pPr>
            <a:r>
              <a:rPr sz="2400">
                <a:solidFill>
                  <a:srgbClr val="1F2937"/>
                </a:solidFill>
                <a:latin typeface="Calibri"/>
              </a:rPr>
              <a:t>Failing test assertions and stack traces serve as explicit debugging prompts for the agent.</a:t>
            </a:r>
          </a:p>
          <a:p>
            <a:pPr marL="292608" indent="-292608">
              <a:spcAft>
                <a:spcPts val="1000"/>
              </a:spcAft>
              <a:buClr>
                <a:srgbClr val="0F766E"/>
              </a:buClr>
              <a:buFont typeface="Arial"/>
              <a:buChar char="▪"/>
            </a:pPr>
            <a:r>
              <a:rPr sz="2400">
                <a:solidFill>
                  <a:srgbClr val="1F2937"/>
                </a:solidFill>
                <a:latin typeface="Calibri"/>
              </a:rPr>
              <a:t>Retaining previous failure attempts in context prevents the agent from repeating invalid fixes.</a:t>
            </a:r>
          </a:p>
          <a:p>
            <a:pPr marL="292608" indent="-292608">
              <a:spcAft>
                <a:spcPts val="1000"/>
              </a:spcAft>
              <a:buClr>
                <a:srgbClr val="0F766E"/>
              </a:buClr>
              <a:buFont typeface="Arial"/>
              <a:buChar char="▪"/>
            </a:pPr>
            <a:r>
              <a:rPr sz="2400">
                <a:solidFill>
                  <a:srgbClr val="1F2937"/>
                </a:solidFill>
                <a:latin typeface="Calibri"/>
              </a:rPr>
              <a:t>Passing all public tests serves as the primary stopping criterion for test-repair loops.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Building an Iterative Test-Generation Agent Loop</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Define initial prompt outside the retry loop to accumulate failure history.</a:t>
            </a:r>
          </a:p>
          <a:p>
            <a:pPr marL="292608" indent="-292608">
              <a:spcAft>
                <a:spcPts val="1000"/>
              </a:spcAft>
              <a:buClr>
                <a:srgbClr val="0F766E"/>
              </a:buClr>
              <a:buFont typeface="Arial"/>
              <a:buChar char="▪"/>
            </a:pPr>
            <a:r>
              <a:rPr sz="2400">
                <a:solidFill>
                  <a:srgbClr val="1F2937"/>
                </a:solidFill>
                <a:latin typeface="Calibri"/>
              </a:rPr>
              <a:t>Execute code and run unit tests on each iteration.</a:t>
            </a:r>
          </a:p>
          <a:p>
            <a:pPr marL="292608" indent="-292608">
              <a:spcAft>
                <a:spcPts val="1000"/>
              </a:spcAft>
              <a:buClr>
                <a:srgbClr val="0F766E"/>
              </a:buClr>
              <a:buFont typeface="Arial"/>
              <a:buChar char="▪"/>
            </a:pPr>
            <a:r>
              <a:rPr sz="2400">
                <a:solidFill>
                  <a:srgbClr val="1F2937"/>
                </a:solidFill>
                <a:latin typeface="Calibri"/>
              </a:rPr>
              <a:t>Append failure logs and stack traces directly to context prompt across attempts.</a:t>
            </a:r>
          </a:p>
          <a:p>
            <a:pPr marL="292608" indent="-292608">
              <a:spcAft>
                <a:spcPts val="1000"/>
              </a:spcAft>
              <a:buClr>
                <a:srgbClr val="0F766E"/>
              </a:buClr>
              <a:buFont typeface="Arial"/>
              <a:buChar char="▪"/>
            </a:pPr>
            <a:r>
              <a:rPr sz="2400">
                <a:solidFill>
                  <a:srgbClr val="1F2937"/>
                </a:solidFill>
                <a:latin typeface="Calibri"/>
              </a:rPr>
              <a:t>Terminate early when all public tests pass.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1000" b="0">
                <a:solidFill>
                  <a:srgbClr val="E5E7EB"/>
                </a:solidFill>
                <a:latin typeface="Consolas"/>
              </a:rPr>
              <a:t>def repair_code_loop(base_prompt, max_retries=3):</a:t>
            </a:r>
          </a:p>
          <a:p>
            <a:pPr algn="l"/>
            <a:r>
              <a:rPr sz="1000" b="0">
                <a:solidFill>
                  <a:srgbClr val="E5E7EB"/>
                </a:solidFill>
                <a:latin typeface="Consolas"/>
              </a:rPr>
              <a:t>    context_prompt = base_prompt</a:t>
            </a:r>
          </a:p>
          <a:p>
            <a:pPr algn="l"/>
            <a:r>
              <a:rPr sz="1000" b="0">
                <a:solidFill>
                  <a:srgbClr val="E5E7EB"/>
                </a:solidFill>
                <a:latin typeface="Consolas"/>
              </a:rPr>
              <a:t>    for attempt in range(max_retries):</a:t>
            </a:r>
          </a:p>
          <a:p>
            <a:pPr algn="l"/>
            <a:r>
              <a:rPr sz="1000" b="0">
                <a:solidFill>
                  <a:srgbClr val="E5E7EB"/>
                </a:solidFill>
                <a:latin typeface="Consolas"/>
              </a:rPr>
              <a:t>        response = agent.generate(context_prompt)</a:t>
            </a:r>
          </a:p>
          <a:p>
            <a:pPr algn="l"/>
            <a:r>
              <a:rPr sz="1000" b="0">
                <a:solidFill>
                  <a:srgbClr val="E5E7EB"/>
                </a:solidFill>
                <a:latin typeface="Consolas"/>
              </a:rPr>
              <a:t>        result = run_junit_tests(response.code)</a:t>
            </a:r>
          </a:p>
          <a:p>
            <a:pPr algn="l"/>
            <a:r>
              <a:rPr sz="1000" b="0">
                <a:solidFill>
                  <a:srgbClr val="E5E7EB"/>
                </a:solidFill>
                <a:latin typeface="Consolas"/>
              </a:rPr>
              <a:t>        if result.passed:</a:t>
            </a:r>
          </a:p>
          <a:p>
            <a:pPr algn="l"/>
            <a:r>
              <a:rPr sz="1000" b="0">
                <a:solidFill>
                  <a:srgbClr val="E5E7EB"/>
                </a:solidFill>
                <a:latin typeface="Consolas"/>
              </a:rPr>
              <a:t>            return response.code</a:t>
            </a:r>
          </a:p>
          <a:p>
            <a:pPr algn="l"/>
            <a:r>
              <a:rPr sz="1000" b="0">
                <a:solidFill>
                  <a:srgbClr val="E5E7EB"/>
                </a:solidFill>
                <a:latin typeface="Consolas"/>
              </a:rPr>
              <a:t>        context_prompt += f"\nAttempt {attempt+1} Failed:\n{result.error_log}"</a:t>
            </a:r>
          </a:p>
          <a:p>
            <a:pPr algn="l"/>
            <a:r>
              <a:rPr sz="1000" b="0">
                <a:solidFill>
                  <a:srgbClr val="E5E7EB"/>
                </a:solidFill>
                <a:latin typeface="Consolas"/>
              </a:rPr>
              <a:t>    raise RuntimeError("Failed to fix tests within retry limit")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Iterative test-repair loop retaining context history across retries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Handling Static Analysis and Linter Warnings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Passing tests alone does not guarantee clean code; static analysis must report zero warnings.</a:t>
            </a:r>
          </a:p>
          <a:p>
            <a:pPr marL="292608" indent="-292608">
              <a:spcAft>
                <a:spcPts val="1000"/>
              </a:spcAft>
              <a:buClr>
                <a:srgbClr val="0F766E"/>
              </a:buClr>
              <a:buFont typeface="Arial"/>
              <a:buChar char="▪"/>
            </a:pPr>
            <a:r>
              <a:rPr sz="2300">
                <a:solidFill>
                  <a:srgbClr val="1F2937"/>
                </a:solidFill>
                <a:latin typeface="Calibri"/>
              </a:rPr>
              <a:t>Linter feedback (e.g., Checkstyle, SpotBugs) identifies code smells and potential memory leaks.</a:t>
            </a:r>
          </a:p>
          <a:p>
            <a:pPr marL="292608" indent="-292608">
              <a:spcAft>
                <a:spcPts val="1000"/>
              </a:spcAft>
              <a:buClr>
                <a:srgbClr val="0F766E"/>
              </a:buClr>
              <a:buFont typeface="Arial"/>
              <a:buChar char="▪"/>
            </a:pPr>
            <a:r>
              <a:rPr sz="2300">
                <a:solidFill>
                  <a:srgbClr val="1F2937"/>
                </a:solidFill>
                <a:latin typeface="Calibri"/>
              </a:rPr>
              <a:t>Feed static analyzer output into context along with unit test execution outputs.</a:t>
            </a:r>
          </a:p>
          <a:p>
            <a:pPr marL="292608" indent="-292608">
              <a:spcAft>
                <a:spcPts val="1000"/>
              </a:spcAft>
              <a:buClr>
                <a:srgbClr val="0F766E"/>
              </a:buClr>
              <a:buFont typeface="Arial"/>
              <a:buChar char="▪"/>
            </a:pPr>
            <a:r>
              <a:rPr sz="2300">
                <a:solidFill>
                  <a:srgbClr val="1F2937"/>
                </a:solidFill>
                <a:latin typeface="Calibri"/>
              </a:rPr>
              <a:t>Reject generated code patches that introduce new lint warnings or rule violations.</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239890"/>
                <a:gridCol w="1239890"/>
                <a:gridCol w="1239890"/>
                <a:gridCol w="1239890"/>
              </a:tblGrid>
              <a:tr h="502920">
                <a:tc>
                  <a:txBody>
                    <a:bodyPr/>
                    <a:lstStyle/>
                    <a:p>
                      <a:r>
                        <a:rPr sz="1400" b="1">
                          <a:solidFill>
                            <a:srgbClr val="CCFBF1"/>
                          </a:solidFill>
                          <a:latin typeface="Calibri"/>
                        </a:rPr>
                        <a:t>Feedback Type</a:t>
                      </a:r>
                    </a:p>
                  </a:txBody>
                  <a:tcPr>
                    <a:solidFill>
                      <a:srgbClr val="0F766E"/>
                    </a:solidFill>
                  </a:tcPr>
                </a:tc>
                <a:tc>
                  <a:txBody>
                    <a:bodyPr/>
                    <a:lstStyle/>
                    <a:p>
                      <a:r>
                        <a:rPr sz="1400" b="1">
                          <a:solidFill>
                            <a:srgbClr val="CCFBF1"/>
                          </a:solidFill>
                          <a:latin typeface="Calibri"/>
                        </a:rPr>
                        <a:t>Source Tool</a:t>
                      </a:r>
                    </a:p>
                  </a:txBody>
                  <a:tcPr>
                    <a:solidFill>
                      <a:srgbClr val="0F766E"/>
                    </a:solidFill>
                  </a:tcPr>
                </a:tc>
                <a:tc>
                  <a:txBody>
                    <a:bodyPr/>
                    <a:lstStyle/>
                    <a:p>
                      <a:r>
                        <a:rPr sz="1400" b="1">
                          <a:solidFill>
                            <a:srgbClr val="CCFBF1"/>
                          </a:solidFill>
                          <a:latin typeface="Calibri"/>
                        </a:rPr>
                        <a:t>Context Value</a:t>
                      </a:r>
                    </a:p>
                  </a:txBody>
                  <a:tcPr>
                    <a:solidFill>
                      <a:srgbClr val="0F766E"/>
                    </a:solidFill>
                  </a:tcPr>
                </a:tc>
                <a:tc>
                  <a:txBody>
                    <a:bodyPr/>
                    <a:lstStyle/>
                    <a:p>
                      <a:r>
                        <a:rPr sz="1400" b="1">
                          <a:solidFill>
                            <a:srgbClr val="CCFBF1"/>
                          </a:solidFill>
                          <a:latin typeface="Calibri"/>
                        </a:rPr>
                        <a:t>Target Action</a:t>
                      </a:r>
                    </a:p>
                  </a:txBody>
                  <a:tcPr>
                    <a:solidFill>
                      <a:srgbClr val="0F766E"/>
                    </a:solidFill>
                  </a:tcPr>
                </a:tc>
              </a:tr>
              <a:tr h="502920">
                <a:tc>
                  <a:txBody>
                    <a:bodyPr/>
                    <a:lstStyle/>
                    <a:p>
                      <a:r>
                        <a:rPr sz="1400" b="0">
                          <a:solidFill>
                            <a:srgbClr val="1F2937"/>
                          </a:solidFill>
                          <a:latin typeface="Calibri"/>
                        </a:rPr>
                        <a:t>Unit Failure</a:t>
                      </a:r>
                    </a:p>
                  </a:txBody>
                  <a:tcPr>
                    <a:solidFill>
                      <a:srgbClr val="F3F4F6"/>
                    </a:solidFill>
                  </a:tcPr>
                </a:tc>
                <a:tc>
                  <a:txBody>
                    <a:bodyPr/>
                    <a:lstStyle/>
                    <a:p>
                      <a:r>
                        <a:rPr sz="1400" b="0">
                          <a:solidFill>
                            <a:srgbClr val="1F2937"/>
                          </a:solidFill>
                          <a:latin typeface="Calibri"/>
                        </a:rPr>
                        <a:t>JUnit / PyTest</a:t>
                      </a:r>
                    </a:p>
                  </a:txBody>
                  <a:tcPr>
                    <a:solidFill>
                      <a:srgbClr val="F3F4F6"/>
                    </a:solidFill>
                  </a:tcPr>
                </a:tc>
                <a:tc>
                  <a:txBody>
                    <a:bodyPr/>
                    <a:lstStyle/>
                    <a:p>
                      <a:r>
                        <a:rPr sz="1400" b="0">
                          <a:solidFill>
                            <a:srgbClr val="1F2937"/>
                          </a:solidFill>
                          <a:latin typeface="Calibri"/>
                        </a:rPr>
                        <a:t>Stack Trace &amp; Assertion Error</a:t>
                      </a:r>
                    </a:p>
                  </a:txBody>
                  <a:tcPr>
                    <a:solidFill>
                      <a:srgbClr val="F3F4F6"/>
                    </a:solidFill>
                  </a:tcPr>
                </a:tc>
                <a:tc>
                  <a:txBody>
                    <a:bodyPr/>
                    <a:lstStyle/>
                    <a:p>
                      <a:r>
                        <a:rPr sz="1400" b="0">
                          <a:solidFill>
                            <a:srgbClr val="1F2937"/>
                          </a:solidFill>
                          <a:latin typeface="Calibri"/>
                        </a:rPr>
                        <a:t>Fix Logic Bug</a:t>
                      </a:r>
                    </a:p>
                  </a:txBody>
                  <a:tcPr>
                    <a:solidFill>
                      <a:srgbClr val="F3F4F6"/>
                    </a:solidFill>
                  </a:tcPr>
                </a:tc>
              </a:tr>
              <a:tr h="502920">
                <a:tc>
                  <a:txBody>
                    <a:bodyPr/>
                    <a:lstStyle/>
                    <a:p>
                      <a:r>
                        <a:rPr sz="1400" b="0">
                          <a:solidFill>
                            <a:srgbClr val="1F2937"/>
                          </a:solidFill>
                          <a:latin typeface="Calibri"/>
                        </a:rPr>
                        <a:t>Lint Warning</a:t>
                      </a:r>
                    </a:p>
                  </a:txBody>
                  <a:tcPr>
                    <a:solidFill>
                      <a:srgbClr val="F3F4F6"/>
                    </a:solidFill>
                  </a:tcPr>
                </a:tc>
                <a:tc>
                  <a:txBody>
                    <a:bodyPr/>
                    <a:lstStyle/>
                    <a:p>
                      <a:r>
                        <a:rPr sz="1400" b="0">
                          <a:solidFill>
                            <a:srgbClr val="1F2937"/>
                          </a:solidFill>
                          <a:latin typeface="Calibri"/>
                        </a:rPr>
                        <a:t>Checkstyle / SpotBugs</a:t>
                      </a:r>
                    </a:p>
                  </a:txBody>
                  <a:tcPr>
                    <a:solidFill>
                      <a:srgbClr val="F3F4F6"/>
                    </a:solidFill>
                  </a:tcPr>
                </a:tc>
                <a:tc>
                  <a:txBody>
                    <a:bodyPr/>
                    <a:lstStyle/>
                    <a:p>
                      <a:r>
                        <a:rPr sz="1400" b="0">
                          <a:solidFill>
                            <a:srgbClr val="1F2937"/>
                          </a:solidFill>
                          <a:latin typeface="Calibri"/>
                        </a:rPr>
                        <a:t>File, Line, Rule Violation</a:t>
                      </a:r>
                    </a:p>
                  </a:txBody>
                  <a:tcPr>
                    <a:solidFill>
                      <a:srgbClr val="F3F4F6"/>
                    </a:solidFill>
                  </a:tcPr>
                </a:tc>
                <a:tc>
                  <a:txBody>
                    <a:bodyPr/>
                    <a:lstStyle/>
                    <a:p>
                      <a:r>
                        <a:rPr sz="1400" b="0">
                          <a:solidFill>
                            <a:srgbClr val="1F2937"/>
                          </a:solidFill>
                          <a:latin typeface="Calibri"/>
                        </a:rPr>
                        <a:t>Refactor Code Format</a:t>
                      </a:r>
                    </a:p>
                  </a:txBody>
                  <a:tcPr>
                    <a:solidFill>
                      <a:srgbClr val="F3F4F6"/>
                    </a:solidFill>
                  </a:tcPr>
                </a:tc>
              </a:tr>
              <a:tr h="502920">
                <a:tc>
                  <a:txBody>
                    <a:bodyPr/>
                    <a:lstStyle/>
                    <a:p>
                      <a:r>
                        <a:rPr sz="1400" b="0">
                          <a:solidFill>
                            <a:srgbClr val="1F2937"/>
                          </a:solidFill>
                          <a:latin typeface="Calibri"/>
                        </a:rPr>
                        <a:t>Build Error</a:t>
                      </a:r>
                    </a:p>
                  </a:txBody>
                  <a:tcPr>
                    <a:solidFill>
                      <a:srgbClr val="F3F4F6"/>
                    </a:solidFill>
                  </a:tcPr>
                </a:tc>
                <a:tc>
                  <a:txBody>
                    <a:bodyPr/>
                    <a:lstStyle/>
                    <a:p>
                      <a:r>
                        <a:rPr sz="1400" b="0">
                          <a:solidFill>
                            <a:srgbClr val="1F2937"/>
                          </a:solidFill>
                          <a:latin typeface="Calibri"/>
                        </a:rPr>
                        <a:t>Maven / Gradle</a:t>
                      </a:r>
                    </a:p>
                  </a:txBody>
                  <a:tcPr>
                    <a:solidFill>
                      <a:srgbClr val="F3F4F6"/>
                    </a:solidFill>
                  </a:tcPr>
                </a:tc>
                <a:tc>
                  <a:txBody>
                    <a:bodyPr/>
                    <a:lstStyle/>
                    <a:p>
                      <a:r>
                        <a:rPr sz="1400" b="0">
                          <a:solidFill>
                            <a:srgbClr val="1F2937"/>
                          </a:solidFill>
                          <a:latin typeface="Calibri"/>
                        </a:rPr>
                        <a:t>Compiler Exception String</a:t>
                      </a:r>
                    </a:p>
                  </a:txBody>
                  <a:tcPr>
                    <a:solidFill>
                      <a:srgbClr val="F3F4F6"/>
                    </a:solidFill>
                  </a:tcPr>
                </a:tc>
                <a:tc>
                  <a:txBody>
                    <a:bodyPr/>
                    <a:lstStyle/>
                    <a:p>
                      <a:r>
                        <a:rPr sz="1400" b="0">
                          <a:solidFill>
                            <a:srgbClr val="1F2937"/>
                          </a:solidFill>
                          <a:latin typeface="Calibri"/>
                        </a:rPr>
                        <a:t>Fix Syntax / Imports</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Feedback signals in agent context engineering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Check: Agent Context Feedback Across Iterations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400" b="1">
                <a:solidFill>
                  <a:srgbClr val="1F2937"/>
                </a:solidFill>
                <a:latin typeface="Calibri"/>
              </a:rPr>
              <a:t>Why must failure logs be appended to an ongoing context prompt rather than resetting the prompt on every loop iteration?</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Resetting the prompt increases LLM inference speed by reducing token count.</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Appending failure logs preserves memory of prior attempts so the model avoids repeating identical mistakes.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LLMs cannot generate valid code if the prompt contains stack trace details.</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Appending logs is required by the JUnit framework for test execution.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Hands-on Activity: Developing a Test-Repair Prompt Loop</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Work in pairs on your development environments.</a:t>
            </a:r>
          </a:p>
          <a:p>
            <a:pPr marL="292608" indent="-292608">
              <a:spcAft>
                <a:spcPts val="1000"/>
              </a:spcAft>
              <a:buClr>
                <a:srgbClr val="0F766E"/>
              </a:buClr>
              <a:buFont typeface="Arial"/>
              <a:buChar char="▪"/>
            </a:pPr>
            <a:r>
              <a:rPr sz="2400">
                <a:solidFill>
                  <a:srgbClr val="1F2937"/>
                </a:solidFill>
                <a:latin typeface="Calibri"/>
              </a:rPr>
              <a:t>Script a basic loop in Python or Java that invokes an LLM API to fix a failing Java class.</a:t>
            </a:r>
          </a:p>
          <a:p>
            <a:pPr marL="292608" indent="-292608">
              <a:spcAft>
                <a:spcPts val="1000"/>
              </a:spcAft>
              <a:buClr>
                <a:srgbClr val="0F766E"/>
              </a:buClr>
              <a:buFont typeface="Arial"/>
              <a:buChar char="▪"/>
            </a:pPr>
            <a:r>
              <a:rPr sz="2400">
                <a:solidFill>
                  <a:srgbClr val="1F2937"/>
                </a:solidFill>
                <a:latin typeface="Calibri"/>
              </a:rPr>
              <a:t>Ensure failure messages from JUnit are appended to the context prompt across retries.</a:t>
            </a:r>
          </a:p>
          <a:p>
            <a:pPr marL="292608" indent="-292608">
              <a:spcAft>
                <a:spcPts val="1000"/>
              </a:spcAft>
              <a:buClr>
                <a:srgbClr val="0F766E"/>
              </a:buClr>
              <a:buFont typeface="Arial"/>
              <a:buChar char="▪"/>
            </a:pPr>
            <a:r>
              <a:rPr sz="2400">
                <a:solidFill>
                  <a:srgbClr val="1F2937"/>
                </a:solidFill>
                <a:latin typeface="Calibri"/>
              </a:rPr>
              <a:t>Verify that the final patch compiles, passes all tests, and produces no warnings.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Transition to Model Context Protocols (MCP)</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Custom scripts calling tools directly lack standard interfaces across different IDEs and agents.</a:t>
            </a:r>
          </a:p>
          <a:p>
            <a:pPr marL="292608" indent="-292608">
              <a:spcAft>
                <a:spcPts val="1000"/>
              </a:spcAft>
              <a:buClr>
                <a:srgbClr val="0F766E"/>
              </a:buClr>
              <a:buFont typeface="Arial"/>
              <a:buChar char="▪"/>
            </a:pPr>
            <a:r>
              <a:rPr sz="2300">
                <a:solidFill>
                  <a:srgbClr val="1F2937"/>
                </a:solidFill>
                <a:latin typeface="Calibri"/>
              </a:rPr>
              <a:t>Model Context Protocol (MCP) provides an open standard for connecting AI models to tools and data.</a:t>
            </a:r>
          </a:p>
          <a:p>
            <a:pPr marL="292608" indent="-292608">
              <a:spcAft>
                <a:spcPts val="1000"/>
              </a:spcAft>
              <a:buClr>
                <a:srgbClr val="0F766E"/>
              </a:buClr>
              <a:buFont typeface="Arial"/>
              <a:buChar char="▪"/>
            </a:pPr>
            <a:r>
              <a:rPr sz="2300">
                <a:solidFill>
                  <a:srgbClr val="1F2937"/>
                </a:solidFill>
                <a:latin typeface="Calibri"/>
              </a:rPr>
              <a:t>MCP decouples client workspace agents from backend integrations and custom tool servers.</a:t>
            </a:r>
          </a:p>
          <a:p>
            <a:pPr marL="292608" indent="-292608">
              <a:spcAft>
                <a:spcPts val="1000"/>
              </a:spcAft>
              <a:buClr>
                <a:srgbClr val="0F766E"/>
              </a:buClr>
              <a:buFont typeface="Arial"/>
              <a:buChar char="▪"/>
            </a:pPr>
            <a:r>
              <a:rPr sz="2300">
                <a:solidFill>
                  <a:srgbClr val="1F2937"/>
                </a:solidFill>
                <a:latin typeface="Calibri"/>
              </a:rPr>
              <a:t>Enables safe, standardized tool discovery, context fetching, and execution.</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Agent Workspace Client</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MCP Protocol Interface</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Custom MCP Server</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External Tools &amp; Analyzer APIs</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Standardized MCP client-server architecture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2900" b="1">
                <a:solidFill>
                  <a:srgbClr val="1F2937"/>
                </a:solidFill>
                <a:latin typeface="Calibri"/>
              </a:rPr>
              <a:t>Introduction to Model Context Protocol (MCP) Architecture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Client-Server Architecture: Host applications act as clients; tools act as MCP servers.</a:t>
            </a:r>
          </a:p>
          <a:p>
            <a:pPr marL="292608" indent="-292608">
              <a:spcAft>
                <a:spcPts val="1000"/>
              </a:spcAft>
              <a:buClr>
                <a:srgbClr val="0F766E"/>
              </a:buClr>
              <a:buFont typeface="Arial"/>
              <a:buChar char="▪"/>
            </a:pPr>
            <a:r>
              <a:rPr sz="2400">
                <a:solidFill>
                  <a:srgbClr val="1F2937"/>
                </a:solidFill>
                <a:latin typeface="Calibri"/>
              </a:rPr>
              <a:t>Resources: Expose read-only data like file logs and repo status to enrich agent context.</a:t>
            </a:r>
          </a:p>
          <a:p>
            <a:pPr marL="292608" indent="-292608">
              <a:spcAft>
                <a:spcPts val="1000"/>
              </a:spcAft>
              <a:buClr>
                <a:srgbClr val="0F766E"/>
              </a:buClr>
              <a:buFont typeface="Arial"/>
              <a:buChar char="▪"/>
            </a:pPr>
            <a:r>
              <a:rPr sz="2400">
                <a:solidFill>
                  <a:srgbClr val="1F2937"/>
                </a:solidFill>
                <a:latin typeface="Calibri"/>
              </a:rPr>
              <a:t>Tools: Executable functions exposed to the agent with defined JSON input schemas.</a:t>
            </a:r>
          </a:p>
          <a:p>
            <a:pPr marL="292608" indent="-292608">
              <a:spcAft>
                <a:spcPts val="1000"/>
              </a:spcAft>
              <a:buClr>
                <a:srgbClr val="0F766E"/>
              </a:buClr>
              <a:buFont typeface="Arial"/>
              <a:buChar char="▪"/>
            </a:pPr>
            <a:r>
              <a:rPr sz="2400">
                <a:solidFill>
                  <a:srgbClr val="1F2937"/>
                </a:solidFill>
                <a:latin typeface="Calibri"/>
              </a:rPr>
              <a:t>Prompts: Reusable prompt templates exposed by servers to guide user and agent workflows.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Structuring MCP Tool Servers for Agent Workspaces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Define tool capabilities using standardized JSON schemas.</a:t>
            </a:r>
          </a:p>
          <a:p>
            <a:pPr marL="292608" indent="-292608">
              <a:spcAft>
                <a:spcPts val="1000"/>
              </a:spcAft>
              <a:buClr>
                <a:srgbClr val="0F766E"/>
              </a:buClr>
              <a:buFont typeface="Arial"/>
              <a:buChar char="▪"/>
            </a:pPr>
            <a:r>
              <a:rPr sz="2400">
                <a:solidFill>
                  <a:srgbClr val="1F2937"/>
                </a:solidFill>
                <a:latin typeface="Calibri"/>
              </a:rPr>
              <a:t>Implement tool handlers to execute build scripts, test runners, or static analyzers.</a:t>
            </a:r>
          </a:p>
          <a:p>
            <a:pPr marL="292608" indent="-292608">
              <a:spcAft>
                <a:spcPts val="1000"/>
              </a:spcAft>
              <a:buClr>
                <a:srgbClr val="0F766E"/>
              </a:buClr>
              <a:buFont typeface="Arial"/>
              <a:buChar char="▪"/>
            </a:pPr>
            <a:r>
              <a:rPr sz="2400">
                <a:solidFill>
                  <a:srgbClr val="1F2937"/>
                </a:solidFill>
                <a:latin typeface="Calibri"/>
              </a:rPr>
              <a:t>Enforce zero-warning policies by parsing static analysis tools inside the server handler.</a:t>
            </a:r>
          </a:p>
          <a:p>
            <a:pPr marL="292608" indent="-292608">
              <a:spcAft>
                <a:spcPts val="1000"/>
              </a:spcAft>
              <a:buClr>
                <a:srgbClr val="0F766E"/>
              </a:buClr>
              <a:buFont typeface="Arial"/>
              <a:buChar char="▪"/>
            </a:pPr>
            <a:r>
              <a:rPr sz="2400">
                <a:solidFill>
                  <a:srgbClr val="1F2937"/>
                </a:solidFill>
                <a:latin typeface="Calibri"/>
              </a:rPr>
              <a:t>Return clear, structured responses with status codes, outputs, and diagnostic messages.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Example: Implementing a Custom MCP Tool Server for Linter Integrations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Expose a linter execution tool using the MCP server SDK.</a:t>
            </a:r>
          </a:p>
          <a:p>
            <a:pPr marL="292608" indent="-292608">
              <a:spcAft>
                <a:spcPts val="1000"/>
              </a:spcAft>
              <a:buClr>
                <a:srgbClr val="0F766E"/>
              </a:buClr>
              <a:buFont typeface="Arial"/>
              <a:buChar char="▪"/>
            </a:pPr>
            <a:r>
              <a:rPr sz="2300">
                <a:solidFill>
                  <a:srgbClr val="1F2937"/>
                </a:solidFill>
                <a:latin typeface="Calibri"/>
              </a:rPr>
              <a:t>Define schema parameters for source directory and target warning threshold.</a:t>
            </a:r>
          </a:p>
          <a:p>
            <a:pPr marL="292608" indent="-292608">
              <a:spcAft>
                <a:spcPts val="1000"/>
              </a:spcAft>
              <a:buClr>
                <a:srgbClr val="0F766E"/>
              </a:buClr>
              <a:buFont typeface="Arial"/>
              <a:buChar char="▪"/>
            </a:pPr>
            <a:r>
              <a:rPr sz="2300">
                <a:solidFill>
                  <a:srgbClr val="1F2937"/>
                </a:solidFill>
                <a:latin typeface="Calibri"/>
              </a:rPr>
              <a:t>Run linter CLI and parse output into structured JSON for agent context.</a:t>
            </a:r>
          </a:p>
          <a:p>
            <a:pPr marL="292608" indent="-292608">
              <a:spcAft>
                <a:spcPts val="1000"/>
              </a:spcAft>
              <a:buClr>
                <a:srgbClr val="0F766E"/>
              </a:buClr>
              <a:buFont typeface="Arial"/>
              <a:buChar char="▪"/>
            </a:pPr>
            <a:r>
              <a:rPr sz="2300">
                <a:solidFill>
                  <a:srgbClr val="1F2937"/>
                </a:solidFill>
                <a:latin typeface="Calibri"/>
              </a:rPr>
              <a:t>Return zero-warning status flag alongside detailed diagnostic lists.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1000" b="0">
                <a:solidFill>
                  <a:srgbClr val="E5E7EB"/>
                </a:solidFill>
                <a:latin typeface="Consolas"/>
              </a:rPr>
              <a:t>@mcp.tool()</a:t>
            </a:r>
          </a:p>
          <a:p>
            <a:pPr algn="l"/>
            <a:r>
              <a:rPr sz="1000" b="0">
                <a:solidFill>
                  <a:srgbClr val="E5E7EB"/>
                </a:solidFill>
                <a:latin typeface="Consolas"/>
              </a:rPr>
              <a:t>def run_linter(source_dir: str) -&gt; dict:</a:t>
            </a:r>
          </a:p>
          <a:p>
            <a:pPr algn="l"/>
            <a:r>
              <a:rPr sz="1000" b="0">
                <a:solidFill>
                  <a:srgbClr val="E5E7EB"/>
                </a:solidFill>
                <a:latin typeface="Consolas"/>
              </a:rPr>
              <a:t>    """Runs Checkstyle and returns diagnostic warnings."""</a:t>
            </a:r>
          </a:p>
          <a:p>
            <a:pPr algn="l"/>
            <a:r>
              <a:rPr sz="1000" b="0">
                <a:solidFill>
                  <a:srgbClr val="E5E7EB"/>
                </a:solidFill>
                <a:latin typeface="Consolas"/>
              </a:rPr>
              <a:t>    result = subprocess.run(["checkstyle", "-c", "/rules.xml", source_dir],</a:t>
            </a:r>
          </a:p>
          <a:p>
            <a:pPr algn="l"/>
            <a:r>
              <a:rPr sz="1000" b="0">
                <a:solidFill>
                  <a:srgbClr val="E5E7EB"/>
                </a:solidFill>
                <a:latin typeface="Consolas"/>
              </a:rPr>
              <a:t>                            capture_output=True, text=True)</a:t>
            </a:r>
          </a:p>
          <a:p>
            <a:pPr algn="l"/>
            <a:r>
              <a:rPr sz="1000" b="0">
                <a:solidFill>
                  <a:srgbClr val="E5E7EB"/>
                </a:solidFill>
                <a:latin typeface="Consolas"/>
              </a:rPr>
              <a:t>    warnings = parse_checkstyle_output(result.stdout)</a:t>
            </a:r>
          </a:p>
          <a:p>
            <a:pPr algn="l"/>
            <a:r>
              <a:rPr sz="1000" b="0">
                <a:solidFill>
                  <a:srgbClr val="E5E7EB"/>
                </a:solidFill>
                <a:latin typeface="Consolas"/>
              </a:rPr>
              <a:t>    return {</a:t>
            </a:r>
          </a:p>
          <a:p>
            <a:pPr algn="l"/>
            <a:r>
              <a:rPr sz="1000" b="0">
                <a:solidFill>
                  <a:srgbClr val="E5E7EB"/>
                </a:solidFill>
                <a:latin typeface="Consolas"/>
              </a:rPr>
              <a:t>        "passed": len(warnings) == 0,</a:t>
            </a:r>
          </a:p>
          <a:p>
            <a:pPr algn="l"/>
            <a:r>
              <a:rPr sz="1000" b="0">
                <a:solidFill>
                  <a:srgbClr val="E5E7EB"/>
                </a:solidFill>
                <a:latin typeface="Consolas"/>
              </a:rPr>
              <a:t>        "warning_count": len(warnings),</a:t>
            </a:r>
          </a:p>
          <a:p>
            <a:pPr algn="l"/>
            <a:r>
              <a:rPr sz="1000" b="0">
                <a:solidFill>
                  <a:srgbClr val="E5E7EB"/>
                </a:solidFill>
                <a:latin typeface="Consolas"/>
              </a:rPr>
              <a:t>        "diagnostics": warnings</a:t>
            </a:r>
          </a:p>
          <a:p>
            <a:pPr algn="l"/>
            <a:r>
              <a:rPr sz="1000" b="0">
                <a:solidFill>
                  <a:srgbClr val="E5E7EB"/>
                </a:solidFill>
                <a:latin typeface="Consolas"/>
              </a:rPr>
              <a:t>    }</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MCP server tool handler for running Checkstyle linter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2600" b="1">
                <a:solidFill>
                  <a:srgbClr val="1F2937"/>
                </a:solidFill>
                <a:latin typeface="Calibri"/>
              </a:rPr>
              <a:t>Integrating MCP Tools into Agent Configuration without Warnings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Register MCP servers in workspace config files such as mcp_config.json.</a:t>
            </a:r>
          </a:p>
          <a:p>
            <a:pPr marL="292608" indent="-292608">
              <a:spcAft>
                <a:spcPts val="1000"/>
              </a:spcAft>
              <a:buClr>
                <a:srgbClr val="0F766E"/>
              </a:buClr>
              <a:buFont typeface="Arial"/>
              <a:buChar char="▪"/>
            </a:pPr>
            <a:r>
              <a:rPr sz="2400">
                <a:solidFill>
                  <a:srgbClr val="1F2937"/>
                </a:solidFill>
                <a:latin typeface="Calibri"/>
              </a:rPr>
              <a:t>Configure environment variables, executable paths, and server arguments cleanly.</a:t>
            </a:r>
          </a:p>
          <a:p>
            <a:pPr marL="292608" indent="-292608">
              <a:spcAft>
                <a:spcPts val="1000"/>
              </a:spcAft>
              <a:buClr>
                <a:srgbClr val="0F766E"/>
              </a:buClr>
              <a:buFont typeface="Arial"/>
              <a:buChar char="▪"/>
            </a:pPr>
            <a:r>
              <a:rPr sz="2400">
                <a:solidFill>
                  <a:srgbClr val="1F2937"/>
                </a:solidFill>
                <a:latin typeface="Calibri"/>
              </a:rPr>
              <a:t>Validate client-server handshakes to avoid missing protocol options or schema mismatches.</a:t>
            </a:r>
          </a:p>
          <a:p>
            <a:pPr marL="292608" indent="-292608">
              <a:spcAft>
                <a:spcPts val="1000"/>
              </a:spcAft>
              <a:buClr>
                <a:srgbClr val="0F766E"/>
              </a:buClr>
              <a:buFont typeface="Arial"/>
              <a:buChar char="▪"/>
            </a:pPr>
            <a:r>
              <a:rPr sz="2400">
                <a:solidFill>
                  <a:srgbClr val="1F2937"/>
                </a:solidFill>
                <a:latin typeface="Calibri"/>
              </a:rPr>
              <a:t>Test tool execution end-to-end to ensure all public integration tests pass without warnings.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900" b="1">
                <a:solidFill>
                  <a:srgbClr val="1F2937"/>
                </a:solidFill>
                <a:latin typeface="Calibri"/>
              </a:rPr>
              <a:t>Check: Model Context Protocol Tool Definitions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In Model Context Protocol (MCP), what is the primary role of an MCP Tool server?</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To train the underlying Large Language Model using local file datasets.</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To expose executable functions and schemas that allow agent clients to run tools and query context.</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To automatically rewrite git history when public unit tests fail.</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To replace unit testing frameworks like JUnit with AI prompt templates.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700" b="1">
                <a:solidFill>
                  <a:srgbClr val="1F2937"/>
                </a:solidFill>
                <a:latin typeface="Calibri"/>
              </a:rPr>
              <a:t>Summary: Context Engineering and MCP Integrations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   ·   Sources: [C1] [C2]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18</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Closed agent loops rely on continuous feedback from test runners and static analysis tools.</a:t>
            </a:r>
          </a:p>
          <a:p>
            <a:pPr marL="292608" indent="-292608">
              <a:spcAft>
                <a:spcPts val="1000"/>
              </a:spcAft>
              <a:buClr>
                <a:srgbClr val="0F766E"/>
              </a:buClr>
              <a:buFont typeface="Arial"/>
              <a:buChar char="▪"/>
            </a:pPr>
            <a:r>
              <a:rPr sz="2400">
                <a:solidFill>
                  <a:srgbClr val="1F2937"/>
                </a:solidFill>
                <a:latin typeface="Calibri"/>
              </a:rPr>
              <a:t>Retaining failure context across loop retries prevents repetitive agent repair mistakes.</a:t>
            </a:r>
          </a:p>
          <a:p>
            <a:pPr marL="292608" indent="-292608">
              <a:spcAft>
                <a:spcPts val="1000"/>
              </a:spcAft>
              <a:buClr>
                <a:srgbClr val="0F766E"/>
              </a:buClr>
              <a:buFont typeface="Arial"/>
              <a:buChar char="▪"/>
            </a:pPr>
            <a:r>
              <a:rPr sz="2400">
                <a:solidFill>
                  <a:srgbClr val="1F2937"/>
                </a:solidFill>
                <a:latin typeface="Calibri"/>
              </a:rPr>
              <a:t>Model Context Protocol (MCP) standardizes how coding agents discover and execute workspace tools.</a:t>
            </a:r>
          </a:p>
          <a:p>
            <a:pPr marL="292608" indent="-292608">
              <a:spcAft>
                <a:spcPts val="1000"/>
              </a:spcAft>
              <a:buClr>
                <a:srgbClr val="0F766E"/>
              </a:buClr>
              <a:buFont typeface="Arial"/>
              <a:buChar char="▪"/>
            </a:pPr>
            <a:r>
              <a:rPr sz="2400">
                <a:solidFill>
                  <a:srgbClr val="1F2937"/>
                </a:solidFill>
                <a:latin typeface="Calibri"/>
              </a:rPr>
              <a:t>Custom MCP servers enable strict quality gates, ensuring code passes tests with zero warnings.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19</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Query Tuning Framework Using the Model Context Protocol for Workflows (2026). https://doi.org/10.2139/ssrn.6172059</a:t>
            </a:r>
          </a:p>
          <a:p>
            <a:pPr marL="292608" indent="-292608">
              <a:spcAft>
                <a:spcPts val="1000"/>
              </a:spcAft>
              <a:buClr>
                <a:srgbClr val="0F766E"/>
              </a:buClr>
              <a:buFont typeface="Arial"/>
              <a:buChar char="▪"/>
            </a:pPr>
            <a:r>
              <a:rPr sz="1800">
                <a:solidFill>
                  <a:srgbClr val="1F2937"/>
                </a:solidFill>
                <a:latin typeface="Calibri"/>
              </a:rPr>
              <a:t>[C2] Autonomous Coding Agents for Software Development Testing and Debugging (2026). https://doi.org/10.2139/ssrn.7515638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