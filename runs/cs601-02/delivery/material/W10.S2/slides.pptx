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ProjMilestone,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AI-native software factories produce large amounts of code from models that can hallucinate or misinterpret specifications. Because the output varies across runs, a single manual inspection cannot guarantee quality. Automated testing provides a systematic, repeatable way to catch regressions, enforce contracts, and measure reliability before deployment. This slide sets the motivation for the entire lecture.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testing pyramid still applies, but the layers shift. Unit tests are often generated alongside code; integration tests must exercise the boundaries where AI‑generated modules meet hand‑written ones; system tests use realistic workloads; property‑based tests capture high‑level specifications that are hard to enumerate as concrete cases. This structure guides where to invest automation effort.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Specification‑driven development (C2) lets developers write pre‑ and post‑conditions, invariants, or interface contracts. A static verifier then proves that the generated implementation satisfies those contracts without executing it. This early gate eliminates a whole class of defects and reduces the load on later dynamic testing stages.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shows a tiny contract for a sorting function. The spec states two post‑conditions: the output must be a permutation of the input and must be sorted. The generated code is not executed; instead a separate verification tool (e.g., an SMT‑based checker) proves that the implementation meets the spec for all possible inputs. This illustrates how static specification checks differ from ordinary type checking.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checks cannot catch all semantic errors. Dynamic testing runs the code. Fuzzing explores the input space automatically; property‑based testing turns specifications into executable predicates; differential testing uses a known‑good implementation as an oracle. Coverage feedback can be fed back to the model to improve future generations (see C3 on complexity backpressure).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Mutation testing evaluates the quality of the test suite itself. By systematically mutating the generated code (e.g., flipping operators, changing constants) and checking whether tests fail, we learn whether the tests would catch real defects. This is especially valuable for AI code where the test suite may also be generated.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Learned evaluators are useful for ranking many candidates quickly. A reward model is trained on human feedback and predicts which output a person would prefer. However, it does not execute code, so it cannot reliably certify functional correctness. Execution‑based tests remain the ground truth for correctness; reward models complement them by filtering obvious low‑quality samples.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Pass@k is the standard metric in code generation benchmarks (C1). It is defined as the probability that at least one of k independently sampled candidates passes the hidden test suite. The unbiased estimator counts, for each problem, how many of the k samples pass and applies the formula 1 - C(n‑c, k) / C(n, k) where n is total samples and c is passing samples. Syntax and semantic metrics give complementary views.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walks through the unbiased estimator for Pass@k. With 100 generated samples and 30 that pass, the chance that a random set of 10 contains at least one passing sample is about 96%. The calculation uses combinatorics; in practice libraries compute it directly. The figures are purely illustrative to show the mechanics.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benchmarks provide a common ground for evaluating code generation. HumanEval and MBPP focus on functional correctness; APPS adds algorithmic difficulty. When reporting Pass@k or other metrics, always state the benchmark and the exact evaluation protocol (temperature, number of samples, test suite version).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domains impose different reliability targets. Safety‑critical systems often mandate high mutation scores and evidence that all requirements are exercised. Business‑critical AI services may set a Pass@k threshold on a curated benchmark. Explicit adequacy criteria turn vague quality goals into measurable testing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worked problem shows how to structure a comparison. All numbers are explicitly labeled as hypothetical assumptions; they are not measured data. The rightmost column describes how each criterion would be measured in practice: instrument the CI system for cost, seed known mutants for false‑negative rate, timestamp pipeline stages for latency, and monitor production for escaped defects. This teaches the evaluation process without presenting fabricated results as facts.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checks the precise definition of Pass@k, a core metric for the learning outcome. The explanation clarifies why the other options are related but distinct concepts.</a:t>
            </a:r>
          </a:p>
          <a:p/>
          <a:p>
            <a:r>
              <a:t>Answer: B. The probability that at least one of k sampled candidates passes the hidden tests</a:t>
            </a:r>
          </a:p>
          <a:p>
            <a:r>
              <a:t>Pass@k is defined as the probability that at least one of k independently sampled candidates passes the hidden test suite. Option 0 describes syntax correctness, option 2 describes semantic similarity metrics like CodeBLEU, and option 3 describes test coverage. The most tempting wrong answer is option 0 because compilation is a prerequisite but not the definition of Pass@k.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reinforces the distinction between learned evaluators and execution‑based correctness checks, a key point for comparing testing mechanisms.</a:t>
            </a:r>
          </a:p>
          <a:p/>
          <a:p>
            <a:r>
              <a:t>Answer: B. It predicts human preference or quality signals without running the code</a:t>
            </a:r>
          </a:p>
          <a:p>
            <a:r>
              <a:t>Reward models are trained on human feedback to predict which outputs humans would prefer; they do not execute code, perform formal verification, or conduct mutation testing. Option 0 describes execution‑based testing, option 2 describes static specification checking, and option 3 describes mutation testing. The most tempting wrong answer is option 0 because both reward models and execution tests are used for quality assessment, but they operate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main mechanisms: static specification‑driven verification, dynamic execution‑based testing, mutation analysis, learned evaluators, and quantitative metrics. Emphasize that each mechanism addresses different reliability requirements and that a robust AI‑native pipeline combines them in a layered fashion. This summary directly supports CO4.LO1.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Automated testing and evaluation mechanisms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10 · Automated Testing and Evaluation Metrics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Compare automated testing mechanisms and evaluation metrics for AI-native software architectures (CO4.LO1)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automated testing matters for AI-generated code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AI code is nondeterministic and may hide subtle bugs</a:t>
            </a:r>
          </a:p>
          <a:p>
            <a:pPr marL="292608" indent="-292608">
              <a:spcAft>
                <a:spcPts val="1000"/>
              </a:spcAft>
              <a:buClr>
                <a:srgbClr val="0F766E"/>
              </a:buClr>
              <a:buFont typeface="Arial"/>
              <a:buChar char="▪"/>
            </a:pPr>
            <a:r>
              <a:rPr sz="2400">
                <a:solidFill>
                  <a:srgbClr val="1F2937"/>
                </a:solidFill>
                <a:latin typeface="Calibri"/>
              </a:rPr>
              <a:t>Manual review does not scale with generated volume</a:t>
            </a:r>
          </a:p>
          <a:p>
            <a:pPr marL="292608" indent="-292608">
              <a:spcAft>
                <a:spcPts val="1000"/>
              </a:spcAft>
              <a:buClr>
                <a:srgbClr val="0F766E"/>
              </a:buClr>
              <a:buFont typeface="Arial"/>
              <a:buChar char="▪"/>
            </a:pPr>
            <a:r>
              <a:rPr sz="2400">
                <a:solidFill>
                  <a:srgbClr val="1F2937"/>
                </a:solidFill>
                <a:latin typeface="Calibri"/>
              </a:rPr>
              <a:t>Automated pipelines give fast, repeatable confidence</a:t>
            </a:r>
          </a:p>
          <a:p>
            <a:pPr marL="292608" indent="-292608">
              <a:spcAft>
                <a:spcPts val="1000"/>
              </a:spcAft>
              <a:buClr>
                <a:srgbClr val="0F766E"/>
              </a:buClr>
              <a:buFont typeface="Arial"/>
              <a:buChar char="▪"/>
            </a:pPr>
            <a:r>
              <a:rPr sz="2400">
                <a:solidFill>
                  <a:srgbClr val="1F2937"/>
                </a:solidFill>
                <a:latin typeface="Calibri"/>
              </a:rPr>
              <a:t>Testing must cover syntax, semantics, and runtime behavior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Testing pyramid adapted for AI-native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[C4]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Unit tests: check individual generated functions</a:t>
            </a:r>
          </a:p>
          <a:p>
            <a:pPr marL="292608" indent="-292608">
              <a:spcAft>
                <a:spcPts val="1000"/>
              </a:spcAft>
              <a:buClr>
                <a:srgbClr val="0F766E"/>
              </a:buClr>
              <a:buFont typeface="Arial"/>
              <a:buChar char="▪"/>
            </a:pPr>
            <a:r>
              <a:rPr sz="2400">
                <a:solidFill>
                  <a:srgbClr val="1F2937"/>
                </a:solidFill>
                <a:latin typeface="Calibri"/>
              </a:rPr>
              <a:t>Integration tests: verify component interactions</a:t>
            </a:r>
          </a:p>
          <a:p>
            <a:pPr marL="292608" indent="-292608">
              <a:spcAft>
                <a:spcPts val="1000"/>
              </a:spcAft>
              <a:buClr>
                <a:srgbClr val="0F766E"/>
              </a:buClr>
              <a:buFont typeface="Arial"/>
              <a:buChar char="▪"/>
            </a:pPr>
            <a:r>
              <a:rPr sz="2400">
                <a:solidFill>
                  <a:srgbClr val="1F2937"/>
                </a:solidFill>
                <a:latin typeface="Calibri"/>
              </a:rPr>
              <a:t>System tests: run end‑to‑end scenarios with real data</a:t>
            </a:r>
          </a:p>
          <a:p>
            <a:pPr marL="292608" indent="-292608">
              <a:spcAft>
                <a:spcPts val="1000"/>
              </a:spcAft>
              <a:buClr>
                <a:srgbClr val="0F766E"/>
              </a:buClr>
              <a:buFont typeface="Arial"/>
              <a:buChar char="▪"/>
            </a:pPr>
            <a:r>
              <a:rPr sz="2400">
                <a:solidFill>
                  <a:srgbClr val="1F2937"/>
                </a:solidFill>
                <a:latin typeface="Calibri"/>
              </a:rPr>
              <a:t>Property‑based tests: express invariants that must hold for all outputs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Static analysis and specification‑driven checks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Specifications written in a formal or semi‑formal language</a:t>
            </a:r>
          </a:p>
          <a:p>
            <a:pPr marL="292608" indent="-292608">
              <a:spcAft>
                <a:spcPts val="1000"/>
              </a:spcAft>
              <a:buClr>
                <a:srgbClr val="0F766E"/>
              </a:buClr>
              <a:buFont typeface="Arial"/>
              <a:buChar char="▪"/>
            </a:pPr>
            <a:r>
              <a:rPr sz="2400">
                <a:solidFill>
                  <a:srgbClr val="1F2937"/>
                </a:solidFill>
                <a:latin typeface="Calibri"/>
              </a:rPr>
              <a:t>A spec checker verifies generated code against the spec</a:t>
            </a:r>
          </a:p>
          <a:p>
            <a:pPr marL="292608" indent="-292608">
              <a:spcAft>
                <a:spcPts val="1000"/>
              </a:spcAft>
              <a:buClr>
                <a:srgbClr val="0F766E"/>
              </a:buClr>
              <a:buFont typeface="Arial"/>
              <a:buChar char="▪"/>
            </a:pPr>
            <a:r>
              <a:rPr sz="2400">
                <a:solidFill>
                  <a:srgbClr val="1F2937"/>
                </a:solidFill>
                <a:latin typeface="Calibri"/>
              </a:rPr>
              <a:t>Catches type errors, contract violations, and missing cases</a:t>
            </a:r>
          </a:p>
          <a:p>
            <a:pPr marL="292608" indent="-292608">
              <a:spcAft>
                <a:spcPts val="1000"/>
              </a:spcAft>
              <a:buClr>
                <a:srgbClr val="0F766E"/>
              </a:buClr>
              <a:buFont typeface="Arial"/>
              <a:buChar char="▪"/>
            </a:pPr>
            <a:r>
              <a:rPr sz="2400">
                <a:solidFill>
                  <a:srgbClr val="1F2937"/>
                </a:solidFill>
                <a:latin typeface="Calibri"/>
              </a:rPr>
              <a:t>Runs before any code execution, cheap and fast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Specification‑driven example (pseudocode)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Spec: sort(input) returns output such that output is a permutation of input and is sorted</a:t>
            </a:r>
          </a:p>
          <a:p>
            <a:pPr marL="292608" indent="-292608">
              <a:spcAft>
                <a:spcPts val="1000"/>
              </a:spcAft>
              <a:buClr>
                <a:srgbClr val="0F766E"/>
              </a:buClr>
              <a:buFont typeface="Arial"/>
              <a:buChar char="▪"/>
            </a:pPr>
            <a:r>
              <a:rPr sz="2300">
                <a:solidFill>
                  <a:srgbClr val="1F2937"/>
                </a:solidFill>
                <a:latin typeface="Calibri"/>
              </a:rPr>
              <a:t>Generated code: function sort(arr) { … }</a:t>
            </a:r>
          </a:p>
          <a:p>
            <a:pPr marL="292608" indent="-292608">
              <a:spcAft>
                <a:spcPts val="1000"/>
              </a:spcAft>
              <a:buClr>
                <a:srgbClr val="0F766E"/>
              </a:buClr>
              <a:buFont typeface="Arial"/>
              <a:buChar char="▪"/>
            </a:pPr>
            <a:r>
              <a:rPr sz="2300">
                <a:solidFill>
                  <a:srgbClr val="1F2937"/>
                </a:solidFill>
                <a:latin typeface="Calibri"/>
              </a:rPr>
              <a:t>Static checker validates: isPermutation(input, output) ∧ isSorted(output)</a:t>
            </a:r>
          </a:p>
          <a:p>
            <a:pPr marL="292608" indent="-292608">
              <a:spcAft>
                <a:spcPts val="1000"/>
              </a:spcAft>
              <a:buClr>
                <a:srgbClr val="0F766E"/>
              </a:buClr>
              <a:buFont typeface="Arial"/>
              <a:buChar char="▪"/>
            </a:pPr>
            <a:r>
              <a:rPr sz="2300">
                <a:solidFill>
                  <a:srgbClr val="1F2937"/>
                </a:solidFill>
                <a:latin typeface="Calibri"/>
              </a:rPr>
              <a:t>Checker runs as a separate tool, not as part of the language runtime</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300" b="0">
                <a:solidFill>
                  <a:srgbClr val="E5E7EB"/>
                </a:solidFill>
                <a:latin typeface="Consolas"/>
              </a:rPr>
              <a:t>// Specification (in a contract language)</a:t>
            </a:r>
          </a:p>
          <a:p>
            <a:pPr algn="l"/>
            <a:r>
              <a:rPr sz="1300" b="0">
                <a:solidFill>
                  <a:srgbClr val="E5E7EB"/>
                </a:solidFill>
                <a:latin typeface="Consolas"/>
              </a:rPr>
              <a:t>spec sort(input: List&lt;int&gt;) -&gt; output: List&lt;int&gt; {</a:t>
            </a:r>
          </a:p>
          <a:p>
            <a:pPr algn="l"/>
            <a:r>
              <a:rPr sz="1300" b="0">
                <a:solidFill>
                  <a:srgbClr val="E5E7EB"/>
                </a:solidFill>
                <a:latin typeface="Consolas"/>
              </a:rPr>
              <a:t>  requires true;</a:t>
            </a:r>
          </a:p>
          <a:p>
            <a:pPr algn="l"/>
            <a:r>
              <a:rPr sz="1300" b="0">
                <a:solidFill>
                  <a:srgbClr val="E5E7EB"/>
                </a:solidFill>
                <a:latin typeface="Consolas"/>
              </a:rPr>
              <a:t>  ensures isPermutation(input, output) &amp;&amp; isSorted(output);</a:t>
            </a:r>
          </a:p>
          <a:p>
            <a:pPr algn="l"/>
            <a:r>
              <a:rPr sz="1300" b="0">
                <a:solidFill>
                  <a:srgbClr val="E5E7EB"/>
                </a:solidFill>
                <a:latin typeface="Consolas"/>
              </a:rPr>
              <a:t>}</a:t>
            </a:r>
          </a:p>
          <a:p>
            <a:pPr algn="l"/>
            <a:r>
              <a:rPr sz="1300" b="0">
                <a:solidFill>
                  <a:srgbClr val="E5E7EB"/>
                </a:solidFill>
                <a:latin typeface="Consolas"/>
              </a:rPr>
              <a:t/>
            </a:r>
          </a:p>
          <a:p>
            <a:pPr algn="l"/>
            <a:r>
              <a:rPr sz="1300" b="0">
                <a:solidFill>
                  <a:srgbClr val="E5E7EB"/>
                </a:solidFill>
                <a:latin typeface="Consolas"/>
              </a:rPr>
              <a:t>// Generated implementation (pseudocode)</a:t>
            </a:r>
          </a:p>
          <a:p>
            <a:pPr algn="l"/>
            <a:r>
              <a:rPr sz="1300" b="0">
                <a:solidFill>
                  <a:srgbClr val="E5E7EB"/>
                </a:solidFill>
                <a:latin typeface="Consolas"/>
              </a:rPr>
              <a:t>function sort(arr) {</a:t>
            </a:r>
          </a:p>
          <a:p>
            <a:pPr algn="l"/>
            <a:r>
              <a:rPr sz="1300" b="0">
                <a:solidFill>
                  <a:srgbClr val="E5E7EB"/>
                </a:solidFill>
                <a:latin typeface="Consolas"/>
              </a:rPr>
              <a:t>  // ... sorting algorithm ...</a:t>
            </a:r>
          </a:p>
          <a:p>
            <a:pPr algn="l"/>
            <a:r>
              <a:rPr sz="1300" b="0">
                <a:solidFill>
                  <a:srgbClr val="E5E7EB"/>
                </a:solidFill>
                <a:latin typeface="Consolas"/>
              </a:rPr>
              <a:t>  return sortedArr;</a:t>
            </a:r>
          </a:p>
          <a:p>
            <a:pPr algn="l"/>
            <a:r>
              <a:rPr sz="1300" b="0">
                <a:solidFill>
                  <a:srgbClr val="E5E7EB"/>
                </a:solidFill>
                <a:latin typeface="Consolas"/>
              </a:rPr>
              <a:t>}</a:t>
            </a:r>
          </a:p>
          <a:p>
            <a:pPr algn="l"/>
            <a:r>
              <a:rPr sz="1300" b="0">
                <a:solidFill>
                  <a:srgbClr val="E5E7EB"/>
                </a:solidFill>
                <a:latin typeface="Consolas"/>
              </a:rPr>
              <a:t/>
            </a:r>
          </a:p>
          <a:p>
            <a:pPr algn="l"/>
            <a:r>
              <a:rPr sz="1300" b="0">
                <a:solidFill>
                  <a:srgbClr val="E5E7EB"/>
                </a:solidFill>
                <a:latin typeface="Consolas"/>
              </a:rPr>
              <a:t>// Static verification step (conceptual)</a:t>
            </a:r>
          </a:p>
          <a:p>
            <a:pPr algn="l"/>
            <a:r>
              <a:rPr sz="1300" b="0">
                <a:solidFill>
                  <a:srgbClr val="E5E7EB"/>
                </a:solidFill>
                <a:latin typeface="Consolas"/>
              </a:rPr>
              <a:t>verify(sort, spec);</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Pseudocode illustration of a spec and a static check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Dynamic testing: execution‑based test generation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[C1]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Fuzzing generated functions with random inputs</a:t>
            </a:r>
          </a:p>
          <a:p>
            <a:pPr marL="292608" indent="-292608">
              <a:spcAft>
                <a:spcPts val="1000"/>
              </a:spcAft>
              <a:buClr>
                <a:srgbClr val="0F766E"/>
              </a:buClr>
              <a:buFont typeface="Arial"/>
              <a:buChar char="▪"/>
            </a:pPr>
            <a:r>
              <a:rPr sz="2400">
                <a:solidFill>
                  <a:srgbClr val="1F2937"/>
                </a:solidFill>
                <a:latin typeface="Calibri"/>
              </a:rPr>
              <a:t>Property‑based frameworks (e.g., Hypothesis) derive test cases from specs</a:t>
            </a:r>
          </a:p>
          <a:p>
            <a:pPr marL="292608" indent="-292608">
              <a:spcAft>
                <a:spcPts val="1000"/>
              </a:spcAft>
              <a:buClr>
                <a:srgbClr val="0F766E"/>
              </a:buClr>
              <a:buFont typeface="Arial"/>
              <a:buChar char="▪"/>
            </a:pPr>
            <a:r>
              <a:rPr sz="2400">
                <a:solidFill>
                  <a:srgbClr val="1F2937"/>
                </a:solidFill>
                <a:latin typeface="Calibri"/>
              </a:rPr>
              <a:t>Differential testing: compare AI output with a trusted reference</a:t>
            </a:r>
          </a:p>
          <a:p>
            <a:pPr marL="292608" indent="-292608">
              <a:spcAft>
                <a:spcPts val="1000"/>
              </a:spcAft>
              <a:buClr>
                <a:srgbClr val="0F766E"/>
              </a:buClr>
              <a:buFont typeface="Arial"/>
              <a:buChar char="▪"/>
            </a:pPr>
            <a:r>
              <a:rPr sz="2400">
                <a:solidFill>
                  <a:srgbClr val="1F2937"/>
                </a:solidFill>
                <a:latin typeface="Calibri"/>
              </a:rPr>
              <a:t>Collect coverage to guide further generation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Mutation testing for AI‑generated code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Inject small syntactic changes into generated code</a:t>
            </a:r>
          </a:p>
          <a:p>
            <a:pPr marL="292608" indent="-292608">
              <a:spcAft>
                <a:spcPts val="1000"/>
              </a:spcAft>
              <a:buClr>
                <a:srgbClr val="0F766E"/>
              </a:buClr>
              <a:buFont typeface="Arial"/>
              <a:buChar char="▪"/>
            </a:pPr>
            <a:r>
              <a:rPr sz="2400">
                <a:solidFill>
                  <a:srgbClr val="1F2937"/>
                </a:solidFill>
                <a:latin typeface="Calibri"/>
              </a:rPr>
              <a:t>Run test suite; surviving mutants indicate weak tests</a:t>
            </a:r>
          </a:p>
          <a:p>
            <a:pPr marL="292608" indent="-292608">
              <a:spcAft>
                <a:spcPts val="1000"/>
              </a:spcAft>
              <a:buClr>
                <a:srgbClr val="0F766E"/>
              </a:buClr>
              <a:buFont typeface="Arial"/>
              <a:buChar char="▪"/>
            </a:pPr>
            <a:r>
              <a:rPr sz="2400">
                <a:solidFill>
                  <a:srgbClr val="1F2937"/>
                </a:solidFill>
                <a:latin typeface="Calibri"/>
              </a:rPr>
              <a:t>Helps measure test adequacy beyond coverage</a:t>
            </a:r>
          </a:p>
          <a:p>
            <a:pPr marL="292608" indent="-292608">
              <a:spcAft>
                <a:spcPts val="1000"/>
              </a:spcAft>
              <a:buClr>
                <a:srgbClr val="0F766E"/>
              </a:buClr>
              <a:buFont typeface="Arial"/>
              <a:buChar char="▪"/>
            </a:pPr>
            <a:r>
              <a:rPr sz="2400">
                <a:solidFill>
                  <a:srgbClr val="1F2937"/>
                </a:solidFill>
                <a:latin typeface="Calibri"/>
              </a:rPr>
              <a:t>Can be automated in CI pipelines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Learned evaluators: LLM‑as‑judge and reward models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[C1]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LLM‑as‑judge: a separate model scores candidate outputs</a:t>
            </a:r>
          </a:p>
          <a:p>
            <a:pPr marL="292608" indent="-292608">
              <a:spcAft>
                <a:spcPts val="1000"/>
              </a:spcAft>
              <a:buClr>
                <a:srgbClr val="0F766E"/>
              </a:buClr>
              <a:buFont typeface="Arial"/>
              <a:buChar char="▪"/>
            </a:pPr>
            <a:r>
              <a:rPr sz="2400">
                <a:solidFill>
                  <a:srgbClr val="1F2937"/>
                </a:solidFill>
                <a:latin typeface="Calibri"/>
              </a:rPr>
              <a:t>Reward models predict human preference or quality signals</a:t>
            </a:r>
          </a:p>
          <a:p>
            <a:pPr marL="292608" indent="-292608">
              <a:spcAft>
                <a:spcPts val="1000"/>
              </a:spcAft>
              <a:buClr>
                <a:srgbClr val="0F766E"/>
              </a:buClr>
              <a:buFont typeface="Arial"/>
              <a:buChar char="▪"/>
            </a:pPr>
            <a:r>
              <a:rPr sz="2400">
                <a:solidFill>
                  <a:srgbClr val="1F2937"/>
                </a:solidFill>
                <a:latin typeface="Calibri"/>
              </a:rPr>
              <a:t>They estimate style, readability, or adherence to instructions</a:t>
            </a:r>
          </a:p>
          <a:p>
            <a:pPr marL="292608" indent="-292608">
              <a:spcAft>
                <a:spcPts val="1000"/>
              </a:spcAft>
              <a:buClr>
                <a:srgbClr val="0F766E"/>
              </a:buClr>
              <a:buFont typeface="Arial"/>
              <a:buChar char="▪"/>
            </a:pPr>
            <a:r>
              <a:rPr sz="2400">
                <a:solidFill>
                  <a:srgbClr val="1F2937"/>
                </a:solidFill>
                <a:latin typeface="Calibri"/>
              </a:rPr>
              <a:t>Functional correctness still requires execution‑based tests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Evaluation metrics for code generation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Pass@k: probability that at least one of k samples passes hidden tests</a:t>
            </a:r>
          </a:p>
          <a:p>
            <a:pPr marL="292608" indent="-292608">
              <a:spcAft>
                <a:spcPts val="1000"/>
              </a:spcAft>
              <a:buClr>
                <a:srgbClr val="0F766E"/>
              </a:buClr>
              <a:buFont typeface="Arial"/>
              <a:buChar char="▪"/>
            </a:pPr>
            <a:r>
              <a:rPr sz="2400">
                <a:solidFill>
                  <a:srgbClr val="1F2937"/>
                </a:solidFill>
                <a:latin typeface="Calibri"/>
              </a:rPr>
              <a:t>Syntax correctness: fraction of parsable programs</a:t>
            </a:r>
          </a:p>
          <a:p>
            <a:pPr marL="292608" indent="-292608">
              <a:spcAft>
                <a:spcPts val="1000"/>
              </a:spcAft>
              <a:buClr>
                <a:srgbClr val="0F766E"/>
              </a:buClr>
              <a:buFont typeface="Arial"/>
              <a:buChar char="▪"/>
            </a:pPr>
            <a:r>
              <a:rPr sz="2400">
                <a:solidFill>
                  <a:srgbClr val="1F2937"/>
                </a:solidFill>
                <a:latin typeface="Calibri"/>
              </a:rPr>
              <a:t>Semantic similarity: e.g., CodeBLEU, execution match</a:t>
            </a:r>
          </a:p>
          <a:p>
            <a:pPr marL="292608" indent="-292608">
              <a:spcAft>
                <a:spcPts val="1000"/>
              </a:spcAft>
              <a:buClr>
                <a:srgbClr val="0F766E"/>
              </a:buClr>
              <a:buFont typeface="Arial"/>
              <a:buChar char="▪"/>
            </a:pPr>
            <a:r>
              <a:rPr sz="2400">
                <a:solidFill>
                  <a:srgbClr val="1F2937"/>
                </a:solidFill>
                <a:latin typeface="Calibri"/>
              </a:rPr>
              <a:t>Runtime performance: latency, memory within limits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Computing Pass@k from sample results (illustrative)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Problem: 100 samples generated, 30 pass hidden tests</a:t>
            </a:r>
          </a:p>
          <a:p>
            <a:pPr marL="292608" indent="-292608">
              <a:spcAft>
                <a:spcPts val="1000"/>
              </a:spcAft>
              <a:buClr>
                <a:srgbClr val="0F766E"/>
              </a:buClr>
              <a:buFont typeface="Arial"/>
              <a:buChar char="▪"/>
            </a:pPr>
            <a:r>
              <a:rPr sz="2400">
                <a:solidFill>
                  <a:srgbClr val="1F2937"/>
                </a:solidFill>
                <a:latin typeface="Calibri"/>
              </a:rPr>
              <a:t>k = 10, n = 100, c = 30</a:t>
            </a:r>
          </a:p>
          <a:p>
            <a:pPr marL="292608" indent="-292608">
              <a:spcAft>
                <a:spcPts val="1000"/>
              </a:spcAft>
              <a:buClr>
                <a:srgbClr val="0F766E"/>
              </a:buClr>
              <a:buFont typeface="Arial"/>
              <a:buChar char="▪"/>
            </a:pPr>
            <a:r>
              <a:rPr sz="2400">
                <a:solidFill>
                  <a:srgbClr val="1F2937"/>
                </a:solidFill>
                <a:latin typeface="Calibri"/>
              </a:rPr>
              <a:t>Pass@10 = 1 - C(70,10)/C(100,10) ≈ 0.96</a:t>
            </a:r>
          </a:p>
          <a:p>
            <a:pPr marL="292608" indent="-292608">
              <a:spcAft>
                <a:spcPts val="1000"/>
              </a:spcAft>
              <a:buClr>
                <a:srgbClr val="0F766E"/>
              </a:buClr>
              <a:buFont typeface="Arial"/>
              <a:buChar char="▪"/>
            </a:pPr>
            <a:r>
              <a:rPr sz="2400">
                <a:solidFill>
                  <a:srgbClr val="1F2937"/>
                </a:solidFill>
                <a:latin typeface="Calibri"/>
              </a:rPr>
              <a:t>Numbers are illustrative; real benchmarks use many problems</a:t>
            </a:r>
          </a:p>
        </p:txBody>
      </p:sp>
      <p:graphicFrame>
        <p:nvGraphicFramePr>
          <p:cNvPr id="8" name="Table 7"/>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2479780"/>
                <a:gridCol w="2479780"/>
              </a:tblGrid>
              <a:tr h="502920">
                <a:tc>
                  <a:txBody>
                    <a:bodyPr/>
                    <a:lstStyle/>
                    <a:p>
                      <a:r>
                        <a:rPr sz="1400" b="1">
                          <a:solidFill>
                            <a:srgbClr val="CCFBF1"/>
                          </a:solidFill>
                          <a:latin typeface="Calibri"/>
                        </a:rPr>
                        <a:t>Parameter</a:t>
                      </a:r>
                    </a:p>
                  </a:txBody>
                  <a:tcPr>
                    <a:solidFill>
                      <a:srgbClr val="0F766E"/>
                    </a:solidFill>
                  </a:tcPr>
                </a:tc>
                <a:tc>
                  <a:txBody>
                    <a:bodyPr/>
                    <a:lstStyle/>
                    <a:p>
                      <a:r>
                        <a:rPr sz="1400" b="1">
                          <a:solidFill>
                            <a:srgbClr val="CCFBF1"/>
                          </a:solidFill>
                          <a:latin typeface="Calibri"/>
                        </a:rPr>
                        <a:t>Value</a:t>
                      </a:r>
                    </a:p>
                  </a:txBody>
                  <a:tcPr>
                    <a:solidFill>
                      <a:srgbClr val="0F766E"/>
                    </a:solidFill>
                  </a:tcPr>
                </a:tc>
              </a:tr>
              <a:tr h="502920">
                <a:tc>
                  <a:txBody>
                    <a:bodyPr/>
                    <a:lstStyle/>
                    <a:p>
                      <a:r>
                        <a:rPr sz="1400" b="0">
                          <a:solidFill>
                            <a:srgbClr val="1F2937"/>
                          </a:solidFill>
                          <a:latin typeface="Calibri"/>
                        </a:rPr>
                        <a:t>Total samples (n)</a:t>
                      </a:r>
                    </a:p>
                  </a:txBody>
                  <a:tcPr>
                    <a:solidFill>
                      <a:srgbClr val="F3F4F6"/>
                    </a:solidFill>
                  </a:tcPr>
                </a:tc>
                <a:tc>
                  <a:txBody>
                    <a:bodyPr/>
                    <a:lstStyle/>
                    <a:p>
                      <a:r>
                        <a:rPr sz="1400" b="0">
                          <a:solidFill>
                            <a:srgbClr val="1F2937"/>
                          </a:solidFill>
                          <a:latin typeface="Calibri"/>
                        </a:rPr>
                        <a:t>100</a:t>
                      </a:r>
                    </a:p>
                  </a:txBody>
                  <a:tcPr>
                    <a:solidFill>
                      <a:srgbClr val="F3F4F6"/>
                    </a:solidFill>
                  </a:tcPr>
                </a:tc>
              </a:tr>
              <a:tr h="502920">
                <a:tc>
                  <a:txBody>
                    <a:bodyPr/>
                    <a:lstStyle/>
                    <a:p>
                      <a:r>
                        <a:rPr sz="1400" b="0">
                          <a:solidFill>
                            <a:srgbClr val="1F2937"/>
                          </a:solidFill>
                          <a:latin typeface="Calibri"/>
                        </a:rPr>
                        <a:t>Passing samples (c)</a:t>
                      </a:r>
                    </a:p>
                  </a:txBody>
                  <a:tcPr>
                    <a:solidFill>
                      <a:srgbClr val="F3F4F6"/>
                    </a:solidFill>
                  </a:tcPr>
                </a:tc>
                <a:tc>
                  <a:txBody>
                    <a:bodyPr/>
                    <a:lstStyle/>
                    <a:p>
                      <a:r>
                        <a:rPr sz="1400" b="0">
                          <a:solidFill>
                            <a:srgbClr val="1F2937"/>
                          </a:solidFill>
                          <a:latin typeface="Calibri"/>
                        </a:rPr>
                        <a:t>30</a:t>
                      </a:r>
                    </a:p>
                  </a:txBody>
                  <a:tcPr>
                    <a:solidFill>
                      <a:srgbClr val="F3F4F6"/>
                    </a:solidFill>
                  </a:tcPr>
                </a:tc>
              </a:tr>
              <a:tr h="502920">
                <a:tc>
                  <a:txBody>
                    <a:bodyPr/>
                    <a:lstStyle/>
                    <a:p>
                      <a:r>
                        <a:rPr sz="1400" b="0">
                          <a:solidFill>
                            <a:srgbClr val="1F2937"/>
                          </a:solidFill>
                          <a:latin typeface="Calibri"/>
                        </a:rPr>
                        <a:t>k</a:t>
                      </a:r>
                    </a:p>
                  </a:txBody>
                  <a:tcPr>
                    <a:solidFill>
                      <a:srgbClr val="F3F4F6"/>
                    </a:solidFill>
                  </a:tcPr>
                </a:tc>
                <a:tc>
                  <a:txBody>
                    <a:bodyPr/>
                    <a:lstStyle/>
                    <a:p>
                      <a:r>
                        <a:rPr sz="1400" b="0">
                          <a:solidFill>
                            <a:srgbClr val="1F2937"/>
                          </a:solidFill>
                          <a:latin typeface="Calibri"/>
                        </a:rPr>
                        <a:t>10</a:t>
                      </a:r>
                    </a:p>
                  </a:txBody>
                  <a:tcPr>
                    <a:solidFill>
                      <a:srgbClr val="F3F4F6"/>
                    </a:solidFill>
                  </a:tcPr>
                </a:tc>
              </a:tr>
              <a:tr h="502920">
                <a:tc>
                  <a:txBody>
                    <a:bodyPr/>
                    <a:lstStyle/>
                    <a:p>
                      <a:r>
                        <a:rPr sz="1400" b="0">
                          <a:solidFill>
                            <a:srgbClr val="1F2937"/>
                          </a:solidFill>
                          <a:latin typeface="Calibri"/>
                        </a:rPr>
                        <a:t>Pass@10 (approx.)</a:t>
                      </a:r>
                    </a:p>
                  </a:txBody>
                  <a:tcPr>
                    <a:solidFill>
                      <a:srgbClr val="F3F4F6"/>
                    </a:solidFill>
                  </a:tcPr>
                </a:tc>
                <a:tc>
                  <a:txBody>
                    <a:bodyPr/>
                    <a:lstStyle/>
                    <a:p>
                      <a:r>
                        <a:rPr sz="1400" b="0">
                          <a:solidFill>
                            <a:srgbClr val="1F2937"/>
                          </a:solidFill>
                          <a:latin typeface="Calibri"/>
                        </a:rPr>
                        <a:t>0.96</a:t>
                      </a:r>
                    </a:p>
                  </a:txBody>
                  <a:tcPr>
                    <a:solidFill>
                      <a:srgbClr val="F3F4F6"/>
                    </a:solidFill>
                  </a:tcPr>
                </a:tc>
              </a:tr>
            </a:tbl>
          </a:graphicData>
        </a:graphic>
      </p:graphicFrame>
      <p:sp>
        <p:nvSpPr>
          <p:cNvPr id="9" name="TextBox 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Illustrative Pass@k calculation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Benchmark suites for code generation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[C1]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HumanEval: 164 Python problems with unit tests</a:t>
            </a:r>
          </a:p>
          <a:p>
            <a:pPr marL="292608" indent="-292608">
              <a:spcAft>
                <a:spcPts val="1000"/>
              </a:spcAft>
              <a:buClr>
                <a:srgbClr val="0F766E"/>
              </a:buClr>
              <a:buFont typeface="Arial"/>
              <a:buChar char="▪"/>
            </a:pPr>
            <a:r>
              <a:rPr sz="2400">
                <a:solidFill>
                  <a:srgbClr val="1F2937"/>
                </a:solidFill>
                <a:latin typeface="Calibri"/>
              </a:rPr>
              <a:t>MBPP: 974 basic programming problems</a:t>
            </a:r>
          </a:p>
          <a:p>
            <a:pPr marL="292608" indent="-292608">
              <a:spcAft>
                <a:spcPts val="1000"/>
              </a:spcAft>
              <a:buClr>
                <a:srgbClr val="0F766E"/>
              </a:buClr>
              <a:buFont typeface="Arial"/>
              <a:buChar char="▪"/>
            </a:pPr>
            <a:r>
              <a:rPr sz="2400">
                <a:solidFill>
                  <a:srgbClr val="1F2937"/>
                </a:solidFill>
                <a:latin typeface="Calibri"/>
              </a:rPr>
              <a:t>APPS: 10,000 problems from easy to competition level</a:t>
            </a:r>
          </a:p>
          <a:p>
            <a:pPr marL="292608" indent="-292608">
              <a:spcAft>
                <a:spcPts val="1000"/>
              </a:spcAft>
              <a:buClr>
                <a:srgbClr val="0F766E"/>
              </a:buClr>
              <a:buFont typeface="Arial"/>
              <a:buChar char="▪"/>
            </a:pPr>
            <a:r>
              <a:rPr sz="2400">
                <a:solidFill>
                  <a:srgbClr val="1F2937"/>
                </a:solidFill>
                <a:latin typeface="Calibri"/>
              </a:rPr>
              <a:t>Benchmarks enable reproducible comparison of models and pipelines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Reliability requirements and test adequacy criteria</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Safety‑critical: require mutation score &gt; 90% and zero critical mutants</a:t>
            </a:r>
          </a:p>
          <a:p>
            <a:pPr marL="292608" indent="-292608">
              <a:spcAft>
                <a:spcPts val="1000"/>
              </a:spcAft>
              <a:buClr>
                <a:srgbClr val="0F766E"/>
              </a:buClr>
              <a:buFont typeface="Arial"/>
              <a:buChar char="▪"/>
            </a:pPr>
            <a:r>
              <a:rPr sz="2400">
                <a:solidFill>
                  <a:srgbClr val="1F2937"/>
                </a:solidFill>
                <a:latin typeface="Calibri"/>
              </a:rPr>
              <a:t>Business‑critical: target Pass@k ≥ 0.95 on representative benchmarks</a:t>
            </a:r>
          </a:p>
          <a:p>
            <a:pPr marL="292608" indent="-292608">
              <a:spcAft>
                <a:spcPts val="1000"/>
              </a:spcAft>
              <a:buClr>
                <a:srgbClr val="0F766E"/>
              </a:buClr>
              <a:buFont typeface="Arial"/>
              <a:buChar char="▪"/>
            </a:pPr>
            <a:r>
              <a:rPr sz="2400">
                <a:solidFill>
                  <a:srgbClr val="1F2937"/>
                </a:solidFill>
                <a:latin typeface="Calibri"/>
              </a:rPr>
              <a:t>Regulatory: traceability from requirement to test case</a:t>
            </a:r>
          </a:p>
          <a:p>
            <a:pPr marL="292608" indent="-292608">
              <a:spcAft>
                <a:spcPts val="1000"/>
              </a:spcAft>
              <a:buClr>
                <a:srgbClr val="0F766E"/>
              </a:buClr>
              <a:buFont typeface="Arial"/>
              <a:buChar char="▪"/>
            </a:pPr>
            <a:r>
              <a:rPr sz="2400">
                <a:solidFill>
                  <a:srgbClr val="1F2937"/>
                </a:solidFill>
                <a:latin typeface="Calibri"/>
              </a:rPr>
              <a:t>Adequacy criteria guide where to invest testing effort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Comparing two testing pipelines (hypothetical assumptions)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   ·   Sources: [C4]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200">
                <a:solidFill>
                  <a:srgbClr val="1F2937"/>
                </a:solidFill>
                <a:latin typeface="Calibri"/>
              </a:rPr>
              <a:t>Pipeline A: static spec check + mutation testing + execution suite</a:t>
            </a:r>
          </a:p>
          <a:p>
            <a:pPr marL="292608" indent="-292608">
              <a:spcAft>
                <a:spcPts val="1000"/>
              </a:spcAft>
              <a:buClr>
                <a:srgbClr val="0F766E"/>
              </a:buClr>
              <a:buFont typeface="Arial"/>
              <a:buChar char="▪"/>
            </a:pPr>
            <a:r>
              <a:rPr sz="2200">
                <a:solidFill>
                  <a:srgbClr val="1F2937"/>
                </a:solidFill>
                <a:latin typeface="Calibri"/>
              </a:rPr>
              <a:t>Pipeline B: LLM‑as‑judge filter + lightweight unit tests</a:t>
            </a:r>
          </a:p>
          <a:p>
            <a:pPr marL="292608" indent="-292608">
              <a:spcAft>
                <a:spcPts val="1000"/>
              </a:spcAft>
              <a:buClr>
                <a:srgbClr val="0F766E"/>
              </a:buClr>
              <a:buFont typeface="Arial"/>
              <a:buChar char="▪"/>
            </a:pPr>
            <a:r>
              <a:rPr sz="2200">
                <a:solidFill>
                  <a:srgbClr val="1F2937"/>
                </a:solidFill>
                <a:latin typeface="Calibri"/>
              </a:rPr>
              <a:t>Assumed cost per PR: A = $0.50 (hypothetical), B = $0.10 (hypothetical)</a:t>
            </a:r>
          </a:p>
          <a:p>
            <a:pPr marL="292608" indent="-292608">
              <a:spcAft>
                <a:spcPts val="1000"/>
              </a:spcAft>
              <a:buClr>
                <a:srgbClr val="0F766E"/>
              </a:buClr>
              <a:buFont typeface="Arial"/>
              <a:buChar char="▪"/>
            </a:pPr>
            <a:r>
              <a:rPr sz="2200">
                <a:solidFill>
                  <a:srgbClr val="1F2937"/>
                </a:solidFill>
                <a:latin typeface="Calibri"/>
              </a:rPr>
              <a:t>Assumed false‑negative rate: A low, B moderate (illustrative)</a:t>
            </a:r>
          </a:p>
          <a:p>
            <a:pPr marL="292608" indent="-292608">
              <a:spcAft>
                <a:spcPts val="1000"/>
              </a:spcAft>
              <a:buClr>
                <a:srgbClr val="0F766E"/>
              </a:buClr>
              <a:buFont typeface="Arial"/>
              <a:buChar char="▪"/>
            </a:pPr>
            <a:r>
              <a:rPr sz="2200">
                <a:solidFill>
                  <a:srgbClr val="1F2937"/>
                </a:solidFill>
                <a:latin typeface="Calibri"/>
              </a:rPr>
              <a:t>Measurement method: run both pipelines on a fixed benchmark set, record cost, latency, and defect escape rate</a:t>
            </a:r>
          </a:p>
        </p:txBody>
      </p:sp>
      <p:graphicFrame>
        <p:nvGraphicFramePr>
          <p:cNvPr id="8" name="Table 7"/>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Criterion</a:t>
                      </a:r>
                    </a:p>
                  </a:txBody>
                  <a:tcPr>
                    <a:solidFill>
                      <a:srgbClr val="0F766E"/>
                    </a:solidFill>
                  </a:tcPr>
                </a:tc>
                <a:tc>
                  <a:txBody>
                    <a:bodyPr/>
                    <a:lstStyle/>
                    <a:p>
                      <a:r>
                        <a:rPr sz="1400" b="1">
                          <a:solidFill>
                            <a:srgbClr val="CCFBF1"/>
                          </a:solidFill>
                          <a:latin typeface="Calibri"/>
                        </a:rPr>
                        <a:t>Pipeline A (assumed)</a:t>
                      </a:r>
                    </a:p>
                  </a:txBody>
                  <a:tcPr>
                    <a:solidFill>
                      <a:srgbClr val="0F766E"/>
                    </a:solidFill>
                  </a:tcPr>
                </a:tc>
                <a:tc>
                  <a:txBody>
                    <a:bodyPr/>
                    <a:lstStyle/>
                    <a:p>
                      <a:r>
                        <a:rPr sz="1400" b="1">
                          <a:solidFill>
                            <a:srgbClr val="CCFBF1"/>
                          </a:solidFill>
                          <a:latin typeface="Calibri"/>
                        </a:rPr>
                        <a:t>Pipeline B (assumed)</a:t>
                      </a:r>
                    </a:p>
                  </a:txBody>
                  <a:tcPr>
                    <a:solidFill>
                      <a:srgbClr val="0F766E"/>
                    </a:solidFill>
                  </a:tcPr>
                </a:tc>
                <a:tc>
                  <a:txBody>
                    <a:bodyPr/>
                    <a:lstStyle/>
                    <a:p>
                      <a:r>
                        <a:rPr sz="1400" b="1">
                          <a:solidFill>
                            <a:srgbClr val="CCFBF1"/>
                          </a:solidFill>
                          <a:latin typeface="Calibri"/>
                        </a:rPr>
                        <a:t>Measurement method</a:t>
                      </a:r>
                    </a:p>
                  </a:txBody>
                  <a:tcPr>
                    <a:solidFill>
                      <a:srgbClr val="0F766E"/>
                    </a:solidFill>
                  </a:tcPr>
                </a:tc>
              </a:tr>
              <a:tr h="502920">
                <a:tc>
                  <a:txBody>
                    <a:bodyPr/>
                    <a:lstStyle/>
                    <a:p>
                      <a:r>
                        <a:rPr sz="1400" b="0">
                          <a:solidFill>
                            <a:srgbClr val="1F2937"/>
                          </a:solidFill>
                          <a:latin typeface="Calibri"/>
                        </a:rPr>
                        <a:t>Cost per PR</a:t>
                      </a:r>
                    </a:p>
                  </a:txBody>
                  <a:tcPr>
                    <a:solidFill>
                      <a:srgbClr val="F3F4F6"/>
                    </a:solidFill>
                  </a:tcPr>
                </a:tc>
                <a:tc>
                  <a:txBody>
                    <a:bodyPr/>
                    <a:lstStyle/>
                    <a:p>
                      <a:r>
                        <a:rPr sz="1400" b="0">
                          <a:solidFill>
                            <a:srgbClr val="1F2937"/>
                          </a:solidFill>
                          <a:latin typeface="Calibri"/>
                        </a:rPr>
                        <a:t>$0.50</a:t>
                      </a:r>
                    </a:p>
                  </a:txBody>
                  <a:tcPr>
                    <a:solidFill>
                      <a:srgbClr val="F3F4F6"/>
                    </a:solidFill>
                  </a:tcPr>
                </a:tc>
                <a:tc>
                  <a:txBody>
                    <a:bodyPr/>
                    <a:lstStyle/>
                    <a:p>
                      <a:r>
                        <a:rPr sz="1400" b="0">
                          <a:solidFill>
                            <a:srgbClr val="1F2937"/>
                          </a:solidFill>
                          <a:latin typeface="Calibri"/>
                        </a:rPr>
                        <a:t>$0.10</a:t>
                      </a:r>
                    </a:p>
                  </a:txBody>
                  <a:tcPr>
                    <a:solidFill>
                      <a:srgbClr val="F3F4F6"/>
                    </a:solidFill>
                  </a:tcPr>
                </a:tc>
                <a:tc>
                  <a:txBody>
                    <a:bodyPr/>
                    <a:lstStyle/>
                    <a:p>
                      <a:r>
                        <a:rPr sz="1400" b="0">
                          <a:solidFill>
                            <a:srgbClr val="1F2937"/>
                          </a:solidFill>
                          <a:latin typeface="Calibri"/>
                        </a:rPr>
                        <a:t>Instrument CI billing</a:t>
                      </a:r>
                    </a:p>
                  </a:txBody>
                  <a:tcPr>
                    <a:solidFill>
                      <a:srgbClr val="F3F4F6"/>
                    </a:solidFill>
                  </a:tcPr>
                </a:tc>
              </a:tr>
              <a:tr h="502920">
                <a:tc>
                  <a:txBody>
                    <a:bodyPr/>
                    <a:lstStyle/>
                    <a:p>
                      <a:r>
                        <a:rPr sz="1400" b="0">
                          <a:solidFill>
                            <a:srgbClr val="1F2937"/>
                          </a:solidFill>
                          <a:latin typeface="Calibri"/>
                        </a:rPr>
                        <a:t>False‑negative rate</a:t>
                      </a:r>
                    </a:p>
                  </a:txBody>
                  <a:tcPr>
                    <a:solidFill>
                      <a:srgbClr val="F3F4F6"/>
                    </a:solidFill>
                  </a:tcPr>
                </a:tc>
                <a:tc>
                  <a:txBody>
                    <a:bodyPr/>
                    <a:lstStyle/>
                    <a:p>
                      <a:r>
                        <a:rPr sz="1400" b="0">
                          <a:solidFill>
                            <a:srgbClr val="1F2937"/>
                          </a:solidFill>
                          <a:latin typeface="Calibri"/>
                        </a:rPr>
                        <a:t>Low</a:t>
                      </a:r>
                    </a:p>
                  </a:txBody>
                  <a:tcPr>
                    <a:solidFill>
                      <a:srgbClr val="F3F4F6"/>
                    </a:solidFill>
                  </a:tcPr>
                </a:tc>
                <a:tc>
                  <a:txBody>
                    <a:bodyPr/>
                    <a:lstStyle/>
                    <a:p>
                      <a:r>
                        <a:rPr sz="1400" b="0">
                          <a:solidFill>
                            <a:srgbClr val="1F2937"/>
                          </a:solidFill>
                          <a:latin typeface="Calibri"/>
                        </a:rPr>
                        <a:t>Moderate</a:t>
                      </a:r>
                    </a:p>
                  </a:txBody>
                  <a:tcPr>
                    <a:solidFill>
                      <a:srgbClr val="F3F4F6"/>
                    </a:solidFill>
                  </a:tcPr>
                </a:tc>
                <a:tc>
                  <a:txBody>
                    <a:bodyPr/>
                    <a:lstStyle/>
                    <a:p>
                      <a:r>
                        <a:rPr sz="1400" b="0">
                          <a:solidFill>
                            <a:srgbClr val="1F2937"/>
                          </a:solidFill>
                          <a:latin typeface="Calibri"/>
                        </a:rPr>
                        <a:t>Inject known defects, measure detection</a:t>
                      </a:r>
                    </a:p>
                  </a:txBody>
                  <a:tcPr>
                    <a:solidFill>
                      <a:srgbClr val="F3F4F6"/>
                    </a:solidFill>
                  </a:tcPr>
                </a:tc>
              </a:tr>
              <a:tr h="502920">
                <a:tc>
                  <a:txBody>
                    <a:bodyPr/>
                    <a:lstStyle/>
                    <a:p>
                      <a:r>
                        <a:rPr sz="1400" b="0">
                          <a:solidFill>
                            <a:srgbClr val="1F2937"/>
                          </a:solidFill>
                          <a:latin typeface="Calibri"/>
                        </a:rPr>
                        <a:t>Latency</a:t>
                      </a:r>
                    </a:p>
                  </a:txBody>
                  <a:tcPr>
                    <a:solidFill>
                      <a:srgbClr val="F3F4F6"/>
                    </a:solidFill>
                  </a:tcPr>
                </a:tc>
                <a:tc>
                  <a:txBody>
                    <a:bodyPr/>
                    <a:lstStyle/>
                    <a:p>
                      <a:r>
                        <a:rPr sz="1400" b="0">
                          <a:solidFill>
                            <a:srgbClr val="1F2937"/>
                          </a:solidFill>
                          <a:latin typeface="Calibri"/>
                        </a:rPr>
                        <a:t>Higher</a:t>
                      </a:r>
                    </a:p>
                  </a:txBody>
                  <a:tcPr>
                    <a:solidFill>
                      <a:srgbClr val="F3F4F6"/>
                    </a:solidFill>
                  </a:tcPr>
                </a:tc>
                <a:tc>
                  <a:txBody>
                    <a:bodyPr/>
                    <a:lstStyle/>
                    <a:p>
                      <a:r>
                        <a:rPr sz="1400" b="0">
                          <a:solidFill>
                            <a:srgbClr val="1F2937"/>
                          </a:solidFill>
                          <a:latin typeface="Calibri"/>
                        </a:rPr>
                        <a:t>Lower</a:t>
                      </a:r>
                    </a:p>
                  </a:txBody>
                  <a:tcPr>
                    <a:solidFill>
                      <a:srgbClr val="F3F4F6"/>
                    </a:solidFill>
                  </a:tcPr>
                </a:tc>
                <a:tc>
                  <a:txBody>
                    <a:bodyPr/>
                    <a:lstStyle/>
                    <a:p>
                      <a:r>
                        <a:rPr sz="1400" b="0">
                          <a:solidFill>
                            <a:srgbClr val="1F2937"/>
                          </a:solidFill>
                          <a:latin typeface="Calibri"/>
                        </a:rPr>
                        <a:t>Timestamp start/end of pipeline</a:t>
                      </a:r>
                    </a:p>
                  </a:txBody>
                  <a:tcPr>
                    <a:solidFill>
                      <a:srgbClr val="F3F4F6"/>
                    </a:solidFill>
                  </a:tcPr>
                </a:tc>
              </a:tr>
              <a:tr h="502920">
                <a:tc>
                  <a:txBody>
                    <a:bodyPr/>
                    <a:lstStyle/>
                    <a:p>
                      <a:r>
                        <a:rPr sz="1400" b="0">
                          <a:solidFill>
                            <a:srgbClr val="1F2937"/>
                          </a:solidFill>
                          <a:latin typeface="Calibri"/>
                        </a:rPr>
                        <a:t>Defect escape rate</a:t>
                      </a:r>
                    </a:p>
                  </a:txBody>
                  <a:tcPr>
                    <a:solidFill>
                      <a:srgbClr val="F3F4F6"/>
                    </a:solidFill>
                  </a:tcPr>
                </a:tc>
                <a:tc>
                  <a:txBody>
                    <a:bodyPr/>
                    <a:lstStyle/>
                    <a:p>
                      <a:r>
                        <a:rPr sz="1400" b="0">
                          <a:solidFill>
                            <a:srgbClr val="1F2937"/>
                          </a:solidFill>
                          <a:latin typeface="Calibri"/>
                        </a:rPr>
                        <a:t>Lower</a:t>
                      </a:r>
                    </a:p>
                  </a:txBody>
                  <a:tcPr>
                    <a:solidFill>
                      <a:srgbClr val="F3F4F6"/>
                    </a:solidFill>
                  </a:tcPr>
                </a:tc>
                <a:tc>
                  <a:txBody>
                    <a:bodyPr/>
                    <a:lstStyle/>
                    <a:p>
                      <a:r>
                        <a:rPr sz="1400" b="0">
                          <a:solidFill>
                            <a:srgbClr val="1F2937"/>
                          </a:solidFill>
                          <a:latin typeface="Calibri"/>
                        </a:rPr>
                        <a:t>Higher</a:t>
                      </a:r>
                    </a:p>
                  </a:txBody>
                  <a:tcPr>
                    <a:solidFill>
                      <a:srgbClr val="F3F4F6"/>
                    </a:solidFill>
                  </a:tcPr>
                </a:tc>
                <a:tc>
                  <a:txBody>
                    <a:bodyPr/>
                    <a:lstStyle/>
                    <a:p>
                      <a:r>
                        <a:rPr sz="1400" b="0">
                          <a:solidFill>
                            <a:srgbClr val="1F2937"/>
                          </a:solidFill>
                          <a:latin typeface="Calibri"/>
                        </a:rPr>
                        <a:t>Track production incidents</a:t>
                      </a:r>
                    </a:p>
                  </a:txBody>
                  <a:tcPr>
                    <a:solidFill>
                      <a:srgbClr val="F3F4F6"/>
                    </a:solidFill>
                  </a:tcPr>
                </a:tc>
              </a:tr>
            </a:tbl>
          </a:graphicData>
        </a:graphic>
      </p:graphicFrame>
      <p:sp>
        <p:nvSpPr>
          <p:cNvPr id="9" name="TextBox 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Hypothetical comparison of two pipelines (assumptions only)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Pass@k definition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What does Pass@k measure in code generation evaluation?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The fraction of generated programs that compile successfully</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The probability that at least one of k sampled candidates passes the hidden tests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The average similarity score between generated and reference solutions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The percentage of test cases covered by the generated 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Role of reward models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statement best describes the role of a reward model in AI code generation pipelines?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It executes generated code and reports pass/fail results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It predicts human preference or quality signals without running the code</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It formally verifies that the code satisfies a given specification</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It mutates the code to assess test suite adequacy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Summary: Automated testing and evaluation mechanisms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Static spec checks catch contract violations early</a:t>
            </a:r>
          </a:p>
          <a:p>
            <a:pPr marL="292608" indent="-292608">
              <a:spcAft>
                <a:spcPts val="1000"/>
              </a:spcAft>
              <a:buClr>
                <a:srgbClr val="0F766E"/>
              </a:buClr>
              <a:buFont typeface="Arial"/>
              <a:buChar char="▪"/>
            </a:pPr>
            <a:r>
              <a:rPr sz="2400">
                <a:solidFill>
                  <a:srgbClr val="1F2937"/>
                </a:solidFill>
                <a:latin typeface="Calibri"/>
              </a:rPr>
              <a:t>Dynamic testing (fuzzing, property‑based, differential) validates runtime behavior</a:t>
            </a:r>
          </a:p>
          <a:p>
            <a:pPr marL="292608" indent="-292608">
              <a:spcAft>
                <a:spcPts val="1000"/>
              </a:spcAft>
              <a:buClr>
                <a:srgbClr val="0F766E"/>
              </a:buClr>
              <a:buFont typeface="Arial"/>
              <a:buChar char="▪"/>
            </a:pPr>
            <a:r>
              <a:rPr sz="2400">
                <a:solidFill>
                  <a:srgbClr val="1F2937"/>
                </a:solidFill>
                <a:latin typeface="Calibri"/>
              </a:rPr>
              <a:t>Mutation testing measures test suite quality</a:t>
            </a:r>
          </a:p>
          <a:p>
            <a:pPr marL="292608" indent="-292608">
              <a:spcAft>
                <a:spcPts val="1000"/>
              </a:spcAft>
              <a:buClr>
                <a:srgbClr val="0F766E"/>
              </a:buClr>
              <a:buFont typeface="Arial"/>
              <a:buChar char="▪"/>
            </a:pPr>
            <a:r>
              <a:rPr sz="2400">
                <a:solidFill>
                  <a:srgbClr val="1F2937"/>
                </a:solidFill>
                <a:latin typeface="Calibri"/>
              </a:rPr>
              <a:t>Learned evaluators rank candidates but cannot replace execution tests</a:t>
            </a:r>
          </a:p>
          <a:p>
            <a:pPr marL="292608" indent="-292608">
              <a:spcAft>
                <a:spcPts val="1000"/>
              </a:spcAft>
              <a:buClr>
                <a:srgbClr val="0F766E"/>
              </a:buClr>
              <a:buFont typeface="Arial"/>
              <a:buChar char="▪"/>
            </a:pPr>
            <a:r>
              <a:rPr sz="2400">
                <a:solidFill>
                  <a:srgbClr val="1F2937"/>
                </a:solidFill>
                <a:latin typeface="Calibri"/>
              </a:rPr>
              <a:t>Pass@k and benchmark suites provide standardized effectiveness metrics</a:t>
            </a:r>
          </a:p>
          <a:p>
            <a:pPr marL="292608" indent="-292608">
              <a:spcAft>
                <a:spcPts val="1000"/>
              </a:spcAft>
              <a:buClr>
                <a:srgbClr val="0F766E"/>
              </a:buClr>
              <a:buFont typeface="Arial"/>
              <a:buChar char="▪"/>
            </a:pPr>
            <a:r>
              <a:rPr sz="2400">
                <a:solidFill>
                  <a:srgbClr val="1F2937"/>
                </a:solidFill>
                <a:latin typeface="Calibri"/>
              </a:rPr>
              <a:t>Reliability requirements drive adequacy criteria and pipeline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W10.S2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